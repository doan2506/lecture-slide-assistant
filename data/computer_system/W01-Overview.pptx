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  <p:sldMasterId id="2147483650" r:id="rId3"/>
  </p:sldMasterIdLst>
  <p:notesMasterIdLst>
    <p:notesMasterId r:id="rId25"/>
  </p:notesMasterIdLst>
  <p:handoutMasterIdLst>
    <p:handoutMasterId r:id="rId26"/>
  </p:handoutMasterIdLst>
  <p:sldIdLst>
    <p:sldId id="256" r:id="rId4"/>
    <p:sldId id="257" r:id="rId5"/>
    <p:sldId id="258" r:id="rId6"/>
    <p:sldId id="259" r:id="rId7"/>
    <p:sldId id="263" r:id="rId8"/>
    <p:sldId id="264" r:id="rId9"/>
    <p:sldId id="267" r:id="rId10"/>
    <p:sldId id="307" r:id="rId11"/>
    <p:sldId id="308" r:id="rId12"/>
    <p:sldId id="270" r:id="rId13"/>
    <p:sldId id="273" r:id="rId14"/>
    <p:sldId id="309" r:id="rId15"/>
    <p:sldId id="276" r:id="rId16"/>
    <p:sldId id="281" r:id="rId17"/>
    <p:sldId id="282" r:id="rId18"/>
    <p:sldId id="291" r:id="rId19"/>
    <p:sldId id="292" r:id="rId20"/>
    <p:sldId id="293" r:id="rId21"/>
    <p:sldId id="294" r:id="rId22"/>
    <p:sldId id="296" r:id="rId23"/>
    <p:sldId id="300" r:id="rId2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8F6D9"/>
    <a:srgbClr val="EDEBCF"/>
    <a:srgbClr val="D3F2D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09"/>
  </p:normalViewPr>
  <p:slideViewPr>
    <p:cSldViewPr>
      <p:cViewPr varScale="1">
        <p:scale>
          <a:sx n="104" d="100"/>
          <a:sy n="104" d="100"/>
        </p:scale>
        <p:origin x="18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-231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FFC39-3AF6-8048-8D2D-0B9CBEDA9E0F}" type="datetimeFigureOut">
              <a:rPr lang="en-US" smtClean="0"/>
              <a:pPr/>
              <a:t>9/14/25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1F6DB-D364-0A40-9E0D-3DD3F1C3C9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86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7518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998538"/>
            <a:ext cx="1943100" cy="5859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998538"/>
            <a:ext cx="5676900" cy="5859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5588" y="50800"/>
            <a:ext cx="2081212" cy="6075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7188" y="50800"/>
            <a:ext cx="6096000" cy="60753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3886200"/>
            <a:ext cx="76771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" charset="0"/>
              </a:rPr>
              <a:t>Click to edit Master text styles</a:t>
            </a:r>
          </a:p>
          <a:p>
            <a:pPr lvl="1"/>
            <a:r>
              <a:rPr lang="en-US">
                <a:sym typeface="Calibri" charset="0"/>
              </a:rPr>
              <a:t>Second level</a:t>
            </a:r>
          </a:p>
          <a:p>
            <a:pPr lvl="2"/>
            <a:r>
              <a:rPr lang="en-US">
                <a:sym typeface="Calibri" charset="0"/>
              </a:rPr>
              <a:t>Third level</a:t>
            </a:r>
          </a:p>
          <a:p>
            <a:pPr lvl="3"/>
            <a:r>
              <a:rPr lang="en-US">
                <a:sym typeface="Calibri" charset="0"/>
              </a:rPr>
              <a:t>Fourth level</a:t>
            </a:r>
          </a:p>
          <a:p>
            <a:pPr lvl="4"/>
            <a:r>
              <a:rPr lang="en-US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19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876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33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7907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479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05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162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19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</a:p>
          <a:p>
            <a:pPr lvl="1"/>
            <a:r>
              <a:rPr lang="en-US">
                <a:sym typeface="Calibri" charset="0"/>
              </a:rPr>
              <a:t>Second level</a:t>
            </a:r>
          </a:p>
          <a:p>
            <a:pPr lvl="2"/>
            <a:r>
              <a:rPr lang="en-US">
                <a:sym typeface="Calibri" charset="0"/>
              </a:rPr>
              <a:t>Third level</a:t>
            </a:r>
          </a:p>
          <a:p>
            <a:pPr lvl="3"/>
            <a:r>
              <a:rPr lang="en-US">
                <a:sym typeface="Calibri" charset="0"/>
              </a:rPr>
              <a:t>Fourth level</a:t>
            </a:r>
          </a:p>
          <a:p>
            <a:pPr lvl="4"/>
            <a:r>
              <a:rPr lang="en-US">
                <a:sym typeface="Calibri" charset="0"/>
              </a:rPr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7188" y="50800"/>
            <a:ext cx="7591425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685800" y="2012950"/>
            <a:ext cx="7772400" cy="172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Course Overview</a:t>
            </a:r>
            <a:b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Introduction to Computer Systems	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9FF323-E4E5-1D57-345A-754E5D93F12F}"/>
              </a:ext>
            </a:extLst>
          </p:cNvPr>
          <p:cNvSpPr txBox="1"/>
          <p:nvPr/>
        </p:nvSpPr>
        <p:spPr>
          <a:xfrm>
            <a:off x="2749689" y="6796216"/>
            <a:ext cx="1847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1A6DA-CC20-DDE9-3542-58E9C4B8BB44}"/>
              </a:ext>
            </a:extLst>
          </p:cNvPr>
          <p:cNvSpPr txBox="1"/>
          <p:nvPr/>
        </p:nvSpPr>
        <p:spPr>
          <a:xfrm>
            <a:off x="3281030" y="6697362"/>
            <a:ext cx="1847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V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37F43F-9C6B-AAFF-80DC-9F30458BB991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AC8B7E-FA90-200E-DACF-68B770161B46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theme</a:t>
            </a:r>
          </a:p>
          <a:p>
            <a:r>
              <a:rPr lang="en-US" dirty="0"/>
              <a:t>Five realities</a:t>
            </a:r>
          </a:p>
          <a:p>
            <a:r>
              <a:rPr lang="en-US" dirty="0"/>
              <a:t>Policy and Course components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4493A-359B-5909-0888-26ECDE621E5B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0CF1DC-845D-CF93-C65B-028730A5F97C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534400" cy="1092200"/>
          </a:xfrm>
        </p:spPr>
        <p:txBody>
          <a:bodyPr/>
          <a:lstStyle/>
          <a:p>
            <a:r>
              <a:rPr lang="en-US" b="1" dirty="0"/>
              <a:t>Course Theme:</a:t>
            </a:r>
            <a:br>
              <a:rPr lang="en-US" b="1" dirty="0"/>
            </a:br>
            <a:r>
              <a:rPr lang="en-US" b="1" dirty="0"/>
              <a:t>Abstraction Is Good But Don’t Forget Reality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Most CS and CE courses emphasize abstraction</a:t>
            </a:r>
          </a:p>
          <a:p>
            <a:pPr lvl="1"/>
            <a:r>
              <a:rPr lang="en-US" dirty="0"/>
              <a:t>Abstract data types</a:t>
            </a:r>
          </a:p>
          <a:p>
            <a:pPr lvl="1"/>
            <a:r>
              <a:rPr lang="en-US" dirty="0"/>
              <a:t>Asymptotic analysis</a:t>
            </a:r>
          </a:p>
          <a:p>
            <a:r>
              <a:rPr lang="en-US" b="1" dirty="0"/>
              <a:t>These abstractions have limits</a:t>
            </a:r>
          </a:p>
          <a:p>
            <a:pPr lvl="1"/>
            <a:r>
              <a:rPr lang="en-US" dirty="0"/>
              <a:t>Especially in the presence of bugs</a:t>
            </a:r>
          </a:p>
          <a:p>
            <a:pPr lvl="1"/>
            <a:r>
              <a:rPr lang="en-US" dirty="0"/>
              <a:t>Need to understand details of underlying implementations</a:t>
            </a:r>
          </a:p>
          <a:p>
            <a:r>
              <a:rPr lang="en-US" b="1" dirty="0"/>
              <a:t>Useful outcomes from taking course</a:t>
            </a:r>
          </a:p>
          <a:p>
            <a:pPr lvl="1"/>
            <a:r>
              <a:rPr lang="en-US" dirty="0"/>
              <a:t>Become more effective programmers</a:t>
            </a:r>
          </a:p>
          <a:p>
            <a:pPr lvl="2"/>
            <a:r>
              <a:rPr lang="en-US" dirty="0"/>
              <a:t>Able to find and eliminate bugs efficiently</a:t>
            </a:r>
          </a:p>
          <a:p>
            <a:pPr lvl="2"/>
            <a:r>
              <a:rPr lang="en-US" dirty="0"/>
              <a:t>Able to understand and tune for program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49299-5FA0-B073-5B7B-9F9129284736}"/>
              </a:ext>
            </a:extLst>
          </p:cNvPr>
          <p:cNvSpPr>
            <a:spLocks/>
          </p:cNvSpPr>
          <p:nvPr/>
        </p:nvSpPr>
        <p:spPr bwMode="auto">
          <a:xfrm>
            <a:off x="-127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DF5C1-EE71-3C91-A203-5305C8DC8EEA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Great Reality #1: </a:t>
            </a:r>
            <a:br>
              <a:rPr lang="en-US" b="1" dirty="0"/>
            </a:br>
            <a:r>
              <a:rPr lang="en-US" b="1" dirty="0" err="1"/>
              <a:t>Ints</a:t>
            </a:r>
            <a:r>
              <a:rPr lang="en-US" b="1" dirty="0"/>
              <a:t> are not Integers, Floats are not </a:t>
            </a:r>
            <a:r>
              <a:rPr lang="en-US" b="1" dirty="0" err="1"/>
              <a:t>Reals</a:t>
            </a:r>
            <a:endParaRPr lang="en-US" b="1" dirty="0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b="1" dirty="0"/>
              <a:t>Example 1: Is x</a:t>
            </a:r>
            <a:r>
              <a:rPr lang="en-US" b="1" baseline="32000" dirty="0"/>
              <a:t>2</a:t>
            </a:r>
            <a:r>
              <a:rPr lang="en-US" b="1" dirty="0"/>
              <a:t> ≥ 0?</a:t>
            </a:r>
          </a:p>
          <a:p>
            <a:pPr marL="552450" lvl="1">
              <a:spcBef>
                <a:spcPts val="1600"/>
              </a:spcBef>
            </a:pPr>
            <a:r>
              <a:rPr lang="en-US" dirty="0"/>
              <a:t>Float’s: Yes!</a:t>
            </a:r>
          </a:p>
          <a:p>
            <a:pPr marL="552450" lvl="1">
              <a:spcBef>
                <a:spcPts val="9600"/>
              </a:spcBef>
            </a:pPr>
            <a:r>
              <a:rPr lang="en-US" dirty="0" err="1"/>
              <a:t>Int’s</a:t>
            </a:r>
            <a:r>
              <a:rPr lang="en-US" dirty="0"/>
              <a:t>:</a:t>
            </a:r>
          </a:p>
          <a:p>
            <a:pPr marL="838200" lvl="2"/>
            <a:r>
              <a:rPr lang="en-US" dirty="0">
                <a:ea typeface="Zapf Dingbats" charset="2"/>
                <a:cs typeface="Zapf Dingbats" charset="2"/>
              </a:rPr>
              <a:t> 40000 * 40000  ➙ 1600000000</a:t>
            </a:r>
            <a:endParaRPr lang="en-US" dirty="0"/>
          </a:p>
          <a:p>
            <a:pPr marL="838200" lvl="2"/>
            <a:r>
              <a:rPr lang="en-US" dirty="0">
                <a:ea typeface="Zapf Dingbats" charset="2"/>
                <a:cs typeface="Zapf Dingbats" charset="2"/>
              </a:rPr>
              <a:t> 50000 * 50000  ➙ ??</a:t>
            </a:r>
            <a:endParaRPr lang="en-US" dirty="0"/>
          </a:p>
          <a:p>
            <a:r>
              <a:rPr lang="en-US" b="1" dirty="0"/>
              <a:t>Example 2: Is (</a:t>
            </a:r>
            <a:r>
              <a:rPr lang="en-US" b="1" dirty="0" err="1"/>
              <a:t>x</a:t>
            </a:r>
            <a:r>
              <a:rPr lang="en-US" b="1" dirty="0"/>
              <a:t> + </a:t>
            </a:r>
            <a:r>
              <a:rPr lang="en-US" b="1" dirty="0" err="1"/>
              <a:t>y</a:t>
            </a:r>
            <a:r>
              <a:rPr lang="en-US" b="1" dirty="0"/>
              <a:t>) + </a:t>
            </a:r>
            <a:r>
              <a:rPr lang="en-US" b="1" dirty="0" err="1"/>
              <a:t>z</a:t>
            </a:r>
            <a:r>
              <a:rPr lang="en-US" b="1" dirty="0"/>
              <a:t>  =  </a:t>
            </a:r>
            <a:r>
              <a:rPr lang="en-US" b="1" dirty="0" err="1"/>
              <a:t>x</a:t>
            </a:r>
            <a:r>
              <a:rPr lang="en-US" b="1" dirty="0"/>
              <a:t> + (</a:t>
            </a:r>
            <a:r>
              <a:rPr lang="en-US" b="1" dirty="0" err="1"/>
              <a:t>y</a:t>
            </a:r>
            <a:r>
              <a:rPr lang="en-US" b="1" dirty="0"/>
              <a:t> + </a:t>
            </a:r>
            <a:r>
              <a:rPr lang="en-US" b="1" dirty="0" err="1"/>
              <a:t>z</a:t>
            </a:r>
            <a:r>
              <a:rPr lang="en-US" b="1" dirty="0"/>
              <a:t>)?</a:t>
            </a:r>
          </a:p>
          <a:p>
            <a:pPr marL="552450" lvl="1"/>
            <a:r>
              <a:rPr lang="en-US" dirty="0"/>
              <a:t>Unsigned &amp; Signed </a:t>
            </a:r>
            <a:r>
              <a:rPr lang="en-US" dirty="0" err="1"/>
              <a:t>Int’s</a:t>
            </a:r>
            <a:r>
              <a:rPr lang="en-US" dirty="0"/>
              <a:t>: Yes!</a:t>
            </a:r>
          </a:p>
          <a:p>
            <a:pPr marL="552450" lvl="1"/>
            <a:r>
              <a:rPr lang="en-US" dirty="0"/>
              <a:t>Float’s:	</a:t>
            </a:r>
          </a:p>
          <a:p>
            <a:pPr marL="838200" lvl="2"/>
            <a:r>
              <a:rPr lang="en-US" dirty="0"/>
              <a:t> (1e20 + -1e20) + 3.14 --&gt; 3.14</a:t>
            </a:r>
          </a:p>
          <a:p>
            <a:pPr marL="838200" lvl="2"/>
            <a:r>
              <a:rPr lang="en-US" dirty="0"/>
              <a:t> 1e20 + (-1e20 + 3.14) --&gt; ?? 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8800" y="1900238"/>
            <a:ext cx="5524500" cy="1820862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7174" name="Rectangle 6"/>
          <p:cNvSpPr>
            <a:spLocks/>
          </p:cNvSpPr>
          <p:nvPr/>
        </p:nvSpPr>
        <p:spPr bwMode="auto">
          <a:xfrm>
            <a:off x="7342188" y="6578600"/>
            <a:ext cx="1727200" cy="254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Source: xkcd.com/571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ACB54F-F2FE-49F3-168D-6848554E17CE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E97655-9F9C-6A13-FD37-B14A135D13BB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 bldLvl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Computer Arithmetic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Does not generate random values</a:t>
            </a:r>
          </a:p>
          <a:p>
            <a:pPr lvl="1"/>
            <a:r>
              <a:rPr lang="en-US" dirty="0"/>
              <a:t>Arithmetic operations have important mathematical properties</a:t>
            </a:r>
          </a:p>
          <a:p>
            <a:r>
              <a:rPr lang="en-US" b="1" dirty="0"/>
              <a:t>Cannot assume all “usual” mathematical properties</a:t>
            </a:r>
          </a:p>
          <a:p>
            <a:pPr lvl="1"/>
            <a:r>
              <a:rPr lang="en-US" dirty="0"/>
              <a:t>Due to finiteness of representations</a:t>
            </a:r>
          </a:p>
          <a:p>
            <a:pPr lvl="1"/>
            <a:r>
              <a:rPr lang="en-US" dirty="0"/>
              <a:t>Integer operations satisfy “ring” properties</a:t>
            </a:r>
          </a:p>
          <a:p>
            <a:pPr lvl="2"/>
            <a:r>
              <a:rPr lang="en-US" dirty="0" err="1"/>
              <a:t>Commutativity</a:t>
            </a:r>
            <a:r>
              <a:rPr lang="en-US" dirty="0"/>
              <a:t>, </a:t>
            </a:r>
            <a:r>
              <a:rPr lang="en-US" dirty="0" err="1"/>
              <a:t>associativity</a:t>
            </a:r>
            <a:r>
              <a:rPr lang="en-US" dirty="0"/>
              <a:t>, </a:t>
            </a:r>
            <a:r>
              <a:rPr lang="en-US" dirty="0" err="1"/>
              <a:t>distributivity</a:t>
            </a:r>
            <a:endParaRPr lang="en-US" dirty="0"/>
          </a:p>
          <a:p>
            <a:pPr lvl="1"/>
            <a:r>
              <a:rPr lang="en-US" dirty="0"/>
              <a:t>Floating point operations satisfy “ordering” properties</a:t>
            </a:r>
          </a:p>
          <a:p>
            <a:pPr lvl="2"/>
            <a:r>
              <a:rPr lang="en-US" dirty="0" err="1"/>
              <a:t>Monotonicity</a:t>
            </a:r>
            <a:r>
              <a:rPr lang="en-US" dirty="0"/>
              <a:t>, values of signs</a:t>
            </a:r>
          </a:p>
          <a:p>
            <a:r>
              <a:rPr lang="en-US" b="1" dirty="0"/>
              <a:t>Observation</a:t>
            </a:r>
          </a:p>
          <a:p>
            <a:pPr lvl="1"/>
            <a:r>
              <a:rPr lang="en-US" dirty="0"/>
              <a:t>Need to understand which abstractions apply in which contexts</a:t>
            </a:r>
          </a:p>
          <a:p>
            <a:pPr lvl="1"/>
            <a:r>
              <a:rPr lang="en-US" dirty="0"/>
              <a:t>Important issues for compiler writers and serious application programmers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C47F8B-D75B-2E69-CEEE-F2852E0C4FF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6FBE4A-2DD2-1740-2FC4-BDDC4A4A4167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Great Reality #2: </a:t>
            </a:r>
            <a:br>
              <a:rPr lang="en-US" b="1" dirty="0"/>
            </a:br>
            <a:r>
              <a:rPr lang="en-US" b="1" dirty="0"/>
              <a:t>You’ve Got to Know Assembly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Chances are, you’ll never write programs in assembly</a:t>
            </a:r>
          </a:p>
          <a:p>
            <a:pPr lvl="1"/>
            <a:r>
              <a:rPr lang="en-US" dirty="0"/>
              <a:t>Compilers are much better &amp; more patient than you are</a:t>
            </a:r>
          </a:p>
          <a:p>
            <a:r>
              <a:rPr lang="en-US" b="1" dirty="0"/>
              <a:t>But: Understanding assembly is key to machine-level execution model</a:t>
            </a:r>
          </a:p>
          <a:p>
            <a:pPr lvl="1"/>
            <a:r>
              <a:rPr lang="en-US" dirty="0"/>
              <a:t>Behavior of programs in presence of bugs</a:t>
            </a:r>
          </a:p>
          <a:p>
            <a:pPr lvl="2"/>
            <a:r>
              <a:rPr lang="en-US" dirty="0"/>
              <a:t>High-level language models break down</a:t>
            </a:r>
          </a:p>
          <a:p>
            <a:pPr lvl="1"/>
            <a:r>
              <a:rPr lang="en-US" dirty="0"/>
              <a:t>Tuning program performance</a:t>
            </a:r>
          </a:p>
          <a:p>
            <a:pPr lvl="2"/>
            <a:r>
              <a:rPr lang="en-US" dirty="0"/>
              <a:t>Understanding sources of program inefficiency</a:t>
            </a:r>
          </a:p>
          <a:p>
            <a:pPr lvl="1"/>
            <a:r>
              <a:rPr lang="en-US" dirty="0"/>
              <a:t>Implementing system software</a:t>
            </a:r>
          </a:p>
          <a:p>
            <a:pPr lvl="2"/>
            <a:r>
              <a:rPr lang="en-US" dirty="0"/>
              <a:t>Compiler has machine code as target</a:t>
            </a:r>
          </a:p>
          <a:p>
            <a:pPr lvl="2"/>
            <a:r>
              <a:rPr lang="en-US" dirty="0"/>
              <a:t>Operating systems must manage process state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B572B9-0F5C-6940-C7CF-E92300657A91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32A83B-83B9-999D-3987-83892EFA7B08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Great Reality #3: Memory Matters</a:t>
            </a:r>
            <a:br>
              <a:rPr lang="en-US" b="1" dirty="0"/>
            </a:br>
            <a:r>
              <a:rPr lang="en-US" sz="2900" b="1" dirty="0"/>
              <a:t>Random Access Memory Is an Unphysical Abstraction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838200" lvl="2"/>
            <a:endParaRPr lang="en-US" dirty="0"/>
          </a:p>
          <a:p>
            <a:r>
              <a:rPr lang="en-US" b="1" dirty="0"/>
              <a:t>Memory is not unbounded</a:t>
            </a:r>
          </a:p>
          <a:p>
            <a:pPr marL="552450" lvl="1"/>
            <a:r>
              <a:rPr lang="en-US" dirty="0"/>
              <a:t>It must be allocated and managed</a:t>
            </a:r>
          </a:p>
          <a:p>
            <a:pPr marL="552450" lvl="1"/>
            <a:r>
              <a:rPr lang="en-US" dirty="0"/>
              <a:t>Many applications are memory dominated</a:t>
            </a:r>
          </a:p>
          <a:p>
            <a:r>
              <a:rPr lang="en-US" b="1" dirty="0"/>
              <a:t>Memory referencing bugs especially pernicious</a:t>
            </a:r>
          </a:p>
          <a:p>
            <a:pPr marL="552450" lvl="1"/>
            <a:r>
              <a:rPr lang="en-US" dirty="0"/>
              <a:t>Effects are distant in both time and space</a:t>
            </a:r>
          </a:p>
          <a:p>
            <a:r>
              <a:rPr lang="en-US" b="1" dirty="0"/>
              <a:t>Memory performance is not uniform</a:t>
            </a:r>
          </a:p>
          <a:p>
            <a:pPr marL="552450" lvl="1"/>
            <a:r>
              <a:rPr lang="en-US" dirty="0"/>
              <a:t>Cache and virtual memory effects can greatly affect program performance</a:t>
            </a:r>
          </a:p>
          <a:p>
            <a:pPr marL="552450" lvl="1"/>
            <a:r>
              <a:rPr lang="en-US" dirty="0"/>
              <a:t>Adapting program to characteristics of memory system can lead to major speed improvements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D665A-670D-5E5F-2CF6-6D6F5967AAF3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46CB86-2EEB-5862-2A2C-039D55CA2CE7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Bug Example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457200" y="6096000"/>
            <a:ext cx="8229600" cy="563563"/>
          </a:xfrm>
          <a:noFill/>
          <a:ln>
            <a:miter lim="800000"/>
            <a:headEnd/>
            <a:tailEnd/>
          </a:ln>
        </p:spPr>
        <p:txBody>
          <a:bodyPr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1" indent="-342900"/>
            <a:r>
              <a:rPr lang="en-US" dirty="0"/>
              <a:t>Result is system specific</a:t>
            </a:r>
          </a:p>
        </p:txBody>
      </p:sp>
      <p:sp>
        <p:nvSpPr>
          <p:cNvPr id="18437" name="Rectangle 5"/>
          <p:cNvSpPr>
            <a:spLocks/>
          </p:cNvSpPr>
          <p:nvPr/>
        </p:nvSpPr>
        <p:spPr bwMode="auto">
          <a:xfrm>
            <a:off x="825500" y="4267200"/>
            <a:ext cx="7327900" cy="18288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➙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3.1399998664856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2.00000061035156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fun(6)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" charset="0"/>
              </a:rPr>
              <a:t>Segmentation fault</a:t>
            </a:r>
            <a:endParaRPr lang="en-US" sz="1800" dirty="0">
              <a:solidFill>
                <a:schemeClr val="tx1"/>
              </a:solidFill>
              <a:latin typeface="Courier New" charset="0"/>
              <a:ea typeface="Monaco" charset="0"/>
              <a:cs typeface="Monaco" charset="0"/>
              <a:sym typeface="Courier New" charset="0"/>
            </a:endParaRPr>
          </a:p>
        </p:txBody>
      </p:sp>
      <p:sp>
        <p:nvSpPr>
          <p:cNvPr id="18436" name="Rectangle 4"/>
          <p:cNvSpPr>
            <a:spLocks/>
          </p:cNvSpPr>
          <p:nvPr/>
        </p:nvSpPr>
        <p:spPr bwMode="auto">
          <a:xfrm>
            <a:off x="838200" y="1295400"/>
            <a:ext cx="6553200" cy="2844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double fun(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volatile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s;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3.14;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s.a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 = 1073741824; /* Possibly out of bounds */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return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s.d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7EDC13-E305-8275-9CA8-933803E27218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95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Bug Example</a:t>
            </a:r>
          </a:p>
        </p:txBody>
      </p:sp>
      <p:sp>
        <p:nvSpPr>
          <p:cNvPr id="19460" name="Rectangle 4"/>
          <p:cNvSpPr>
            <a:spLocks/>
          </p:cNvSpPr>
          <p:nvPr/>
        </p:nvSpPr>
        <p:spPr bwMode="auto">
          <a:xfrm>
            <a:off x="762000" y="1270000"/>
            <a:ext cx="2209800" cy="13208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a[2];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double d;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struct_t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</p:txBody>
      </p:sp>
      <p:sp>
        <p:nvSpPr>
          <p:cNvPr id="19461" name="Rectangle 5"/>
          <p:cNvSpPr>
            <a:spLocks/>
          </p:cNvSpPr>
          <p:nvPr/>
        </p:nvSpPr>
        <p:spPr bwMode="auto">
          <a:xfrm>
            <a:off x="3581400" y="1295400"/>
            <a:ext cx="4419600" cy="13716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fun(0)  ➙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fun(1)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fun(2)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3.1399998664856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fun(3)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2.00000061035156</a:t>
            </a:r>
            <a:endParaRPr lang="en-US" sz="2400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fun(4)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3.14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fun(6)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Zapf Dingbats" charset="2"/>
                <a:cs typeface="Zapf Dingbats" charset="2"/>
                <a:sym typeface="Courier New" charset="0"/>
              </a:rPr>
              <a:t>➙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Monaco" charset="0"/>
                <a:cs typeface="Monaco" charset="0"/>
                <a:sym typeface="Courier New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" charset="0"/>
              </a:rPr>
              <a:t>Segmentation fault</a:t>
            </a:r>
            <a:endParaRPr lang="en-US" sz="1800" dirty="0">
              <a:solidFill>
                <a:schemeClr val="tx1"/>
              </a:solidFill>
              <a:latin typeface="Courier New" charset="0"/>
              <a:ea typeface="Monaco" charset="0"/>
              <a:cs typeface="Monaco" charset="0"/>
              <a:sym typeface="Courier New" charset="0"/>
            </a:endParaRPr>
          </a:p>
        </p:txBody>
      </p:sp>
      <p:sp>
        <p:nvSpPr>
          <p:cNvPr id="19462" name="AutoShape 6"/>
          <p:cNvSpPr>
            <a:spLocks/>
          </p:cNvSpPr>
          <p:nvPr/>
        </p:nvSpPr>
        <p:spPr bwMode="auto">
          <a:xfrm>
            <a:off x="4648200" y="37338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3" name="Rectangle 7"/>
          <p:cNvSpPr>
            <a:spLocks/>
          </p:cNvSpPr>
          <p:nvPr/>
        </p:nvSpPr>
        <p:spPr bwMode="auto">
          <a:xfrm>
            <a:off x="5105400" y="4800600"/>
            <a:ext cx="2120900" cy="6477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>
            <a:prstTxWarp prst="textNoShape">
              <a:avLst/>
            </a:prstTxWarp>
          </a:bodyPr>
          <a:lstStyle/>
          <a:p>
            <a:pPr algn="l">
              <a:lnSpc>
                <a:spcPct val="110000"/>
              </a:lnSpc>
            </a:pPr>
            <a:r>
              <a:rPr lang="en-US" sz="18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Location accessed by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fun(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)</a:t>
            </a:r>
          </a:p>
        </p:txBody>
      </p:sp>
      <p:sp>
        <p:nvSpPr>
          <p:cNvPr id="19464" name="Rectangle 8"/>
          <p:cNvSpPr>
            <a:spLocks/>
          </p:cNvSpPr>
          <p:nvPr/>
        </p:nvSpPr>
        <p:spPr bwMode="auto">
          <a:xfrm>
            <a:off x="762000" y="3200400"/>
            <a:ext cx="1668462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Explanation:</a:t>
            </a:r>
          </a:p>
        </p:txBody>
      </p:sp>
      <p:graphicFrame>
        <p:nvGraphicFramePr>
          <p:cNvPr id="1946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35673"/>
              </p:ext>
            </p:extLst>
          </p:nvPr>
        </p:nvGraphicFramePr>
        <p:xfrm>
          <a:off x="2514600" y="3733800"/>
          <a:ext cx="2070100" cy="266700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Critical State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ourier New"/>
                          <a:sym typeface="Monaco" charset="0"/>
                        </a:rPr>
                        <a:t>?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5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ourier New"/>
                          <a:sym typeface="Monaco" charset="0"/>
                        </a:rPr>
                        <a:t>?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d7 ... d4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d3 ... d0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a[1]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a[0]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AutoShape 6"/>
          <p:cNvSpPr>
            <a:spLocks/>
          </p:cNvSpPr>
          <p:nvPr/>
        </p:nvSpPr>
        <p:spPr bwMode="auto">
          <a:xfrm flipH="1">
            <a:off x="2057400" y="4876800"/>
            <a:ext cx="3048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0"/>
                </a:moveTo>
                <a:cubicBezTo>
                  <a:pt x="5965" y="0"/>
                  <a:pt x="10800" y="631"/>
                  <a:pt x="10800" y="1409"/>
                </a:cubicBezTo>
                <a:lnTo>
                  <a:pt x="10800" y="9391"/>
                </a:lnTo>
                <a:cubicBezTo>
                  <a:pt x="10800" y="10169"/>
                  <a:pt x="15635" y="10800"/>
                  <a:pt x="21600" y="10800"/>
                </a:cubicBezTo>
                <a:cubicBezTo>
                  <a:pt x="15635" y="10800"/>
                  <a:pt x="10800" y="11431"/>
                  <a:pt x="10800" y="12209"/>
                </a:cubicBezTo>
                <a:lnTo>
                  <a:pt x="10800" y="20191"/>
                </a:lnTo>
                <a:cubicBezTo>
                  <a:pt x="10800" y="20969"/>
                  <a:pt x="5965" y="21600"/>
                  <a:pt x="0" y="21600"/>
                </a:cubicBezTo>
              </a:path>
            </a:pathLst>
          </a:custGeom>
          <a:noFill/>
          <a:ln w="28575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9600" y="5486400"/>
            <a:ext cx="1292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rPr>
              <a:t>struct_t</a:t>
            </a:r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A3696-F1AF-5BD8-E20F-400609BE60D1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9941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Referencing Errors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b="1" dirty="0"/>
              <a:t>C and C++ do not provide any memory protection</a:t>
            </a:r>
          </a:p>
          <a:p>
            <a:pPr marL="552450" lvl="1"/>
            <a:r>
              <a:rPr lang="en-US" dirty="0"/>
              <a:t>Out of bounds array references</a:t>
            </a:r>
          </a:p>
          <a:p>
            <a:pPr marL="552450" lvl="1"/>
            <a:r>
              <a:rPr lang="en-US" dirty="0"/>
              <a:t>Invalid pointer values</a:t>
            </a:r>
          </a:p>
          <a:p>
            <a:pPr marL="552450" lvl="1"/>
            <a:r>
              <a:rPr lang="en-US" dirty="0"/>
              <a:t>Abuses of </a:t>
            </a:r>
            <a:r>
              <a:rPr lang="en-US" dirty="0" err="1"/>
              <a:t>malloc</a:t>
            </a:r>
            <a:r>
              <a:rPr lang="en-US" dirty="0"/>
              <a:t>/free</a:t>
            </a:r>
          </a:p>
          <a:p>
            <a:r>
              <a:rPr lang="en-US" b="1" dirty="0"/>
              <a:t>Can lead to nasty bugs</a:t>
            </a:r>
          </a:p>
          <a:p>
            <a:pPr marL="552450" lvl="1"/>
            <a:r>
              <a:rPr lang="en-US" dirty="0"/>
              <a:t>Whether or not bug has any effect depends on system and compiler</a:t>
            </a:r>
          </a:p>
          <a:p>
            <a:pPr marL="552450" lvl="1"/>
            <a:r>
              <a:rPr lang="en-US" dirty="0"/>
              <a:t>Action at a distance</a:t>
            </a:r>
          </a:p>
          <a:p>
            <a:pPr marL="838200" lvl="2"/>
            <a:r>
              <a:rPr lang="en-US" dirty="0"/>
              <a:t>Corrupted object logically unrelated to one being accessed</a:t>
            </a:r>
          </a:p>
          <a:p>
            <a:pPr marL="838200" lvl="2"/>
            <a:r>
              <a:rPr lang="en-US" dirty="0"/>
              <a:t>Effect of bug may be first observed long after it is generated</a:t>
            </a:r>
          </a:p>
          <a:p>
            <a:r>
              <a:rPr lang="en-US" b="1" dirty="0"/>
              <a:t>How can I deal with this?</a:t>
            </a:r>
          </a:p>
          <a:p>
            <a:pPr marL="552450" lvl="1"/>
            <a:r>
              <a:rPr lang="en-US" dirty="0"/>
              <a:t>Program in Java, Ruby, Python, ML, …</a:t>
            </a:r>
          </a:p>
          <a:p>
            <a:pPr marL="552450" lvl="1"/>
            <a:r>
              <a:rPr lang="en-US" dirty="0"/>
              <a:t>Understand what possible interactions may occur</a:t>
            </a:r>
          </a:p>
          <a:p>
            <a:pPr marL="552450" lvl="1"/>
            <a:r>
              <a:rPr lang="en-US" dirty="0"/>
              <a:t>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3B9B65-1927-47A1-4CDF-45768C18D08A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82000" cy="1066800"/>
          </a:xfrm>
          <a:ln/>
        </p:spPr>
        <p:txBody>
          <a:bodyPr>
            <a:normAutofit fontScale="90000"/>
          </a:bodyPr>
          <a:lstStyle/>
          <a:p>
            <a:pPr marL="119063" indent="-119063"/>
            <a:r>
              <a:rPr lang="en-US" sz="4000" b="1" dirty="0"/>
              <a:t>Great Reality #4: There’s more to performance than asymptotic complexity</a:t>
            </a:r>
            <a:br>
              <a:rPr lang="en-US" dirty="0"/>
            </a:br>
            <a:endParaRPr lang="en-US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651000"/>
            <a:ext cx="8382000" cy="5181600"/>
          </a:xfrm>
          <a:ln/>
        </p:spPr>
        <p:txBody>
          <a:bodyPr/>
          <a:lstStyle/>
          <a:p>
            <a:r>
              <a:rPr lang="en-US" b="1" dirty="0"/>
              <a:t>Constant factors matter too!</a:t>
            </a:r>
          </a:p>
          <a:p>
            <a:r>
              <a:rPr lang="en-US" b="1" dirty="0"/>
              <a:t>And even exact op count does not predict performance</a:t>
            </a:r>
          </a:p>
          <a:p>
            <a:pPr marL="552450" lvl="1"/>
            <a:r>
              <a:rPr lang="en-US" dirty="0"/>
              <a:t>Easily see 10:1 performance range depending on how code written</a:t>
            </a:r>
          </a:p>
          <a:p>
            <a:pPr marL="552450" lvl="1"/>
            <a:r>
              <a:rPr lang="en-US" dirty="0"/>
              <a:t>Must optimize at multiple levels: algorithm, data representations, procedures, and loops</a:t>
            </a:r>
          </a:p>
          <a:p>
            <a:r>
              <a:rPr lang="en-US" b="1" dirty="0"/>
              <a:t>Must understand system to optimize performance</a:t>
            </a:r>
          </a:p>
          <a:p>
            <a:pPr marL="552450" lvl="1"/>
            <a:r>
              <a:rPr lang="en-US" dirty="0"/>
              <a:t>How programs compiled and executed</a:t>
            </a:r>
          </a:p>
          <a:p>
            <a:pPr marL="552450" lvl="1"/>
            <a:r>
              <a:rPr lang="en-US" dirty="0"/>
              <a:t>How to measure program performance and identify bottlenecks</a:t>
            </a:r>
          </a:p>
          <a:p>
            <a:pPr marL="552450" lvl="1"/>
            <a:r>
              <a:rPr lang="en-US" dirty="0"/>
              <a:t>How to improve performance without destroying code modularity and generality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AE768-3DE5-1517-A40A-7D6C35006A73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b="1" dirty="0"/>
              <a:t>Memory System Performance Example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4610100"/>
            <a:ext cx="8382000" cy="2222500"/>
          </a:xfrm>
          <a:ln/>
        </p:spPr>
        <p:txBody>
          <a:bodyPr/>
          <a:lstStyle/>
          <a:p>
            <a:r>
              <a:rPr lang="en-US" dirty="0"/>
              <a:t>Hierarchical memory organization</a:t>
            </a:r>
          </a:p>
          <a:p>
            <a:r>
              <a:rPr lang="en-US" dirty="0"/>
              <a:t>Performance depends on access patterns</a:t>
            </a:r>
          </a:p>
          <a:p>
            <a:pPr marL="552450" lvl="1"/>
            <a:r>
              <a:rPr lang="en-US" dirty="0"/>
              <a:t>Including how step through multi-dimensional array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4622800" y="1603375"/>
            <a:ext cx="4114800" cy="2273300"/>
          </a:xfrm>
          <a:prstGeom prst="rect">
            <a:avLst/>
          </a:prstGeom>
          <a:solidFill>
            <a:srgbClr val="D3F2D3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copyji(int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src[2048][2048],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dst[2048][2048])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i,j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</a:t>
            </a:r>
            <a:r>
              <a:rPr lang="en-US" sz="1600" b="1" dirty="0" err="1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j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0; </a:t>
            </a:r>
            <a:r>
              <a:rPr lang="en-US" sz="1600" b="1" dirty="0" err="1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j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&lt; 2048; </a:t>
            </a:r>
            <a:r>
              <a:rPr lang="en-US" sz="1600" b="1" dirty="0" err="1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j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0;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&lt; 2048;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dst[i][j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 =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src[i][j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  <p:sp>
        <p:nvSpPr>
          <p:cNvPr id="21510" name="Rectangle 6"/>
          <p:cNvSpPr>
            <a:spLocks/>
          </p:cNvSpPr>
          <p:nvPr/>
        </p:nvSpPr>
        <p:spPr bwMode="auto">
          <a:xfrm>
            <a:off x="393700" y="1603375"/>
            <a:ext cx="4114800" cy="2273300"/>
          </a:xfrm>
          <a:prstGeom prst="rect">
            <a:avLst/>
          </a:prstGeom>
          <a:solidFill>
            <a:srgbClr val="F8F6D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63500" tIns="63500" rIns="63500" bIns="63500">
            <a:prstTxWarp prst="textNoShape">
              <a:avLst/>
            </a:prstTxWarp>
          </a:bodyPr>
          <a:lstStyle/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void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copyij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(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src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[2048][2048],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dst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[2048][2048])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i,j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0;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&lt; 2048; </a:t>
            </a:r>
            <a:r>
              <a:rPr lang="en-US" sz="1600" b="1" dirty="0" err="1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</a:t>
            </a:r>
            <a:r>
              <a:rPr lang="en-US" sz="1600" b="1" dirty="0">
                <a:solidFill>
                  <a:srgbClr val="21218A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for (j = 0; j &lt; 2048; j++)</a:t>
            </a:r>
            <a:endParaRPr lang="en-US" sz="16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 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dst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][j] = 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src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[</a:t>
            </a:r>
            <a:r>
              <a:rPr lang="en-US" sz="16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][j];</a:t>
            </a:r>
          </a:p>
          <a:p>
            <a:pPr algn="l">
              <a:tabLst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  <a:tab pos="914400" algn="l"/>
                <a:tab pos="22860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  <p:grpSp>
        <p:nvGrpSpPr>
          <p:cNvPr id="21511" name="Group 7"/>
          <p:cNvGrpSpPr>
            <a:grpSpLocks/>
          </p:cNvGrpSpPr>
          <p:nvPr/>
        </p:nvGrpSpPr>
        <p:grpSpPr bwMode="auto">
          <a:xfrm>
            <a:off x="4130675" y="2860675"/>
            <a:ext cx="762000" cy="228600"/>
            <a:chOff x="0" y="0"/>
            <a:chExt cx="480" cy="144"/>
          </a:xfrm>
        </p:grpSpPr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0" y="0"/>
              <a:ext cx="480" cy="14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480" cy="14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875047" y="3886200"/>
            <a:ext cx="5871668" cy="523220"/>
            <a:chOff x="1875047" y="3886200"/>
            <a:chExt cx="5871668" cy="523220"/>
          </a:xfrm>
        </p:grpSpPr>
        <p:sp>
          <p:nvSpPr>
            <p:cNvPr id="21514" name="Rectangle 10"/>
            <p:cNvSpPr>
              <a:spLocks/>
            </p:cNvSpPr>
            <p:nvPr/>
          </p:nvSpPr>
          <p:spPr bwMode="auto">
            <a:xfrm>
              <a:off x="6605878" y="3886200"/>
              <a:ext cx="1140837" cy="507831"/>
            </a:xfrm>
            <a:prstGeom prst="rect">
              <a:avLst/>
            </a:prstGeom>
            <a:noFill/>
            <a:ln w="12700" cap="rnd">
              <a:noFill/>
              <a:round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chemeClr val="tx1"/>
                  </a:solidFill>
                  <a:latin typeface="+mn-lt"/>
                  <a:ea typeface="Calibri" charset="0"/>
                  <a:cs typeface="Calibri" charset="0"/>
                  <a:sym typeface="Calibri" charset="0"/>
                </a:rPr>
                <a:t>81.8ms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875047" y="3886200"/>
              <a:ext cx="10665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4.3ms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5616887-0118-A76B-D455-9BC1546217BD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397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534400" cy="11684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Great Reality #5:</a:t>
            </a:r>
            <a:br>
              <a:rPr lang="en-US" b="1" dirty="0"/>
            </a:br>
            <a:r>
              <a:rPr lang="en-US" b="1" dirty="0"/>
              <a:t>Computers do more than execute programs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5232400"/>
          </a:xfrm>
          <a:ln/>
        </p:spPr>
        <p:txBody>
          <a:bodyPr/>
          <a:lstStyle/>
          <a:p>
            <a:r>
              <a:rPr lang="en-US" b="1" dirty="0"/>
              <a:t>They need to get data in and out</a:t>
            </a:r>
          </a:p>
          <a:p>
            <a:pPr marL="552450" lvl="1"/>
            <a:r>
              <a:rPr lang="en-US" dirty="0"/>
              <a:t>I/O system critical to program reliability and performance</a:t>
            </a:r>
          </a:p>
          <a:p>
            <a:endParaRPr lang="en-US" dirty="0"/>
          </a:p>
          <a:p>
            <a:r>
              <a:rPr lang="en-US" b="1" dirty="0"/>
              <a:t>They communicate with each other over networks</a:t>
            </a:r>
          </a:p>
          <a:p>
            <a:pPr marL="552450" lvl="1"/>
            <a:r>
              <a:rPr lang="en-US" dirty="0"/>
              <a:t>Many system-level issues arise in presence of network</a:t>
            </a:r>
          </a:p>
          <a:p>
            <a:pPr marL="838200" lvl="2"/>
            <a:r>
              <a:rPr lang="en-US" dirty="0"/>
              <a:t>Concurrent operations by autonomous processes</a:t>
            </a:r>
          </a:p>
          <a:p>
            <a:pPr marL="838200" lvl="2"/>
            <a:r>
              <a:rPr lang="en-US" dirty="0"/>
              <a:t>Coping with unreliable media</a:t>
            </a:r>
          </a:p>
          <a:p>
            <a:pPr marL="838200" lvl="2"/>
            <a:r>
              <a:rPr lang="en-US" dirty="0"/>
              <a:t>Cross platform compatibility</a:t>
            </a:r>
          </a:p>
          <a:p>
            <a:pPr marL="838200" lvl="2"/>
            <a:r>
              <a:rPr lang="en-US" dirty="0"/>
              <a:t>Complex performance issues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7D97B-81A4-99E3-7221-B2E500314F27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Textbooks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Randal E. Bryant and David R. </a:t>
            </a:r>
            <a:r>
              <a:rPr lang="en-US" dirty="0" err="1"/>
              <a:t>O’Hallaron</a:t>
            </a:r>
            <a:r>
              <a:rPr lang="en-US" dirty="0"/>
              <a:t>, </a:t>
            </a:r>
          </a:p>
          <a:p>
            <a:pPr lvl="1"/>
            <a:r>
              <a:rPr lang="en-US" i="1" dirty="0"/>
              <a:t>Computer Systems: A Programmer’s Perspective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Third Edition </a:t>
            </a:r>
            <a:r>
              <a:rPr lang="en-US" dirty="0"/>
              <a:t>(CS:APP3e), Pearson, 2016</a:t>
            </a:r>
          </a:p>
          <a:p>
            <a:pPr lvl="1"/>
            <a:r>
              <a:rPr lang="en-US" dirty="0"/>
              <a:t>http://</a:t>
            </a:r>
            <a:r>
              <a:rPr lang="en-US" dirty="0" err="1"/>
              <a:t>csapp.cs.cmu.edu</a:t>
            </a:r>
            <a:endParaRPr lang="en-US" dirty="0"/>
          </a:p>
          <a:p>
            <a:pPr lvl="1"/>
            <a:r>
              <a:rPr lang="en-US" dirty="0"/>
              <a:t>This book really matters for the course!</a:t>
            </a:r>
          </a:p>
          <a:p>
            <a:pPr lvl="2"/>
            <a:r>
              <a:rPr lang="en-US" dirty="0"/>
              <a:t>How to solve labs</a:t>
            </a:r>
          </a:p>
          <a:p>
            <a:pPr lvl="2"/>
            <a:r>
              <a:rPr lang="en-US" dirty="0"/>
              <a:t>Practice problems typical of exam problems</a:t>
            </a:r>
          </a:p>
          <a:p>
            <a:endParaRPr lang="en-US" dirty="0"/>
          </a:p>
          <a:p>
            <a:r>
              <a:rPr lang="en-US" dirty="0"/>
              <a:t>Brian Kernighan and Dennis Ritchie, </a:t>
            </a:r>
          </a:p>
          <a:p>
            <a:pPr lvl="1"/>
            <a:r>
              <a:rPr lang="en-US" i="1" dirty="0"/>
              <a:t>The C Programming Language</a:t>
            </a:r>
            <a:r>
              <a:rPr lang="en-US" dirty="0"/>
              <a:t>, Second Edition, Prentice Hall, 1988</a:t>
            </a:r>
          </a:p>
          <a:p>
            <a:pPr lvl="1"/>
            <a:r>
              <a:rPr lang="en-US" dirty="0"/>
              <a:t>Still the best book about C, from the originators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8C89D9-22AE-76D2-7982-1B8D3145ECAD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Course Components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Lectures</a:t>
            </a:r>
          </a:p>
          <a:p>
            <a:pPr marL="552450" lvl="1"/>
            <a:r>
              <a:rPr lang="en-US" dirty="0"/>
              <a:t>Higher level concepts</a:t>
            </a:r>
          </a:p>
          <a:p>
            <a:r>
              <a:rPr lang="en-US" dirty="0"/>
              <a:t>Labs (5)</a:t>
            </a:r>
          </a:p>
          <a:p>
            <a:pPr marL="552450" lvl="1"/>
            <a:r>
              <a:rPr lang="en-US" dirty="0"/>
              <a:t>The heart of the course</a:t>
            </a:r>
          </a:p>
          <a:p>
            <a:pPr marL="552450" lvl="1"/>
            <a:r>
              <a:rPr lang="en-US" dirty="0"/>
              <a:t>2 weeks each</a:t>
            </a:r>
          </a:p>
          <a:p>
            <a:pPr marL="552450" lvl="1"/>
            <a:r>
              <a:rPr lang="en-US" dirty="0"/>
              <a:t>Provide in-depth understanding of an aspect of systems</a:t>
            </a:r>
          </a:p>
          <a:p>
            <a:pPr marL="552450" lvl="1"/>
            <a:r>
              <a:rPr lang="en-US" dirty="0"/>
              <a:t>Programming and measurement</a:t>
            </a:r>
          </a:p>
          <a:p>
            <a:r>
              <a:rPr lang="en-US" dirty="0"/>
              <a:t>Exams (midterm + final)</a:t>
            </a:r>
          </a:p>
          <a:p>
            <a:pPr marL="552450" lvl="1"/>
            <a:r>
              <a:rPr lang="en-US" dirty="0"/>
              <a:t>Test your understanding of concepts &amp; mathematical principles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E2A59-90A9-3BED-8D08-AD634358ADBA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Policies: Grading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Exams (70%): quiz (10%), midterm (20%), final (40%)</a:t>
            </a:r>
          </a:p>
          <a:p>
            <a:endParaRPr lang="en-US" dirty="0"/>
          </a:p>
          <a:p>
            <a:r>
              <a:rPr lang="en-US" dirty="0"/>
              <a:t>Labs (30%): weighted according to effort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Final grades based on a straight scale.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03C5B-9889-92BA-4000-93E3A037444D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Programs and Data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Topics</a:t>
            </a:r>
          </a:p>
          <a:p>
            <a:pPr marL="552450" lvl="1"/>
            <a:r>
              <a:rPr lang="en-US" dirty="0"/>
              <a:t>Bits operations, arithmetic, assembly language programs</a:t>
            </a:r>
          </a:p>
          <a:p>
            <a:pPr marL="552450" lvl="1"/>
            <a:r>
              <a:rPr lang="en-US" dirty="0"/>
              <a:t>Representation of C control and data structures</a:t>
            </a:r>
          </a:p>
          <a:p>
            <a:pPr marL="552450" lvl="1"/>
            <a:r>
              <a:rPr lang="en-US" dirty="0"/>
              <a:t>Includes aspects of architecture and compilers </a:t>
            </a:r>
          </a:p>
          <a:p>
            <a:endParaRPr lang="en-US" dirty="0"/>
          </a:p>
          <a:p>
            <a:r>
              <a:rPr lang="en-US" dirty="0"/>
              <a:t>Assignments</a:t>
            </a:r>
          </a:p>
          <a:p>
            <a:pPr marL="552450" lvl="1"/>
            <a:r>
              <a:rPr lang="en-US" dirty="0"/>
              <a:t>L0 (Introduction): Basic C Programming</a:t>
            </a:r>
          </a:p>
          <a:p>
            <a:pPr marL="552450" lvl="1"/>
            <a:r>
              <a:rPr lang="en-US" dirty="0"/>
              <a:t>L1 (</a:t>
            </a:r>
            <a:r>
              <a:rPr lang="en-US" dirty="0" err="1"/>
              <a:t>datalab</a:t>
            </a:r>
            <a:r>
              <a:rPr lang="en-US" dirty="0"/>
              <a:t>): Manipulating bits</a:t>
            </a:r>
          </a:p>
          <a:p>
            <a:pPr marL="552450" lvl="1"/>
            <a:r>
              <a:rPr lang="en-US" dirty="0"/>
              <a:t>L2 (</a:t>
            </a:r>
            <a:r>
              <a:rPr lang="en-US" dirty="0" err="1"/>
              <a:t>bomblab</a:t>
            </a:r>
            <a:r>
              <a:rPr lang="en-US" dirty="0"/>
              <a:t>): Defusing a binary bomb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B463EB-1DFD-8E53-964A-3813D92B9966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The Memory Hierarchy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Topics</a:t>
            </a:r>
          </a:p>
          <a:p>
            <a:pPr marL="552450" lvl="1"/>
            <a:r>
              <a:rPr lang="en-US" dirty="0"/>
              <a:t>Memory technology, memory hierarchy, caches, disks, locality</a:t>
            </a:r>
          </a:p>
          <a:p>
            <a:pPr marL="552450" lvl="1"/>
            <a:r>
              <a:rPr lang="en-US" dirty="0"/>
              <a:t>Includes aspects of architecture and OS</a:t>
            </a:r>
          </a:p>
          <a:p>
            <a:pPr marL="552450" lvl="1"/>
            <a:endParaRPr lang="en-US" dirty="0"/>
          </a:p>
          <a:p>
            <a:pPr marL="292100"/>
            <a:r>
              <a:rPr lang="en-US" dirty="0"/>
              <a:t>Assignments</a:t>
            </a:r>
          </a:p>
          <a:p>
            <a:pPr marL="552450" lvl="1"/>
            <a:r>
              <a:rPr lang="en-US" dirty="0"/>
              <a:t>Classroom exercises.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7D95A-F646-5498-C7EA-42D9CF4FEE91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3CDF86-5803-CD8C-023F-EE8E2E1A0C5F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Exceptional Control Flow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7823200" cy="5435600"/>
          </a:xfrm>
          <a:ln/>
        </p:spPr>
        <p:txBody>
          <a:bodyPr/>
          <a:lstStyle/>
          <a:p>
            <a:r>
              <a:rPr lang="en-US" dirty="0"/>
              <a:t>Topics</a:t>
            </a:r>
          </a:p>
          <a:p>
            <a:pPr marL="552450" lvl="1"/>
            <a:r>
              <a:rPr lang="en-US" dirty="0"/>
              <a:t>Hardware exceptions, processes, process control, signals</a:t>
            </a:r>
          </a:p>
          <a:p>
            <a:pPr marL="552450" lvl="1"/>
            <a:r>
              <a:rPr lang="en-US" dirty="0"/>
              <a:t>System-level I/O</a:t>
            </a:r>
          </a:p>
          <a:p>
            <a:pPr marL="552450" lvl="1"/>
            <a:r>
              <a:rPr lang="en-US" dirty="0"/>
              <a:t>Includes aspects of compilers, OS, and architecture</a:t>
            </a:r>
          </a:p>
          <a:p>
            <a:pPr marL="552450" lvl="1"/>
            <a:endParaRPr lang="en-US" dirty="0"/>
          </a:p>
          <a:p>
            <a:r>
              <a:rPr lang="en-US" dirty="0"/>
              <a:t>Assignments</a:t>
            </a:r>
          </a:p>
          <a:p>
            <a:pPr marL="552450" lvl="1"/>
            <a:r>
              <a:rPr lang="en-US" dirty="0"/>
              <a:t>L3+4 (Shell lab): Writing your own shell.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2A5A61-9AAF-6563-41BE-3DDD07EADE23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 Synchronization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Topics</a:t>
            </a:r>
          </a:p>
          <a:p>
            <a:pPr marL="552450" lvl="1"/>
            <a:r>
              <a:rPr lang="en-US" dirty="0"/>
              <a:t>Synchronization: Basic + Advanced</a:t>
            </a:r>
          </a:p>
          <a:p>
            <a:r>
              <a:rPr lang="en-US" dirty="0"/>
              <a:t>Assignments</a:t>
            </a:r>
          </a:p>
          <a:p>
            <a:pPr marL="552450" lvl="1"/>
            <a:r>
              <a:rPr lang="en-US" dirty="0"/>
              <a:t>L5 (Word Count Lab)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4BAF70-6DEB-0A1F-B0C6-B018C031C333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2720975"/>
            <a:ext cx="5638800" cy="784225"/>
          </a:xfrm>
          <a:ln/>
        </p:spPr>
        <p:txBody>
          <a:bodyPr/>
          <a:lstStyle/>
          <a:p>
            <a:pPr marL="80963" indent="-809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dirty="0">
                <a:solidFill>
                  <a:srgbClr val="606060"/>
                </a:solidFill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Welcome and Enjoy! </a:t>
            </a:r>
            <a:endParaRPr lang="en-US" sz="4800" dirty="0">
              <a:solidFill>
                <a:srgbClr val="606060"/>
              </a:solidFill>
              <a:latin typeface="Calibri Italic" charset="0"/>
              <a:ea typeface="ヒラギノ角ゴ ProN W3" charset="-128"/>
              <a:cs typeface="ヒラギノ角ゴ ProN W3" charset="-128"/>
              <a:sym typeface="Calibri Italic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C0E4B7-C0DC-7683-8693-4F1F0FB32B7E}"/>
              </a:ext>
            </a:extLst>
          </p:cNvPr>
          <p:cNvSpPr>
            <a:spLocks/>
          </p:cNvSpPr>
          <p:nvPr/>
        </p:nvSpPr>
        <p:spPr bwMode="auto">
          <a:xfrm>
            <a:off x="-12700" y="6652741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3878</TotalTime>
  <Pages>0</Pages>
  <Words>1305</Words>
  <Characters>0</Characters>
  <Application>Microsoft Macintosh PowerPoint</Application>
  <PresentationFormat>On-screen Show (4:3)</PresentationFormat>
  <Lines>0</Lines>
  <Paragraphs>232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 Narrow</vt:lpstr>
      <vt:lpstr>Calibri</vt:lpstr>
      <vt:lpstr>Calibri Bold</vt:lpstr>
      <vt:lpstr>Calibri Italic</vt:lpstr>
      <vt:lpstr>Courier New</vt:lpstr>
      <vt:lpstr>Gill Sans</vt:lpstr>
      <vt:lpstr>Wingdings</vt:lpstr>
      <vt:lpstr>Wingdings 2</vt:lpstr>
      <vt:lpstr>Title Slide</vt:lpstr>
      <vt:lpstr>Title and Content</vt:lpstr>
      <vt:lpstr>Title Only</vt:lpstr>
      <vt:lpstr>PowerPoint Presentation</vt:lpstr>
      <vt:lpstr>Overview</vt:lpstr>
      <vt:lpstr>Course Theme: Abstraction Is Good But Don’t Forget Reality</vt:lpstr>
      <vt:lpstr>Great Reality #1:  Ints are not Integers, Floats are not Reals</vt:lpstr>
      <vt:lpstr>Computer Arithmetic</vt:lpstr>
      <vt:lpstr>Great Reality #2:  You’ve Got to Know Assembly</vt:lpstr>
      <vt:lpstr>Great Reality #3: Memory Matters Random Access Memory Is an Unphysical Abstraction</vt:lpstr>
      <vt:lpstr>Memory Referencing Bug Example</vt:lpstr>
      <vt:lpstr>Memory Referencing Bug Example</vt:lpstr>
      <vt:lpstr>Memory Referencing Errors</vt:lpstr>
      <vt:lpstr>Great Reality #4: There’s more to performance than asymptotic complexity </vt:lpstr>
      <vt:lpstr>Memory System Performance Example</vt:lpstr>
      <vt:lpstr>Great Reality #5: Computers do more than execute programs</vt:lpstr>
      <vt:lpstr>Textbooks</vt:lpstr>
      <vt:lpstr>Course Components</vt:lpstr>
      <vt:lpstr>Policies: Grading</vt:lpstr>
      <vt:lpstr>Programs and Data</vt:lpstr>
      <vt:lpstr>The Memory Hierarchy</vt:lpstr>
      <vt:lpstr>Exceptional Control Flow</vt:lpstr>
      <vt:lpstr> Synchronization</vt:lpstr>
      <vt:lpstr>Welcome and Enjoy!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Đỗ Uyên</cp:lastModifiedBy>
  <cp:revision>100</cp:revision>
  <cp:lastPrinted>2011-08-30T03:47:10Z</cp:lastPrinted>
  <dcterms:created xsi:type="dcterms:W3CDTF">2012-08-28T17:04:18Z</dcterms:created>
  <dcterms:modified xsi:type="dcterms:W3CDTF">2025-09-14T10:53:26Z</dcterms:modified>
</cp:coreProperties>
</file>