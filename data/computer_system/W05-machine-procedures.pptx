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  <p:sldMasterId id="2147483649" r:id="rId2"/>
    <p:sldMasterId id="2147483650" r:id="rId3"/>
    <p:sldMasterId id="2147483653" r:id="rId4"/>
  </p:sldMasterIdLst>
  <p:notesMasterIdLst>
    <p:notesMasterId r:id="rId50"/>
  </p:notesMasterIdLst>
  <p:sldIdLst>
    <p:sldId id="335" r:id="rId5"/>
    <p:sldId id="370" r:id="rId6"/>
    <p:sldId id="397" r:id="rId7"/>
    <p:sldId id="289" r:id="rId8"/>
    <p:sldId id="290" r:id="rId9"/>
    <p:sldId id="256" r:id="rId10"/>
    <p:sldId id="260" r:id="rId11"/>
    <p:sldId id="371" r:id="rId12"/>
    <p:sldId id="292" r:id="rId13"/>
    <p:sldId id="372" r:id="rId14"/>
    <p:sldId id="373" r:id="rId15"/>
    <p:sldId id="374" r:id="rId16"/>
    <p:sldId id="375" r:id="rId17"/>
    <p:sldId id="387" r:id="rId18"/>
    <p:sldId id="376" r:id="rId19"/>
    <p:sldId id="377" r:id="rId20"/>
    <p:sldId id="388" r:id="rId21"/>
    <p:sldId id="295" r:id="rId22"/>
    <p:sldId id="296" r:id="rId23"/>
    <p:sldId id="297" r:id="rId24"/>
    <p:sldId id="298" r:id="rId25"/>
    <p:sldId id="336" r:id="rId26"/>
    <p:sldId id="337" r:id="rId27"/>
    <p:sldId id="338" r:id="rId28"/>
    <p:sldId id="339" r:id="rId29"/>
    <p:sldId id="340" r:id="rId30"/>
    <p:sldId id="341" r:id="rId31"/>
    <p:sldId id="342" r:id="rId32"/>
    <p:sldId id="343" r:id="rId33"/>
    <p:sldId id="344" r:id="rId34"/>
    <p:sldId id="345" r:id="rId35"/>
    <p:sldId id="309" r:id="rId36"/>
    <p:sldId id="310" r:id="rId37"/>
    <p:sldId id="378" r:id="rId38"/>
    <p:sldId id="379" r:id="rId39"/>
    <p:sldId id="385" r:id="rId40"/>
    <p:sldId id="381" r:id="rId41"/>
    <p:sldId id="382" r:id="rId42"/>
    <p:sldId id="325" r:id="rId43"/>
    <p:sldId id="326" r:id="rId44"/>
    <p:sldId id="327" r:id="rId45"/>
    <p:sldId id="383" r:id="rId46"/>
    <p:sldId id="384" r:id="rId47"/>
    <p:sldId id="386" r:id="rId48"/>
    <p:sldId id="389" r:id="rId49"/>
  </p:sldIdLst>
  <p:sldSz cx="9144000" cy="6858000" type="screen4x3"/>
  <p:notesSz cx="6858000" cy="9144000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1pPr>
    <a:lvl2pPr marL="457200" algn="ctr" rtl="0" fontAlgn="base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2pPr>
    <a:lvl3pPr marL="914400" algn="ctr" rtl="0" fontAlgn="base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3pPr>
    <a:lvl4pPr marL="1371600" algn="ctr" rtl="0" fontAlgn="base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4pPr>
    <a:lvl5pPr marL="1828800" algn="ctr" rtl="0" fontAlgn="base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5pPr>
    <a:lvl6pPr marL="2286000" algn="l" defTabSz="914400" rtl="0" eaLnBrk="1" latinLnBrk="0" hangingPunct="1">
      <a:defRPr sz="42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6pPr>
    <a:lvl7pPr marL="2743200" algn="l" defTabSz="914400" rtl="0" eaLnBrk="1" latinLnBrk="0" hangingPunct="1">
      <a:defRPr sz="42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7pPr>
    <a:lvl8pPr marL="3200400" algn="l" defTabSz="914400" rtl="0" eaLnBrk="1" latinLnBrk="0" hangingPunct="1">
      <a:defRPr sz="42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8pPr>
    <a:lvl9pPr marL="3657600" algn="l" defTabSz="914400" rtl="0" eaLnBrk="1" latinLnBrk="0" hangingPunct="1">
      <a:defRPr sz="42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132" autoAdjust="0"/>
    <p:restoredTop sz="95781" autoAdjust="0"/>
  </p:normalViewPr>
  <p:slideViewPr>
    <p:cSldViewPr>
      <p:cViewPr varScale="1">
        <p:scale>
          <a:sx n="106" d="100"/>
          <a:sy n="106" d="100"/>
        </p:scale>
        <p:origin x="1768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8" Type="http://schemas.openxmlformats.org/officeDocument/2006/relationships/slide" Target="slides/slide4.xml"/><Relationship Id="rId51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484245-4571-4C90-8BD5-DFDBDCB8E868}" type="datetimeFigureOut">
              <a:rPr lang="en-US" smtClean="0"/>
              <a:pPr/>
              <a:t>10/16/25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6485A2-FA6A-46DD-B3E5-15C95E45F6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5233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600200"/>
            <a:ext cx="2057400" cy="45259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6019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397000"/>
            <a:ext cx="4114800" cy="5435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97000"/>
            <a:ext cx="4114800" cy="5435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67500" y="254000"/>
            <a:ext cx="2095500" cy="6578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254000"/>
            <a:ext cx="6134100" cy="6578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67500" y="254000"/>
            <a:ext cx="2095500" cy="58721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254000"/>
            <a:ext cx="6134100" cy="58721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397000"/>
            <a:ext cx="4114800" cy="5435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97000"/>
            <a:ext cx="4114800" cy="5435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67500" y="254000"/>
            <a:ext cx="2095500" cy="6578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254000"/>
            <a:ext cx="6134100" cy="6578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635000" y="2032000"/>
            <a:ext cx="7772400" cy="749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8100" tIns="38100" rIns="38100" bIns="381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>
                <a:sym typeface="Calibri Bold" charset="0"/>
              </a:rPr>
              <a:t>Click to edit Master title style</a:t>
            </a:r>
          </a:p>
        </p:txBody>
      </p:sp>
      <p:sp>
        <p:nvSpPr>
          <p:cNvPr id="3" name="TextBox 2"/>
          <p:cNvSpPr txBox="1"/>
          <p:nvPr userDrawn="1"/>
        </p:nvSpPr>
        <p:spPr>
          <a:xfrm>
            <a:off x="-16031" y="6629400"/>
            <a:ext cx="464934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0" i="0" dirty="0">
                <a:latin typeface="Calibri" pitchFamily="34" charset="0"/>
              </a:rPr>
              <a:t>Bryant</a:t>
            </a:r>
            <a:r>
              <a:rPr lang="en-US" sz="1000" b="0" i="0" baseline="0" dirty="0">
                <a:latin typeface="Calibri" pitchFamily="34" charset="0"/>
              </a:rPr>
              <a:t> and </a:t>
            </a:r>
            <a:r>
              <a:rPr lang="en-US" sz="1000" b="0" i="0" baseline="0" dirty="0" err="1">
                <a:latin typeface="Calibri" pitchFamily="34" charset="0"/>
              </a:rPr>
              <a:t>O’Hallaron</a:t>
            </a:r>
            <a:r>
              <a:rPr lang="en-US" sz="1000" b="0" i="0" baseline="0" dirty="0">
                <a:latin typeface="Calibri" pitchFamily="34" charset="0"/>
              </a:rPr>
              <a:t>, Computer Systems: A Programmer’s Perspective, Third Edition</a:t>
            </a:r>
            <a:endParaRPr lang="en-US" sz="1000" b="0" i="0" dirty="0">
              <a:latin typeface="Calibri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</p:sldLayoutIdLst>
  <p:transition/>
  <p:txStyles>
    <p:titleStyle>
      <a:lvl1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j-lt"/>
          <a:ea typeface="+mj-ea"/>
          <a:cs typeface="+mj-cs"/>
          <a:sym typeface="Calibri Bold" charset="0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9pPr>
    </p:titleStyle>
    <p:bodyStyle>
      <a:lvl1pPr algn="l" rtl="0" fontAlgn="base">
        <a:spcBef>
          <a:spcPts val="5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  <a:sym typeface="Calibri" charset="0"/>
        </a:defRPr>
      </a:lvl1pPr>
      <a:lvl2pPr marL="457200" algn="ctr" rtl="0" fontAlgn="base">
        <a:spcBef>
          <a:spcPts val="5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  <a:sym typeface="Calibri" charset="0"/>
        </a:defRPr>
      </a:lvl2pPr>
      <a:lvl3pPr marL="914400" algn="ctr" rtl="0" fontAlgn="base">
        <a:spcBef>
          <a:spcPts val="5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  <a:sym typeface="Calibri" charset="0"/>
        </a:defRPr>
      </a:lvl3pPr>
      <a:lvl4pPr marL="1371600" algn="ctr" rtl="0" fontAlgn="base">
        <a:spcBef>
          <a:spcPts val="5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  <a:sym typeface="Calibri" charset="0"/>
        </a:defRPr>
      </a:lvl4pPr>
      <a:lvl5pPr marL="1828800" algn="ctr" rtl="0" fontAlgn="base">
        <a:spcBef>
          <a:spcPts val="5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  <a:sym typeface="Calibri" charset="0"/>
        </a:defRPr>
      </a:lvl5pPr>
      <a:lvl6pPr marL="2286000" algn="ctr" rtl="0" fontAlgn="base">
        <a:spcBef>
          <a:spcPts val="5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  <a:sym typeface="Calibri" charset="0"/>
        </a:defRPr>
      </a:lvl6pPr>
      <a:lvl7pPr marL="2743200" algn="ctr" rtl="0" fontAlgn="base">
        <a:spcBef>
          <a:spcPts val="5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  <a:sym typeface="Calibri" charset="0"/>
        </a:defRPr>
      </a:lvl7pPr>
      <a:lvl8pPr marL="3200400" algn="ctr" rtl="0" fontAlgn="base">
        <a:spcBef>
          <a:spcPts val="5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  <a:sym typeface="Calibri" charset="0"/>
        </a:defRPr>
      </a:lvl8pPr>
      <a:lvl9pPr marL="3657600" algn="ctr" rtl="0" fontAlgn="base">
        <a:spcBef>
          <a:spcPts val="5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  <a:sym typeface="Calibri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254000"/>
            <a:ext cx="838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8100" tIns="38100" rIns="38100" bIns="381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>
                <a:sym typeface="Calibri Bold" charset="0"/>
              </a:rPr>
              <a:t>Click to edit Master title style</a:t>
            </a: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397000"/>
            <a:ext cx="8382000" cy="543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8100" tIns="38100" rIns="38100" bIns="381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>
                <a:sym typeface="Calibri Bold" charset="0"/>
              </a:rPr>
              <a:t>Click to edit Master text styles</a:t>
            </a:r>
          </a:p>
          <a:p>
            <a:pPr lvl="1"/>
            <a:r>
              <a:rPr lang="en-US" dirty="0">
                <a:sym typeface="Calibri" charset="0"/>
              </a:rPr>
              <a:t>Second level</a:t>
            </a:r>
          </a:p>
          <a:p>
            <a:pPr lvl="2"/>
            <a:r>
              <a:rPr lang="en-US" dirty="0">
                <a:sym typeface="Calibri" charset="0"/>
              </a:rPr>
              <a:t>Third level</a:t>
            </a:r>
          </a:p>
          <a:p>
            <a:pPr lvl="3"/>
            <a:r>
              <a:rPr lang="en-US" dirty="0">
                <a:sym typeface="Calibri" charset="0"/>
              </a:rPr>
              <a:t>Fourth level</a:t>
            </a:r>
          </a:p>
          <a:p>
            <a:pPr lvl="4"/>
            <a:r>
              <a:rPr lang="en-US" dirty="0">
                <a:sym typeface="Calibri" charset="0"/>
              </a:rPr>
              <a:t>Fifth level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8830843" y="6611779"/>
            <a:ext cx="31315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F5551B27-49BC-4291-80C6-707CDCF1D651}" type="slidenum">
              <a:rPr kumimoji="0" 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itchFamily="-96" charset="0"/>
                <a:ea typeface="ＭＳ Ｐゴシック" pitchFamily="-96" charset="-128"/>
                <a:cs typeface="ＭＳ Ｐゴシック" pitchFamily="-96" charset="-128"/>
              </a:rPr>
              <a:pPr/>
              <a:t>‹#›</a:t>
            </a:fld>
            <a:endParaRPr lang="en-US" dirty="0"/>
          </a:p>
        </p:txBody>
      </p:sp>
      <p:sp>
        <p:nvSpPr>
          <p:cNvPr id="5" name="TextBox 4"/>
          <p:cNvSpPr txBox="1"/>
          <p:nvPr userDrawn="1"/>
        </p:nvSpPr>
        <p:spPr>
          <a:xfrm>
            <a:off x="-16031" y="6629400"/>
            <a:ext cx="464934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0" i="0" dirty="0">
                <a:latin typeface="Calibri" pitchFamily="34" charset="0"/>
              </a:rPr>
              <a:t>Bryant</a:t>
            </a:r>
            <a:r>
              <a:rPr lang="en-US" sz="1000" b="0" i="0" baseline="0" dirty="0">
                <a:latin typeface="Calibri" pitchFamily="34" charset="0"/>
              </a:rPr>
              <a:t> and </a:t>
            </a:r>
            <a:r>
              <a:rPr lang="en-US" sz="1000" b="0" i="0" baseline="0" dirty="0" err="1">
                <a:latin typeface="Calibri" pitchFamily="34" charset="0"/>
              </a:rPr>
              <a:t>O’Hallaron</a:t>
            </a:r>
            <a:r>
              <a:rPr lang="en-US" sz="1000" b="0" i="0" baseline="0" dirty="0">
                <a:latin typeface="Calibri" pitchFamily="34" charset="0"/>
              </a:rPr>
              <a:t>, Computer Systems: A Programmer’s Perspective, Third Edition</a:t>
            </a:r>
            <a:endParaRPr lang="en-US" sz="1000" b="0" i="0" dirty="0">
              <a:latin typeface="Calibri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</p:sldLayoutIdLst>
  <p:transition/>
  <p:txStyles>
    <p:titleStyle>
      <a:lvl1pPr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+mj-lt"/>
          <a:ea typeface="+mj-ea"/>
          <a:cs typeface="+mj-cs"/>
          <a:sym typeface="Calibri Bold" charset="0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9pPr>
    </p:titleStyle>
    <p:bodyStyle>
      <a:lvl1pPr marL="254000" indent="-254000" algn="l" rtl="0" fontAlgn="base">
        <a:spcBef>
          <a:spcPts val="600"/>
        </a:spcBef>
        <a:spcAft>
          <a:spcPct val="0"/>
        </a:spcAft>
        <a:buClr>
          <a:srgbClr val="990000"/>
        </a:buClr>
        <a:buSzPct val="60000"/>
        <a:buFont typeface="Wingdings 2" charset="2"/>
        <a:buChar char="¢"/>
        <a:defRPr sz="2400" b="1">
          <a:solidFill>
            <a:schemeClr val="tx1"/>
          </a:solidFill>
          <a:latin typeface="+mn-lt"/>
          <a:ea typeface="+mn-ea"/>
          <a:cs typeface="+mn-cs"/>
          <a:sym typeface="Calibri Bold" charset="0"/>
        </a:defRPr>
      </a:lvl1pPr>
      <a:lvl2pPr marL="514350" indent="-234950" algn="l" rtl="0" fontAlgn="base">
        <a:spcBef>
          <a:spcPts val="500"/>
        </a:spcBef>
        <a:spcAft>
          <a:spcPct val="0"/>
        </a:spcAft>
        <a:buClr>
          <a:srgbClr val="990000"/>
        </a:buClr>
        <a:buSzPct val="110000"/>
        <a:buFont typeface="Wingdings" charset="2"/>
        <a:buChar char="§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2pPr>
      <a:lvl3pPr marL="800100" indent="-203200" algn="l" rtl="0" fontAlgn="base">
        <a:spcBef>
          <a:spcPts val="500"/>
        </a:spcBef>
        <a:spcAft>
          <a:spcPct val="0"/>
        </a:spcAft>
        <a:buClr>
          <a:srgbClr val="000000"/>
        </a:buClr>
        <a:buSzPct val="80000"/>
        <a:buFont typeface="Wingdings" charset="2"/>
        <a:buChar char="§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3pPr>
      <a:lvl4pPr marL="11430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–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4pPr>
      <a:lvl5pPr marL="14605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5pPr>
      <a:lvl6pPr marL="19177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6pPr>
      <a:lvl7pPr marL="23749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7pPr>
      <a:lvl8pPr marL="28321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8pPr>
      <a:lvl9pPr marL="32893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254000"/>
            <a:ext cx="838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8100" tIns="38100" rIns="38100" bIns="381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>
                <a:sym typeface="Calibri Bold" charset="0"/>
              </a:rPr>
              <a:t>Click to edit Master title style</a:t>
            </a:r>
          </a:p>
        </p:txBody>
      </p:sp>
      <p:sp>
        <p:nvSpPr>
          <p:cNvPr id="3" name="Rectangle 2"/>
          <p:cNvSpPr/>
          <p:nvPr userDrawn="1"/>
        </p:nvSpPr>
        <p:spPr>
          <a:xfrm>
            <a:off x="8830843" y="6611779"/>
            <a:ext cx="31315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F5551B27-49BC-4291-80C6-707CDCF1D651}" type="slidenum">
              <a:rPr kumimoji="0" 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itchFamily="-96" charset="0"/>
                <a:ea typeface="ＭＳ Ｐゴシック" pitchFamily="-96" charset="-128"/>
                <a:cs typeface="ＭＳ Ｐゴシック" pitchFamily="-96" charset="-128"/>
              </a:rPr>
              <a:pPr/>
              <a:t>‹#›</a:t>
            </a:fld>
            <a:endParaRPr lang="en-US" dirty="0"/>
          </a:p>
        </p:txBody>
      </p:sp>
      <p:sp>
        <p:nvSpPr>
          <p:cNvPr id="4" name="TextBox 3"/>
          <p:cNvSpPr txBox="1"/>
          <p:nvPr userDrawn="1"/>
        </p:nvSpPr>
        <p:spPr>
          <a:xfrm>
            <a:off x="-16031" y="6629400"/>
            <a:ext cx="464934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0" i="0" dirty="0">
                <a:latin typeface="Calibri" pitchFamily="34" charset="0"/>
              </a:rPr>
              <a:t>Bryant</a:t>
            </a:r>
            <a:r>
              <a:rPr lang="en-US" sz="1000" b="0" i="0" baseline="0" dirty="0">
                <a:latin typeface="Calibri" pitchFamily="34" charset="0"/>
              </a:rPr>
              <a:t> and </a:t>
            </a:r>
            <a:r>
              <a:rPr lang="en-US" sz="1000" b="0" i="0" baseline="0" dirty="0" err="1">
                <a:latin typeface="Calibri" pitchFamily="34" charset="0"/>
              </a:rPr>
              <a:t>O’Hallaron</a:t>
            </a:r>
            <a:r>
              <a:rPr lang="en-US" sz="1000" b="0" i="0" baseline="0" dirty="0">
                <a:latin typeface="Calibri" pitchFamily="34" charset="0"/>
              </a:rPr>
              <a:t>, Computer Systems: A Programmer’s Perspective, Third Edition</a:t>
            </a:r>
            <a:endParaRPr lang="en-US" sz="1000" b="0" i="0" dirty="0">
              <a:latin typeface="Calibri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</p:sldLayoutIdLst>
  <p:transition/>
  <p:txStyles>
    <p:titleStyle>
      <a:lvl1pPr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+mj-lt"/>
          <a:ea typeface="+mj-ea"/>
          <a:cs typeface="+mj-cs"/>
          <a:sym typeface="Calibri Bold" charset="0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9pPr>
    </p:titleStyle>
    <p:bodyStyle>
      <a:lvl1pPr marL="342900" indent="-342900" algn="l" rtl="0" fontAlgn="base">
        <a:spcBef>
          <a:spcPts val="600"/>
        </a:spcBef>
        <a:spcAft>
          <a:spcPct val="0"/>
        </a:spcAft>
        <a:buClr>
          <a:srgbClr val="990000"/>
        </a:buClr>
        <a:buSzPct val="60000"/>
        <a:buFont typeface="Wingdings 2" charset="2"/>
        <a:buChar char="¢"/>
        <a:defRPr sz="2400">
          <a:solidFill>
            <a:schemeClr val="tx1"/>
          </a:solidFill>
          <a:latin typeface="+mn-lt"/>
          <a:ea typeface="+mn-ea"/>
          <a:cs typeface="+mn-cs"/>
          <a:sym typeface="Calibri Bold" charset="0"/>
        </a:defRPr>
      </a:lvl1pPr>
      <a:lvl2pPr marL="742950" indent="-285750" algn="l" rtl="0" fontAlgn="base">
        <a:spcBef>
          <a:spcPts val="500"/>
        </a:spcBef>
        <a:spcAft>
          <a:spcPct val="0"/>
        </a:spcAft>
        <a:buClr>
          <a:srgbClr val="990000"/>
        </a:buClr>
        <a:buSzPct val="110000"/>
        <a:buFont typeface="Wingdings" charset="2"/>
        <a:buChar char="§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2pPr>
      <a:lvl3pPr marL="11430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80000"/>
        <a:buFont typeface="Wingdings" charset="2"/>
        <a:buChar char="§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3pPr>
      <a:lvl4pPr marL="16002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–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4pPr>
      <a:lvl5pPr marL="20574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5pPr>
      <a:lvl6pPr marL="25146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6pPr>
      <a:lvl7pPr marL="29718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7pPr>
      <a:lvl8pPr marL="34290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8pPr>
      <a:lvl9pPr marL="38862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254000"/>
            <a:ext cx="838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8100" tIns="38100" rIns="38100" bIns="381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>
                <a:sym typeface="Calibri Bold" charset="0"/>
              </a:rPr>
              <a:t>Click to edit Master title style</a:t>
            </a:r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397000"/>
            <a:ext cx="8382000" cy="543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8100" tIns="38100" rIns="38100" bIns="381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>
                <a:sym typeface="Calibri Bold" charset="0"/>
              </a:rPr>
              <a:t>Click to edit Master text styles</a:t>
            </a:r>
          </a:p>
          <a:p>
            <a:pPr lvl="1"/>
            <a:r>
              <a:rPr lang="en-US" dirty="0">
                <a:sym typeface="Calibri" charset="0"/>
              </a:rPr>
              <a:t>Second level</a:t>
            </a:r>
          </a:p>
          <a:p>
            <a:pPr lvl="2"/>
            <a:r>
              <a:rPr lang="en-US" dirty="0">
                <a:sym typeface="Calibri" charset="0"/>
              </a:rPr>
              <a:t>Third level</a:t>
            </a:r>
          </a:p>
          <a:p>
            <a:pPr lvl="3"/>
            <a:r>
              <a:rPr lang="en-US" dirty="0">
                <a:sym typeface="Calibri" charset="0"/>
              </a:rPr>
              <a:t>Fourth level</a:t>
            </a:r>
          </a:p>
          <a:p>
            <a:pPr lvl="4"/>
            <a:r>
              <a:rPr lang="en-US" dirty="0">
                <a:sym typeface="Calibri" charset="0"/>
              </a:rPr>
              <a:t>Fifth level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8830843" y="6611779"/>
            <a:ext cx="31315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F5551B27-49BC-4291-80C6-707CDCF1D651}" type="slidenum">
              <a:rPr kumimoji="0" 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itchFamily="-96" charset="0"/>
                <a:ea typeface="ＭＳ Ｐゴシック" pitchFamily="-96" charset="-128"/>
                <a:cs typeface="ＭＳ Ｐゴシック" pitchFamily="-96" charset="-128"/>
              </a:rPr>
              <a:pPr/>
              <a:t>‹#›</a:t>
            </a:fld>
            <a:endParaRPr lang="en-US" dirty="0"/>
          </a:p>
        </p:txBody>
      </p:sp>
      <p:sp>
        <p:nvSpPr>
          <p:cNvPr id="5" name="TextBox 4"/>
          <p:cNvSpPr txBox="1"/>
          <p:nvPr userDrawn="1"/>
        </p:nvSpPr>
        <p:spPr>
          <a:xfrm>
            <a:off x="-16031" y="6629400"/>
            <a:ext cx="464934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0" i="0" dirty="0">
                <a:latin typeface="Calibri" pitchFamily="34" charset="0"/>
              </a:rPr>
              <a:t>Bryant</a:t>
            </a:r>
            <a:r>
              <a:rPr lang="en-US" sz="1000" b="0" i="0" baseline="0" dirty="0">
                <a:latin typeface="Calibri" pitchFamily="34" charset="0"/>
              </a:rPr>
              <a:t> and </a:t>
            </a:r>
            <a:r>
              <a:rPr lang="en-US" sz="1000" b="0" i="0" baseline="0" dirty="0" err="1">
                <a:latin typeface="Calibri" pitchFamily="34" charset="0"/>
              </a:rPr>
              <a:t>O’Hallaron</a:t>
            </a:r>
            <a:r>
              <a:rPr lang="en-US" sz="1000" b="0" i="0" baseline="0" dirty="0">
                <a:latin typeface="Calibri" pitchFamily="34" charset="0"/>
              </a:rPr>
              <a:t>, Computer Systems: A Programmer’s Perspective, Third Edition</a:t>
            </a:r>
            <a:endParaRPr lang="en-US" sz="1000" b="0" i="0" dirty="0">
              <a:latin typeface="Calibri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</p:sldLayoutIdLst>
  <p:transition/>
  <p:txStyles>
    <p:titleStyle>
      <a:lvl1pPr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+mj-lt"/>
          <a:ea typeface="+mj-ea"/>
          <a:cs typeface="+mj-cs"/>
          <a:sym typeface="Calibri Bold" charset="0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9pPr>
    </p:titleStyle>
    <p:bodyStyle>
      <a:lvl1pPr marL="254000" indent="-254000" algn="l" rtl="0" fontAlgn="base">
        <a:spcBef>
          <a:spcPts val="600"/>
        </a:spcBef>
        <a:spcAft>
          <a:spcPct val="0"/>
        </a:spcAft>
        <a:buClr>
          <a:srgbClr val="990000"/>
        </a:buClr>
        <a:buSzPct val="60000"/>
        <a:buFont typeface="Wingdings 2" charset="2"/>
        <a:buChar char="¢"/>
        <a:defRPr sz="2400" b="1">
          <a:solidFill>
            <a:schemeClr val="tx1"/>
          </a:solidFill>
          <a:latin typeface="+mn-lt"/>
          <a:ea typeface="+mn-ea"/>
          <a:cs typeface="+mn-cs"/>
          <a:sym typeface="Calibri Bold" charset="0"/>
        </a:defRPr>
      </a:lvl1pPr>
      <a:lvl2pPr marL="514350" indent="-234950" algn="l" rtl="0" fontAlgn="base">
        <a:spcBef>
          <a:spcPts val="500"/>
        </a:spcBef>
        <a:spcAft>
          <a:spcPct val="0"/>
        </a:spcAft>
        <a:buClr>
          <a:srgbClr val="990000"/>
        </a:buClr>
        <a:buSzPct val="110000"/>
        <a:buFont typeface="Wingdings" charset="2"/>
        <a:buChar char="§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2pPr>
      <a:lvl3pPr marL="800100" indent="-203200" algn="l" rtl="0" fontAlgn="base">
        <a:spcBef>
          <a:spcPts val="500"/>
        </a:spcBef>
        <a:spcAft>
          <a:spcPct val="0"/>
        </a:spcAft>
        <a:buClr>
          <a:srgbClr val="000000"/>
        </a:buClr>
        <a:buSzPct val="80000"/>
        <a:buFont typeface="Wingdings" charset="2"/>
        <a:buChar char="§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3pPr>
      <a:lvl4pPr marL="11430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–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4pPr>
      <a:lvl5pPr marL="14605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5pPr>
      <a:lvl6pPr marL="19177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6pPr>
      <a:lvl7pPr marL="23749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7pPr>
      <a:lvl8pPr marL="28321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8pPr>
      <a:lvl9pPr marL="32893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8194" name="Rectangle 2"/>
          <p:cNvSpPr>
            <a:spLocks/>
          </p:cNvSpPr>
          <p:nvPr/>
        </p:nvSpPr>
        <p:spPr bwMode="auto">
          <a:xfrm>
            <a:off x="7897813" y="-26988"/>
            <a:ext cx="1320800" cy="25241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l"/>
            <a:r>
              <a:rPr lang="en-US" sz="1200">
                <a:solidFill>
                  <a:srgbClr val="FFFFFF"/>
                </a:solidFill>
                <a:latin typeface="Times New Roman" charset="0"/>
                <a:cs typeface="Times New Roman" charset="0"/>
                <a:sym typeface="Times New Roman" charset="0"/>
              </a:rPr>
              <a:t>Carnegie Mellon</a:t>
            </a:r>
          </a:p>
        </p:txBody>
      </p:sp>
      <p:sp>
        <p:nvSpPr>
          <p:cNvPr id="8199" name="Rectangle 7"/>
          <p:cNvSpPr>
            <a:spLocks noGrp="1" noChangeArrowheads="1"/>
          </p:cNvSpPr>
          <p:nvPr>
            <p:ph type="title"/>
          </p:nvPr>
        </p:nvSpPr>
        <p:spPr>
          <a:xfrm>
            <a:off x="609600" y="1752600"/>
            <a:ext cx="8356600" cy="2590800"/>
          </a:xfrm>
          <a:ln/>
        </p:spPr>
        <p:txBody>
          <a:bodyPr/>
          <a:lstStyle/>
          <a:p>
            <a:pPr marL="119063" indent="-119063"/>
            <a:r>
              <a:rPr lang="en-US" b="1" dirty="0"/>
              <a:t>Machine-Level Programming III:</a:t>
            </a:r>
            <a:br>
              <a:rPr lang="en-US" b="1" dirty="0"/>
            </a:br>
            <a:r>
              <a:rPr lang="en-US" b="1" dirty="0"/>
              <a:t>Procedures</a:t>
            </a:r>
            <a:br>
              <a:rPr lang="en-US" b="1" dirty="0"/>
            </a:br>
            <a:br>
              <a:rPr lang="en-US" b="1" dirty="0"/>
            </a:br>
            <a:r>
              <a:rPr lang="en-US" sz="2000" dirty="0"/>
              <a:t>Introduction to Computer Systems</a:t>
            </a:r>
            <a:br>
              <a:rPr lang="en-US" sz="2000" dirty="0"/>
            </a:br>
            <a:r>
              <a:rPr lang="en-US" sz="2000" dirty="0"/>
              <a:t>6</a:t>
            </a:r>
            <a:r>
              <a:rPr lang="en-US" sz="2000" baseline="30000" dirty="0"/>
              <a:t>th</a:t>
            </a:r>
            <a:r>
              <a:rPr lang="en-US" sz="2000" dirty="0"/>
              <a:t> Lecture, Oct. 20, 2025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B0E0C20-14EC-F13A-A570-6EDB40380636}"/>
              </a:ext>
            </a:extLst>
          </p:cNvPr>
          <p:cNvSpPr>
            <a:spLocks/>
          </p:cNvSpPr>
          <p:nvPr/>
        </p:nvSpPr>
        <p:spPr bwMode="auto">
          <a:xfrm>
            <a:off x="-1270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F76E6FD-CE0F-E9C3-752F-0C295DF8FE44}"/>
              </a:ext>
            </a:extLst>
          </p:cNvPr>
          <p:cNvSpPr>
            <a:spLocks/>
          </p:cNvSpPr>
          <p:nvPr/>
        </p:nvSpPr>
        <p:spPr bwMode="auto">
          <a:xfrm>
            <a:off x="-12700" y="6658594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Mechanisms in Procedures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381000" y="1219200"/>
            <a:ext cx="5257800" cy="5435600"/>
          </a:xfrm>
        </p:spPr>
        <p:txBody>
          <a:bodyPr/>
          <a:lstStyle/>
          <a:p>
            <a:r>
              <a:rPr lang="en-US" dirty="0"/>
              <a:t>Passing control</a:t>
            </a:r>
          </a:p>
          <a:p>
            <a:pPr lvl="1"/>
            <a:r>
              <a:rPr lang="en-US" dirty="0"/>
              <a:t>To beginning of procedure code</a:t>
            </a:r>
          </a:p>
          <a:p>
            <a:pPr lvl="1"/>
            <a:r>
              <a:rPr lang="en-US" dirty="0"/>
              <a:t>Back to return point</a:t>
            </a:r>
          </a:p>
          <a:p>
            <a:r>
              <a:rPr lang="en-US" dirty="0"/>
              <a:t>Passing data</a:t>
            </a:r>
          </a:p>
          <a:p>
            <a:pPr lvl="1"/>
            <a:r>
              <a:rPr lang="en-US" dirty="0"/>
              <a:t>Procedure arguments</a:t>
            </a:r>
          </a:p>
          <a:p>
            <a:pPr lvl="1"/>
            <a:r>
              <a:rPr lang="en-US" dirty="0"/>
              <a:t>Return value</a:t>
            </a:r>
          </a:p>
          <a:p>
            <a:r>
              <a:rPr lang="en-US" dirty="0"/>
              <a:t>Memory management</a:t>
            </a:r>
          </a:p>
          <a:p>
            <a:pPr lvl="1"/>
            <a:r>
              <a:rPr lang="en-US" dirty="0"/>
              <a:t>Allocate during procedure execution</a:t>
            </a:r>
          </a:p>
          <a:p>
            <a:pPr lvl="1"/>
            <a:r>
              <a:rPr lang="en-US" dirty="0" err="1"/>
              <a:t>Deallocate</a:t>
            </a:r>
            <a:r>
              <a:rPr lang="en-US" dirty="0"/>
              <a:t> upon return</a:t>
            </a:r>
          </a:p>
          <a:p>
            <a:r>
              <a:rPr lang="en-US" dirty="0"/>
              <a:t>Mechanisms all implemented with machine instructions</a:t>
            </a:r>
          </a:p>
          <a:p>
            <a:r>
              <a:rPr lang="en-US" dirty="0"/>
              <a:t>x86-64 implementation of a procedure uses only those mechanisms required</a:t>
            </a:r>
          </a:p>
        </p:txBody>
      </p:sp>
      <p:sp>
        <p:nvSpPr>
          <p:cNvPr id="8" name="Rectangle 4"/>
          <p:cNvSpPr>
            <a:spLocks/>
          </p:cNvSpPr>
          <p:nvPr/>
        </p:nvSpPr>
        <p:spPr bwMode="auto">
          <a:xfrm>
            <a:off x="5791200" y="990600"/>
            <a:ext cx="1841500" cy="23622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P(…) {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y = Q(x);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print(y)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  </a:t>
            </a:r>
          </a:p>
        </p:txBody>
      </p:sp>
      <p:sp>
        <p:nvSpPr>
          <p:cNvPr id="9" name="Rectangle 5"/>
          <p:cNvSpPr>
            <a:spLocks/>
          </p:cNvSpPr>
          <p:nvPr/>
        </p:nvSpPr>
        <p:spPr bwMode="auto">
          <a:xfrm>
            <a:off x="5791200" y="3581400"/>
            <a:ext cx="2133600" cy="2362200"/>
          </a:xfrm>
          <a:prstGeom prst="rect">
            <a:avLst/>
          </a:prstGeom>
          <a:solidFill>
            <a:srgbClr val="D5F1CF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int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Q(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int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int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t = 3*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;  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int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v[10];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return v[t];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grpSp>
        <p:nvGrpSpPr>
          <p:cNvPr id="21" name="Group 20"/>
          <p:cNvGrpSpPr/>
          <p:nvPr/>
        </p:nvGrpSpPr>
        <p:grpSpPr>
          <a:xfrm>
            <a:off x="5334000" y="2057400"/>
            <a:ext cx="3352800" cy="3352800"/>
            <a:chOff x="5334000" y="2057400"/>
            <a:chExt cx="3352800" cy="3352800"/>
          </a:xfrm>
        </p:grpSpPr>
        <p:sp>
          <p:nvSpPr>
            <p:cNvPr id="10" name="Arc 9"/>
            <p:cNvSpPr/>
            <p:nvPr/>
          </p:nvSpPr>
          <p:spPr bwMode="auto">
            <a:xfrm>
              <a:off x="6477000" y="2057400"/>
              <a:ext cx="2209800" cy="2286000"/>
            </a:xfrm>
            <a:prstGeom prst="arc">
              <a:avLst>
                <a:gd name="adj1" fmla="val 16200000"/>
                <a:gd name="adj2" fmla="val 4768750"/>
              </a:avLst>
            </a:prstGeom>
            <a:noFill/>
            <a:ln w="254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endParaRPr>
            </a:p>
          </p:txBody>
        </p:sp>
        <p:sp>
          <p:nvSpPr>
            <p:cNvPr id="11" name="Arc 10"/>
            <p:cNvSpPr/>
            <p:nvPr/>
          </p:nvSpPr>
          <p:spPr bwMode="auto">
            <a:xfrm rot="10800000">
              <a:off x="5334000" y="2362200"/>
              <a:ext cx="1371600" cy="3048000"/>
            </a:xfrm>
            <a:prstGeom prst="arc">
              <a:avLst>
                <a:gd name="adj1" fmla="val 16200000"/>
                <a:gd name="adj2" fmla="val 5567493"/>
              </a:avLst>
            </a:prstGeom>
            <a:noFill/>
            <a:ln w="254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endParaRP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6248400" y="2133600"/>
            <a:ext cx="990600" cy="3200400"/>
            <a:chOff x="6248400" y="2133600"/>
            <a:chExt cx="990600" cy="3200400"/>
          </a:xfrm>
        </p:grpSpPr>
        <p:cxnSp>
          <p:nvCxnSpPr>
            <p:cNvPr id="13" name="Straight Arrow Connector 12"/>
            <p:cNvCxnSpPr/>
            <p:nvPr/>
          </p:nvCxnSpPr>
          <p:spPr bwMode="auto">
            <a:xfrm>
              <a:off x="7010400" y="2133600"/>
              <a:ext cx="228600" cy="1524000"/>
            </a:xfrm>
            <a:prstGeom prst="straightConnector1">
              <a:avLst/>
            </a:prstGeom>
            <a:solidFill>
              <a:schemeClr val="accent1"/>
            </a:solidFill>
            <a:ln w="25400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14" name="Straight Arrow Connector 13"/>
            <p:cNvCxnSpPr/>
            <p:nvPr/>
          </p:nvCxnSpPr>
          <p:spPr bwMode="auto">
            <a:xfrm flipH="1" flipV="1">
              <a:off x="6248400" y="2133600"/>
              <a:ext cx="914400" cy="3200400"/>
            </a:xfrm>
            <a:prstGeom prst="straightConnector1">
              <a:avLst/>
            </a:prstGeom>
            <a:solidFill>
              <a:schemeClr val="accent1"/>
            </a:solidFill>
            <a:ln w="25400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sp>
        <p:nvSpPr>
          <p:cNvPr id="20" name="Rectangle 19"/>
          <p:cNvSpPr/>
          <p:nvPr/>
        </p:nvSpPr>
        <p:spPr bwMode="auto">
          <a:xfrm>
            <a:off x="6019800" y="4419600"/>
            <a:ext cx="1447800" cy="381000"/>
          </a:xfrm>
          <a:prstGeom prst="rect">
            <a:avLst/>
          </a:prstGeom>
          <a:solidFill>
            <a:schemeClr val="accent1">
              <a:alpha val="23000"/>
            </a:schemeClr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5C29D35-C21D-33C6-F6DB-FAC255310739}"/>
              </a:ext>
            </a:extLst>
          </p:cNvPr>
          <p:cNvSpPr>
            <a:spLocks/>
          </p:cNvSpPr>
          <p:nvPr/>
        </p:nvSpPr>
        <p:spPr bwMode="auto">
          <a:xfrm>
            <a:off x="-1270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E7B7D09-794F-0FAD-04F1-3CC6E16190BF}"/>
              </a:ext>
            </a:extLst>
          </p:cNvPr>
          <p:cNvSpPr>
            <a:spLocks/>
          </p:cNvSpPr>
          <p:nvPr/>
        </p:nvSpPr>
        <p:spPr bwMode="auto">
          <a:xfrm>
            <a:off x="-12700" y="6658594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93315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12290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Today</a:t>
            </a:r>
          </a:p>
        </p:txBody>
      </p:sp>
      <p:sp>
        <p:nvSpPr>
          <p:cNvPr id="12292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dirty="0"/>
              <a:t>Procedures</a:t>
            </a:r>
          </a:p>
          <a:p>
            <a:pPr lvl="1"/>
            <a:r>
              <a:rPr lang="en-US" b="1" dirty="0"/>
              <a:t>Stack Structure</a:t>
            </a:r>
          </a:p>
          <a:p>
            <a:pPr lvl="1"/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Calling Conventions</a:t>
            </a:r>
          </a:p>
          <a:p>
            <a:pPr lvl="2"/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Passing control</a:t>
            </a:r>
          </a:p>
          <a:p>
            <a:pPr lvl="2"/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Passing data</a:t>
            </a:r>
          </a:p>
          <a:p>
            <a:pPr lvl="2"/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Managing local data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F63A072-C473-C6FF-9256-A024501E31A1}"/>
              </a:ext>
            </a:extLst>
          </p:cNvPr>
          <p:cNvSpPr>
            <a:spLocks/>
          </p:cNvSpPr>
          <p:nvPr/>
        </p:nvSpPr>
        <p:spPr bwMode="auto">
          <a:xfrm>
            <a:off x="-1270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497EBEA-2044-92C0-DDC1-A83865CD8664}"/>
              </a:ext>
            </a:extLst>
          </p:cNvPr>
          <p:cNvSpPr>
            <a:spLocks/>
          </p:cNvSpPr>
          <p:nvPr/>
        </p:nvSpPr>
        <p:spPr bwMode="auto">
          <a:xfrm>
            <a:off x="-12700" y="6658594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90821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41986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x86-64 Stack</a:t>
            </a:r>
          </a:p>
        </p:txBody>
      </p:sp>
      <p:sp>
        <p:nvSpPr>
          <p:cNvPr id="41988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381000" y="1397000"/>
            <a:ext cx="4457700" cy="5435600"/>
          </a:xfrm>
          <a:ln/>
        </p:spPr>
        <p:txBody>
          <a:bodyPr/>
          <a:lstStyle/>
          <a:p>
            <a:r>
              <a:rPr lang="en-US" dirty="0"/>
              <a:t>Region of memory managed with stack discipline</a:t>
            </a:r>
          </a:p>
          <a:p>
            <a:r>
              <a:rPr lang="en-US" dirty="0"/>
              <a:t>Grows toward lower addresses</a:t>
            </a:r>
          </a:p>
          <a:p>
            <a:endParaRPr lang="en-US" dirty="0"/>
          </a:p>
          <a:p>
            <a:r>
              <a:rPr lang="en-US" dirty="0"/>
              <a:t>Register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rsp</a:t>
            </a:r>
            <a:r>
              <a:rPr lang="en-US" dirty="0"/>
              <a:t> contains </a:t>
            </a:r>
            <a:br>
              <a:rPr lang="en-US" dirty="0"/>
            </a:br>
            <a:r>
              <a:rPr lang="en-US" dirty="0"/>
              <a:t>lowest  stack address</a:t>
            </a:r>
          </a:p>
          <a:p>
            <a:pPr marL="552450" lvl="1"/>
            <a:r>
              <a:rPr lang="en-US" dirty="0"/>
              <a:t>address of “top” element</a:t>
            </a:r>
          </a:p>
        </p:txBody>
      </p:sp>
      <p:grpSp>
        <p:nvGrpSpPr>
          <p:cNvPr id="41989" name="Group 5"/>
          <p:cNvGrpSpPr>
            <a:grpSpLocks/>
          </p:cNvGrpSpPr>
          <p:nvPr/>
        </p:nvGrpSpPr>
        <p:grpSpPr bwMode="auto">
          <a:xfrm>
            <a:off x="2463800" y="1066800"/>
            <a:ext cx="6559550" cy="5013325"/>
            <a:chOff x="0" y="0"/>
            <a:chExt cx="4131" cy="3158"/>
          </a:xfrm>
        </p:grpSpPr>
        <p:sp>
          <p:nvSpPr>
            <p:cNvPr id="41990" name="Line 6"/>
            <p:cNvSpPr>
              <a:spLocks noChangeShapeType="1"/>
            </p:cNvSpPr>
            <p:nvPr/>
          </p:nvSpPr>
          <p:spPr bwMode="auto">
            <a:xfrm>
              <a:off x="1679" y="2496"/>
              <a:ext cx="320" cy="0"/>
            </a:xfrm>
            <a:prstGeom prst="line">
              <a:avLst/>
            </a:prstGeom>
            <a:noFill/>
            <a:ln w="25400" cap="flat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41991" name="Rectangle 7"/>
            <p:cNvSpPr>
              <a:spLocks/>
            </p:cNvSpPr>
            <p:nvPr/>
          </p:nvSpPr>
          <p:spPr bwMode="auto">
            <a:xfrm>
              <a:off x="0" y="2350"/>
              <a:ext cx="1659" cy="288"/>
            </a:xfrm>
            <a:prstGeom prst="rect">
              <a:avLst/>
            </a:prstGeom>
            <a:noFill/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wrap="none" lIns="38100" tIns="38100" rIns="38100" bIns="38100">
              <a:spAutoFit/>
            </a:bodyPr>
            <a:lstStyle/>
            <a:p>
              <a:pPr algn="r"/>
              <a:r>
                <a:rPr lang="en-US" sz="2400" dirty="0">
                  <a:solidFill>
                    <a:srgbClr val="262699"/>
                  </a:solidFill>
                  <a:latin typeface="Calibri Bold" charset="0"/>
                  <a:ea typeface="Calibri Bold" charset="0"/>
                  <a:cs typeface="Calibri Bold" charset="0"/>
                  <a:sym typeface="Calibri Bold" charset="0"/>
                </a:rPr>
                <a:t>Stack Pointer: </a:t>
              </a:r>
              <a:r>
                <a:rPr lang="en-US" sz="2400" dirty="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</a:t>
              </a:r>
              <a:r>
                <a:rPr lang="en-US" sz="2400" dirty="0" err="1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rsp</a:t>
              </a:r>
              <a:endParaRPr lang="en-US" sz="24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endParaRPr>
            </a:p>
          </p:txBody>
        </p:sp>
        <p:sp>
          <p:nvSpPr>
            <p:cNvPr id="41992" name="Rectangle 8"/>
            <p:cNvSpPr>
              <a:spLocks/>
            </p:cNvSpPr>
            <p:nvPr/>
          </p:nvSpPr>
          <p:spPr bwMode="auto">
            <a:xfrm>
              <a:off x="2073" y="576"/>
              <a:ext cx="822" cy="2016"/>
            </a:xfrm>
            <a:prstGeom prst="rect">
              <a:avLst/>
            </a:prstGeom>
            <a:solidFill>
              <a:srgbClr val="D6D6F4"/>
            </a:solidFill>
            <a:ln w="254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dist="76199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41993" name="Line 9"/>
            <p:cNvSpPr>
              <a:spLocks noChangeShapeType="1"/>
            </p:cNvSpPr>
            <p:nvPr/>
          </p:nvSpPr>
          <p:spPr bwMode="auto">
            <a:xfrm>
              <a:off x="3418" y="1824"/>
              <a:ext cx="0" cy="864"/>
            </a:xfrm>
            <a:prstGeom prst="line">
              <a:avLst/>
            </a:prstGeom>
            <a:noFill/>
            <a:ln w="38100" cap="flat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41994" name="Rectangle 10"/>
            <p:cNvSpPr>
              <a:spLocks/>
            </p:cNvSpPr>
            <p:nvPr/>
          </p:nvSpPr>
          <p:spPr bwMode="auto">
            <a:xfrm>
              <a:off x="3477" y="1918"/>
              <a:ext cx="512" cy="576"/>
            </a:xfrm>
            <a:prstGeom prst="rect">
              <a:avLst/>
            </a:prstGeom>
            <a:solidFill>
              <a:srgbClr val="FFFFFF"/>
            </a:solidFill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/>
            <a:lstStyle/>
            <a:p>
              <a:r>
                <a:rPr lang="en-US" sz="1800">
                  <a:solidFill>
                    <a:schemeClr val="tx1"/>
                  </a:solidFill>
                  <a:latin typeface="Calibri" charset="0"/>
                  <a:ea typeface="Calibri" charset="0"/>
                  <a:cs typeface="Calibri" charset="0"/>
                  <a:sym typeface="Calibri" charset="0"/>
                </a:rPr>
                <a:t>Stack Grows</a:t>
              </a:r>
              <a:endParaRPr lang="en-US">
                <a:solidFill>
                  <a:schemeClr val="tx1"/>
                </a:solidFill>
                <a:latin typeface="Arial Narrow" charset="0"/>
                <a:ea typeface="Lucida Grande" charset="0"/>
                <a:cs typeface="Lucida Grande" charset="0"/>
                <a:sym typeface="Arial Narrow" charset="0"/>
              </a:endParaRPr>
            </a:p>
            <a:p>
              <a:r>
                <a:rPr lang="en-US" sz="1800">
                  <a:solidFill>
                    <a:schemeClr val="tx1"/>
                  </a:solidFill>
                  <a:latin typeface="Calibri" charset="0"/>
                  <a:ea typeface="Calibri" charset="0"/>
                  <a:cs typeface="Calibri" charset="0"/>
                  <a:sym typeface="Calibri" charset="0"/>
                </a:rPr>
                <a:t>Down</a:t>
              </a:r>
            </a:p>
          </p:txBody>
        </p:sp>
        <p:sp>
          <p:nvSpPr>
            <p:cNvPr id="41995" name="Line 11"/>
            <p:cNvSpPr>
              <a:spLocks noChangeShapeType="1"/>
            </p:cNvSpPr>
            <p:nvPr/>
          </p:nvSpPr>
          <p:spPr bwMode="auto">
            <a:xfrm rot="10800000" flipH="1">
              <a:off x="3418" y="432"/>
              <a:ext cx="0" cy="912"/>
            </a:xfrm>
            <a:prstGeom prst="line">
              <a:avLst/>
            </a:prstGeom>
            <a:noFill/>
            <a:ln w="38100" cap="flat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41996" name="Rectangle 12"/>
            <p:cNvSpPr>
              <a:spLocks/>
            </p:cNvSpPr>
            <p:nvPr/>
          </p:nvSpPr>
          <p:spPr bwMode="auto">
            <a:xfrm>
              <a:off x="3480" y="690"/>
              <a:ext cx="651" cy="400"/>
            </a:xfrm>
            <a:prstGeom prst="rect">
              <a:avLst/>
            </a:prstGeom>
            <a:solidFill>
              <a:srgbClr val="FFFFFF"/>
            </a:solidFill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wrap="none" lIns="38100" tIns="38100" rIns="38100" bIns="38100">
              <a:spAutoFit/>
            </a:bodyPr>
            <a:lstStyle/>
            <a:p>
              <a:r>
                <a:rPr lang="en-US" sz="1800">
                  <a:solidFill>
                    <a:schemeClr val="tx1"/>
                  </a:solidFill>
                  <a:latin typeface="Calibri" charset="0"/>
                  <a:ea typeface="Calibri" charset="0"/>
                  <a:cs typeface="Calibri" charset="0"/>
                  <a:sym typeface="Calibri" charset="0"/>
                </a:rPr>
                <a:t>Increasing</a:t>
              </a:r>
              <a:endParaRPr lang="en-US">
                <a:solidFill>
                  <a:schemeClr val="tx1"/>
                </a:solidFill>
                <a:latin typeface="Arial Narrow" charset="0"/>
                <a:ea typeface="Lucida Grande" charset="0"/>
                <a:cs typeface="Lucida Grande" charset="0"/>
                <a:sym typeface="Arial Narrow" charset="0"/>
              </a:endParaRPr>
            </a:p>
            <a:p>
              <a:r>
                <a:rPr lang="en-US" sz="1800">
                  <a:solidFill>
                    <a:schemeClr val="tx1"/>
                  </a:solidFill>
                  <a:latin typeface="Calibri" charset="0"/>
                  <a:ea typeface="Calibri" charset="0"/>
                  <a:cs typeface="Calibri" charset="0"/>
                  <a:sym typeface="Calibri" charset="0"/>
                </a:rPr>
                <a:t>Addresses</a:t>
              </a:r>
            </a:p>
          </p:txBody>
        </p:sp>
        <p:sp>
          <p:nvSpPr>
            <p:cNvPr id="41997" name="Rectangle 13"/>
            <p:cNvSpPr>
              <a:spLocks/>
            </p:cNvSpPr>
            <p:nvPr/>
          </p:nvSpPr>
          <p:spPr bwMode="auto">
            <a:xfrm>
              <a:off x="1994" y="2878"/>
              <a:ext cx="981" cy="280"/>
            </a:xfrm>
            <a:prstGeom prst="rect">
              <a:avLst/>
            </a:prstGeom>
            <a:noFill/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wrap="none" lIns="38100" tIns="38100" rIns="38100" bIns="38100">
              <a:spAutoFit/>
            </a:bodyPr>
            <a:lstStyle/>
            <a:p>
              <a:r>
                <a:rPr lang="en-US" sz="2400">
                  <a:solidFill>
                    <a:srgbClr val="262699"/>
                  </a:solidFill>
                  <a:latin typeface="Calibri Bold" charset="0"/>
                  <a:ea typeface="Calibri Bold" charset="0"/>
                  <a:cs typeface="Calibri Bold" charset="0"/>
                  <a:sym typeface="Calibri Bold" charset="0"/>
                </a:rPr>
                <a:t>Stack “Top”</a:t>
              </a:r>
            </a:p>
          </p:txBody>
        </p:sp>
        <p:sp>
          <p:nvSpPr>
            <p:cNvPr id="41998" name="Line 14"/>
            <p:cNvSpPr>
              <a:spLocks noChangeShapeType="1"/>
            </p:cNvSpPr>
            <p:nvPr/>
          </p:nvSpPr>
          <p:spPr bwMode="auto">
            <a:xfrm>
              <a:off x="2072" y="2400"/>
              <a:ext cx="816" cy="0"/>
            </a:xfrm>
            <a:prstGeom prst="line">
              <a:avLst/>
            </a:prstGeom>
            <a:noFill/>
            <a:ln w="25400" cap="flat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41999" name="Rectangle 15"/>
            <p:cNvSpPr>
              <a:spLocks/>
            </p:cNvSpPr>
            <p:nvPr/>
          </p:nvSpPr>
          <p:spPr bwMode="auto">
            <a:xfrm>
              <a:off x="1842" y="0"/>
              <a:ext cx="1285" cy="280"/>
            </a:xfrm>
            <a:prstGeom prst="rect">
              <a:avLst/>
            </a:prstGeom>
            <a:noFill/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wrap="none" lIns="38100" tIns="38100" rIns="38100" bIns="38100">
              <a:spAutoFit/>
            </a:bodyPr>
            <a:lstStyle/>
            <a:p>
              <a:r>
                <a:rPr lang="en-US" sz="2400">
                  <a:solidFill>
                    <a:srgbClr val="262699"/>
                  </a:solidFill>
                  <a:latin typeface="Calibri Bold" charset="0"/>
                  <a:ea typeface="Calibri Bold" charset="0"/>
                  <a:cs typeface="Calibri Bold" charset="0"/>
                  <a:sym typeface="Calibri Bold" charset="0"/>
                </a:rPr>
                <a:t>Stack “Bottom”</a:t>
              </a:r>
            </a:p>
          </p:txBody>
        </p:sp>
        <p:sp>
          <p:nvSpPr>
            <p:cNvPr id="42000" name="AutoShape 16"/>
            <p:cNvSpPr>
              <a:spLocks/>
            </p:cNvSpPr>
            <p:nvPr/>
          </p:nvSpPr>
          <p:spPr bwMode="auto">
            <a:xfrm>
              <a:off x="2288" y="288"/>
              <a:ext cx="384" cy="240"/>
            </a:xfrm>
            <a:custGeom>
              <a:avLst/>
              <a:gdLst>
                <a:gd name="T0" fmla="*/ 10800 w 21600"/>
                <a:gd name="T1" fmla="*/ 10800 h 21600"/>
              </a:gdLst>
              <a:ahLst/>
              <a:cxnLst>
                <a:cxn ang="0">
                  <a:pos x="T0" y="T1"/>
                </a:cxn>
              </a:cxnLst>
              <a:rect l="0" t="0" r="r" b="b"/>
              <a:pathLst>
                <a:path w="21600" h="21600">
                  <a:moveTo>
                    <a:pt x="0" y="10800"/>
                  </a:moveTo>
                  <a:lnTo>
                    <a:pt x="5400" y="10800"/>
                  </a:lnTo>
                  <a:lnTo>
                    <a:pt x="5400" y="0"/>
                  </a:lnTo>
                  <a:lnTo>
                    <a:pt x="16200" y="0"/>
                  </a:lnTo>
                  <a:lnTo>
                    <a:pt x="16200" y="10800"/>
                  </a:lnTo>
                  <a:lnTo>
                    <a:pt x="21600" y="10800"/>
                  </a:lnTo>
                  <a:lnTo>
                    <a:pt x="10800" y="21600"/>
                  </a:lnTo>
                  <a:close/>
                  <a:moveTo>
                    <a:pt x="0" y="10800"/>
                  </a:moveTo>
                </a:path>
              </a:pathLst>
            </a:custGeom>
            <a:solidFill>
              <a:srgbClr val="980002"/>
            </a:solidFill>
            <a:ln w="25400" cap="flat">
              <a:noFill/>
              <a:round/>
              <a:headEnd type="none" w="med" len="med"/>
              <a:tailEnd type="triangle" w="med" len="med"/>
            </a:ln>
            <a:effectLst>
              <a:outerShdw dist="76199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42001" name="AutoShape 17"/>
            <p:cNvSpPr>
              <a:spLocks/>
            </p:cNvSpPr>
            <p:nvPr/>
          </p:nvSpPr>
          <p:spPr bwMode="auto">
            <a:xfrm rot="10800000" flipH="1">
              <a:off x="2288" y="2640"/>
              <a:ext cx="384" cy="240"/>
            </a:xfrm>
            <a:custGeom>
              <a:avLst/>
              <a:gdLst>
                <a:gd name="T0" fmla="*/ 10800 w 21600"/>
                <a:gd name="T1" fmla="*/ 10800 h 21600"/>
              </a:gdLst>
              <a:ahLst/>
              <a:cxnLst>
                <a:cxn ang="0">
                  <a:pos x="T0" y="T1"/>
                </a:cxn>
              </a:cxnLst>
              <a:rect l="0" t="0" r="r" b="b"/>
              <a:pathLst>
                <a:path w="21600" h="21600">
                  <a:moveTo>
                    <a:pt x="0" y="10800"/>
                  </a:moveTo>
                  <a:lnTo>
                    <a:pt x="5400" y="10800"/>
                  </a:lnTo>
                  <a:lnTo>
                    <a:pt x="5400" y="0"/>
                  </a:lnTo>
                  <a:lnTo>
                    <a:pt x="16200" y="0"/>
                  </a:lnTo>
                  <a:lnTo>
                    <a:pt x="16200" y="10800"/>
                  </a:lnTo>
                  <a:lnTo>
                    <a:pt x="21600" y="10800"/>
                  </a:lnTo>
                  <a:lnTo>
                    <a:pt x="10800" y="21600"/>
                  </a:lnTo>
                  <a:close/>
                  <a:moveTo>
                    <a:pt x="0" y="10800"/>
                  </a:moveTo>
                </a:path>
              </a:pathLst>
            </a:custGeom>
            <a:solidFill>
              <a:srgbClr val="980002"/>
            </a:solidFill>
            <a:ln w="25400" cap="flat">
              <a:noFill/>
              <a:round/>
              <a:headEnd type="none" w="med" len="med"/>
              <a:tailEnd type="triangle" w="med" len="med"/>
            </a:ln>
            <a:effectLst>
              <a:outerShdw dist="76199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endParaRPr lang="en-US"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0D3CC6EB-2869-5F4F-4A27-DA6FCFE3386D}"/>
              </a:ext>
            </a:extLst>
          </p:cNvPr>
          <p:cNvSpPr>
            <a:spLocks/>
          </p:cNvSpPr>
          <p:nvPr/>
        </p:nvSpPr>
        <p:spPr bwMode="auto">
          <a:xfrm>
            <a:off x="-1270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E1F6885-83E5-636A-D126-3EC7DE7DD2E8}"/>
              </a:ext>
            </a:extLst>
          </p:cNvPr>
          <p:cNvSpPr>
            <a:spLocks/>
          </p:cNvSpPr>
          <p:nvPr/>
        </p:nvSpPr>
        <p:spPr bwMode="auto">
          <a:xfrm>
            <a:off x="-12700" y="6658594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43010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43015" name="Rectangle 7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x86-64 Stack: Push</a:t>
            </a:r>
          </a:p>
        </p:txBody>
      </p:sp>
      <p:sp>
        <p:nvSpPr>
          <p:cNvPr id="43016" name="Rectangle 8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pushq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 </a:t>
            </a:r>
            <a:r>
              <a:rPr lang="en-US" dirty="0" err="1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Src</a:t>
            </a:r>
            <a:endParaRPr lang="en-US" dirty="0">
              <a:latin typeface="Courier New Bold" charset="0"/>
              <a:sym typeface="Courier New Bold" charset="0"/>
            </a:endParaRPr>
          </a:p>
          <a:p>
            <a:pPr marL="552450" lvl="1"/>
            <a:r>
              <a:rPr lang="en-US" dirty="0"/>
              <a:t>Fetch operand at </a:t>
            </a:r>
            <a:r>
              <a:rPr lang="en-US" dirty="0" err="1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Src</a:t>
            </a:r>
            <a:endParaRPr lang="en-US" dirty="0"/>
          </a:p>
          <a:p>
            <a:pPr marL="552450" lvl="1"/>
            <a:r>
              <a:rPr lang="en-US" dirty="0"/>
              <a:t>Decrement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rsp</a:t>
            </a:r>
            <a:r>
              <a:rPr lang="en-US" dirty="0"/>
              <a:t> by 8</a:t>
            </a:r>
          </a:p>
          <a:p>
            <a:pPr marL="552450" lvl="1"/>
            <a:r>
              <a:rPr lang="en-US" dirty="0"/>
              <a:t>Write operand at address given by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rsp</a:t>
            </a:r>
            <a:endParaRPr lang="en-US" dirty="0"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</p:txBody>
      </p:sp>
      <p:sp>
        <p:nvSpPr>
          <p:cNvPr id="43017" name="Line 9"/>
          <p:cNvSpPr>
            <a:spLocks noChangeShapeType="1"/>
          </p:cNvSpPr>
          <p:nvPr/>
        </p:nvSpPr>
        <p:spPr bwMode="auto">
          <a:xfrm>
            <a:off x="5130800" y="5029200"/>
            <a:ext cx="508000" cy="0"/>
          </a:xfrm>
          <a:prstGeom prst="line">
            <a:avLst/>
          </a:prstGeom>
          <a:noFill/>
          <a:ln w="25400" cap="flat">
            <a:solidFill>
              <a:srgbClr val="7F7F7F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3018" name="Line 10"/>
          <p:cNvSpPr>
            <a:spLocks noChangeShapeType="1"/>
          </p:cNvSpPr>
          <p:nvPr/>
        </p:nvSpPr>
        <p:spPr bwMode="auto">
          <a:xfrm>
            <a:off x="5754688" y="4876800"/>
            <a:ext cx="129540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grpSp>
        <p:nvGrpSpPr>
          <p:cNvPr id="43019" name="Group 11"/>
          <p:cNvGrpSpPr>
            <a:grpSpLocks/>
          </p:cNvGrpSpPr>
          <p:nvPr/>
        </p:nvGrpSpPr>
        <p:grpSpPr bwMode="auto">
          <a:xfrm>
            <a:off x="5040313" y="5011738"/>
            <a:ext cx="2016125" cy="474662"/>
            <a:chOff x="0" y="0"/>
            <a:chExt cx="1270" cy="298"/>
          </a:xfrm>
        </p:grpSpPr>
        <p:sp>
          <p:nvSpPr>
            <p:cNvPr id="43020" name="Rectangle 12"/>
            <p:cNvSpPr>
              <a:spLocks/>
            </p:cNvSpPr>
            <p:nvPr/>
          </p:nvSpPr>
          <p:spPr bwMode="auto">
            <a:xfrm>
              <a:off x="450" y="106"/>
              <a:ext cx="820" cy="192"/>
            </a:xfrm>
            <a:prstGeom prst="rect">
              <a:avLst/>
            </a:prstGeom>
            <a:solidFill>
              <a:srgbClr val="8484E0"/>
            </a:solidFill>
            <a:ln w="254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43021" name="Line 13"/>
            <p:cNvSpPr>
              <a:spLocks noChangeShapeType="1"/>
            </p:cNvSpPr>
            <p:nvPr/>
          </p:nvSpPr>
          <p:spPr bwMode="auto">
            <a:xfrm>
              <a:off x="56" y="203"/>
              <a:ext cx="320" cy="0"/>
            </a:xfrm>
            <a:prstGeom prst="line">
              <a:avLst/>
            </a:prstGeom>
            <a:noFill/>
            <a:ln w="25400" cap="flat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43022" name="Rectangle 14"/>
            <p:cNvSpPr>
              <a:spLocks/>
            </p:cNvSpPr>
            <p:nvPr/>
          </p:nvSpPr>
          <p:spPr bwMode="auto">
            <a:xfrm>
              <a:off x="222" y="0"/>
              <a:ext cx="154" cy="203"/>
            </a:xfrm>
            <a:prstGeom prst="rect">
              <a:avLst/>
            </a:prstGeom>
            <a:noFill/>
            <a:ln w="19050" cap="flat">
              <a:noFill/>
              <a:miter lim="800000"/>
              <a:headEnd type="none" w="med" len="med"/>
              <a:tailEnd type="none" w="med" len="med"/>
            </a:ln>
          </p:spPr>
          <p:txBody>
            <a:bodyPr wrap="none" lIns="38100" tIns="38100" rIns="38100" bIns="38100">
              <a:spAutoFit/>
            </a:bodyPr>
            <a:lstStyle/>
            <a:p>
              <a:r>
                <a:rPr lang="en-US" sz="1600" dirty="0">
                  <a:solidFill>
                    <a:schemeClr val="tx1"/>
                  </a:solidFill>
                  <a:latin typeface="Calibri" charset="0"/>
                  <a:ea typeface="Calibri" charset="0"/>
                  <a:cs typeface="Calibri" charset="0"/>
                  <a:sym typeface="Calibri" charset="0"/>
                </a:rPr>
                <a:t>-8</a:t>
              </a:r>
            </a:p>
          </p:txBody>
        </p:sp>
        <p:sp>
          <p:nvSpPr>
            <p:cNvPr id="43023" name="AutoShape 15"/>
            <p:cNvSpPr>
              <a:spLocks/>
            </p:cNvSpPr>
            <p:nvPr/>
          </p:nvSpPr>
          <p:spPr bwMode="auto">
            <a:xfrm>
              <a:off x="0" y="53"/>
              <a:ext cx="232" cy="120"/>
            </a:xfrm>
            <a:custGeom>
              <a:avLst/>
              <a:gdLst>
                <a:gd name="T0" fmla="*/ 10800 w 21600"/>
                <a:gd name="T1" fmla="*/ 10800 h 21600"/>
              </a:gdLst>
              <a:ahLst/>
              <a:cxnLst>
                <a:cxn ang="0">
                  <a:pos x="T0" y="T1"/>
                </a:cxn>
              </a:cxnLst>
              <a:rect l="0" t="0" r="r" b="b"/>
              <a:pathLst>
                <a:path w="21600" h="21600">
                  <a:moveTo>
                    <a:pt x="0" y="10800"/>
                  </a:moveTo>
                  <a:lnTo>
                    <a:pt x="5400" y="10800"/>
                  </a:lnTo>
                  <a:lnTo>
                    <a:pt x="5400" y="0"/>
                  </a:lnTo>
                  <a:lnTo>
                    <a:pt x="16200" y="0"/>
                  </a:lnTo>
                  <a:lnTo>
                    <a:pt x="16200" y="10800"/>
                  </a:lnTo>
                  <a:lnTo>
                    <a:pt x="21600" y="10800"/>
                  </a:lnTo>
                  <a:lnTo>
                    <a:pt x="10800" y="21600"/>
                  </a:lnTo>
                  <a:close/>
                  <a:moveTo>
                    <a:pt x="0" y="10800"/>
                  </a:moveTo>
                </a:path>
              </a:pathLst>
            </a:custGeom>
            <a:solidFill>
              <a:srgbClr val="980002"/>
            </a:solidFill>
            <a:ln w="25400" cap="flat">
              <a:noFill/>
              <a:round/>
              <a:headEnd type="none" w="med" len="med"/>
              <a:tailEnd type="triangle" w="med" len="med"/>
            </a:ln>
            <a:effectLst>
              <a:outerShdw dist="76199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endParaRPr lang="en-US"/>
            </a:p>
          </p:txBody>
        </p:sp>
      </p:grpSp>
      <p:sp>
        <p:nvSpPr>
          <p:cNvPr id="43024" name="Line 16"/>
          <p:cNvSpPr>
            <a:spLocks noChangeShapeType="1"/>
          </p:cNvSpPr>
          <p:nvPr/>
        </p:nvSpPr>
        <p:spPr bwMode="auto">
          <a:xfrm>
            <a:off x="5130800" y="5029200"/>
            <a:ext cx="50800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3025" name="Rectangle 17"/>
          <p:cNvSpPr>
            <a:spLocks/>
          </p:cNvSpPr>
          <p:nvPr/>
        </p:nvSpPr>
        <p:spPr bwMode="auto">
          <a:xfrm>
            <a:off x="5756275" y="1981200"/>
            <a:ext cx="1304925" cy="32004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3026" name="Line 18"/>
          <p:cNvSpPr>
            <a:spLocks noChangeShapeType="1"/>
          </p:cNvSpPr>
          <p:nvPr/>
        </p:nvSpPr>
        <p:spPr bwMode="auto">
          <a:xfrm>
            <a:off x="7891463" y="3962400"/>
            <a:ext cx="0" cy="1371600"/>
          </a:xfrm>
          <a:prstGeom prst="line">
            <a:avLst/>
          </a:prstGeom>
          <a:noFill/>
          <a:ln w="381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3027" name="Rectangle 19"/>
          <p:cNvSpPr>
            <a:spLocks/>
          </p:cNvSpPr>
          <p:nvPr/>
        </p:nvSpPr>
        <p:spPr bwMode="auto">
          <a:xfrm>
            <a:off x="7985125" y="4111625"/>
            <a:ext cx="812800" cy="914400"/>
          </a:xfrm>
          <a:prstGeom prst="rect">
            <a:avLst/>
          </a:prstGeom>
          <a:solidFill>
            <a:srgbClr val="FFFFFF"/>
          </a:soli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r>
              <a:rPr lang="en-US" sz="180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Stack Grows</a:t>
            </a:r>
            <a:endParaRPr lang="en-US">
              <a:solidFill>
                <a:schemeClr val="tx1"/>
              </a:solidFill>
              <a:latin typeface="Arial Narrow" charset="0"/>
              <a:ea typeface="Lucida Grande" charset="0"/>
              <a:cs typeface="Lucida Grande" charset="0"/>
              <a:sym typeface="Arial Narrow" charset="0"/>
            </a:endParaRPr>
          </a:p>
          <a:p>
            <a:r>
              <a:rPr lang="en-US" sz="180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Down</a:t>
            </a:r>
          </a:p>
        </p:txBody>
      </p:sp>
      <p:sp>
        <p:nvSpPr>
          <p:cNvPr id="43028" name="Line 20"/>
          <p:cNvSpPr>
            <a:spLocks noChangeShapeType="1"/>
          </p:cNvSpPr>
          <p:nvPr/>
        </p:nvSpPr>
        <p:spPr bwMode="auto">
          <a:xfrm rot="10800000" flipH="1">
            <a:off x="7891463" y="1752600"/>
            <a:ext cx="0" cy="1447800"/>
          </a:xfrm>
          <a:prstGeom prst="line">
            <a:avLst/>
          </a:prstGeom>
          <a:noFill/>
          <a:ln w="381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3029" name="Rectangle 21"/>
          <p:cNvSpPr>
            <a:spLocks/>
          </p:cNvSpPr>
          <p:nvPr/>
        </p:nvSpPr>
        <p:spPr bwMode="auto">
          <a:xfrm>
            <a:off x="7989888" y="2162175"/>
            <a:ext cx="1033462" cy="635000"/>
          </a:xfrm>
          <a:prstGeom prst="rect">
            <a:avLst/>
          </a:prstGeom>
          <a:solidFill>
            <a:srgbClr val="FFFFFF"/>
          </a:soli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spAutoFit/>
          </a:bodyPr>
          <a:lstStyle/>
          <a:p>
            <a:r>
              <a:rPr lang="en-US" sz="180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Increasing</a:t>
            </a:r>
            <a:endParaRPr lang="en-US">
              <a:solidFill>
                <a:schemeClr val="tx1"/>
              </a:solidFill>
              <a:latin typeface="Arial Narrow" charset="0"/>
              <a:ea typeface="Lucida Grande" charset="0"/>
              <a:cs typeface="Lucida Grande" charset="0"/>
              <a:sym typeface="Arial Narrow" charset="0"/>
            </a:endParaRPr>
          </a:p>
          <a:p>
            <a:r>
              <a:rPr lang="en-US" sz="180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Addresses</a:t>
            </a:r>
          </a:p>
        </p:txBody>
      </p:sp>
      <p:sp>
        <p:nvSpPr>
          <p:cNvPr id="43030" name="Line 22"/>
          <p:cNvSpPr>
            <a:spLocks noChangeShapeType="1"/>
          </p:cNvSpPr>
          <p:nvPr/>
        </p:nvSpPr>
        <p:spPr bwMode="auto">
          <a:xfrm>
            <a:off x="5754688" y="4876800"/>
            <a:ext cx="129540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3031" name="Rectangle 23"/>
          <p:cNvSpPr>
            <a:spLocks/>
          </p:cNvSpPr>
          <p:nvPr/>
        </p:nvSpPr>
        <p:spPr bwMode="auto">
          <a:xfrm>
            <a:off x="5387975" y="1066800"/>
            <a:ext cx="2041525" cy="4445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spAutoFit/>
          </a:bodyPr>
          <a:lstStyle/>
          <a:p>
            <a:r>
              <a:rPr lang="en-US" sz="2400">
                <a:solidFill>
                  <a:srgbClr val="262699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Stack “Bottom”</a:t>
            </a:r>
          </a:p>
        </p:txBody>
      </p:sp>
      <p:sp>
        <p:nvSpPr>
          <p:cNvPr id="43032" name="AutoShape 24"/>
          <p:cNvSpPr>
            <a:spLocks/>
          </p:cNvSpPr>
          <p:nvPr/>
        </p:nvSpPr>
        <p:spPr bwMode="auto">
          <a:xfrm>
            <a:off x="6097588" y="1524000"/>
            <a:ext cx="609600" cy="381000"/>
          </a:xfrm>
          <a:custGeom>
            <a:avLst/>
            <a:gdLst>
              <a:gd name="T0" fmla="*/ 10800 w 21600"/>
              <a:gd name="T1" fmla="*/ 10800 h 21600"/>
            </a:gdLst>
            <a:ahLst/>
            <a:cxnLst>
              <a:cxn ang="0">
                <a:pos x="T0" y="T1"/>
              </a:cxn>
            </a:cxnLst>
            <a:rect l="0" t="0" r="r" b="b"/>
            <a:pathLst>
              <a:path w="21600" h="21600">
                <a:moveTo>
                  <a:pt x="0" y="10800"/>
                </a:moveTo>
                <a:lnTo>
                  <a:pt x="5400" y="10800"/>
                </a:lnTo>
                <a:lnTo>
                  <a:pt x="5400" y="0"/>
                </a:lnTo>
                <a:lnTo>
                  <a:pt x="16200" y="0"/>
                </a:lnTo>
                <a:lnTo>
                  <a:pt x="16200" y="10800"/>
                </a:lnTo>
                <a:lnTo>
                  <a:pt x="21600" y="10800"/>
                </a:lnTo>
                <a:lnTo>
                  <a:pt x="10800" y="21600"/>
                </a:lnTo>
                <a:close/>
                <a:moveTo>
                  <a:pt x="0" y="10800"/>
                </a:moveTo>
              </a:path>
            </a:pathLst>
          </a:custGeom>
          <a:solidFill>
            <a:srgbClr val="980002"/>
          </a:solidFill>
          <a:ln w="25400" cap="flat">
            <a:noFill/>
            <a:round/>
            <a:headEnd type="none" w="med" len="med"/>
            <a:tailEnd type="triangl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0" tIns="0" rIns="0" bIns="0"/>
          <a:lstStyle/>
          <a:p>
            <a:endParaRPr lang="en-US"/>
          </a:p>
        </p:txBody>
      </p:sp>
      <p:grpSp>
        <p:nvGrpSpPr>
          <p:cNvPr id="43033" name="Group 25"/>
          <p:cNvGrpSpPr>
            <a:grpSpLocks/>
          </p:cNvGrpSpPr>
          <p:nvPr/>
        </p:nvGrpSpPr>
        <p:grpSpPr bwMode="auto">
          <a:xfrm>
            <a:off x="2544763" y="4759325"/>
            <a:ext cx="4641850" cy="1628775"/>
            <a:chOff x="59" y="0"/>
            <a:chExt cx="2924" cy="1026"/>
          </a:xfrm>
        </p:grpSpPr>
        <p:sp>
          <p:nvSpPr>
            <p:cNvPr id="43034" name="Rectangle 26"/>
            <p:cNvSpPr>
              <a:spLocks/>
            </p:cNvSpPr>
            <p:nvPr/>
          </p:nvSpPr>
          <p:spPr bwMode="auto">
            <a:xfrm>
              <a:off x="59" y="0"/>
              <a:ext cx="1600" cy="233"/>
            </a:xfrm>
            <a:prstGeom prst="rect">
              <a:avLst/>
            </a:prstGeom>
            <a:noFill/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wrap="none" lIns="0" tIns="0" rIns="0" bIns="0">
              <a:spAutoFit/>
            </a:bodyPr>
            <a:lstStyle/>
            <a:p>
              <a:pPr algn="r"/>
              <a:r>
                <a:rPr lang="en-US" sz="2400" dirty="0">
                  <a:solidFill>
                    <a:srgbClr val="262699"/>
                  </a:solidFill>
                  <a:latin typeface="Calibri Bold" charset="0"/>
                  <a:ea typeface="Calibri Bold" charset="0"/>
                  <a:cs typeface="Calibri Bold" charset="0"/>
                  <a:sym typeface="Calibri Bold" charset="0"/>
                </a:rPr>
                <a:t>Stack Pointer: </a:t>
              </a:r>
              <a:r>
                <a:rPr lang="en-US" sz="2400" dirty="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</a:t>
              </a:r>
              <a:r>
                <a:rPr lang="en-US" sz="2400" dirty="0" err="1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rsp</a:t>
              </a:r>
              <a:endParaRPr lang="en-US" sz="24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endParaRPr>
            </a:p>
          </p:txBody>
        </p:sp>
        <p:sp>
          <p:nvSpPr>
            <p:cNvPr id="43035" name="Rectangle 27"/>
            <p:cNvSpPr>
              <a:spLocks/>
            </p:cNvSpPr>
            <p:nvPr/>
          </p:nvSpPr>
          <p:spPr bwMode="auto">
            <a:xfrm>
              <a:off x="2002" y="746"/>
              <a:ext cx="981" cy="280"/>
            </a:xfrm>
            <a:prstGeom prst="rect">
              <a:avLst/>
            </a:prstGeom>
            <a:noFill/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400" dirty="0">
                  <a:solidFill>
                    <a:srgbClr val="262699"/>
                  </a:solidFill>
                  <a:latin typeface="Calibri Bold" charset="0"/>
                  <a:ea typeface="Calibri Bold" charset="0"/>
                  <a:cs typeface="Calibri Bold" charset="0"/>
                  <a:sym typeface="Calibri Bold" charset="0"/>
                </a:rPr>
                <a:t>Stack “Top”</a:t>
              </a:r>
            </a:p>
          </p:txBody>
        </p:sp>
        <p:sp>
          <p:nvSpPr>
            <p:cNvPr id="43036" name="AutoShape 28"/>
            <p:cNvSpPr>
              <a:spLocks/>
            </p:cNvSpPr>
            <p:nvPr/>
          </p:nvSpPr>
          <p:spPr bwMode="auto">
            <a:xfrm rot="10800000" flipH="1">
              <a:off x="2296" y="506"/>
              <a:ext cx="384" cy="240"/>
            </a:xfrm>
            <a:custGeom>
              <a:avLst/>
              <a:gdLst>
                <a:gd name="T0" fmla="*/ 10800 w 21600"/>
                <a:gd name="T1" fmla="*/ 10800 h 21600"/>
              </a:gdLst>
              <a:ahLst/>
              <a:cxnLst>
                <a:cxn ang="0">
                  <a:pos x="T0" y="T1"/>
                </a:cxn>
              </a:cxnLst>
              <a:rect l="0" t="0" r="r" b="b"/>
              <a:pathLst>
                <a:path w="21600" h="21600">
                  <a:moveTo>
                    <a:pt x="0" y="10800"/>
                  </a:moveTo>
                  <a:lnTo>
                    <a:pt x="5400" y="10800"/>
                  </a:lnTo>
                  <a:lnTo>
                    <a:pt x="5400" y="0"/>
                  </a:lnTo>
                  <a:lnTo>
                    <a:pt x="16200" y="0"/>
                  </a:lnTo>
                  <a:lnTo>
                    <a:pt x="16200" y="10800"/>
                  </a:lnTo>
                  <a:lnTo>
                    <a:pt x="21600" y="10800"/>
                  </a:lnTo>
                  <a:lnTo>
                    <a:pt x="10800" y="21600"/>
                  </a:lnTo>
                  <a:close/>
                  <a:moveTo>
                    <a:pt x="0" y="10800"/>
                  </a:moveTo>
                </a:path>
              </a:pathLst>
            </a:custGeom>
            <a:solidFill>
              <a:srgbClr val="980002"/>
            </a:solidFill>
            <a:ln w="25400" cap="flat">
              <a:noFill/>
              <a:round/>
              <a:headEnd type="none" w="med" len="med"/>
              <a:tailEnd type="triangle" w="med" len="med"/>
            </a:ln>
            <a:effectLst>
              <a:outerShdw dist="76199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endParaRPr lang="en-US"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61991F26-959F-F22D-9BF0-7CD1FEB873B5}"/>
              </a:ext>
            </a:extLst>
          </p:cNvPr>
          <p:cNvSpPr>
            <a:spLocks/>
          </p:cNvSpPr>
          <p:nvPr/>
        </p:nvSpPr>
        <p:spPr bwMode="auto">
          <a:xfrm>
            <a:off x="-1270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E091D2E-D11D-9B4E-4FB1-3B3EB020FB42}"/>
              </a:ext>
            </a:extLst>
          </p:cNvPr>
          <p:cNvSpPr>
            <a:spLocks/>
          </p:cNvSpPr>
          <p:nvPr/>
        </p:nvSpPr>
        <p:spPr bwMode="auto">
          <a:xfrm>
            <a:off x="-12700" y="6658594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AutoShape 1"/>
          <p:cNvSpPr>
            <a:spLocks/>
          </p:cNvSpPr>
          <p:nvPr/>
        </p:nvSpPr>
        <p:spPr bwMode="auto">
          <a:xfrm rot="10800000" flipH="1">
            <a:off x="6108700" y="5257800"/>
            <a:ext cx="609600" cy="381000"/>
          </a:xfrm>
          <a:custGeom>
            <a:avLst/>
            <a:gdLst>
              <a:gd name="T0" fmla="*/ 10800 w 21600"/>
              <a:gd name="T1" fmla="*/ 10800 h 21600"/>
            </a:gdLst>
            <a:ahLst/>
            <a:cxnLst>
              <a:cxn ang="0">
                <a:pos x="T0" y="T1"/>
              </a:cxn>
            </a:cxnLst>
            <a:rect l="0" t="0" r="r" b="b"/>
            <a:pathLst>
              <a:path w="21600" h="21600">
                <a:moveTo>
                  <a:pt x="0" y="10800"/>
                </a:moveTo>
                <a:lnTo>
                  <a:pt x="5400" y="10800"/>
                </a:lnTo>
                <a:lnTo>
                  <a:pt x="5400" y="0"/>
                </a:lnTo>
                <a:lnTo>
                  <a:pt x="16200" y="0"/>
                </a:lnTo>
                <a:lnTo>
                  <a:pt x="16200" y="10800"/>
                </a:lnTo>
                <a:lnTo>
                  <a:pt x="21600" y="10800"/>
                </a:lnTo>
                <a:lnTo>
                  <a:pt x="10800" y="21600"/>
                </a:lnTo>
                <a:close/>
                <a:moveTo>
                  <a:pt x="0" y="10800"/>
                </a:moveTo>
              </a:path>
            </a:pathLst>
          </a:custGeom>
          <a:solidFill>
            <a:srgbClr val="980002"/>
          </a:solidFill>
          <a:ln w="25400" cap="flat">
            <a:noFill/>
            <a:round/>
            <a:headEnd type="none" w="med" len="med"/>
            <a:tailEnd type="triangl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4034" name="Line 2"/>
          <p:cNvSpPr>
            <a:spLocks noChangeShapeType="1"/>
          </p:cNvSpPr>
          <p:nvPr/>
        </p:nvSpPr>
        <p:spPr bwMode="auto">
          <a:xfrm>
            <a:off x="5130800" y="5029200"/>
            <a:ext cx="50800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4035" name="Rectangle 3"/>
          <p:cNvSpPr>
            <a:spLocks/>
          </p:cNvSpPr>
          <p:nvPr/>
        </p:nvSpPr>
        <p:spPr bwMode="auto">
          <a:xfrm>
            <a:off x="2559593" y="4797425"/>
            <a:ext cx="2539457" cy="369332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spAutoFit/>
          </a:bodyPr>
          <a:lstStyle/>
          <a:p>
            <a:pPr algn="r"/>
            <a:r>
              <a:rPr lang="en-US" sz="2400" dirty="0">
                <a:solidFill>
                  <a:srgbClr val="262699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Stack Pointer: </a:t>
            </a:r>
            <a:r>
              <a:rPr lang="en-US" sz="24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24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rsp</a:t>
            </a:r>
            <a:endParaRPr lang="en-US" sz="24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44036" name="Rectangle 4"/>
          <p:cNvSpPr>
            <a:spLocks/>
          </p:cNvSpPr>
          <p:nvPr/>
        </p:nvSpPr>
        <p:spPr bwMode="auto">
          <a:xfrm>
            <a:off x="5756275" y="1981200"/>
            <a:ext cx="1304925" cy="32004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4037" name="Line 5"/>
          <p:cNvSpPr>
            <a:spLocks noChangeShapeType="1"/>
          </p:cNvSpPr>
          <p:nvPr/>
        </p:nvSpPr>
        <p:spPr bwMode="auto">
          <a:xfrm>
            <a:off x="7891463" y="3962400"/>
            <a:ext cx="0" cy="1371600"/>
          </a:xfrm>
          <a:prstGeom prst="line">
            <a:avLst/>
          </a:prstGeom>
          <a:noFill/>
          <a:ln w="381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4038" name="Rectangle 6"/>
          <p:cNvSpPr>
            <a:spLocks/>
          </p:cNvSpPr>
          <p:nvPr/>
        </p:nvSpPr>
        <p:spPr bwMode="auto">
          <a:xfrm>
            <a:off x="7985125" y="4111625"/>
            <a:ext cx="812800" cy="914400"/>
          </a:xfrm>
          <a:prstGeom prst="rect">
            <a:avLst/>
          </a:prstGeom>
          <a:solidFill>
            <a:srgbClr val="FFFFFF"/>
          </a:soli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r>
              <a:rPr lang="en-US" sz="180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Stack Grows</a:t>
            </a:r>
            <a:endParaRPr lang="en-US">
              <a:solidFill>
                <a:schemeClr val="tx1"/>
              </a:solidFill>
              <a:latin typeface="Arial Narrow" charset="0"/>
              <a:ea typeface="Lucida Grande" charset="0"/>
              <a:cs typeface="Lucida Grande" charset="0"/>
              <a:sym typeface="Arial Narrow" charset="0"/>
            </a:endParaRPr>
          </a:p>
          <a:p>
            <a:r>
              <a:rPr lang="en-US" sz="180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Down</a:t>
            </a:r>
          </a:p>
        </p:txBody>
      </p:sp>
      <p:sp>
        <p:nvSpPr>
          <p:cNvPr id="44039" name="Line 7"/>
          <p:cNvSpPr>
            <a:spLocks noChangeShapeType="1"/>
          </p:cNvSpPr>
          <p:nvPr/>
        </p:nvSpPr>
        <p:spPr bwMode="auto">
          <a:xfrm rot="10800000" flipH="1">
            <a:off x="7891463" y="1752600"/>
            <a:ext cx="0" cy="1447800"/>
          </a:xfrm>
          <a:prstGeom prst="line">
            <a:avLst/>
          </a:prstGeom>
          <a:noFill/>
          <a:ln w="381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4040" name="Rectangle 8"/>
          <p:cNvSpPr>
            <a:spLocks/>
          </p:cNvSpPr>
          <p:nvPr/>
        </p:nvSpPr>
        <p:spPr bwMode="auto">
          <a:xfrm>
            <a:off x="7989888" y="2162175"/>
            <a:ext cx="1033462" cy="635000"/>
          </a:xfrm>
          <a:prstGeom prst="rect">
            <a:avLst/>
          </a:prstGeom>
          <a:solidFill>
            <a:srgbClr val="FFFFFF"/>
          </a:soli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spAutoFit/>
          </a:bodyPr>
          <a:lstStyle/>
          <a:p>
            <a:r>
              <a:rPr lang="en-US" sz="180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Increasing</a:t>
            </a:r>
            <a:endParaRPr lang="en-US">
              <a:solidFill>
                <a:schemeClr val="tx1"/>
              </a:solidFill>
              <a:latin typeface="Arial Narrow" charset="0"/>
              <a:ea typeface="Lucida Grande" charset="0"/>
              <a:cs typeface="Lucida Grande" charset="0"/>
              <a:sym typeface="Arial Narrow" charset="0"/>
            </a:endParaRPr>
          </a:p>
          <a:p>
            <a:r>
              <a:rPr lang="en-US" sz="180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Addresses</a:t>
            </a:r>
          </a:p>
        </p:txBody>
      </p:sp>
      <p:sp>
        <p:nvSpPr>
          <p:cNvPr id="44041" name="Rectangle 9"/>
          <p:cNvSpPr>
            <a:spLocks/>
          </p:cNvSpPr>
          <p:nvPr/>
        </p:nvSpPr>
        <p:spPr bwMode="auto">
          <a:xfrm>
            <a:off x="5630863" y="5635625"/>
            <a:ext cx="1555750" cy="4445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spAutoFit/>
          </a:bodyPr>
          <a:lstStyle/>
          <a:p>
            <a:r>
              <a:rPr lang="en-US" sz="2400">
                <a:solidFill>
                  <a:srgbClr val="262699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Stack “Top”</a:t>
            </a:r>
          </a:p>
        </p:txBody>
      </p:sp>
      <p:sp>
        <p:nvSpPr>
          <p:cNvPr id="44042" name="Line 10"/>
          <p:cNvSpPr>
            <a:spLocks noChangeShapeType="1"/>
          </p:cNvSpPr>
          <p:nvPr/>
        </p:nvSpPr>
        <p:spPr bwMode="auto">
          <a:xfrm>
            <a:off x="5754688" y="4876800"/>
            <a:ext cx="129540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4043" name="Rectangle 11"/>
          <p:cNvSpPr>
            <a:spLocks/>
          </p:cNvSpPr>
          <p:nvPr/>
        </p:nvSpPr>
        <p:spPr bwMode="auto">
          <a:xfrm>
            <a:off x="5387975" y="1066800"/>
            <a:ext cx="2041525" cy="4445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spAutoFit/>
          </a:bodyPr>
          <a:lstStyle/>
          <a:p>
            <a:r>
              <a:rPr lang="en-US" sz="2400">
                <a:solidFill>
                  <a:srgbClr val="262699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Stack “Bottom”</a:t>
            </a:r>
          </a:p>
        </p:txBody>
      </p:sp>
      <p:sp>
        <p:nvSpPr>
          <p:cNvPr id="44044" name="AutoShape 12"/>
          <p:cNvSpPr>
            <a:spLocks/>
          </p:cNvSpPr>
          <p:nvPr/>
        </p:nvSpPr>
        <p:spPr bwMode="auto">
          <a:xfrm>
            <a:off x="6097588" y="1524000"/>
            <a:ext cx="609600" cy="381000"/>
          </a:xfrm>
          <a:custGeom>
            <a:avLst/>
            <a:gdLst>
              <a:gd name="T0" fmla="*/ 10800 w 21600"/>
              <a:gd name="T1" fmla="*/ 10800 h 21600"/>
            </a:gdLst>
            <a:ahLst/>
            <a:cxnLst>
              <a:cxn ang="0">
                <a:pos x="T0" y="T1"/>
              </a:cxn>
            </a:cxnLst>
            <a:rect l="0" t="0" r="r" b="b"/>
            <a:pathLst>
              <a:path w="21600" h="21600">
                <a:moveTo>
                  <a:pt x="0" y="10800"/>
                </a:moveTo>
                <a:lnTo>
                  <a:pt x="5400" y="10800"/>
                </a:lnTo>
                <a:lnTo>
                  <a:pt x="5400" y="0"/>
                </a:lnTo>
                <a:lnTo>
                  <a:pt x="16200" y="0"/>
                </a:lnTo>
                <a:lnTo>
                  <a:pt x="16200" y="10800"/>
                </a:lnTo>
                <a:lnTo>
                  <a:pt x="21600" y="10800"/>
                </a:lnTo>
                <a:lnTo>
                  <a:pt x="10800" y="21600"/>
                </a:lnTo>
                <a:close/>
                <a:moveTo>
                  <a:pt x="0" y="10800"/>
                </a:moveTo>
              </a:path>
            </a:pathLst>
          </a:custGeom>
          <a:solidFill>
            <a:srgbClr val="980002"/>
          </a:solidFill>
          <a:ln w="25400" cap="flat">
            <a:noFill/>
            <a:round/>
            <a:headEnd type="none" w="med" len="med"/>
            <a:tailEnd type="triangl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4045" name="Rectangle 13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44046" name="Rectangle 14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44051" name="Rectangle 19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x86-64 Stack: Pop</a:t>
            </a:r>
          </a:p>
        </p:txBody>
      </p:sp>
      <p:sp>
        <p:nvSpPr>
          <p:cNvPr id="44052" name="Rectangle 20"/>
          <p:cNvSpPr>
            <a:spLocks/>
          </p:cNvSpPr>
          <p:nvPr/>
        </p:nvSpPr>
        <p:spPr bwMode="auto">
          <a:xfrm>
            <a:off x="5756275" y="1981200"/>
            <a:ext cx="1304925" cy="32004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4053" name="Line 21"/>
          <p:cNvSpPr>
            <a:spLocks noChangeShapeType="1"/>
          </p:cNvSpPr>
          <p:nvPr/>
        </p:nvSpPr>
        <p:spPr bwMode="auto">
          <a:xfrm>
            <a:off x="5754688" y="4876800"/>
            <a:ext cx="129540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grpSp>
        <p:nvGrpSpPr>
          <p:cNvPr id="44054" name="Group 22"/>
          <p:cNvGrpSpPr>
            <a:grpSpLocks/>
          </p:cNvGrpSpPr>
          <p:nvPr/>
        </p:nvGrpSpPr>
        <p:grpSpPr bwMode="auto">
          <a:xfrm>
            <a:off x="5040313" y="4706938"/>
            <a:ext cx="635000" cy="323850"/>
            <a:chOff x="0" y="0"/>
            <a:chExt cx="400" cy="204"/>
          </a:xfrm>
        </p:grpSpPr>
        <p:sp>
          <p:nvSpPr>
            <p:cNvPr id="44055" name="Line 23"/>
            <p:cNvSpPr>
              <a:spLocks noChangeShapeType="1"/>
            </p:cNvSpPr>
            <p:nvPr/>
          </p:nvSpPr>
          <p:spPr bwMode="auto">
            <a:xfrm>
              <a:off x="56" y="10"/>
              <a:ext cx="320" cy="0"/>
            </a:xfrm>
            <a:prstGeom prst="line">
              <a:avLst/>
            </a:prstGeom>
            <a:noFill/>
            <a:ln w="25400" cap="flat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44056" name="Rectangle 24"/>
            <p:cNvSpPr>
              <a:spLocks/>
            </p:cNvSpPr>
            <p:nvPr/>
          </p:nvSpPr>
          <p:spPr bwMode="auto">
            <a:xfrm>
              <a:off x="222" y="0"/>
              <a:ext cx="178" cy="204"/>
            </a:xfrm>
            <a:prstGeom prst="rect">
              <a:avLst/>
            </a:prstGeom>
            <a:noFill/>
            <a:ln w="19050" cap="flat">
              <a:noFill/>
              <a:miter lim="800000"/>
              <a:headEnd type="none" w="med" len="med"/>
              <a:tailEnd type="none" w="med" len="med"/>
            </a:ln>
          </p:spPr>
          <p:txBody>
            <a:bodyPr wrap="none" lIns="38100" tIns="38100" rIns="38100" bIns="38100">
              <a:spAutoFit/>
            </a:bodyPr>
            <a:lstStyle/>
            <a:p>
              <a:r>
                <a:rPr lang="en-US" sz="1600" dirty="0">
                  <a:solidFill>
                    <a:schemeClr val="tx1"/>
                  </a:solidFill>
                  <a:latin typeface="Calibri" charset="0"/>
                  <a:ea typeface="Calibri" charset="0"/>
                  <a:cs typeface="Calibri" charset="0"/>
                  <a:sym typeface="Calibri" charset="0"/>
                </a:rPr>
                <a:t>+8</a:t>
              </a:r>
            </a:p>
          </p:txBody>
        </p:sp>
        <p:sp>
          <p:nvSpPr>
            <p:cNvPr id="44057" name="AutoShape 25"/>
            <p:cNvSpPr>
              <a:spLocks/>
            </p:cNvSpPr>
            <p:nvPr/>
          </p:nvSpPr>
          <p:spPr bwMode="auto">
            <a:xfrm rot="10800000" flipH="1">
              <a:off x="0" y="53"/>
              <a:ext cx="232" cy="120"/>
            </a:xfrm>
            <a:custGeom>
              <a:avLst/>
              <a:gdLst>
                <a:gd name="T0" fmla="*/ 10800 w 21600"/>
                <a:gd name="T1" fmla="*/ 10800 h 21600"/>
              </a:gdLst>
              <a:ahLst/>
              <a:cxnLst>
                <a:cxn ang="0">
                  <a:pos x="T0" y="T1"/>
                </a:cxn>
              </a:cxnLst>
              <a:rect l="0" t="0" r="r" b="b"/>
              <a:pathLst>
                <a:path w="21600" h="21600">
                  <a:moveTo>
                    <a:pt x="0" y="10800"/>
                  </a:moveTo>
                  <a:lnTo>
                    <a:pt x="5400" y="10800"/>
                  </a:lnTo>
                  <a:lnTo>
                    <a:pt x="5400" y="0"/>
                  </a:lnTo>
                  <a:lnTo>
                    <a:pt x="16200" y="0"/>
                  </a:lnTo>
                  <a:lnTo>
                    <a:pt x="16200" y="10800"/>
                  </a:lnTo>
                  <a:lnTo>
                    <a:pt x="21600" y="10800"/>
                  </a:lnTo>
                  <a:lnTo>
                    <a:pt x="10800" y="21600"/>
                  </a:lnTo>
                  <a:close/>
                  <a:moveTo>
                    <a:pt x="0" y="10800"/>
                  </a:moveTo>
                </a:path>
              </a:pathLst>
            </a:custGeom>
            <a:solidFill>
              <a:srgbClr val="980002"/>
            </a:solidFill>
            <a:ln w="25400" cap="flat">
              <a:noFill/>
              <a:round/>
              <a:headEnd type="none" w="med" len="med"/>
              <a:tailEnd type="triangle" w="med" len="med"/>
            </a:ln>
            <a:effectLst>
              <a:outerShdw dist="76199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endParaRPr lang="en-US"/>
            </a:p>
          </p:txBody>
        </p:sp>
      </p:grpSp>
      <p:sp>
        <p:nvSpPr>
          <p:cNvPr id="44058" name="Rectangle 26"/>
          <p:cNvSpPr>
            <a:spLocks/>
          </p:cNvSpPr>
          <p:nvPr/>
        </p:nvSpPr>
        <p:spPr bwMode="auto">
          <a:xfrm>
            <a:off x="5754688" y="4876800"/>
            <a:ext cx="1301750" cy="304800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4059" name="Rectangle 27"/>
          <p:cNvSpPr>
            <a:spLocks/>
          </p:cNvSpPr>
          <p:nvPr/>
        </p:nvSpPr>
        <p:spPr bwMode="auto">
          <a:xfrm>
            <a:off x="5753100" y="4876800"/>
            <a:ext cx="1301750" cy="3048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4060" name="Freeform 28"/>
          <p:cNvSpPr>
            <a:spLocks/>
          </p:cNvSpPr>
          <p:nvPr/>
        </p:nvSpPr>
        <p:spPr bwMode="auto">
          <a:xfrm>
            <a:off x="6107113" y="4953000"/>
            <a:ext cx="604837" cy="685800"/>
          </a:xfrm>
          <a:custGeom>
            <a:avLst/>
            <a:gdLst/>
            <a:ahLst/>
            <a:cxnLst>
              <a:cxn ang="0">
                <a:pos x="5263" y="6200"/>
              </a:cxn>
              <a:cxn ang="0">
                <a:pos x="5263" y="21600"/>
              </a:cxn>
              <a:cxn ang="0">
                <a:pos x="16144" y="21600"/>
              </a:cxn>
              <a:cxn ang="0">
                <a:pos x="16144" y="6400"/>
              </a:cxn>
              <a:cxn ang="0">
                <a:pos x="21600" y="6400"/>
              </a:cxn>
              <a:cxn ang="0">
                <a:pos x="10929" y="0"/>
              </a:cxn>
              <a:cxn ang="0">
                <a:pos x="0" y="6043"/>
              </a:cxn>
              <a:cxn ang="0">
                <a:pos x="5263" y="6200"/>
              </a:cxn>
              <a:cxn ang="0">
                <a:pos x="5263" y="6200"/>
              </a:cxn>
            </a:cxnLst>
            <a:rect l="0" t="0" r="r" b="b"/>
            <a:pathLst>
              <a:path w="21600" h="21600">
                <a:moveTo>
                  <a:pt x="5263" y="6200"/>
                </a:moveTo>
                <a:lnTo>
                  <a:pt x="5263" y="21600"/>
                </a:lnTo>
                <a:lnTo>
                  <a:pt x="16144" y="21600"/>
                </a:lnTo>
                <a:lnTo>
                  <a:pt x="16144" y="6400"/>
                </a:lnTo>
                <a:lnTo>
                  <a:pt x="21600" y="6400"/>
                </a:lnTo>
                <a:lnTo>
                  <a:pt x="10929" y="0"/>
                </a:lnTo>
                <a:lnTo>
                  <a:pt x="0" y="6043"/>
                </a:lnTo>
                <a:lnTo>
                  <a:pt x="5263" y="6200"/>
                </a:lnTo>
                <a:close/>
                <a:moveTo>
                  <a:pt x="5263" y="6200"/>
                </a:moveTo>
              </a:path>
            </a:pathLst>
          </a:custGeom>
          <a:solidFill>
            <a:srgbClr val="980002"/>
          </a:solidFill>
          <a:ln w="38100" cap="flat">
            <a:noFill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6" name="Rectangle 8"/>
          <p:cNvSpPr txBox="1">
            <a:spLocks noChangeArrowheads="1"/>
          </p:cNvSpPr>
          <p:nvPr/>
        </p:nvSpPr>
        <p:spPr bwMode="auto">
          <a:xfrm>
            <a:off x="381000" y="1397000"/>
            <a:ext cx="8382000" cy="543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8100" tIns="38100" rIns="38100" bIns="38100" numCol="1" anchor="t" anchorCtr="0" compatLnSpc="1">
            <a:prstTxWarp prst="textNoShape">
              <a:avLst/>
            </a:prstTxWarp>
          </a:bodyPr>
          <a:lstStyle>
            <a:lvl1pPr marL="254000" indent="-254000" algn="l" rtl="0" fontAlgn="base">
              <a:spcBef>
                <a:spcPts val="600"/>
              </a:spcBef>
              <a:spcAft>
                <a:spcPct val="0"/>
              </a:spcAft>
              <a:buClr>
                <a:srgbClr val="990000"/>
              </a:buClr>
              <a:buSzPct val="60000"/>
              <a:buFont typeface="Wingdings 2" charset="2"/>
              <a:buChar char="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  <a:sym typeface="Calibri Bold" charset="0"/>
              </a:defRPr>
            </a:lvl1pPr>
            <a:lvl2pPr marL="514350" indent="-234950" algn="l" rtl="0" fontAlgn="base">
              <a:spcBef>
                <a:spcPts val="500"/>
              </a:spcBef>
              <a:spcAft>
                <a:spcPct val="0"/>
              </a:spcAft>
              <a:buClr>
                <a:srgbClr val="990000"/>
              </a:buClr>
              <a:buSzPct val="110000"/>
              <a:buFont typeface="Wingdings" charset="2"/>
              <a:buChar char="§"/>
              <a:defRPr sz="20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2pPr>
            <a:lvl3pPr marL="800100" indent="-20320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80000"/>
              <a:buFont typeface="Wingdings" charset="2"/>
              <a:buChar char="§"/>
              <a:defRPr sz="20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3pPr>
            <a:lvl4pPr marL="1143000" indent="-22860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alibri" charset="0"/>
              <a:buChar char="–"/>
              <a:defRPr sz="20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4pPr>
            <a:lvl5pPr marL="1460500" indent="-22860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alibri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5pPr>
            <a:lvl6pPr marL="1917700" indent="-22860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alibri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6pPr>
            <a:lvl7pPr marL="2374900" indent="-22860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alibri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7pPr>
            <a:lvl8pPr marL="2832100" indent="-22860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alibri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8pPr>
            <a:lvl9pPr marL="3289300" indent="-22860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alibri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9pPr>
          </a:lstStyle>
          <a:p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popq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 </a:t>
            </a:r>
            <a:r>
              <a:rPr lang="en-US" dirty="0" err="1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Dest</a:t>
            </a:r>
            <a:endParaRPr lang="en-US" dirty="0">
              <a:latin typeface="Courier New Bold" charset="0"/>
              <a:sym typeface="Courier New Bold" charset="0"/>
            </a:endParaRPr>
          </a:p>
          <a:p>
            <a:pPr marL="552450" lvl="1"/>
            <a:r>
              <a:rPr lang="en-US" dirty="0"/>
              <a:t>Read value at address given by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rsp</a:t>
            </a:r>
            <a:endParaRPr lang="en-US" dirty="0">
              <a:latin typeface="Courier New Bold" charset="0"/>
              <a:cs typeface="Courier New Bold" charset="0"/>
              <a:sym typeface="Courier New Bold" charset="0"/>
            </a:endParaRPr>
          </a:p>
          <a:p>
            <a:pPr marL="552450" lvl="1"/>
            <a:r>
              <a:rPr lang="en-US" dirty="0"/>
              <a:t>Increment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rsp</a:t>
            </a:r>
            <a:r>
              <a:rPr lang="en-US" dirty="0"/>
              <a:t> by 8</a:t>
            </a:r>
          </a:p>
          <a:p>
            <a:pPr marL="552450" lvl="1"/>
            <a:r>
              <a:rPr lang="en-US" dirty="0"/>
              <a:t>Store value at </a:t>
            </a:r>
            <a:r>
              <a:rPr lang="en-US" dirty="0" err="1"/>
              <a:t>Dest</a:t>
            </a:r>
            <a:r>
              <a:rPr lang="en-US" dirty="0"/>
              <a:t> (must be register)</a:t>
            </a:r>
            <a:endParaRPr lang="en-US" dirty="0"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B590287-EE3D-5024-401E-E2E2FAFC0C78}"/>
              </a:ext>
            </a:extLst>
          </p:cNvPr>
          <p:cNvSpPr>
            <a:spLocks/>
          </p:cNvSpPr>
          <p:nvPr/>
        </p:nvSpPr>
        <p:spPr bwMode="auto">
          <a:xfrm>
            <a:off x="-1270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0B87E5A-41F3-077B-52A3-62717216E7B3}"/>
              </a:ext>
            </a:extLst>
          </p:cNvPr>
          <p:cNvSpPr>
            <a:spLocks/>
          </p:cNvSpPr>
          <p:nvPr/>
        </p:nvSpPr>
        <p:spPr bwMode="auto">
          <a:xfrm>
            <a:off x="-12700" y="6658594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7594624" presetClass="entr" presetSubtype="1395378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67594624" presetClass="entr" presetSubtype="13953796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6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12290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Today</a:t>
            </a:r>
          </a:p>
        </p:txBody>
      </p:sp>
      <p:sp>
        <p:nvSpPr>
          <p:cNvPr id="12292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dirty="0"/>
              <a:t>Procedures</a:t>
            </a:r>
          </a:p>
          <a:p>
            <a:pPr lvl="1"/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Stack Structure</a:t>
            </a:r>
          </a:p>
          <a:p>
            <a:pPr lvl="1"/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Calling Conventions</a:t>
            </a:r>
          </a:p>
          <a:p>
            <a:pPr lvl="2"/>
            <a:r>
              <a:rPr lang="en-US" b="1" dirty="0"/>
              <a:t>Passing control</a:t>
            </a:r>
          </a:p>
          <a:p>
            <a:pPr lvl="2"/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Passing data</a:t>
            </a:r>
          </a:p>
          <a:p>
            <a:pPr lvl="2"/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Managing local data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8121E08-5956-60C5-FD66-448ACEF22217}"/>
              </a:ext>
            </a:extLst>
          </p:cNvPr>
          <p:cNvSpPr>
            <a:spLocks/>
          </p:cNvSpPr>
          <p:nvPr/>
        </p:nvSpPr>
        <p:spPr bwMode="auto">
          <a:xfrm>
            <a:off x="-1270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4341421-AD19-B9A3-068E-4A527D3E16B5}"/>
              </a:ext>
            </a:extLst>
          </p:cNvPr>
          <p:cNvSpPr>
            <a:spLocks/>
          </p:cNvSpPr>
          <p:nvPr/>
        </p:nvSpPr>
        <p:spPr bwMode="auto">
          <a:xfrm>
            <a:off x="-12700" y="6658594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Examples</a:t>
            </a:r>
          </a:p>
        </p:txBody>
      </p:sp>
      <p:sp>
        <p:nvSpPr>
          <p:cNvPr id="4" name="Rectangle 4"/>
          <p:cNvSpPr>
            <a:spLocks/>
          </p:cNvSpPr>
          <p:nvPr/>
        </p:nvSpPr>
        <p:spPr bwMode="auto">
          <a:xfrm>
            <a:off x="76200" y="4800600"/>
            <a:ext cx="2667000" cy="1828800"/>
          </a:xfrm>
          <a:prstGeom prst="rect">
            <a:avLst/>
          </a:prstGeom>
          <a:solidFill>
            <a:srgbClr val="CCFFCC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long mult2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(long a, long b)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long s = a * b;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return s;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5" name="Rectangle 4"/>
          <p:cNvSpPr>
            <a:spLocks/>
          </p:cNvSpPr>
          <p:nvPr/>
        </p:nvSpPr>
        <p:spPr bwMode="auto">
          <a:xfrm>
            <a:off x="3505200" y="381000"/>
            <a:ext cx="4267200" cy="18288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void 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multstore</a:t>
            </a:r>
            <a:endParaRPr lang="en-US" sz="1800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(long x, long y, long *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dest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 {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long t = mult2(x, y);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*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dest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= t;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6" name="Rectangle 4"/>
          <p:cNvSpPr>
            <a:spLocks/>
          </p:cNvSpPr>
          <p:nvPr/>
        </p:nvSpPr>
        <p:spPr bwMode="auto">
          <a:xfrm>
            <a:off x="2971800" y="4800600"/>
            <a:ext cx="5867400" cy="1828800"/>
          </a:xfrm>
          <a:prstGeom prst="rect">
            <a:avLst/>
          </a:prstGeom>
          <a:solidFill>
            <a:srgbClr val="CCFFCC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ro-RO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0000000000400550 &lt;mult2&gt;:</a:t>
            </a:r>
          </a:p>
          <a:p>
            <a:pPr algn="l"/>
            <a:r>
              <a:rPr lang="ro-RO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400550:  mov    %rdi,%rax	# a </a:t>
            </a:r>
          </a:p>
          <a:p>
            <a:pPr algn="l"/>
            <a:r>
              <a:rPr lang="ro-RO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400553:  imul   %rsi,%rax	# a * b</a:t>
            </a:r>
          </a:p>
          <a:p>
            <a:pPr algn="l"/>
            <a:r>
              <a:rPr lang="ro-RO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400557:  retq			# Return</a:t>
            </a:r>
          </a:p>
        </p:txBody>
      </p:sp>
      <p:sp>
        <p:nvSpPr>
          <p:cNvPr id="8" name="Rectangle 7"/>
          <p:cNvSpPr>
            <a:spLocks/>
          </p:cNvSpPr>
          <p:nvPr/>
        </p:nvSpPr>
        <p:spPr bwMode="auto">
          <a:xfrm>
            <a:off x="1066800" y="2362200"/>
            <a:ext cx="6781800" cy="20574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sk-SK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0000000000400540 &lt;multstore&gt;:</a:t>
            </a:r>
          </a:p>
          <a:p>
            <a:pPr algn="l"/>
            <a:r>
              <a:rPr lang="sk-SK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400540: push   %rbx		# Save %rbx</a:t>
            </a:r>
          </a:p>
          <a:p>
            <a:pPr algn="l"/>
            <a:r>
              <a:rPr lang="sk-SK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400541: mov    %rdx,%rbx		# Save dest</a:t>
            </a:r>
          </a:p>
          <a:p>
            <a:pPr algn="l"/>
            <a:r>
              <a:rPr lang="sk-SK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400544: </a:t>
            </a:r>
            <a:r>
              <a:rPr lang="sk-SK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callq</a:t>
            </a:r>
            <a:r>
              <a:rPr lang="sk-SK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400550 &lt;mult2&gt;	# mult2(x,y)</a:t>
            </a:r>
          </a:p>
          <a:p>
            <a:pPr algn="l"/>
            <a:r>
              <a:rPr lang="sk-SK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400549: mov    %</a:t>
            </a:r>
            <a:r>
              <a:rPr lang="sk-SK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rax</a:t>
            </a:r>
            <a:r>
              <a:rPr lang="sk-SK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,(%</a:t>
            </a:r>
            <a:r>
              <a:rPr lang="sk-SK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rbx</a:t>
            </a:r>
            <a:r>
              <a:rPr lang="sk-SK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	# Save at dest</a:t>
            </a:r>
          </a:p>
          <a:p>
            <a:pPr algn="l"/>
            <a:r>
              <a:rPr lang="sk-SK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40054c: pop    %rbx		# Restore %rbx</a:t>
            </a:r>
          </a:p>
          <a:p>
            <a:pPr algn="l"/>
            <a:r>
              <a:rPr lang="sk-SK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40054d: retq			# Return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827323B-2EB4-8EFE-981E-91A5F5D696F7}"/>
              </a:ext>
            </a:extLst>
          </p:cNvPr>
          <p:cNvSpPr>
            <a:spLocks/>
          </p:cNvSpPr>
          <p:nvPr/>
        </p:nvSpPr>
        <p:spPr bwMode="auto">
          <a:xfrm>
            <a:off x="-1270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BED1139-A7D3-5C54-781F-BEBF335264F8}"/>
              </a:ext>
            </a:extLst>
          </p:cNvPr>
          <p:cNvSpPr>
            <a:spLocks/>
          </p:cNvSpPr>
          <p:nvPr/>
        </p:nvSpPr>
        <p:spPr bwMode="auto">
          <a:xfrm>
            <a:off x="-12700" y="6658594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884737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45059" name="Rectangle 3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45060" name="Rectangle 4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Procedure Control Flow</a:t>
            </a:r>
          </a:p>
        </p:txBody>
      </p:sp>
      <p:sp>
        <p:nvSpPr>
          <p:cNvPr id="45061" name="Rectangle 5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dirty="0"/>
              <a:t>Use stack to support procedure call and return</a:t>
            </a:r>
          </a:p>
          <a:p>
            <a:r>
              <a:rPr lang="en-US" dirty="0">
                <a:solidFill>
                  <a:srgbClr val="980002"/>
                </a:solidFill>
              </a:rPr>
              <a:t>Procedure call:</a:t>
            </a:r>
            <a:r>
              <a:rPr lang="en-US" dirty="0"/>
              <a:t> </a:t>
            </a:r>
            <a:r>
              <a:rPr lang="en-US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call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latin typeface="Courier New" pitchFamily="49" charset="0"/>
                <a:ea typeface="Calibri Bold Italic" charset="0"/>
                <a:cs typeface="Courier New" pitchFamily="49" charset="0"/>
                <a:sym typeface="Calibri Bold Italic" charset="0"/>
              </a:rPr>
              <a:t>label</a:t>
            </a:r>
            <a:endParaRPr lang="en-US" b="1" dirty="0">
              <a:latin typeface="Courier New" pitchFamily="49" charset="0"/>
              <a:cs typeface="Courier New" pitchFamily="49" charset="0"/>
            </a:endParaRPr>
          </a:p>
          <a:p>
            <a:pPr marL="552450" lvl="1"/>
            <a:r>
              <a:rPr lang="en-US" dirty="0"/>
              <a:t>Push return address on stack</a:t>
            </a:r>
          </a:p>
          <a:p>
            <a:pPr marL="552450" lvl="1"/>
            <a:r>
              <a:rPr lang="en-US" dirty="0"/>
              <a:t>Jump to </a:t>
            </a:r>
            <a:r>
              <a:rPr lang="en-US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label</a:t>
            </a:r>
            <a:endParaRPr lang="en-US" dirty="0"/>
          </a:p>
          <a:p>
            <a:r>
              <a:rPr lang="en-US" dirty="0"/>
              <a:t>Return address:</a:t>
            </a:r>
          </a:p>
          <a:p>
            <a:pPr marL="552450" lvl="1"/>
            <a:r>
              <a:rPr lang="en-US" dirty="0"/>
              <a:t>Address of the next instruction right after call</a:t>
            </a:r>
          </a:p>
          <a:p>
            <a:pPr marL="552450" lvl="1"/>
            <a:r>
              <a:rPr lang="en-US" dirty="0"/>
              <a:t>Example from disassembly</a:t>
            </a:r>
          </a:p>
          <a:p>
            <a:r>
              <a:rPr lang="en-US" dirty="0">
                <a:solidFill>
                  <a:srgbClr val="980002"/>
                </a:solidFill>
              </a:rPr>
              <a:t>Procedure return:</a:t>
            </a:r>
            <a:r>
              <a:rPr lang="en-US" dirty="0"/>
              <a:t> </a:t>
            </a:r>
            <a:r>
              <a:rPr lang="en-US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ret</a:t>
            </a:r>
            <a:endParaRPr lang="en-US" b="1" dirty="0">
              <a:latin typeface="Courier New" pitchFamily="49" charset="0"/>
              <a:cs typeface="Courier New" pitchFamily="49" charset="0"/>
            </a:endParaRPr>
          </a:p>
          <a:p>
            <a:pPr marL="552450" lvl="1"/>
            <a:r>
              <a:rPr lang="en-US" dirty="0"/>
              <a:t>Pop address from stack</a:t>
            </a:r>
          </a:p>
          <a:p>
            <a:pPr marL="552450" lvl="1"/>
            <a:r>
              <a:rPr lang="en-US" dirty="0"/>
              <a:t>Jump to address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8945A6B-ADE4-5EE2-56DA-F262FE4701EC}"/>
              </a:ext>
            </a:extLst>
          </p:cNvPr>
          <p:cNvSpPr>
            <a:spLocks/>
          </p:cNvSpPr>
          <p:nvPr/>
        </p:nvSpPr>
        <p:spPr bwMode="auto">
          <a:xfrm>
            <a:off x="-1270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040C3BA-693B-2420-68F7-C605568D604B}"/>
              </a:ext>
            </a:extLst>
          </p:cNvPr>
          <p:cNvSpPr>
            <a:spLocks/>
          </p:cNvSpPr>
          <p:nvPr/>
        </p:nvSpPr>
        <p:spPr bwMode="auto">
          <a:xfrm>
            <a:off x="-12700" y="6658594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 Flow Example #1</a:t>
            </a:r>
          </a:p>
        </p:txBody>
      </p:sp>
      <p:sp>
        <p:nvSpPr>
          <p:cNvPr id="6" name="Rectangle 4"/>
          <p:cNvSpPr>
            <a:spLocks/>
          </p:cNvSpPr>
          <p:nvPr/>
        </p:nvSpPr>
        <p:spPr bwMode="auto">
          <a:xfrm>
            <a:off x="228600" y="3962400"/>
            <a:ext cx="4495800" cy="1524000"/>
          </a:xfrm>
          <a:prstGeom prst="rect">
            <a:avLst/>
          </a:prstGeom>
          <a:solidFill>
            <a:srgbClr val="CCFFCC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ro-RO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0000000000400550 &lt;mult2&gt;:</a:t>
            </a:r>
          </a:p>
          <a:p>
            <a:pPr algn="l"/>
            <a:r>
              <a:rPr lang="ro-RO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400550:  mov    %rdi,%rax</a:t>
            </a:r>
          </a:p>
          <a:p>
            <a:pPr algn="l"/>
            <a:r>
              <a:rPr lang="ro-RO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  <a:endParaRPr lang="ro-RO" sz="1800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/>
            <a:r>
              <a:rPr lang="ro-RO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400557:  retq</a:t>
            </a:r>
          </a:p>
        </p:txBody>
      </p:sp>
      <p:sp>
        <p:nvSpPr>
          <p:cNvPr id="8" name="Rectangle 7"/>
          <p:cNvSpPr>
            <a:spLocks/>
          </p:cNvSpPr>
          <p:nvPr/>
        </p:nvSpPr>
        <p:spPr bwMode="auto">
          <a:xfrm>
            <a:off x="228600" y="1295400"/>
            <a:ext cx="4495800" cy="20574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sk-SK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0000000000400540 &lt;multstore&gt;:</a:t>
            </a:r>
          </a:p>
          <a:p>
            <a:pPr algn="l"/>
            <a:r>
              <a:rPr lang="sk-SK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sk-SK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400544: callq  400550 &lt;mult2&gt;</a:t>
            </a:r>
          </a:p>
          <a:p>
            <a:pPr algn="l"/>
            <a:r>
              <a:rPr lang="sk-SK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400549: mov    %rax,(%rbx)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</p:txBody>
      </p:sp>
      <p:sp>
        <p:nvSpPr>
          <p:cNvPr id="11" name="Rectangle 8"/>
          <p:cNvSpPr>
            <a:spLocks/>
          </p:cNvSpPr>
          <p:nvPr/>
        </p:nvSpPr>
        <p:spPr bwMode="auto">
          <a:xfrm>
            <a:off x="6248400" y="3505200"/>
            <a:ext cx="1346200" cy="381000"/>
          </a:xfrm>
          <a:prstGeom prst="rect">
            <a:avLst/>
          </a:prstGeom>
          <a:solidFill>
            <a:srgbClr val="FFCCCC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0x400544</a:t>
            </a:r>
          </a:p>
        </p:txBody>
      </p:sp>
      <p:sp>
        <p:nvSpPr>
          <p:cNvPr id="12" name="Rectangle 9"/>
          <p:cNvSpPr>
            <a:spLocks/>
          </p:cNvSpPr>
          <p:nvPr/>
        </p:nvSpPr>
        <p:spPr bwMode="auto">
          <a:xfrm>
            <a:off x="6248400" y="2895600"/>
            <a:ext cx="1346200" cy="381000"/>
          </a:xfrm>
          <a:prstGeom prst="rect">
            <a:avLst/>
          </a:prstGeom>
          <a:solidFill>
            <a:srgbClr val="D5F1CF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0x120</a:t>
            </a:r>
          </a:p>
        </p:txBody>
      </p:sp>
      <p:sp>
        <p:nvSpPr>
          <p:cNvPr id="18" name="Rectangle 15"/>
          <p:cNvSpPr>
            <a:spLocks/>
          </p:cNvSpPr>
          <p:nvPr/>
        </p:nvSpPr>
        <p:spPr bwMode="auto">
          <a:xfrm>
            <a:off x="6248400" y="381000"/>
            <a:ext cx="1346200" cy="1905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r>
              <a:rPr lang="en-US" sz="2400" dirty="0"/>
              <a:t>•</a:t>
            </a:r>
          </a:p>
          <a:p>
            <a:r>
              <a:rPr lang="en-US" sz="2400" dirty="0"/>
              <a:t>•</a:t>
            </a:r>
          </a:p>
          <a:p>
            <a:r>
              <a:rPr lang="en-US" sz="2400" dirty="0"/>
              <a:t>•</a:t>
            </a:r>
          </a:p>
        </p:txBody>
      </p:sp>
      <p:sp>
        <p:nvSpPr>
          <p:cNvPr id="20" name="Arc 19"/>
          <p:cNvSpPr/>
          <p:nvPr/>
        </p:nvSpPr>
        <p:spPr bwMode="auto">
          <a:xfrm flipV="1">
            <a:off x="6629400" y="2133600"/>
            <a:ext cx="1676400" cy="990600"/>
          </a:xfrm>
          <a:prstGeom prst="arc">
            <a:avLst>
              <a:gd name="adj1" fmla="val 17108922"/>
              <a:gd name="adj2" fmla="val 4768750"/>
            </a:avLst>
          </a:prstGeom>
          <a:noFill/>
          <a:ln w="25400" cap="flat" cmpd="sng" algn="ctr">
            <a:solidFill>
              <a:srgbClr val="008000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cxnSp>
        <p:nvCxnSpPr>
          <p:cNvPr id="22" name="Straight Arrow Connector 21"/>
          <p:cNvCxnSpPr>
            <a:stCxn id="11" idx="1"/>
          </p:cNvCxnSpPr>
          <p:nvPr/>
        </p:nvCxnSpPr>
        <p:spPr bwMode="auto">
          <a:xfrm flipH="1" flipV="1">
            <a:off x="4572000" y="2362200"/>
            <a:ext cx="1676400" cy="13335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4" name="Rectangle 3"/>
          <p:cNvSpPr>
            <a:spLocks/>
          </p:cNvSpPr>
          <p:nvPr/>
        </p:nvSpPr>
        <p:spPr bwMode="auto">
          <a:xfrm>
            <a:off x="5472112" y="2895600"/>
            <a:ext cx="638175" cy="381000"/>
          </a:xfrm>
          <a:prstGeom prst="rect">
            <a:avLst/>
          </a:prstGeom>
          <a:solidFill>
            <a:srgbClr val="FFFFFF"/>
          </a:soli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 anchor="ctr"/>
          <a:lstStyle/>
          <a:p>
            <a:pPr algn="r"/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18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rsp</a:t>
            </a:r>
            <a:endParaRPr lang="en-US" sz="18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25" name="Rectangle 10"/>
          <p:cNvSpPr>
            <a:spLocks/>
          </p:cNvSpPr>
          <p:nvPr/>
        </p:nvSpPr>
        <p:spPr bwMode="auto">
          <a:xfrm>
            <a:off x="5334000" y="1905000"/>
            <a:ext cx="776287" cy="381000"/>
          </a:xfrm>
          <a:prstGeom prst="rect">
            <a:avLst/>
          </a:prstGeom>
          <a:solidFill>
            <a:srgbClr val="FFFFFF"/>
          </a:soli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 anchor="ctr"/>
          <a:lstStyle/>
          <a:p>
            <a:pPr algn="r"/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0x120</a:t>
            </a:r>
          </a:p>
        </p:txBody>
      </p:sp>
      <p:sp>
        <p:nvSpPr>
          <p:cNvPr id="26" name="Rectangle 11"/>
          <p:cNvSpPr>
            <a:spLocks/>
          </p:cNvSpPr>
          <p:nvPr/>
        </p:nvSpPr>
        <p:spPr bwMode="auto">
          <a:xfrm>
            <a:off x="5334000" y="1524000"/>
            <a:ext cx="776287" cy="381000"/>
          </a:xfrm>
          <a:prstGeom prst="rect">
            <a:avLst/>
          </a:prstGeom>
          <a:solidFill>
            <a:srgbClr val="FFFFFF"/>
          </a:soli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 anchor="ctr"/>
          <a:lstStyle/>
          <a:p>
            <a:pPr algn="r"/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0x128</a:t>
            </a:r>
          </a:p>
        </p:txBody>
      </p:sp>
      <p:sp>
        <p:nvSpPr>
          <p:cNvPr id="27" name="Rectangle 12"/>
          <p:cNvSpPr>
            <a:spLocks/>
          </p:cNvSpPr>
          <p:nvPr/>
        </p:nvSpPr>
        <p:spPr bwMode="auto">
          <a:xfrm>
            <a:off x="5334000" y="1143000"/>
            <a:ext cx="776287" cy="381000"/>
          </a:xfrm>
          <a:prstGeom prst="rect">
            <a:avLst/>
          </a:prstGeom>
          <a:solidFill>
            <a:srgbClr val="FFFFFF"/>
          </a:soli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 anchor="ctr"/>
          <a:lstStyle/>
          <a:p>
            <a:pPr algn="r"/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0x130</a:t>
            </a:r>
          </a:p>
        </p:txBody>
      </p:sp>
      <p:sp>
        <p:nvSpPr>
          <p:cNvPr id="29" name="Rectangle 4"/>
          <p:cNvSpPr>
            <a:spLocks/>
          </p:cNvSpPr>
          <p:nvPr/>
        </p:nvSpPr>
        <p:spPr bwMode="auto">
          <a:xfrm>
            <a:off x="5472112" y="3505200"/>
            <a:ext cx="638175" cy="381000"/>
          </a:xfrm>
          <a:prstGeom prst="rect">
            <a:avLst/>
          </a:prstGeom>
          <a:solidFill>
            <a:srgbClr val="FFFFFF"/>
          </a:soli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 anchor="ctr"/>
          <a:lstStyle/>
          <a:p>
            <a:pPr algn="r"/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%rip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B4C7390-5A25-7634-1045-56CB9B63A6E0}"/>
              </a:ext>
            </a:extLst>
          </p:cNvPr>
          <p:cNvSpPr>
            <a:spLocks/>
          </p:cNvSpPr>
          <p:nvPr/>
        </p:nvSpPr>
        <p:spPr bwMode="auto">
          <a:xfrm>
            <a:off x="-1270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CCED92-5E27-C870-FCB5-720217C06AFA}"/>
              </a:ext>
            </a:extLst>
          </p:cNvPr>
          <p:cNvSpPr>
            <a:spLocks/>
          </p:cNvSpPr>
          <p:nvPr/>
        </p:nvSpPr>
        <p:spPr bwMode="auto">
          <a:xfrm>
            <a:off x="-12700" y="6658594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169628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 Flow Example #2</a:t>
            </a:r>
          </a:p>
        </p:txBody>
      </p:sp>
      <p:sp>
        <p:nvSpPr>
          <p:cNvPr id="6" name="Rectangle 4"/>
          <p:cNvSpPr>
            <a:spLocks/>
          </p:cNvSpPr>
          <p:nvPr/>
        </p:nvSpPr>
        <p:spPr bwMode="auto">
          <a:xfrm>
            <a:off x="228600" y="3962400"/>
            <a:ext cx="4495800" cy="1524000"/>
          </a:xfrm>
          <a:prstGeom prst="rect">
            <a:avLst/>
          </a:prstGeom>
          <a:solidFill>
            <a:srgbClr val="CCFFCC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ro-RO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0000000000400550 &lt;mult2&gt;:</a:t>
            </a:r>
          </a:p>
          <a:p>
            <a:pPr algn="l"/>
            <a:r>
              <a:rPr lang="ro-RO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400550:  mov    %rdi,%rax</a:t>
            </a:r>
          </a:p>
          <a:p>
            <a:pPr algn="l"/>
            <a:r>
              <a:rPr lang="ro-RO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  <a:endParaRPr lang="ro-RO" sz="1800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/>
            <a:r>
              <a:rPr lang="ro-RO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400557:  retq		</a:t>
            </a:r>
          </a:p>
        </p:txBody>
      </p:sp>
      <p:sp>
        <p:nvSpPr>
          <p:cNvPr id="8" name="Rectangle 7"/>
          <p:cNvSpPr>
            <a:spLocks/>
          </p:cNvSpPr>
          <p:nvPr/>
        </p:nvSpPr>
        <p:spPr bwMode="auto">
          <a:xfrm>
            <a:off x="228600" y="1295400"/>
            <a:ext cx="4495800" cy="20574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sk-SK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0000000000400540 &lt;multstore&gt;:</a:t>
            </a:r>
          </a:p>
          <a:p>
            <a:pPr algn="l"/>
            <a:r>
              <a:rPr lang="sk-SK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sk-SK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400544: callq  400550 &lt;mult2&gt;</a:t>
            </a:r>
          </a:p>
          <a:p>
            <a:pPr algn="l"/>
            <a:r>
              <a:rPr lang="sk-SK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400549: mov    %rax,(%rbx)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</p:txBody>
      </p:sp>
      <p:sp>
        <p:nvSpPr>
          <p:cNvPr id="11" name="Rectangle 8"/>
          <p:cNvSpPr>
            <a:spLocks/>
          </p:cNvSpPr>
          <p:nvPr/>
        </p:nvSpPr>
        <p:spPr bwMode="auto">
          <a:xfrm>
            <a:off x="6248400" y="3505200"/>
            <a:ext cx="1346200" cy="381000"/>
          </a:xfrm>
          <a:prstGeom prst="rect">
            <a:avLst/>
          </a:prstGeom>
          <a:solidFill>
            <a:srgbClr val="FFCCCC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0x400550</a:t>
            </a:r>
          </a:p>
        </p:txBody>
      </p:sp>
      <p:sp>
        <p:nvSpPr>
          <p:cNvPr id="12" name="Rectangle 9"/>
          <p:cNvSpPr>
            <a:spLocks/>
          </p:cNvSpPr>
          <p:nvPr/>
        </p:nvSpPr>
        <p:spPr bwMode="auto">
          <a:xfrm>
            <a:off x="6248400" y="2895600"/>
            <a:ext cx="1346200" cy="381000"/>
          </a:xfrm>
          <a:prstGeom prst="rect">
            <a:avLst/>
          </a:prstGeom>
          <a:solidFill>
            <a:srgbClr val="D5F1CF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0x118</a:t>
            </a:r>
          </a:p>
        </p:txBody>
      </p:sp>
      <p:sp>
        <p:nvSpPr>
          <p:cNvPr id="17" name="Rectangle 14"/>
          <p:cNvSpPr>
            <a:spLocks/>
          </p:cNvSpPr>
          <p:nvPr/>
        </p:nvSpPr>
        <p:spPr bwMode="auto">
          <a:xfrm>
            <a:off x="6248400" y="2286000"/>
            <a:ext cx="1346200" cy="381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0x400549</a:t>
            </a:r>
          </a:p>
        </p:txBody>
      </p:sp>
      <p:sp>
        <p:nvSpPr>
          <p:cNvPr id="18" name="Rectangle 15"/>
          <p:cNvSpPr>
            <a:spLocks/>
          </p:cNvSpPr>
          <p:nvPr/>
        </p:nvSpPr>
        <p:spPr bwMode="auto">
          <a:xfrm>
            <a:off x="6248400" y="381000"/>
            <a:ext cx="1346200" cy="1905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r>
              <a:rPr lang="en-US" sz="2400" dirty="0"/>
              <a:t>•</a:t>
            </a:r>
          </a:p>
          <a:p>
            <a:r>
              <a:rPr lang="en-US" sz="2400" dirty="0"/>
              <a:t>•</a:t>
            </a:r>
          </a:p>
          <a:p>
            <a:r>
              <a:rPr lang="en-US" sz="2400" dirty="0"/>
              <a:t>•</a:t>
            </a:r>
          </a:p>
        </p:txBody>
      </p:sp>
      <p:sp>
        <p:nvSpPr>
          <p:cNvPr id="20" name="Arc 19"/>
          <p:cNvSpPr/>
          <p:nvPr/>
        </p:nvSpPr>
        <p:spPr bwMode="auto">
          <a:xfrm flipV="1">
            <a:off x="6629400" y="2438400"/>
            <a:ext cx="1676400" cy="685800"/>
          </a:xfrm>
          <a:prstGeom prst="arc">
            <a:avLst>
              <a:gd name="adj1" fmla="val 17108922"/>
              <a:gd name="adj2" fmla="val 4394693"/>
            </a:avLst>
          </a:prstGeom>
          <a:noFill/>
          <a:ln w="25400" cap="flat" cmpd="sng" algn="ctr">
            <a:solidFill>
              <a:srgbClr val="008000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cxnSp>
        <p:nvCxnSpPr>
          <p:cNvPr id="22" name="Straight Arrow Connector 21"/>
          <p:cNvCxnSpPr>
            <a:stCxn id="11" idx="1"/>
          </p:cNvCxnSpPr>
          <p:nvPr/>
        </p:nvCxnSpPr>
        <p:spPr bwMode="auto">
          <a:xfrm flipH="1">
            <a:off x="4038600" y="3695700"/>
            <a:ext cx="2209800" cy="7239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9" name="Straight Arrow Connector 18"/>
          <p:cNvCxnSpPr/>
          <p:nvPr/>
        </p:nvCxnSpPr>
        <p:spPr bwMode="auto">
          <a:xfrm flipH="1">
            <a:off x="4114800" y="2514600"/>
            <a:ext cx="2133600" cy="762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grpSp>
        <p:nvGrpSpPr>
          <p:cNvPr id="5" name="Group 4"/>
          <p:cNvGrpSpPr/>
          <p:nvPr/>
        </p:nvGrpSpPr>
        <p:grpSpPr>
          <a:xfrm>
            <a:off x="5334000" y="1143000"/>
            <a:ext cx="776287" cy="2743200"/>
            <a:chOff x="5334000" y="1143000"/>
            <a:chExt cx="776287" cy="2743200"/>
          </a:xfrm>
        </p:grpSpPr>
        <p:sp>
          <p:nvSpPr>
            <p:cNvPr id="7" name="Rectangle 3"/>
            <p:cNvSpPr>
              <a:spLocks/>
            </p:cNvSpPr>
            <p:nvPr/>
          </p:nvSpPr>
          <p:spPr bwMode="auto">
            <a:xfrm>
              <a:off x="5472112" y="2895600"/>
              <a:ext cx="638175" cy="381000"/>
            </a:xfrm>
            <a:prstGeom prst="rect">
              <a:avLst/>
            </a:prstGeom>
            <a:solidFill>
              <a:srgbClr val="FFFFFF"/>
            </a:solidFill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wrap="none" lIns="38100" tIns="38100" rIns="38100" bIns="38100" anchor="ctr"/>
            <a:lstStyle/>
            <a:p>
              <a:pPr algn="r"/>
              <a:r>
                <a:rPr lang="en-US" sz="1800" dirty="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</a:t>
              </a:r>
              <a:r>
                <a:rPr lang="en-US" sz="1800" dirty="0" err="1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rsp</a:t>
              </a:r>
              <a:endPara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endParaRPr>
            </a:p>
          </p:txBody>
        </p:sp>
        <p:sp>
          <p:nvSpPr>
            <p:cNvPr id="13" name="Rectangle 10"/>
            <p:cNvSpPr>
              <a:spLocks/>
            </p:cNvSpPr>
            <p:nvPr/>
          </p:nvSpPr>
          <p:spPr bwMode="auto">
            <a:xfrm>
              <a:off x="5334000" y="1905000"/>
              <a:ext cx="776287" cy="381000"/>
            </a:xfrm>
            <a:prstGeom prst="rect">
              <a:avLst/>
            </a:prstGeom>
            <a:solidFill>
              <a:srgbClr val="FFFFFF"/>
            </a:solidFill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wrap="none" lIns="38100" tIns="38100" rIns="38100" bIns="38100" anchor="ctr"/>
            <a:lstStyle/>
            <a:p>
              <a:pPr algn="r"/>
              <a:r>
                <a:rPr lang="en-US" sz="1800" dirty="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0x120</a:t>
              </a:r>
            </a:p>
          </p:txBody>
        </p:sp>
        <p:sp>
          <p:nvSpPr>
            <p:cNvPr id="14" name="Rectangle 11"/>
            <p:cNvSpPr>
              <a:spLocks/>
            </p:cNvSpPr>
            <p:nvPr/>
          </p:nvSpPr>
          <p:spPr bwMode="auto">
            <a:xfrm>
              <a:off x="5334000" y="1524000"/>
              <a:ext cx="776287" cy="381000"/>
            </a:xfrm>
            <a:prstGeom prst="rect">
              <a:avLst/>
            </a:prstGeom>
            <a:solidFill>
              <a:srgbClr val="FFFFFF"/>
            </a:solidFill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wrap="none" lIns="38100" tIns="38100" rIns="38100" bIns="38100" anchor="ctr"/>
            <a:lstStyle/>
            <a:p>
              <a:pPr algn="r"/>
              <a:r>
                <a:rPr lang="en-US" sz="1800" dirty="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0x128</a:t>
              </a:r>
            </a:p>
          </p:txBody>
        </p:sp>
        <p:sp>
          <p:nvSpPr>
            <p:cNvPr id="15" name="Rectangle 12"/>
            <p:cNvSpPr>
              <a:spLocks/>
            </p:cNvSpPr>
            <p:nvPr/>
          </p:nvSpPr>
          <p:spPr bwMode="auto">
            <a:xfrm>
              <a:off x="5334000" y="1143000"/>
              <a:ext cx="776287" cy="381000"/>
            </a:xfrm>
            <a:prstGeom prst="rect">
              <a:avLst/>
            </a:prstGeom>
            <a:solidFill>
              <a:srgbClr val="FFFFFF"/>
            </a:solidFill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wrap="none" lIns="38100" tIns="38100" rIns="38100" bIns="38100" anchor="ctr"/>
            <a:lstStyle/>
            <a:p>
              <a:pPr algn="r"/>
              <a:r>
                <a:rPr lang="en-US" sz="1800" dirty="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0x130</a:t>
              </a:r>
            </a:p>
          </p:txBody>
        </p:sp>
        <p:sp>
          <p:nvSpPr>
            <p:cNvPr id="21" name="Rectangle 11"/>
            <p:cNvSpPr>
              <a:spLocks/>
            </p:cNvSpPr>
            <p:nvPr/>
          </p:nvSpPr>
          <p:spPr bwMode="auto">
            <a:xfrm>
              <a:off x="5334000" y="2286000"/>
              <a:ext cx="776287" cy="381000"/>
            </a:xfrm>
            <a:prstGeom prst="rect">
              <a:avLst/>
            </a:prstGeom>
            <a:solidFill>
              <a:srgbClr val="FFFFFF"/>
            </a:solidFill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wrap="none" lIns="38100" tIns="38100" rIns="38100" bIns="38100" anchor="ctr"/>
            <a:lstStyle/>
            <a:p>
              <a:pPr algn="r"/>
              <a:r>
                <a:rPr lang="en-US" sz="1800" dirty="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0x118</a:t>
              </a:r>
            </a:p>
          </p:txBody>
        </p:sp>
        <p:sp>
          <p:nvSpPr>
            <p:cNvPr id="9" name="Rectangle 4"/>
            <p:cNvSpPr>
              <a:spLocks/>
            </p:cNvSpPr>
            <p:nvPr/>
          </p:nvSpPr>
          <p:spPr bwMode="auto">
            <a:xfrm>
              <a:off x="5472112" y="3505200"/>
              <a:ext cx="638175" cy="381000"/>
            </a:xfrm>
            <a:prstGeom prst="rect">
              <a:avLst/>
            </a:prstGeom>
            <a:solidFill>
              <a:srgbClr val="FFFFFF"/>
            </a:solidFill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wrap="none" lIns="38100" tIns="38100" rIns="38100" bIns="38100" anchor="ctr"/>
            <a:lstStyle/>
            <a:p>
              <a:pPr algn="r"/>
              <a:r>
                <a:rPr lang="en-US" sz="1800" dirty="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%rip</a:t>
              </a:r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B818018F-15E4-28EF-F6A3-2DA2300A98A1}"/>
              </a:ext>
            </a:extLst>
          </p:cNvPr>
          <p:cNvSpPr>
            <a:spLocks/>
          </p:cNvSpPr>
          <p:nvPr/>
        </p:nvSpPr>
        <p:spPr bwMode="auto">
          <a:xfrm>
            <a:off x="-1270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2F3CBA1-5359-C0A7-487C-09E569B1FED9}"/>
              </a:ext>
            </a:extLst>
          </p:cNvPr>
          <p:cNvSpPr>
            <a:spLocks/>
          </p:cNvSpPr>
          <p:nvPr/>
        </p:nvSpPr>
        <p:spPr bwMode="auto">
          <a:xfrm>
            <a:off x="-12700" y="6658594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304172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 Flow Example #3</a:t>
            </a:r>
          </a:p>
        </p:txBody>
      </p:sp>
      <p:sp>
        <p:nvSpPr>
          <p:cNvPr id="6" name="Rectangle 4"/>
          <p:cNvSpPr>
            <a:spLocks/>
          </p:cNvSpPr>
          <p:nvPr/>
        </p:nvSpPr>
        <p:spPr bwMode="auto">
          <a:xfrm>
            <a:off x="228600" y="3962400"/>
            <a:ext cx="4495800" cy="1524000"/>
          </a:xfrm>
          <a:prstGeom prst="rect">
            <a:avLst/>
          </a:prstGeom>
          <a:solidFill>
            <a:srgbClr val="CCFFCC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ro-RO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0000000000400550 &lt;mult2&gt;:</a:t>
            </a:r>
          </a:p>
          <a:p>
            <a:pPr algn="l"/>
            <a:r>
              <a:rPr lang="ro-RO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400550:  mov    %rdi,%rax</a:t>
            </a:r>
          </a:p>
          <a:p>
            <a:pPr algn="l"/>
            <a:r>
              <a:rPr lang="ro-RO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  <a:endParaRPr lang="ro-RO" sz="1800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/>
            <a:r>
              <a:rPr lang="ro-RO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400557:  retq		</a:t>
            </a:r>
          </a:p>
        </p:txBody>
      </p:sp>
      <p:sp>
        <p:nvSpPr>
          <p:cNvPr id="8" name="Rectangle 7"/>
          <p:cNvSpPr>
            <a:spLocks/>
          </p:cNvSpPr>
          <p:nvPr/>
        </p:nvSpPr>
        <p:spPr bwMode="auto">
          <a:xfrm>
            <a:off x="228600" y="1295400"/>
            <a:ext cx="4495800" cy="20574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sk-SK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0000000000400540 &lt;multstore&gt;:</a:t>
            </a:r>
          </a:p>
          <a:p>
            <a:pPr algn="l"/>
            <a:r>
              <a:rPr lang="sk-SK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sk-SK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400544: callq  400550 &lt;mult2&gt;</a:t>
            </a:r>
          </a:p>
          <a:p>
            <a:pPr algn="l"/>
            <a:r>
              <a:rPr lang="sk-SK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400549: mov    %rax,(%rbx)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</p:txBody>
      </p:sp>
      <p:sp>
        <p:nvSpPr>
          <p:cNvPr id="11" name="Rectangle 8"/>
          <p:cNvSpPr>
            <a:spLocks/>
          </p:cNvSpPr>
          <p:nvPr/>
        </p:nvSpPr>
        <p:spPr bwMode="auto">
          <a:xfrm>
            <a:off x="6248400" y="3505200"/>
            <a:ext cx="1346200" cy="381000"/>
          </a:xfrm>
          <a:prstGeom prst="rect">
            <a:avLst/>
          </a:prstGeom>
          <a:solidFill>
            <a:srgbClr val="FFCCCC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0x400557</a:t>
            </a:r>
          </a:p>
        </p:txBody>
      </p:sp>
      <p:sp>
        <p:nvSpPr>
          <p:cNvPr id="12" name="Rectangle 9"/>
          <p:cNvSpPr>
            <a:spLocks/>
          </p:cNvSpPr>
          <p:nvPr/>
        </p:nvSpPr>
        <p:spPr bwMode="auto">
          <a:xfrm>
            <a:off x="6248400" y="2895600"/>
            <a:ext cx="1346200" cy="381000"/>
          </a:xfrm>
          <a:prstGeom prst="rect">
            <a:avLst/>
          </a:prstGeom>
          <a:solidFill>
            <a:srgbClr val="D5F1CF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0x118</a:t>
            </a:r>
          </a:p>
        </p:txBody>
      </p:sp>
      <p:sp>
        <p:nvSpPr>
          <p:cNvPr id="17" name="Rectangle 14"/>
          <p:cNvSpPr>
            <a:spLocks/>
          </p:cNvSpPr>
          <p:nvPr/>
        </p:nvSpPr>
        <p:spPr bwMode="auto">
          <a:xfrm>
            <a:off x="6248400" y="2286000"/>
            <a:ext cx="1346200" cy="381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0x400549</a:t>
            </a:r>
          </a:p>
        </p:txBody>
      </p:sp>
      <p:sp>
        <p:nvSpPr>
          <p:cNvPr id="18" name="Rectangle 15"/>
          <p:cNvSpPr>
            <a:spLocks/>
          </p:cNvSpPr>
          <p:nvPr/>
        </p:nvSpPr>
        <p:spPr bwMode="auto">
          <a:xfrm>
            <a:off x="6248400" y="381000"/>
            <a:ext cx="1346200" cy="1905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r>
              <a:rPr lang="en-US" sz="2400" dirty="0"/>
              <a:t>•</a:t>
            </a:r>
          </a:p>
          <a:p>
            <a:r>
              <a:rPr lang="en-US" sz="2400" dirty="0"/>
              <a:t>•</a:t>
            </a:r>
          </a:p>
          <a:p>
            <a:r>
              <a:rPr lang="en-US" sz="2400" dirty="0"/>
              <a:t>•</a:t>
            </a:r>
          </a:p>
        </p:txBody>
      </p:sp>
      <p:sp>
        <p:nvSpPr>
          <p:cNvPr id="20" name="Arc 19"/>
          <p:cNvSpPr/>
          <p:nvPr/>
        </p:nvSpPr>
        <p:spPr bwMode="auto">
          <a:xfrm flipV="1">
            <a:off x="6629400" y="2438400"/>
            <a:ext cx="1676400" cy="685800"/>
          </a:xfrm>
          <a:prstGeom prst="arc">
            <a:avLst>
              <a:gd name="adj1" fmla="val 17108922"/>
              <a:gd name="adj2" fmla="val 4394693"/>
            </a:avLst>
          </a:prstGeom>
          <a:noFill/>
          <a:ln w="25400" cap="flat" cmpd="sng" algn="ctr">
            <a:solidFill>
              <a:srgbClr val="008000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cxnSp>
        <p:nvCxnSpPr>
          <p:cNvPr id="22" name="Straight Arrow Connector 21"/>
          <p:cNvCxnSpPr>
            <a:stCxn id="11" idx="1"/>
          </p:cNvCxnSpPr>
          <p:nvPr/>
        </p:nvCxnSpPr>
        <p:spPr bwMode="auto">
          <a:xfrm flipH="1">
            <a:off x="2362200" y="3695700"/>
            <a:ext cx="3886200" cy="15621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9" name="Straight Arrow Connector 18"/>
          <p:cNvCxnSpPr/>
          <p:nvPr/>
        </p:nvCxnSpPr>
        <p:spPr bwMode="auto">
          <a:xfrm flipH="1">
            <a:off x="4114800" y="2514600"/>
            <a:ext cx="2133600" cy="762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grpSp>
        <p:nvGrpSpPr>
          <p:cNvPr id="21" name="Group 20"/>
          <p:cNvGrpSpPr/>
          <p:nvPr/>
        </p:nvGrpSpPr>
        <p:grpSpPr>
          <a:xfrm>
            <a:off x="5334000" y="1143000"/>
            <a:ext cx="776287" cy="2743200"/>
            <a:chOff x="5334000" y="1143000"/>
            <a:chExt cx="776287" cy="2743200"/>
          </a:xfrm>
        </p:grpSpPr>
        <p:sp>
          <p:nvSpPr>
            <p:cNvPr id="23" name="Rectangle 3"/>
            <p:cNvSpPr>
              <a:spLocks/>
            </p:cNvSpPr>
            <p:nvPr/>
          </p:nvSpPr>
          <p:spPr bwMode="auto">
            <a:xfrm>
              <a:off x="5472112" y="2895600"/>
              <a:ext cx="638175" cy="381000"/>
            </a:xfrm>
            <a:prstGeom prst="rect">
              <a:avLst/>
            </a:prstGeom>
            <a:solidFill>
              <a:srgbClr val="FFFFFF"/>
            </a:solidFill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wrap="none" lIns="38100" tIns="38100" rIns="38100" bIns="38100" anchor="ctr"/>
            <a:lstStyle/>
            <a:p>
              <a:pPr algn="r"/>
              <a:r>
                <a:rPr lang="en-US" sz="1800" dirty="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</a:t>
              </a:r>
              <a:r>
                <a:rPr lang="en-US" sz="1800" dirty="0" err="1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rsp</a:t>
              </a:r>
              <a:endPara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endParaRPr>
            </a:p>
          </p:txBody>
        </p:sp>
        <p:sp>
          <p:nvSpPr>
            <p:cNvPr id="24" name="Rectangle 10"/>
            <p:cNvSpPr>
              <a:spLocks/>
            </p:cNvSpPr>
            <p:nvPr/>
          </p:nvSpPr>
          <p:spPr bwMode="auto">
            <a:xfrm>
              <a:off x="5334000" y="1905000"/>
              <a:ext cx="776287" cy="381000"/>
            </a:xfrm>
            <a:prstGeom prst="rect">
              <a:avLst/>
            </a:prstGeom>
            <a:solidFill>
              <a:srgbClr val="FFFFFF"/>
            </a:solidFill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wrap="none" lIns="38100" tIns="38100" rIns="38100" bIns="38100" anchor="ctr"/>
            <a:lstStyle/>
            <a:p>
              <a:pPr algn="r"/>
              <a:r>
                <a:rPr lang="en-US" sz="1800" dirty="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0x120</a:t>
              </a:r>
            </a:p>
          </p:txBody>
        </p:sp>
        <p:sp>
          <p:nvSpPr>
            <p:cNvPr id="25" name="Rectangle 11"/>
            <p:cNvSpPr>
              <a:spLocks/>
            </p:cNvSpPr>
            <p:nvPr/>
          </p:nvSpPr>
          <p:spPr bwMode="auto">
            <a:xfrm>
              <a:off x="5334000" y="1524000"/>
              <a:ext cx="776287" cy="381000"/>
            </a:xfrm>
            <a:prstGeom prst="rect">
              <a:avLst/>
            </a:prstGeom>
            <a:solidFill>
              <a:srgbClr val="FFFFFF"/>
            </a:solidFill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wrap="none" lIns="38100" tIns="38100" rIns="38100" bIns="38100" anchor="ctr"/>
            <a:lstStyle/>
            <a:p>
              <a:pPr algn="r"/>
              <a:r>
                <a:rPr lang="en-US" sz="1800" dirty="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0x128</a:t>
              </a:r>
            </a:p>
          </p:txBody>
        </p:sp>
        <p:sp>
          <p:nvSpPr>
            <p:cNvPr id="26" name="Rectangle 12"/>
            <p:cNvSpPr>
              <a:spLocks/>
            </p:cNvSpPr>
            <p:nvPr/>
          </p:nvSpPr>
          <p:spPr bwMode="auto">
            <a:xfrm>
              <a:off x="5334000" y="1143000"/>
              <a:ext cx="776287" cy="381000"/>
            </a:xfrm>
            <a:prstGeom prst="rect">
              <a:avLst/>
            </a:prstGeom>
            <a:solidFill>
              <a:srgbClr val="FFFFFF"/>
            </a:solidFill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wrap="none" lIns="38100" tIns="38100" rIns="38100" bIns="38100" anchor="ctr"/>
            <a:lstStyle/>
            <a:p>
              <a:pPr algn="r"/>
              <a:r>
                <a:rPr lang="en-US" sz="1800" dirty="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0x130</a:t>
              </a:r>
            </a:p>
          </p:txBody>
        </p:sp>
        <p:sp>
          <p:nvSpPr>
            <p:cNvPr id="27" name="Rectangle 11"/>
            <p:cNvSpPr>
              <a:spLocks/>
            </p:cNvSpPr>
            <p:nvPr/>
          </p:nvSpPr>
          <p:spPr bwMode="auto">
            <a:xfrm>
              <a:off x="5334000" y="2286000"/>
              <a:ext cx="776287" cy="381000"/>
            </a:xfrm>
            <a:prstGeom prst="rect">
              <a:avLst/>
            </a:prstGeom>
            <a:solidFill>
              <a:srgbClr val="FFFFFF"/>
            </a:solidFill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wrap="none" lIns="38100" tIns="38100" rIns="38100" bIns="38100" anchor="ctr"/>
            <a:lstStyle/>
            <a:p>
              <a:pPr algn="r"/>
              <a:r>
                <a:rPr lang="en-US" sz="1800" dirty="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0x118</a:t>
              </a:r>
            </a:p>
          </p:txBody>
        </p:sp>
        <p:sp>
          <p:nvSpPr>
            <p:cNvPr id="28" name="Rectangle 4"/>
            <p:cNvSpPr>
              <a:spLocks/>
            </p:cNvSpPr>
            <p:nvPr/>
          </p:nvSpPr>
          <p:spPr bwMode="auto">
            <a:xfrm>
              <a:off x="5472112" y="3505200"/>
              <a:ext cx="638175" cy="381000"/>
            </a:xfrm>
            <a:prstGeom prst="rect">
              <a:avLst/>
            </a:prstGeom>
            <a:solidFill>
              <a:srgbClr val="FFFFFF"/>
            </a:solidFill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wrap="none" lIns="38100" tIns="38100" rIns="38100" bIns="38100" anchor="ctr"/>
            <a:lstStyle/>
            <a:p>
              <a:pPr algn="r"/>
              <a:r>
                <a:rPr lang="en-US" sz="1800" dirty="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%rip</a:t>
              </a:r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954E9A36-3292-DAB8-2936-E3EA66D3010A}"/>
              </a:ext>
            </a:extLst>
          </p:cNvPr>
          <p:cNvSpPr>
            <a:spLocks/>
          </p:cNvSpPr>
          <p:nvPr/>
        </p:nvSpPr>
        <p:spPr bwMode="auto">
          <a:xfrm>
            <a:off x="-1270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0BBBFED-3B12-1746-F834-D0970F5395B4}"/>
              </a:ext>
            </a:extLst>
          </p:cNvPr>
          <p:cNvSpPr>
            <a:spLocks/>
          </p:cNvSpPr>
          <p:nvPr/>
        </p:nvSpPr>
        <p:spPr bwMode="auto">
          <a:xfrm>
            <a:off x="-12700" y="6658594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137691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 Flow Example #4</a:t>
            </a:r>
          </a:p>
        </p:txBody>
      </p:sp>
      <p:sp>
        <p:nvSpPr>
          <p:cNvPr id="6" name="Rectangle 4"/>
          <p:cNvSpPr>
            <a:spLocks/>
          </p:cNvSpPr>
          <p:nvPr/>
        </p:nvSpPr>
        <p:spPr bwMode="auto">
          <a:xfrm>
            <a:off x="228600" y="3962400"/>
            <a:ext cx="4495800" cy="1524000"/>
          </a:xfrm>
          <a:prstGeom prst="rect">
            <a:avLst/>
          </a:prstGeom>
          <a:solidFill>
            <a:srgbClr val="CCFFCC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ro-RO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0000000000400550 &lt;mult2&gt;:</a:t>
            </a:r>
          </a:p>
          <a:p>
            <a:pPr algn="l"/>
            <a:r>
              <a:rPr lang="ro-RO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400550:  mov    %rdi,%rax</a:t>
            </a:r>
          </a:p>
          <a:p>
            <a:pPr algn="l"/>
            <a:r>
              <a:rPr lang="ro-RO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  <a:endParaRPr lang="ro-RO" sz="1800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/>
            <a:r>
              <a:rPr lang="ro-RO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400557:  retq		</a:t>
            </a:r>
          </a:p>
        </p:txBody>
      </p:sp>
      <p:sp>
        <p:nvSpPr>
          <p:cNvPr id="8" name="Rectangle 7"/>
          <p:cNvSpPr>
            <a:spLocks/>
          </p:cNvSpPr>
          <p:nvPr/>
        </p:nvSpPr>
        <p:spPr bwMode="auto">
          <a:xfrm>
            <a:off x="228600" y="1295400"/>
            <a:ext cx="4495800" cy="20574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sk-SK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0000000000400540 &lt;multstore&gt;:</a:t>
            </a:r>
          </a:p>
          <a:p>
            <a:pPr algn="l"/>
            <a:r>
              <a:rPr lang="sk-SK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sk-SK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400544: callq  400550 &lt;mult2&gt;</a:t>
            </a:r>
          </a:p>
          <a:p>
            <a:pPr algn="l"/>
            <a:r>
              <a:rPr lang="sk-SK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400549: mov    %rax,(%rbx)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</p:txBody>
      </p:sp>
      <p:sp>
        <p:nvSpPr>
          <p:cNvPr id="11" name="Rectangle 8"/>
          <p:cNvSpPr>
            <a:spLocks/>
          </p:cNvSpPr>
          <p:nvPr/>
        </p:nvSpPr>
        <p:spPr bwMode="auto">
          <a:xfrm>
            <a:off x="6248400" y="3505200"/>
            <a:ext cx="1346200" cy="381000"/>
          </a:xfrm>
          <a:prstGeom prst="rect">
            <a:avLst/>
          </a:prstGeom>
          <a:solidFill>
            <a:srgbClr val="FFCCCC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0x400549</a:t>
            </a:r>
          </a:p>
        </p:txBody>
      </p:sp>
      <p:sp>
        <p:nvSpPr>
          <p:cNvPr id="12" name="Rectangle 9"/>
          <p:cNvSpPr>
            <a:spLocks/>
          </p:cNvSpPr>
          <p:nvPr/>
        </p:nvSpPr>
        <p:spPr bwMode="auto">
          <a:xfrm>
            <a:off x="6248400" y="2895600"/>
            <a:ext cx="1346200" cy="381000"/>
          </a:xfrm>
          <a:prstGeom prst="rect">
            <a:avLst/>
          </a:prstGeom>
          <a:solidFill>
            <a:srgbClr val="D5F1CF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0x120</a:t>
            </a:r>
          </a:p>
        </p:txBody>
      </p:sp>
      <p:sp>
        <p:nvSpPr>
          <p:cNvPr id="18" name="Rectangle 15"/>
          <p:cNvSpPr>
            <a:spLocks/>
          </p:cNvSpPr>
          <p:nvPr/>
        </p:nvSpPr>
        <p:spPr bwMode="auto">
          <a:xfrm>
            <a:off x="6248400" y="381000"/>
            <a:ext cx="1346200" cy="1905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r>
              <a:rPr lang="en-US" sz="2400" dirty="0"/>
              <a:t>•</a:t>
            </a:r>
          </a:p>
          <a:p>
            <a:r>
              <a:rPr lang="en-US" sz="2400" dirty="0"/>
              <a:t>•</a:t>
            </a:r>
          </a:p>
          <a:p>
            <a:r>
              <a:rPr lang="en-US" sz="2400" dirty="0"/>
              <a:t>•</a:t>
            </a:r>
          </a:p>
        </p:txBody>
      </p:sp>
      <p:sp>
        <p:nvSpPr>
          <p:cNvPr id="20" name="Arc 19"/>
          <p:cNvSpPr/>
          <p:nvPr/>
        </p:nvSpPr>
        <p:spPr bwMode="auto">
          <a:xfrm flipV="1">
            <a:off x="6629400" y="2133600"/>
            <a:ext cx="1676400" cy="990600"/>
          </a:xfrm>
          <a:prstGeom prst="arc">
            <a:avLst>
              <a:gd name="adj1" fmla="val 17108922"/>
              <a:gd name="adj2" fmla="val 4768750"/>
            </a:avLst>
          </a:prstGeom>
          <a:noFill/>
          <a:ln w="25400" cap="flat" cmpd="sng" algn="ctr">
            <a:solidFill>
              <a:srgbClr val="008000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cxnSp>
        <p:nvCxnSpPr>
          <p:cNvPr id="22" name="Straight Arrow Connector 21"/>
          <p:cNvCxnSpPr>
            <a:stCxn id="11" idx="1"/>
          </p:cNvCxnSpPr>
          <p:nvPr/>
        </p:nvCxnSpPr>
        <p:spPr bwMode="auto">
          <a:xfrm flipH="1" flipV="1">
            <a:off x="4114800" y="2590800"/>
            <a:ext cx="2133600" cy="11049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1" name="Rectangle 3"/>
          <p:cNvSpPr>
            <a:spLocks/>
          </p:cNvSpPr>
          <p:nvPr/>
        </p:nvSpPr>
        <p:spPr bwMode="auto">
          <a:xfrm>
            <a:off x="5472112" y="2895600"/>
            <a:ext cx="638175" cy="381000"/>
          </a:xfrm>
          <a:prstGeom prst="rect">
            <a:avLst/>
          </a:prstGeom>
          <a:solidFill>
            <a:srgbClr val="FFFFFF"/>
          </a:soli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 anchor="ctr"/>
          <a:lstStyle/>
          <a:p>
            <a:pPr algn="r"/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18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rsp</a:t>
            </a:r>
            <a:endParaRPr lang="en-US" sz="18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23" name="Rectangle 10"/>
          <p:cNvSpPr>
            <a:spLocks/>
          </p:cNvSpPr>
          <p:nvPr/>
        </p:nvSpPr>
        <p:spPr bwMode="auto">
          <a:xfrm>
            <a:off x="5334000" y="1905000"/>
            <a:ext cx="776287" cy="381000"/>
          </a:xfrm>
          <a:prstGeom prst="rect">
            <a:avLst/>
          </a:prstGeom>
          <a:solidFill>
            <a:srgbClr val="FFFFFF"/>
          </a:soli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 anchor="ctr"/>
          <a:lstStyle/>
          <a:p>
            <a:pPr algn="r"/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0x120</a:t>
            </a:r>
          </a:p>
        </p:txBody>
      </p:sp>
      <p:sp>
        <p:nvSpPr>
          <p:cNvPr id="24" name="Rectangle 11"/>
          <p:cNvSpPr>
            <a:spLocks/>
          </p:cNvSpPr>
          <p:nvPr/>
        </p:nvSpPr>
        <p:spPr bwMode="auto">
          <a:xfrm>
            <a:off x="5334000" y="1524000"/>
            <a:ext cx="776287" cy="381000"/>
          </a:xfrm>
          <a:prstGeom prst="rect">
            <a:avLst/>
          </a:prstGeom>
          <a:solidFill>
            <a:srgbClr val="FFFFFF"/>
          </a:soli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 anchor="ctr"/>
          <a:lstStyle/>
          <a:p>
            <a:pPr algn="r"/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0x128</a:t>
            </a:r>
          </a:p>
        </p:txBody>
      </p:sp>
      <p:sp>
        <p:nvSpPr>
          <p:cNvPr id="25" name="Rectangle 12"/>
          <p:cNvSpPr>
            <a:spLocks/>
          </p:cNvSpPr>
          <p:nvPr/>
        </p:nvSpPr>
        <p:spPr bwMode="auto">
          <a:xfrm>
            <a:off x="5334000" y="1143000"/>
            <a:ext cx="776287" cy="381000"/>
          </a:xfrm>
          <a:prstGeom prst="rect">
            <a:avLst/>
          </a:prstGeom>
          <a:solidFill>
            <a:srgbClr val="FFFFFF"/>
          </a:soli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 anchor="ctr"/>
          <a:lstStyle/>
          <a:p>
            <a:pPr algn="r"/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0x130</a:t>
            </a:r>
          </a:p>
        </p:txBody>
      </p:sp>
      <p:sp>
        <p:nvSpPr>
          <p:cNvPr id="27" name="Rectangle 4"/>
          <p:cNvSpPr>
            <a:spLocks/>
          </p:cNvSpPr>
          <p:nvPr/>
        </p:nvSpPr>
        <p:spPr bwMode="auto">
          <a:xfrm>
            <a:off x="5472112" y="3505200"/>
            <a:ext cx="638175" cy="381000"/>
          </a:xfrm>
          <a:prstGeom prst="rect">
            <a:avLst/>
          </a:prstGeom>
          <a:solidFill>
            <a:srgbClr val="FFFFFF"/>
          </a:soli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 anchor="ctr"/>
          <a:lstStyle/>
          <a:p>
            <a:pPr algn="r"/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%rip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48404FB-9D82-4C07-1F08-B9762907C360}"/>
              </a:ext>
            </a:extLst>
          </p:cNvPr>
          <p:cNvSpPr>
            <a:spLocks/>
          </p:cNvSpPr>
          <p:nvPr/>
        </p:nvSpPr>
        <p:spPr bwMode="auto">
          <a:xfrm>
            <a:off x="-1270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8727547-638F-79DC-4CEB-2AABA9212426}"/>
              </a:ext>
            </a:extLst>
          </p:cNvPr>
          <p:cNvSpPr>
            <a:spLocks/>
          </p:cNvSpPr>
          <p:nvPr/>
        </p:nvSpPr>
        <p:spPr bwMode="auto">
          <a:xfrm>
            <a:off x="-12700" y="6658594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565818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12290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Today</a:t>
            </a:r>
          </a:p>
        </p:txBody>
      </p:sp>
      <p:sp>
        <p:nvSpPr>
          <p:cNvPr id="12292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dirty="0"/>
              <a:t>Procedures</a:t>
            </a:r>
          </a:p>
          <a:p>
            <a:pPr lvl="1"/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Stack Structure</a:t>
            </a:r>
          </a:p>
          <a:p>
            <a:pPr lvl="1"/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Calling Conventions</a:t>
            </a:r>
          </a:p>
          <a:p>
            <a:pPr lvl="2"/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Passing control</a:t>
            </a:r>
          </a:p>
          <a:p>
            <a:pPr lvl="2"/>
            <a:r>
              <a:rPr lang="en-US" b="1" dirty="0"/>
              <a:t>Passing data</a:t>
            </a:r>
          </a:p>
          <a:p>
            <a:pPr lvl="2"/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Managing local data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E310971-71D6-ECF6-69E1-49ED1A26E18E}"/>
              </a:ext>
            </a:extLst>
          </p:cNvPr>
          <p:cNvSpPr>
            <a:spLocks/>
          </p:cNvSpPr>
          <p:nvPr/>
        </p:nvSpPr>
        <p:spPr bwMode="auto">
          <a:xfrm>
            <a:off x="-1270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7D6E41F-B0AC-7972-6E93-C2FEB72952BC}"/>
              </a:ext>
            </a:extLst>
          </p:cNvPr>
          <p:cNvSpPr>
            <a:spLocks/>
          </p:cNvSpPr>
          <p:nvPr/>
        </p:nvSpPr>
        <p:spPr bwMode="auto">
          <a:xfrm>
            <a:off x="-12700" y="6658594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154497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45059" name="Rectangle 3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45060" name="Rectangle 4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Procedure Data Flow</a:t>
            </a:r>
          </a:p>
        </p:txBody>
      </p:sp>
      <p:sp>
        <p:nvSpPr>
          <p:cNvPr id="45061" name="Rectangle 5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dirty="0"/>
              <a:t>Registers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First 6 arguments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Return value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3"/>
          </p:nvPr>
        </p:nvSpPr>
        <p:spPr>
          <a:xfrm>
            <a:off x="4267200" y="1550195"/>
            <a:ext cx="4575175" cy="639762"/>
          </a:xfrm>
        </p:spPr>
        <p:txBody>
          <a:bodyPr/>
          <a:lstStyle/>
          <a:p>
            <a:r>
              <a:rPr lang="en-US" dirty="0"/>
              <a:t>Stack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4"/>
          </p:nvPr>
        </p:nvSpPr>
        <p:spPr>
          <a:xfrm>
            <a:off x="4645025" y="5791199"/>
            <a:ext cx="4041775" cy="334963"/>
          </a:xfrm>
        </p:spPr>
        <p:txBody>
          <a:bodyPr/>
          <a:lstStyle/>
          <a:p>
            <a:r>
              <a:rPr lang="en-US" dirty="0"/>
              <a:t>Only allocate stack space when needed</a:t>
            </a:r>
          </a:p>
        </p:txBody>
      </p:sp>
      <p:sp>
        <p:nvSpPr>
          <p:cNvPr id="9" name="Rectangle 9"/>
          <p:cNvSpPr>
            <a:spLocks/>
          </p:cNvSpPr>
          <p:nvPr/>
        </p:nvSpPr>
        <p:spPr bwMode="auto">
          <a:xfrm>
            <a:off x="762000" y="2819400"/>
            <a:ext cx="1346200" cy="381000"/>
          </a:xfrm>
          <a:prstGeom prst="rect">
            <a:avLst/>
          </a:prstGeom>
          <a:solidFill>
            <a:srgbClr val="D5F1CF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18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rdi</a:t>
            </a:r>
            <a:endParaRPr lang="en-US" sz="18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10" name="Rectangle 9"/>
          <p:cNvSpPr>
            <a:spLocks/>
          </p:cNvSpPr>
          <p:nvPr/>
        </p:nvSpPr>
        <p:spPr bwMode="auto">
          <a:xfrm>
            <a:off x="762000" y="3200400"/>
            <a:ext cx="1346200" cy="381000"/>
          </a:xfrm>
          <a:prstGeom prst="rect">
            <a:avLst/>
          </a:prstGeom>
          <a:solidFill>
            <a:srgbClr val="D5F1CF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18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rsi</a:t>
            </a:r>
            <a:endParaRPr lang="en-US" sz="18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11" name="Rectangle 10"/>
          <p:cNvSpPr>
            <a:spLocks/>
          </p:cNvSpPr>
          <p:nvPr/>
        </p:nvSpPr>
        <p:spPr bwMode="auto">
          <a:xfrm>
            <a:off x="762000" y="3581400"/>
            <a:ext cx="1346200" cy="381000"/>
          </a:xfrm>
          <a:prstGeom prst="rect">
            <a:avLst/>
          </a:prstGeom>
          <a:solidFill>
            <a:srgbClr val="D5F1CF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18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rdx</a:t>
            </a:r>
            <a:endParaRPr lang="en-US" sz="18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12" name="Rectangle 11"/>
          <p:cNvSpPr>
            <a:spLocks/>
          </p:cNvSpPr>
          <p:nvPr/>
        </p:nvSpPr>
        <p:spPr bwMode="auto">
          <a:xfrm>
            <a:off x="762000" y="3962400"/>
            <a:ext cx="1346200" cy="381000"/>
          </a:xfrm>
          <a:prstGeom prst="rect">
            <a:avLst/>
          </a:prstGeom>
          <a:solidFill>
            <a:srgbClr val="D5F1CF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18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rcx</a:t>
            </a:r>
            <a:endParaRPr lang="en-US" sz="18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13" name="Rectangle 12"/>
          <p:cNvSpPr>
            <a:spLocks/>
          </p:cNvSpPr>
          <p:nvPr/>
        </p:nvSpPr>
        <p:spPr bwMode="auto">
          <a:xfrm>
            <a:off x="762000" y="4343400"/>
            <a:ext cx="1346200" cy="381000"/>
          </a:xfrm>
          <a:prstGeom prst="rect">
            <a:avLst/>
          </a:prstGeom>
          <a:solidFill>
            <a:srgbClr val="D5F1CF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%r8</a:t>
            </a:r>
          </a:p>
        </p:txBody>
      </p:sp>
      <p:sp>
        <p:nvSpPr>
          <p:cNvPr id="14" name="Rectangle 13"/>
          <p:cNvSpPr>
            <a:spLocks/>
          </p:cNvSpPr>
          <p:nvPr/>
        </p:nvSpPr>
        <p:spPr bwMode="auto">
          <a:xfrm>
            <a:off x="762000" y="4724400"/>
            <a:ext cx="1346200" cy="381000"/>
          </a:xfrm>
          <a:prstGeom prst="rect">
            <a:avLst/>
          </a:prstGeom>
          <a:solidFill>
            <a:srgbClr val="D5F1CF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%r9</a:t>
            </a:r>
          </a:p>
        </p:txBody>
      </p:sp>
      <p:sp>
        <p:nvSpPr>
          <p:cNvPr id="15" name="Rectangle 14"/>
          <p:cNvSpPr>
            <a:spLocks/>
          </p:cNvSpPr>
          <p:nvPr/>
        </p:nvSpPr>
        <p:spPr bwMode="auto">
          <a:xfrm>
            <a:off x="762000" y="5791200"/>
            <a:ext cx="1346200" cy="381000"/>
          </a:xfrm>
          <a:prstGeom prst="rect">
            <a:avLst/>
          </a:prstGeom>
          <a:solidFill>
            <a:srgbClr val="D5F1CF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18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rax</a:t>
            </a:r>
            <a:endParaRPr lang="en-US" sz="18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5638800" y="2438400"/>
            <a:ext cx="1346200" cy="2667000"/>
            <a:chOff x="5943600" y="2057400"/>
            <a:chExt cx="1346200" cy="2667000"/>
          </a:xfrm>
        </p:grpSpPr>
        <p:sp>
          <p:nvSpPr>
            <p:cNvPr id="16" name="Rectangle 14"/>
            <p:cNvSpPr>
              <a:spLocks/>
            </p:cNvSpPr>
            <p:nvPr/>
          </p:nvSpPr>
          <p:spPr bwMode="auto">
            <a:xfrm>
              <a:off x="5943600" y="4343400"/>
              <a:ext cx="1346200" cy="381000"/>
            </a:xfrm>
            <a:prstGeom prst="rect">
              <a:avLst/>
            </a:prstGeom>
            <a:solidFill>
              <a:srgbClr val="D6D6F4"/>
            </a:solidFill>
            <a:ln w="254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 anchor="ctr"/>
            <a:lstStyle/>
            <a:p>
              <a:r>
                <a:rPr lang="en-US" sz="1800" dirty="0" err="1">
                  <a:solidFill>
                    <a:schemeClr val="tx1"/>
                  </a:solidFill>
                  <a:latin typeface="+mn-lt"/>
                  <a:cs typeface="Courier New Bold" charset="0"/>
                  <a:sym typeface="Courier New Bold" charset="0"/>
                </a:rPr>
                <a:t>Arg</a:t>
              </a:r>
              <a:r>
                <a:rPr lang="en-US" sz="1800" dirty="0">
                  <a:solidFill>
                    <a:schemeClr val="tx1"/>
                  </a:solidFill>
                  <a:latin typeface="+mn-lt"/>
                  <a:cs typeface="Courier New Bold" charset="0"/>
                  <a:sym typeface="Courier New Bold" charset="0"/>
                </a:rPr>
                <a:t> </a:t>
              </a:r>
              <a:r>
                <a:rPr lang="en-US" sz="1800" dirty="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7</a:t>
              </a:r>
            </a:p>
          </p:txBody>
        </p:sp>
        <p:sp>
          <p:nvSpPr>
            <p:cNvPr id="17" name="Rectangle 15"/>
            <p:cNvSpPr>
              <a:spLocks/>
            </p:cNvSpPr>
            <p:nvPr/>
          </p:nvSpPr>
          <p:spPr bwMode="auto">
            <a:xfrm>
              <a:off x="5943600" y="3200400"/>
              <a:ext cx="1346200" cy="762000"/>
            </a:xfrm>
            <a:prstGeom prst="rect">
              <a:avLst/>
            </a:prstGeom>
            <a:solidFill>
              <a:srgbClr val="D6D6F4"/>
            </a:solidFill>
            <a:ln w="254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0" tIns="0" rIns="0" bIns="0" anchor="ctr"/>
            <a:lstStyle/>
            <a:p>
              <a:r>
                <a:rPr lang="en-US" sz="2400" dirty="0"/>
                <a:t>• • •</a:t>
              </a:r>
            </a:p>
          </p:txBody>
        </p:sp>
        <p:sp>
          <p:nvSpPr>
            <p:cNvPr id="18" name="Rectangle 14"/>
            <p:cNvSpPr>
              <a:spLocks/>
            </p:cNvSpPr>
            <p:nvPr/>
          </p:nvSpPr>
          <p:spPr bwMode="auto">
            <a:xfrm>
              <a:off x="5943600" y="3962400"/>
              <a:ext cx="1346200" cy="381000"/>
            </a:xfrm>
            <a:prstGeom prst="rect">
              <a:avLst/>
            </a:prstGeom>
            <a:solidFill>
              <a:srgbClr val="D6D6F4"/>
            </a:solidFill>
            <a:ln w="254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 anchor="ctr"/>
            <a:lstStyle/>
            <a:p>
              <a:r>
                <a:rPr lang="en-US" sz="1800" dirty="0" err="1">
                  <a:solidFill>
                    <a:schemeClr val="tx1"/>
                  </a:solidFill>
                  <a:latin typeface="+mn-lt"/>
                  <a:cs typeface="Courier New Bold" charset="0"/>
                  <a:sym typeface="Courier New Bold" charset="0"/>
                </a:rPr>
                <a:t>Arg</a:t>
              </a:r>
              <a:r>
                <a:rPr lang="en-US" sz="1800" dirty="0">
                  <a:solidFill>
                    <a:schemeClr val="tx1"/>
                  </a:solidFill>
                  <a:latin typeface="+mn-lt"/>
                  <a:cs typeface="Courier New Bold" charset="0"/>
                  <a:sym typeface="Courier New Bold" charset="0"/>
                </a:rPr>
                <a:t> </a:t>
              </a:r>
              <a:r>
                <a:rPr lang="en-US" sz="1800" dirty="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8</a:t>
              </a:r>
            </a:p>
          </p:txBody>
        </p:sp>
        <p:sp>
          <p:nvSpPr>
            <p:cNvPr id="19" name="Rectangle 14"/>
            <p:cNvSpPr>
              <a:spLocks/>
            </p:cNvSpPr>
            <p:nvPr/>
          </p:nvSpPr>
          <p:spPr bwMode="auto">
            <a:xfrm>
              <a:off x="5943600" y="2819400"/>
              <a:ext cx="1346200" cy="381000"/>
            </a:xfrm>
            <a:prstGeom prst="rect">
              <a:avLst/>
            </a:prstGeom>
            <a:solidFill>
              <a:srgbClr val="D6D6F4"/>
            </a:solidFill>
            <a:ln w="254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 anchor="ctr"/>
            <a:lstStyle/>
            <a:p>
              <a:r>
                <a:rPr lang="en-US" sz="1800" dirty="0" err="1">
                  <a:solidFill>
                    <a:schemeClr val="tx1"/>
                  </a:solidFill>
                  <a:latin typeface="+mn-lt"/>
                  <a:cs typeface="Courier New Bold" charset="0"/>
                  <a:sym typeface="Courier New Bold" charset="0"/>
                </a:rPr>
                <a:t>Arg</a:t>
              </a:r>
              <a:r>
                <a:rPr lang="en-US" sz="1800" dirty="0">
                  <a:solidFill>
                    <a:schemeClr val="tx1"/>
                  </a:solidFill>
                  <a:latin typeface="+mn-lt"/>
                  <a:cs typeface="Courier New Bold" charset="0"/>
                  <a:sym typeface="Courier New Bold" charset="0"/>
                </a:rPr>
                <a:t> </a:t>
              </a:r>
              <a:r>
                <a:rPr lang="en-US" sz="1800" i="1" dirty="0">
                  <a:solidFill>
                    <a:schemeClr val="tx1"/>
                  </a:solidFill>
                  <a:latin typeface="+mn-lt"/>
                  <a:cs typeface="Courier New Bold" charset="0"/>
                  <a:sym typeface="Courier New Bold" charset="0"/>
                </a:rPr>
                <a:t>n</a:t>
              </a:r>
            </a:p>
          </p:txBody>
        </p:sp>
        <p:sp>
          <p:nvSpPr>
            <p:cNvPr id="20" name="Rectangle 15"/>
            <p:cNvSpPr>
              <a:spLocks/>
            </p:cNvSpPr>
            <p:nvPr/>
          </p:nvSpPr>
          <p:spPr bwMode="auto">
            <a:xfrm>
              <a:off x="5943600" y="2057400"/>
              <a:ext cx="1346200" cy="762000"/>
            </a:xfrm>
            <a:prstGeom prst="rect">
              <a:avLst/>
            </a:prstGeom>
            <a:solidFill>
              <a:srgbClr val="D6D6F4"/>
            </a:solidFill>
            <a:ln w="254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0" tIns="0" rIns="0" bIns="0" anchor="ctr"/>
            <a:lstStyle/>
            <a:p>
              <a:r>
                <a:rPr lang="en-US" sz="2400" dirty="0"/>
                <a:t>• • •</a:t>
              </a: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745BC53E-0D7C-D883-15D6-0C13A78A1B9A}"/>
              </a:ext>
            </a:extLst>
          </p:cNvPr>
          <p:cNvSpPr>
            <a:spLocks/>
          </p:cNvSpPr>
          <p:nvPr/>
        </p:nvSpPr>
        <p:spPr bwMode="auto">
          <a:xfrm>
            <a:off x="-1270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DCE1D8F-41D7-5CC6-DC64-5DE4E8C044E4}"/>
              </a:ext>
            </a:extLst>
          </p:cNvPr>
          <p:cNvSpPr>
            <a:spLocks/>
          </p:cNvSpPr>
          <p:nvPr/>
        </p:nvSpPr>
        <p:spPr bwMode="auto">
          <a:xfrm>
            <a:off x="-12700" y="6658594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21" name="Curved Down Arrow 20">
            <a:extLst>
              <a:ext uri="{FF2B5EF4-FFF2-40B4-BE49-F238E27FC236}">
                <a16:creationId xmlns:a16="http://schemas.microsoft.com/office/drawing/2014/main" id="{22658E93-1FC9-4B09-E0B8-92013E1AA375}"/>
              </a:ext>
            </a:extLst>
          </p:cNvPr>
          <p:cNvSpPr/>
          <p:nvPr/>
        </p:nvSpPr>
        <p:spPr bwMode="auto">
          <a:xfrm>
            <a:off x="5105400" y="2018030"/>
            <a:ext cx="1065340" cy="420370"/>
          </a:xfrm>
          <a:prstGeom prst="curvedDownArrow">
            <a:avLst/>
          </a:prstGeom>
          <a:solidFill>
            <a:schemeClr val="accent1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VN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8550454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Flow</a:t>
            </a:r>
            <a:br>
              <a:rPr lang="en-US" dirty="0"/>
            </a:br>
            <a:r>
              <a:rPr lang="en-US" dirty="0"/>
              <a:t>Examples</a:t>
            </a:r>
          </a:p>
        </p:txBody>
      </p:sp>
      <p:sp>
        <p:nvSpPr>
          <p:cNvPr id="4" name="Rectangle 4"/>
          <p:cNvSpPr>
            <a:spLocks/>
          </p:cNvSpPr>
          <p:nvPr/>
        </p:nvSpPr>
        <p:spPr bwMode="auto">
          <a:xfrm>
            <a:off x="76200" y="4800600"/>
            <a:ext cx="2667000" cy="1828800"/>
          </a:xfrm>
          <a:prstGeom prst="rect">
            <a:avLst/>
          </a:prstGeom>
          <a:solidFill>
            <a:srgbClr val="CCFFCC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long mult2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(long a, long b)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long s = a * b;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return s;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5" name="Rectangle 4"/>
          <p:cNvSpPr>
            <a:spLocks/>
          </p:cNvSpPr>
          <p:nvPr/>
        </p:nvSpPr>
        <p:spPr bwMode="auto">
          <a:xfrm>
            <a:off x="3505200" y="152400"/>
            <a:ext cx="4267200" cy="18288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void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multstore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(long x, long y, long *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dest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 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long t = mult2(x, y);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*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dest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= t;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6" name="Rectangle 4"/>
          <p:cNvSpPr>
            <a:spLocks/>
          </p:cNvSpPr>
          <p:nvPr/>
        </p:nvSpPr>
        <p:spPr bwMode="auto">
          <a:xfrm>
            <a:off x="2971800" y="4800600"/>
            <a:ext cx="5867400" cy="1828800"/>
          </a:xfrm>
          <a:prstGeom prst="rect">
            <a:avLst/>
          </a:prstGeom>
          <a:solidFill>
            <a:srgbClr val="CCFFCC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ro-RO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0000000000400550 &lt;mult2&gt;:</a:t>
            </a:r>
          </a:p>
          <a:p>
            <a:pPr algn="l"/>
            <a:r>
              <a:rPr lang="sk-SK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# a in %rdi, b in %rsi</a:t>
            </a:r>
          </a:p>
          <a:p>
            <a:pPr algn="l"/>
            <a:r>
              <a:rPr lang="ro-RO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400550:  mov    %rdi,%rax	# a </a:t>
            </a:r>
          </a:p>
          <a:p>
            <a:pPr algn="l"/>
            <a:r>
              <a:rPr lang="ro-RO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400553:  imul   %rsi,%rax	# a * b</a:t>
            </a:r>
          </a:p>
          <a:p>
            <a:pPr algn="l"/>
            <a:r>
              <a:rPr lang="sk-SK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# s in %rax</a:t>
            </a:r>
            <a:endParaRPr lang="ro-RO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/>
            <a:r>
              <a:rPr lang="ro-RO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400557:  retq			# Return</a:t>
            </a:r>
          </a:p>
        </p:txBody>
      </p:sp>
      <p:sp>
        <p:nvSpPr>
          <p:cNvPr id="8" name="Rectangle 7"/>
          <p:cNvSpPr>
            <a:spLocks/>
          </p:cNvSpPr>
          <p:nvPr/>
        </p:nvSpPr>
        <p:spPr bwMode="auto">
          <a:xfrm>
            <a:off x="1066800" y="2362200"/>
            <a:ext cx="6781800" cy="22860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sk-SK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0000000000400540 &lt;multstore&gt;:</a:t>
            </a:r>
          </a:p>
          <a:p>
            <a:pPr algn="l"/>
            <a:r>
              <a:rPr lang="sk-SK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# x in %rdi, y in %rsi, dest in %rdx</a:t>
            </a:r>
          </a:p>
          <a:p>
            <a:pPr algn="l"/>
            <a:r>
              <a:rPr lang="sk-SK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/>
              <a:t>• • •</a:t>
            </a:r>
            <a:endParaRPr lang="sk-SK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/>
            <a:r>
              <a:rPr lang="sk-SK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400541: mov    %rdx,%rbx		# Save dest</a:t>
            </a:r>
          </a:p>
          <a:p>
            <a:pPr algn="l"/>
            <a:r>
              <a:rPr lang="sk-SK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400544: callq  400550 &lt;mult2&gt;	# mult2(x,y)</a:t>
            </a:r>
          </a:p>
          <a:p>
            <a:pPr algn="l"/>
            <a:r>
              <a:rPr lang="sk-SK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sk-SK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# t in %rax</a:t>
            </a:r>
            <a:endParaRPr lang="sk-SK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/>
            <a:r>
              <a:rPr lang="sk-SK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400549: mov    %rax,(%rbx)	# Save at dest</a:t>
            </a:r>
          </a:p>
          <a:p>
            <a:pPr algn="l"/>
            <a:r>
              <a:rPr lang="sk-SK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/>
              <a:t>• • •</a:t>
            </a:r>
            <a:endParaRPr lang="sk-SK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FAE6C89-E45B-B5CB-1B9C-0133B7FA01A7}"/>
              </a:ext>
            </a:extLst>
          </p:cNvPr>
          <p:cNvSpPr>
            <a:spLocks/>
          </p:cNvSpPr>
          <p:nvPr/>
        </p:nvSpPr>
        <p:spPr bwMode="auto">
          <a:xfrm>
            <a:off x="-1270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346D07-605D-2D7D-08E7-E405C531B325}"/>
              </a:ext>
            </a:extLst>
          </p:cNvPr>
          <p:cNvSpPr>
            <a:spLocks/>
          </p:cNvSpPr>
          <p:nvPr/>
        </p:nvSpPr>
        <p:spPr bwMode="auto">
          <a:xfrm>
            <a:off x="-12700" y="6658594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896578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12290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Today</a:t>
            </a:r>
          </a:p>
        </p:txBody>
      </p:sp>
      <p:sp>
        <p:nvSpPr>
          <p:cNvPr id="12292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dirty="0"/>
              <a:t>Procedures</a:t>
            </a:r>
          </a:p>
          <a:p>
            <a:pPr lvl="1"/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Stack Structure</a:t>
            </a:r>
          </a:p>
          <a:p>
            <a:pPr lvl="1"/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Calling Conventions</a:t>
            </a:r>
          </a:p>
          <a:p>
            <a:pPr lvl="2"/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Passing control</a:t>
            </a:r>
          </a:p>
          <a:p>
            <a:pPr lvl="2"/>
            <a:r>
              <a:rPr lang="en-US" b="1" dirty="0">
                <a:solidFill>
                  <a:srgbClr val="7F7F7F"/>
                </a:solidFill>
              </a:rPr>
              <a:t>Passing data</a:t>
            </a:r>
          </a:p>
          <a:p>
            <a:pPr lvl="2"/>
            <a:r>
              <a:rPr lang="en-US" b="1" dirty="0"/>
              <a:t>Managing local data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8EE6147-938D-18D0-9DB0-A6F9A3875EF5}"/>
              </a:ext>
            </a:extLst>
          </p:cNvPr>
          <p:cNvSpPr>
            <a:spLocks/>
          </p:cNvSpPr>
          <p:nvPr/>
        </p:nvSpPr>
        <p:spPr bwMode="auto">
          <a:xfrm>
            <a:off x="-1270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1F328B9-2F6E-D4D0-1DE1-15CA8135D1BD}"/>
              </a:ext>
            </a:extLst>
          </p:cNvPr>
          <p:cNvSpPr>
            <a:spLocks/>
          </p:cNvSpPr>
          <p:nvPr/>
        </p:nvSpPr>
        <p:spPr bwMode="auto">
          <a:xfrm>
            <a:off x="-12700" y="6658594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130095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48130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Stack-Based Languages</a:t>
            </a:r>
          </a:p>
        </p:txBody>
      </p:sp>
      <p:sp>
        <p:nvSpPr>
          <p:cNvPr id="48132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381000" y="1219200"/>
            <a:ext cx="8382000" cy="5435600"/>
          </a:xfrm>
          <a:ln/>
        </p:spPr>
        <p:txBody>
          <a:bodyPr/>
          <a:lstStyle/>
          <a:p>
            <a:r>
              <a:rPr lang="en-US" dirty="0"/>
              <a:t>Languages that support recursion</a:t>
            </a:r>
          </a:p>
          <a:p>
            <a:pPr marL="552450" lvl="1"/>
            <a:r>
              <a:rPr lang="en-US" dirty="0"/>
              <a:t>e.g., C, Pascal, Java</a:t>
            </a:r>
          </a:p>
          <a:p>
            <a:pPr marL="552450" lvl="1"/>
            <a:r>
              <a:rPr lang="en-US" dirty="0"/>
              <a:t>Code must be “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Reentrant</a:t>
            </a:r>
            <a:r>
              <a:rPr lang="en-US" dirty="0"/>
              <a:t>”</a:t>
            </a:r>
          </a:p>
          <a:p>
            <a:pPr marL="838200" lvl="2"/>
            <a:r>
              <a:rPr lang="en-US" dirty="0"/>
              <a:t>Multiple simultaneous instantiations of single procedure</a:t>
            </a:r>
          </a:p>
          <a:p>
            <a:pPr marL="552450" lvl="1"/>
            <a:r>
              <a:rPr lang="en-US" dirty="0"/>
              <a:t>Need some place to store state of each instantiation</a:t>
            </a:r>
          </a:p>
          <a:p>
            <a:pPr marL="838200" lvl="2"/>
            <a:r>
              <a:rPr lang="en-US" dirty="0"/>
              <a:t>Arguments</a:t>
            </a:r>
          </a:p>
          <a:p>
            <a:pPr marL="838200" lvl="2"/>
            <a:r>
              <a:rPr lang="en-US" dirty="0"/>
              <a:t>Local variables</a:t>
            </a:r>
          </a:p>
          <a:p>
            <a:pPr marL="838200" lvl="2"/>
            <a:r>
              <a:rPr lang="en-US" dirty="0"/>
              <a:t>Return pointer</a:t>
            </a:r>
          </a:p>
          <a:p>
            <a:r>
              <a:rPr lang="en-US" dirty="0"/>
              <a:t>Stack discipline</a:t>
            </a:r>
          </a:p>
          <a:p>
            <a:pPr marL="552450" lvl="1"/>
            <a:r>
              <a:rPr lang="en-US" dirty="0"/>
              <a:t>State for given procedure needed for limited time</a:t>
            </a:r>
          </a:p>
          <a:p>
            <a:pPr marL="838200" lvl="2"/>
            <a:r>
              <a:rPr lang="en-US" dirty="0"/>
              <a:t>From when called to when return</a:t>
            </a:r>
          </a:p>
          <a:p>
            <a:pPr marL="552450" lvl="1"/>
            <a:r>
              <a:rPr lang="en-US" dirty="0" err="1"/>
              <a:t>Callee</a:t>
            </a:r>
            <a:r>
              <a:rPr lang="en-US" dirty="0"/>
              <a:t> returns before caller does</a:t>
            </a:r>
          </a:p>
          <a:p>
            <a:r>
              <a:rPr lang="en-US" dirty="0"/>
              <a:t>Stack allocated in </a:t>
            </a:r>
            <a:r>
              <a:rPr lang="en-US" dirty="0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Frames</a:t>
            </a:r>
            <a:endParaRPr lang="en-US" dirty="0"/>
          </a:p>
          <a:p>
            <a:pPr marL="552450" lvl="1"/>
            <a:r>
              <a:rPr lang="en-US" dirty="0"/>
              <a:t>state for single procedure instantiation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BFB0129-882A-7D92-AFB2-E010D77296E3}"/>
              </a:ext>
            </a:extLst>
          </p:cNvPr>
          <p:cNvSpPr>
            <a:spLocks/>
          </p:cNvSpPr>
          <p:nvPr/>
        </p:nvSpPr>
        <p:spPr bwMode="auto">
          <a:xfrm>
            <a:off x="-1270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44A41E0-8E64-0B66-D8FE-C494A3181DBE}"/>
              </a:ext>
            </a:extLst>
          </p:cNvPr>
          <p:cNvSpPr>
            <a:spLocks/>
          </p:cNvSpPr>
          <p:nvPr/>
        </p:nvSpPr>
        <p:spPr bwMode="auto">
          <a:xfrm>
            <a:off x="-12700" y="6658594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49154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Call Chain Example</a:t>
            </a:r>
          </a:p>
        </p:txBody>
      </p:sp>
      <p:sp>
        <p:nvSpPr>
          <p:cNvPr id="49156" name="Rectangle 4"/>
          <p:cNvSpPr>
            <a:spLocks/>
          </p:cNvSpPr>
          <p:nvPr/>
        </p:nvSpPr>
        <p:spPr bwMode="auto">
          <a:xfrm>
            <a:off x="457200" y="1447800"/>
            <a:ext cx="1536700" cy="23622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yoo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(…)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who();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  </a:t>
            </a:r>
          </a:p>
        </p:txBody>
      </p:sp>
      <p:sp>
        <p:nvSpPr>
          <p:cNvPr id="49157" name="Rectangle 5"/>
          <p:cNvSpPr>
            <a:spLocks/>
          </p:cNvSpPr>
          <p:nvPr/>
        </p:nvSpPr>
        <p:spPr bwMode="auto">
          <a:xfrm>
            <a:off x="2286000" y="2362200"/>
            <a:ext cx="1612900" cy="2362200"/>
          </a:xfrm>
          <a:prstGeom prst="rect">
            <a:avLst/>
          </a:prstGeom>
          <a:solidFill>
            <a:srgbClr val="D5F1CF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who(…)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 •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();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 •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();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 •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49158" name="Rectangle 6"/>
          <p:cNvSpPr>
            <a:spLocks/>
          </p:cNvSpPr>
          <p:nvPr/>
        </p:nvSpPr>
        <p:spPr bwMode="auto">
          <a:xfrm>
            <a:off x="4191000" y="3276600"/>
            <a:ext cx="1536700" cy="2362200"/>
          </a:xfrm>
          <a:prstGeom prst="rect">
            <a:avLst/>
          </a:prstGeom>
          <a:solidFill>
            <a:srgbClr val="F1C7C7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(…)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();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49159" name="Rectangle 7"/>
          <p:cNvSpPr>
            <a:spLocks/>
          </p:cNvSpPr>
          <p:nvPr/>
        </p:nvSpPr>
        <p:spPr bwMode="auto">
          <a:xfrm>
            <a:off x="6883400" y="1676400"/>
            <a:ext cx="1549400" cy="3581400"/>
          </a:xfrm>
          <a:prstGeom prst="rect">
            <a:avLst/>
          </a:prstGeom>
          <a:solidFill>
            <a:srgbClr val="D8D8D8"/>
          </a:soli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9160" name="Rectangle 8"/>
          <p:cNvSpPr>
            <a:spLocks/>
          </p:cNvSpPr>
          <p:nvPr/>
        </p:nvSpPr>
        <p:spPr bwMode="auto">
          <a:xfrm>
            <a:off x="7096125" y="1905000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yoo</a:t>
            </a:r>
          </a:p>
        </p:txBody>
      </p:sp>
      <p:sp>
        <p:nvSpPr>
          <p:cNvPr id="49161" name="Rectangle 9"/>
          <p:cNvSpPr>
            <a:spLocks/>
          </p:cNvSpPr>
          <p:nvPr/>
        </p:nvSpPr>
        <p:spPr bwMode="auto">
          <a:xfrm>
            <a:off x="7096125" y="2590800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who</a:t>
            </a:r>
          </a:p>
        </p:txBody>
      </p:sp>
      <p:sp>
        <p:nvSpPr>
          <p:cNvPr id="49162" name="Rectangle 10"/>
          <p:cNvSpPr>
            <a:spLocks/>
          </p:cNvSpPr>
          <p:nvPr/>
        </p:nvSpPr>
        <p:spPr bwMode="auto">
          <a:xfrm>
            <a:off x="7085013" y="3265488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amI</a:t>
            </a:r>
          </a:p>
        </p:txBody>
      </p:sp>
      <p:sp>
        <p:nvSpPr>
          <p:cNvPr id="49163" name="Rectangle 11"/>
          <p:cNvSpPr>
            <a:spLocks/>
          </p:cNvSpPr>
          <p:nvPr/>
        </p:nvSpPr>
        <p:spPr bwMode="auto">
          <a:xfrm>
            <a:off x="7096125" y="3962400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amI</a:t>
            </a:r>
          </a:p>
        </p:txBody>
      </p:sp>
      <p:sp>
        <p:nvSpPr>
          <p:cNvPr id="49164" name="Rectangle 12"/>
          <p:cNvSpPr>
            <a:spLocks/>
          </p:cNvSpPr>
          <p:nvPr/>
        </p:nvSpPr>
        <p:spPr bwMode="auto">
          <a:xfrm>
            <a:off x="7096125" y="4724400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amI</a:t>
            </a:r>
          </a:p>
        </p:txBody>
      </p:sp>
      <p:sp>
        <p:nvSpPr>
          <p:cNvPr id="49165" name="Line 13"/>
          <p:cNvSpPr>
            <a:spLocks noChangeShapeType="1"/>
          </p:cNvSpPr>
          <p:nvPr/>
        </p:nvSpPr>
        <p:spPr bwMode="auto">
          <a:xfrm>
            <a:off x="7402513" y="2209800"/>
            <a:ext cx="0" cy="4318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9166" name="Line 14"/>
          <p:cNvSpPr>
            <a:spLocks noChangeShapeType="1"/>
          </p:cNvSpPr>
          <p:nvPr/>
        </p:nvSpPr>
        <p:spPr bwMode="auto">
          <a:xfrm>
            <a:off x="7402513" y="2895600"/>
            <a:ext cx="0" cy="4318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9167" name="Line 15"/>
          <p:cNvSpPr>
            <a:spLocks noChangeShapeType="1"/>
          </p:cNvSpPr>
          <p:nvPr/>
        </p:nvSpPr>
        <p:spPr bwMode="auto">
          <a:xfrm>
            <a:off x="7402513" y="3581400"/>
            <a:ext cx="0" cy="4318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9168" name="Line 16"/>
          <p:cNvSpPr>
            <a:spLocks noChangeShapeType="1"/>
          </p:cNvSpPr>
          <p:nvPr/>
        </p:nvSpPr>
        <p:spPr bwMode="auto">
          <a:xfrm>
            <a:off x="7402513" y="4343400"/>
            <a:ext cx="0" cy="4318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9169" name="Rectangle 17"/>
          <p:cNvSpPr>
            <a:spLocks/>
          </p:cNvSpPr>
          <p:nvPr/>
        </p:nvSpPr>
        <p:spPr bwMode="auto">
          <a:xfrm>
            <a:off x="6848475" y="1066800"/>
            <a:ext cx="1020763" cy="6350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8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Example</a:t>
            </a:r>
            <a:endParaRPr lang="en-US">
              <a:solidFill>
                <a:schemeClr val="tx1"/>
              </a:solidFill>
              <a:latin typeface="Arial Narrow Bold" charset="0"/>
              <a:ea typeface="Lucida Grande" charset="0"/>
              <a:cs typeface="Lucida Grande" charset="0"/>
              <a:sym typeface="Arial Narrow Bold" charset="0"/>
            </a:endParaRPr>
          </a:p>
          <a:p>
            <a:pPr algn="l"/>
            <a:r>
              <a:rPr lang="en-US" sz="18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Call Chain</a:t>
            </a:r>
          </a:p>
        </p:txBody>
      </p:sp>
      <p:sp>
        <p:nvSpPr>
          <p:cNvPr id="49170" name="Rectangle 18"/>
          <p:cNvSpPr>
            <a:spLocks/>
          </p:cNvSpPr>
          <p:nvPr/>
        </p:nvSpPr>
        <p:spPr bwMode="auto">
          <a:xfrm>
            <a:off x="7762875" y="3265488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amI</a:t>
            </a:r>
          </a:p>
        </p:txBody>
      </p:sp>
      <p:sp>
        <p:nvSpPr>
          <p:cNvPr id="49171" name="Line 19"/>
          <p:cNvSpPr>
            <a:spLocks noChangeShapeType="1"/>
          </p:cNvSpPr>
          <p:nvPr/>
        </p:nvSpPr>
        <p:spPr bwMode="auto">
          <a:xfrm>
            <a:off x="7543800" y="2895600"/>
            <a:ext cx="536575" cy="4318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9172" name="Rectangle 20"/>
          <p:cNvSpPr>
            <a:spLocks/>
          </p:cNvSpPr>
          <p:nvPr/>
        </p:nvSpPr>
        <p:spPr bwMode="auto">
          <a:xfrm>
            <a:off x="3505200" y="5715000"/>
            <a:ext cx="2908300" cy="368300"/>
          </a:xfrm>
          <a:prstGeom prst="rect">
            <a:avLst/>
          </a:prstGeom>
          <a:noFill/>
          <a:ln w="12700" cap="rnd">
            <a:noFill/>
            <a:round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Procedure </a:t>
            </a:r>
            <a:r>
              <a:rPr lang="en-US" sz="18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()</a:t>
            </a:r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 is recursive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E2CF18B-CDE1-DF76-773C-68D89B62118D}"/>
              </a:ext>
            </a:extLst>
          </p:cNvPr>
          <p:cNvSpPr>
            <a:spLocks/>
          </p:cNvSpPr>
          <p:nvPr/>
        </p:nvSpPr>
        <p:spPr bwMode="auto">
          <a:xfrm>
            <a:off x="-1270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8CA76DA-A69D-7D5A-D8D7-3D6910E6F83B}"/>
              </a:ext>
            </a:extLst>
          </p:cNvPr>
          <p:cNvSpPr>
            <a:spLocks/>
          </p:cNvSpPr>
          <p:nvPr/>
        </p:nvSpPr>
        <p:spPr bwMode="auto">
          <a:xfrm>
            <a:off x="-12700" y="6658594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50178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50179" name="Line 3"/>
          <p:cNvSpPr>
            <a:spLocks noChangeShapeType="1"/>
          </p:cNvSpPr>
          <p:nvPr/>
        </p:nvSpPr>
        <p:spPr bwMode="auto">
          <a:xfrm>
            <a:off x="6535737" y="2271713"/>
            <a:ext cx="717550" cy="0"/>
          </a:xfrm>
          <a:prstGeom prst="line">
            <a:avLst/>
          </a:prstGeom>
          <a:noFill/>
          <a:ln w="25400" cap="flat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0180" name="Rectangle 4"/>
          <p:cNvSpPr>
            <a:spLocks/>
          </p:cNvSpPr>
          <p:nvPr/>
        </p:nvSpPr>
        <p:spPr bwMode="auto">
          <a:xfrm>
            <a:off x="4019550" y="2084388"/>
            <a:ext cx="2439987" cy="366712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r"/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Frame Pointer: </a:t>
            </a:r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18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rbp</a:t>
            </a:r>
            <a:endParaRPr lang="en-US" sz="18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50181" name="Rectangle 5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Stack Frames</a:t>
            </a:r>
          </a:p>
        </p:txBody>
      </p:sp>
      <p:sp>
        <p:nvSpPr>
          <p:cNvPr id="50182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381000" y="1397000"/>
            <a:ext cx="4648200" cy="5435600"/>
          </a:xfrm>
          <a:ln/>
        </p:spPr>
        <p:txBody>
          <a:bodyPr/>
          <a:lstStyle/>
          <a:p>
            <a:r>
              <a:rPr lang="en-US" dirty="0"/>
              <a:t>Contents</a:t>
            </a:r>
          </a:p>
          <a:p>
            <a:pPr marL="552450" lvl="1"/>
            <a:r>
              <a:rPr lang="en-US" dirty="0"/>
              <a:t>Return information</a:t>
            </a:r>
          </a:p>
          <a:p>
            <a:pPr marL="552450" lvl="1"/>
            <a:r>
              <a:rPr lang="en-US" dirty="0"/>
              <a:t>Local storage (if needed)</a:t>
            </a:r>
          </a:p>
          <a:p>
            <a:pPr marL="552450" lvl="1"/>
            <a:r>
              <a:rPr lang="en-US" dirty="0"/>
              <a:t>Temporary space (if needed)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r>
              <a:rPr lang="en-US" dirty="0"/>
              <a:t>Management</a:t>
            </a:r>
          </a:p>
          <a:p>
            <a:pPr marL="552450" lvl="1"/>
            <a:r>
              <a:rPr lang="en-US" dirty="0"/>
              <a:t>Space allocated when enter procedure</a:t>
            </a:r>
          </a:p>
          <a:p>
            <a:pPr marL="838200" lvl="2"/>
            <a:r>
              <a:rPr lang="en-US" dirty="0"/>
              <a:t>“Set-up” code</a:t>
            </a:r>
          </a:p>
          <a:p>
            <a:pPr marL="838200" lvl="2"/>
            <a:r>
              <a:rPr lang="en-US" dirty="0"/>
              <a:t>Includes push by </a:t>
            </a:r>
            <a:r>
              <a:rPr lang="en-US" b="1" dirty="0">
                <a:latin typeface="Courier New"/>
                <a:cs typeface="Courier New"/>
              </a:rPr>
              <a:t>call</a:t>
            </a:r>
            <a:r>
              <a:rPr lang="en-US" dirty="0"/>
              <a:t> instruction</a:t>
            </a:r>
          </a:p>
          <a:p>
            <a:pPr marL="552450" lvl="1"/>
            <a:r>
              <a:rPr lang="en-US" dirty="0" err="1"/>
              <a:t>Deallocated</a:t>
            </a:r>
            <a:r>
              <a:rPr lang="en-US" dirty="0"/>
              <a:t> when return</a:t>
            </a:r>
          </a:p>
          <a:p>
            <a:pPr marL="838200" lvl="2"/>
            <a:r>
              <a:rPr lang="en-US" dirty="0"/>
              <a:t>“Finish” code</a:t>
            </a:r>
          </a:p>
          <a:p>
            <a:pPr marL="838200" lvl="2"/>
            <a:r>
              <a:rPr lang="en-US" dirty="0"/>
              <a:t>Includes pop by </a:t>
            </a:r>
            <a:r>
              <a:rPr lang="en-US" b="1" dirty="0">
                <a:latin typeface="Courier New"/>
                <a:cs typeface="Courier New"/>
              </a:rPr>
              <a:t>ret</a:t>
            </a:r>
            <a:r>
              <a:rPr lang="en-US" dirty="0"/>
              <a:t> instruction</a:t>
            </a:r>
          </a:p>
        </p:txBody>
      </p:sp>
      <p:sp>
        <p:nvSpPr>
          <p:cNvPr id="50183" name="Line 7"/>
          <p:cNvSpPr>
            <a:spLocks noChangeShapeType="1"/>
          </p:cNvSpPr>
          <p:nvPr/>
        </p:nvSpPr>
        <p:spPr bwMode="auto">
          <a:xfrm>
            <a:off x="6545262" y="3641725"/>
            <a:ext cx="71755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0184" name="Rectangle 8"/>
          <p:cNvSpPr>
            <a:spLocks/>
          </p:cNvSpPr>
          <p:nvPr/>
        </p:nvSpPr>
        <p:spPr bwMode="auto">
          <a:xfrm>
            <a:off x="4068762" y="3452813"/>
            <a:ext cx="2438400" cy="366712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r"/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Stack Pointer: </a:t>
            </a:r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18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rsp</a:t>
            </a:r>
            <a:endParaRPr lang="en-US" sz="18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50185" name="Rectangle 9"/>
          <p:cNvSpPr>
            <a:spLocks/>
          </p:cNvSpPr>
          <p:nvPr/>
        </p:nvSpPr>
        <p:spPr bwMode="auto">
          <a:xfrm>
            <a:off x="7205662" y="4279900"/>
            <a:ext cx="1557338" cy="4445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2400">
                <a:solidFill>
                  <a:srgbClr val="262699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Stack “Top”</a:t>
            </a:r>
          </a:p>
        </p:txBody>
      </p:sp>
      <p:sp>
        <p:nvSpPr>
          <p:cNvPr id="50186" name="AutoShape 10"/>
          <p:cNvSpPr>
            <a:spLocks/>
          </p:cNvSpPr>
          <p:nvPr/>
        </p:nvSpPr>
        <p:spPr bwMode="auto">
          <a:xfrm rot="10800000" flipH="1">
            <a:off x="7672387" y="3902075"/>
            <a:ext cx="609600" cy="381000"/>
          </a:xfrm>
          <a:custGeom>
            <a:avLst/>
            <a:gdLst>
              <a:gd name="T0" fmla="*/ 10800 w 21600"/>
              <a:gd name="T1" fmla="*/ 10800 h 21600"/>
            </a:gdLst>
            <a:ahLst/>
            <a:cxnLst>
              <a:cxn ang="0">
                <a:pos x="T0" y="T1"/>
              </a:cxn>
            </a:cxnLst>
            <a:rect l="0" t="0" r="r" b="b"/>
            <a:pathLst>
              <a:path w="21600" h="21600">
                <a:moveTo>
                  <a:pt x="0" y="10800"/>
                </a:moveTo>
                <a:lnTo>
                  <a:pt x="5400" y="10800"/>
                </a:lnTo>
                <a:lnTo>
                  <a:pt x="5400" y="0"/>
                </a:lnTo>
                <a:lnTo>
                  <a:pt x="16200" y="0"/>
                </a:lnTo>
                <a:lnTo>
                  <a:pt x="16200" y="10800"/>
                </a:lnTo>
                <a:lnTo>
                  <a:pt x="21600" y="10800"/>
                </a:lnTo>
                <a:lnTo>
                  <a:pt x="10800" y="21600"/>
                </a:lnTo>
                <a:close/>
                <a:moveTo>
                  <a:pt x="0" y="10800"/>
                </a:moveTo>
              </a:path>
            </a:pathLst>
          </a:custGeom>
          <a:solidFill>
            <a:srgbClr val="980002"/>
          </a:solidFill>
          <a:ln w="25400" cap="flat">
            <a:noFill/>
            <a:round/>
            <a:headEnd type="none" w="med" len="med"/>
            <a:tailEnd type="triangl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0" tIns="0" rIns="0" bIns="0"/>
          <a:lstStyle/>
          <a:p>
            <a:endParaRPr lang="en-US"/>
          </a:p>
        </p:txBody>
      </p:sp>
      <p:graphicFrame>
        <p:nvGraphicFramePr>
          <p:cNvPr id="50187" name="Group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23245"/>
              </p:ext>
            </p:extLst>
          </p:nvPr>
        </p:nvGraphicFramePr>
        <p:xfrm>
          <a:off x="7310437" y="396875"/>
          <a:ext cx="1320800" cy="3403600"/>
        </p:xfrm>
        <a:graphic>
          <a:graphicData uri="http://schemas.openxmlformats.org/drawingml/2006/table">
            <a:tbl>
              <a:tblPr/>
              <a:tblGrid>
                <a:gridCol w="132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01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Previous Frame</a:t>
                      </a:r>
                    </a:p>
                  </a:txBody>
                  <a:tcPr marL="50800" marR="50800" marT="50800" marB="50800" anchor="ctr"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01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Frame for</a:t>
                      </a:r>
                      <a:b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</a:b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proc</a:t>
                      </a:r>
                    </a:p>
                  </a:txBody>
                  <a:tcPr marL="50800" marR="50800" marT="50800" marB="50800" anchor="ctr"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" name="Rectangle 4"/>
          <p:cNvSpPr>
            <a:spLocks/>
          </p:cNvSpPr>
          <p:nvPr/>
        </p:nvSpPr>
        <p:spPr bwMode="auto">
          <a:xfrm>
            <a:off x="4021137" y="2365375"/>
            <a:ext cx="2439987" cy="366712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r"/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(Optional)	</a:t>
            </a:r>
            <a:r>
              <a:rPr lang="en-US" sz="1800" dirty="0">
                <a:solidFill>
                  <a:schemeClr val="bg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x</a:t>
            </a:r>
            <a:endParaRPr lang="en-US" sz="1800" dirty="0">
              <a:solidFill>
                <a:schemeClr val="bg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BE6080C-3213-5F1E-CA74-96AC10474C73}"/>
              </a:ext>
            </a:extLst>
          </p:cNvPr>
          <p:cNvSpPr>
            <a:spLocks/>
          </p:cNvSpPr>
          <p:nvPr/>
        </p:nvSpPr>
        <p:spPr bwMode="auto">
          <a:xfrm>
            <a:off x="-1270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1C0F785-7D6B-D2BD-A230-A3E80744D4B5}"/>
              </a:ext>
            </a:extLst>
          </p:cNvPr>
          <p:cNvSpPr>
            <a:spLocks/>
          </p:cNvSpPr>
          <p:nvPr/>
        </p:nvSpPr>
        <p:spPr bwMode="auto">
          <a:xfrm>
            <a:off x="-12700" y="6658594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51202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Example #1</a:t>
            </a:r>
          </a:p>
        </p:txBody>
      </p:sp>
      <p:sp>
        <p:nvSpPr>
          <p:cNvPr id="51204" name="Rectangle 4"/>
          <p:cNvSpPr>
            <a:spLocks/>
          </p:cNvSpPr>
          <p:nvPr/>
        </p:nvSpPr>
        <p:spPr bwMode="auto">
          <a:xfrm>
            <a:off x="3514725" y="1446213"/>
            <a:ext cx="622300" cy="331787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yoo</a:t>
            </a:r>
          </a:p>
        </p:txBody>
      </p:sp>
      <p:sp>
        <p:nvSpPr>
          <p:cNvPr id="51205" name="Rectangle 5"/>
          <p:cNvSpPr>
            <a:spLocks/>
          </p:cNvSpPr>
          <p:nvPr/>
        </p:nvSpPr>
        <p:spPr bwMode="auto">
          <a:xfrm>
            <a:off x="3514725" y="2133600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rgbClr val="A5A5A5"/>
                </a:solidFill>
                <a:latin typeface="Courier New Bold" charset="0"/>
                <a:cs typeface="Courier New Bold" charset="0"/>
                <a:sym typeface="Courier New Bold" charset="0"/>
              </a:rPr>
              <a:t>who</a:t>
            </a:r>
          </a:p>
        </p:txBody>
      </p:sp>
      <p:sp>
        <p:nvSpPr>
          <p:cNvPr id="51206" name="Rectangle 6"/>
          <p:cNvSpPr>
            <a:spLocks/>
          </p:cNvSpPr>
          <p:nvPr/>
        </p:nvSpPr>
        <p:spPr bwMode="auto">
          <a:xfrm>
            <a:off x="3503613" y="2808288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rgbClr val="A5A5A5"/>
                </a:solidFill>
                <a:latin typeface="Courier New Bold" charset="0"/>
                <a:cs typeface="Courier New Bold" charset="0"/>
                <a:sym typeface="Courier New Bold" charset="0"/>
              </a:rPr>
              <a:t>amI</a:t>
            </a:r>
          </a:p>
        </p:txBody>
      </p:sp>
      <p:sp>
        <p:nvSpPr>
          <p:cNvPr id="51207" name="Rectangle 7"/>
          <p:cNvSpPr>
            <a:spLocks/>
          </p:cNvSpPr>
          <p:nvPr/>
        </p:nvSpPr>
        <p:spPr bwMode="auto">
          <a:xfrm>
            <a:off x="3514725" y="3505200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rgbClr val="A5A5A5"/>
                </a:solidFill>
                <a:latin typeface="Courier New Bold" charset="0"/>
                <a:cs typeface="Courier New Bold" charset="0"/>
                <a:sym typeface="Courier New Bold" charset="0"/>
              </a:rPr>
              <a:t>amI</a:t>
            </a:r>
          </a:p>
        </p:txBody>
      </p:sp>
      <p:sp>
        <p:nvSpPr>
          <p:cNvPr id="51208" name="Rectangle 8"/>
          <p:cNvSpPr>
            <a:spLocks/>
          </p:cNvSpPr>
          <p:nvPr/>
        </p:nvSpPr>
        <p:spPr bwMode="auto">
          <a:xfrm>
            <a:off x="3514725" y="4267200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rgbClr val="A5A5A5"/>
                </a:solidFill>
                <a:latin typeface="Courier New Bold" charset="0"/>
                <a:cs typeface="Courier New Bold" charset="0"/>
                <a:sym typeface="Courier New Bold" charset="0"/>
              </a:rPr>
              <a:t>amI</a:t>
            </a:r>
          </a:p>
        </p:txBody>
      </p:sp>
      <p:sp>
        <p:nvSpPr>
          <p:cNvPr id="51209" name="Line 9"/>
          <p:cNvSpPr>
            <a:spLocks noChangeShapeType="1"/>
          </p:cNvSpPr>
          <p:nvPr/>
        </p:nvSpPr>
        <p:spPr bwMode="auto">
          <a:xfrm>
            <a:off x="3821113" y="1752600"/>
            <a:ext cx="0" cy="431800"/>
          </a:xfrm>
          <a:prstGeom prst="line">
            <a:avLst/>
          </a:prstGeom>
          <a:noFill/>
          <a:ln w="25400" cap="flat">
            <a:solidFill>
              <a:srgbClr val="A5A5A5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1210" name="Line 10"/>
          <p:cNvSpPr>
            <a:spLocks noChangeShapeType="1"/>
          </p:cNvSpPr>
          <p:nvPr/>
        </p:nvSpPr>
        <p:spPr bwMode="auto">
          <a:xfrm>
            <a:off x="3821113" y="2438400"/>
            <a:ext cx="0" cy="431800"/>
          </a:xfrm>
          <a:prstGeom prst="line">
            <a:avLst/>
          </a:prstGeom>
          <a:noFill/>
          <a:ln w="25400" cap="flat">
            <a:solidFill>
              <a:srgbClr val="A5A5A5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1211" name="Line 11"/>
          <p:cNvSpPr>
            <a:spLocks noChangeShapeType="1"/>
          </p:cNvSpPr>
          <p:nvPr/>
        </p:nvSpPr>
        <p:spPr bwMode="auto">
          <a:xfrm>
            <a:off x="3821113" y="3124200"/>
            <a:ext cx="0" cy="431800"/>
          </a:xfrm>
          <a:prstGeom prst="line">
            <a:avLst/>
          </a:prstGeom>
          <a:noFill/>
          <a:ln w="25400" cap="flat">
            <a:solidFill>
              <a:srgbClr val="A5A5A5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1212" name="Line 12"/>
          <p:cNvSpPr>
            <a:spLocks noChangeShapeType="1"/>
          </p:cNvSpPr>
          <p:nvPr/>
        </p:nvSpPr>
        <p:spPr bwMode="auto">
          <a:xfrm>
            <a:off x="3821113" y="3886200"/>
            <a:ext cx="0" cy="431800"/>
          </a:xfrm>
          <a:prstGeom prst="line">
            <a:avLst/>
          </a:prstGeom>
          <a:noFill/>
          <a:ln w="25400" cap="flat">
            <a:solidFill>
              <a:srgbClr val="A5A5A5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1213" name="Rectangle 13"/>
          <p:cNvSpPr>
            <a:spLocks/>
          </p:cNvSpPr>
          <p:nvPr/>
        </p:nvSpPr>
        <p:spPr bwMode="auto">
          <a:xfrm>
            <a:off x="4181475" y="2795588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rgbClr val="A5A5A5"/>
                </a:solidFill>
                <a:latin typeface="Courier New Bold" charset="0"/>
                <a:cs typeface="Courier New Bold" charset="0"/>
                <a:sym typeface="Courier New Bold" charset="0"/>
              </a:rPr>
              <a:t>amI</a:t>
            </a:r>
          </a:p>
        </p:txBody>
      </p:sp>
      <p:sp>
        <p:nvSpPr>
          <p:cNvPr id="51214" name="Line 14"/>
          <p:cNvSpPr>
            <a:spLocks noChangeShapeType="1"/>
          </p:cNvSpPr>
          <p:nvPr/>
        </p:nvSpPr>
        <p:spPr bwMode="auto">
          <a:xfrm>
            <a:off x="3962400" y="2438400"/>
            <a:ext cx="536575" cy="431800"/>
          </a:xfrm>
          <a:prstGeom prst="line">
            <a:avLst/>
          </a:prstGeom>
          <a:noFill/>
          <a:ln w="25400" cap="flat">
            <a:solidFill>
              <a:srgbClr val="A5A5A5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1215" name="Rectangle 15"/>
          <p:cNvSpPr>
            <a:spLocks/>
          </p:cNvSpPr>
          <p:nvPr/>
        </p:nvSpPr>
        <p:spPr bwMode="auto">
          <a:xfrm>
            <a:off x="6932613" y="1641475"/>
            <a:ext cx="1308100" cy="609600"/>
          </a:xfrm>
          <a:prstGeom prst="rect">
            <a:avLst/>
          </a:prstGeom>
          <a:solidFill>
            <a:srgbClr val="F6F5BD"/>
          </a:solidFill>
          <a:ln w="1905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l"/>
            <a:endParaRPr lang="en-US" sz="1800">
              <a:solidFill>
                <a:schemeClr val="tx1"/>
              </a:solidFill>
              <a:latin typeface="Courier New Bold" charset="0"/>
              <a:ea typeface="Monaco" charset="0"/>
              <a:cs typeface="Monaco" charset="0"/>
              <a:sym typeface="Courier New Bold" charset="0"/>
            </a:endParaRPr>
          </a:p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yoo</a:t>
            </a:r>
          </a:p>
        </p:txBody>
      </p:sp>
      <p:grpSp>
        <p:nvGrpSpPr>
          <p:cNvPr id="51216" name="Group 16"/>
          <p:cNvGrpSpPr>
            <a:grpSpLocks/>
          </p:cNvGrpSpPr>
          <p:nvPr/>
        </p:nvGrpSpPr>
        <p:grpSpPr bwMode="auto">
          <a:xfrm>
            <a:off x="5397500" y="1592263"/>
            <a:ext cx="1493838" cy="928687"/>
            <a:chOff x="0" y="0"/>
            <a:chExt cx="941" cy="585"/>
          </a:xfrm>
        </p:grpSpPr>
        <p:sp>
          <p:nvSpPr>
            <p:cNvPr id="51217" name="Line 17"/>
            <p:cNvSpPr>
              <a:spLocks noChangeShapeType="1"/>
            </p:cNvSpPr>
            <p:nvPr/>
          </p:nvSpPr>
          <p:spPr bwMode="auto">
            <a:xfrm>
              <a:off x="489" y="110"/>
              <a:ext cx="452" cy="0"/>
            </a:xfrm>
            <a:prstGeom prst="line">
              <a:avLst/>
            </a:prstGeom>
            <a:noFill/>
            <a:ln w="25400" cap="flat">
              <a:solidFill>
                <a:srgbClr val="7F7F7F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51218" name="Rectangle 18"/>
            <p:cNvSpPr>
              <a:spLocks/>
            </p:cNvSpPr>
            <p:nvPr/>
          </p:nvSpPr>
          <p:spPr bwMode="auto">
            <a:xfrm>
              <a:off x="1" y="0"/>
              <a:ext cx="496" cy="208"/>
            </a:xfrm>
            <a:prstGeom prst="rect">
              <a:avLst/>
            </a:prstGeom>
            <a:noFill/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/>
            <a:lstStyle/>
            <a:p>
              <a:pPr algn="r"/>
              <a:r>
                <a:rPr lang="en-US" sz="1800" dirty="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</a:t>
              </a:r>
              <a:r>
                <a:rPr lang="en-US" sz="1800" dirty="0" err="1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rbp</a:t>
              </a:r>
              <a:endPara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endParaRPr>
            </a:p>
          </p:txBody>
        </p:sp>
        <p:sp>
          <p:nvSpPr>
            <p:cNvPr id="51219" name="Line 19"/>
            <p:cNvSpPr>
              <a:spLocks noChangeShapeType="1"/>
            </p:cNvSpPr>
            <p:nvPr/>
          </p:nvSpPr>
          <p:spPr bwMode="auto">
            <a:xfrm>
              <a:off x="488" y="499"/>
              <a:ext cx="452" cy="0"/>
            </a:xfrm>
            <a:prstGeom prst="line">
              <a:avLst/>
            </a:prstGeom>
            <a:noFill/>
            <a:ln w="25400" cap="flat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51220" name="Rectangle 20"/>
            <p:cNvSpPr>
              <a:spLocks/>
            </p:cNvSpPr>
            <p:nvPr/>
          </p:nvSpPr>
          <p:spPr bwMode="auto">
            <a:xfrm>
              <a:off x="0" y="377"/>
              <a:ext cx="496" cy="208"/>
            </a:xfrm>
            <a:prstGeom prst="rect">
              <a:avLst/>
            </a:prstGeom>
            <a:noFill/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/>
            <a:lstStyle/>
            <a:p>
              <a:pPr algn="r"/>
              <a:r>
                <a:rPr lang="en-US" sz="1800" dirty="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</a:t>
              </a:r>
              <a:r>
                <a:rPr lang="en-US" sz="1800" dirty="0" err="1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rsp</a:t>
              </a:r>
              <a:endPara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endParaRPr>
            </a:p>
          </p:txBody>
        </p:sp>
      </p:grpSp>
      <p:sp>
        <p:nvSpPr>
          <p:cNvPr id="51221" name="Rectangle 21"/>
          <p:cNvSpPr>
            <a:spLocks/>
          </p:cNvSpPr>
          <p:nvPr/>
        </p:nvSpPr>
        <p:spPr bwMode="auto">
          <a:xfrm>
            <a:off x="6932613" y="1022350"/>
            <a:ext cx="1308100" cy="444500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1222" name="Rectangle 22"/>
          <p:cNvSpPr>
            <a:spLocks/>
          </p:cNvSpPr>
          <p:nvPr/>
        </p:nvSpPr>
        <p:spPr bwMode="auto">
          <a:xfrm>
            <a:off x="7194550" y="381000"/>
            <a:ext cx="760413" cy="444500"/>
          </a:xfrm>
          <a:prstGeom prst="rect">
            <a:avLst/>
          </a:prstGeom>
          <a:noFill/>
          <a:ln w="12700" cap="rnd">
            <a:noFill/>
            <a:round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24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Stack</a:t>
            </a:r>
          </a:p>
        </p:txBody>
      </p:sp>
      <p:graphicFrame>
        <p:nvGraphicFramePr>
          <p:cNvPr id="51223" name="Group 23"/>
          <p:cNvGraphicFramePr>
            <a:graphicFrameLocks noGrp="1"/>
          </p:cNvGraphicFramePr>
          <p:nvPr/>
        </p:nvGraphicFramePr>
        <p:xfrm>
          <a:off x="6934200" y="838200"/>
          <a:ext cx="1397000" cy="5778500"/>
        </p:xfrm>
        <a:graphic>
          <a:graphicData uri="http://schemas.openxmlformats.org/drawingml/2006/table">
            <a:tbl>
              <a:tblPr/>
              <a:tblGrid>
                <a:gridCol w="139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yoo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E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1254" name="AutoShape 54"/>
          <p:cNvSpPr>
            <a:spLocks/>
          </p:cNvSpPr>
          <p:nvPr/>
        </p:nvSpPr>
        <p:spPr bwMode="auto">
          <a:xfrm>
            <a:off x="203200" y="2032000"/>
            <a:ext cx="685800" cy="431800"/>
          </a:xfrm>
          <a:prstGeom prst="rightArrow">
            <a:avLst>
              <a:gd name="adj1" fmla="val 41185"/>
              <a:gd name="adj2" fmla="val 76471"/>
            </a:avLst>
          </a:prstGeom>
          <a:solidFill>
            <a:srgbClr val="C00000"/>
          </a:solidFill>
          <a:ln w="25400" cap="flat">
            <a:noFill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6" name="Rectangle 4"/>
          <p:cNvSpPr>
            <a:spLocks/>
          </p:cNvSpPr>
          <p:nvPr/>
        </p:nvSpPr>
        <p:spPr bwMode="auto">
          <a:xfrm>
            <a:off x="977900" y="1524000"/>
            <a:ext cx="1536700" cy="23622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yoo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(…)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who();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 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6E803FF-C57B-E738-9CE8-90122DC25E3E}"/>
              </a:ext>
            </a:extLst>
          </p:cNvPr>
          <p:cNvSpPr>
            <a:spLocks/>
          </p:cNvSpPr>
          <p:nvPr/>
        </p:nvSpPr>
        <p:spPr bwMode="auto">
          <a:xfrm>
            <a:off x="-1270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1D3291-16A3-3EC2-188A-72A3A43634CE}"/>
              </a:ext>
            </a:extLst>
          </p:cNvPr>
          <p:cNvSpPr>
            <a:spLocks/>
          </p:cNvSpPr>
          <p:nvPr/>
        </p:nvSpPr>
        <p:spPr bwMode="auto">
          <a:xfrm>
            <a:off x="-12700" y="6658594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4"/>
          <p:cNvSpPr>
            <a:spLocks/>
          </p:cNvSpPr>
          <p:nvPr/>
        </p:nvSpPr>
        <p:spPr bwMode="auto">
          <a:xfrm>
            <a:off x="977900" y="1447800"/>
            <a:ext cx="1536700" cy="21336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yoo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(…)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who();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  </a:t>
            </a:r>
          </a:p>
        </p:txBody>
      </p:sp>
      <p:sp>
        <p:nvSpPr>
          <p:cNvPr id="52225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52226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Example #2</a:t>
            </a:r>
          </a:p>
        </p:txBody>
      </p:sp>
      <p:sp>
        <p:nvSpPr>
          <p:cNvPr id="52228" name="Rectangle 4"/>
          <p:cNvSpPr>
            <a:spLocks/>
          </p:cNvSpPr>
          <p:nvPr/>
        </p:nvSpPr>
        <p:spPr bwMode="auto">
          <a:xfrm>
            <a:off x="3514725" y="1446213"/>
            <a:ext cx="622300" cy="331787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yoo</a:t>
            </a:r>
          </a:p>
        </p:txBody>
      </p:sp>
      <p:sp>
        <p:nvSpPr>
          <p:cNvPr id="52229" name="Rectangle 5"/>
          <p:cNvSpPr>
            <a:spLocks/>
          </p:cNvSpPr>
          <p:nvPr/>
        </p:nvSpPr>
        <p:spPr bwMode="auto">
          <a:xfrm>
            <a:off x="3514725" y="2133600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who</a:t>
            </a:r>
          </a:p>
        </p:txBody>
      </p:sp>
      <p:sp>
        <p:nvSpPr>
          <p:cNvPr id="52230" name="Rectangle 6"/>
          <p:cNvSpPr>
            <a:spLocks/>
          </p:cNvSpPr>
          <p:nvPr/>
        </p:nvSpPr>
        <p:spPr bwMode="auto">
          <a:xfrm>
            <a:off x="3503613" y="2808288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rgbClr val="A5A5A5"/>
                </a:solidFill>
                <a:latin typeface="Courier New Bold" charset="0"/>
                <a:cs typeface="Courier New Bold" charset="0"/>
                <a:sym typeface="Courier New Bold" charset="0"/>
              </a:rPr>
              <a:t>amI</a:t>
            </a:r>
          </a:p>
        </p:txBody>
      </p:sp>
      <p:sp>
        <p:nvSpPr>
          <p:cNvPr id="52231" name="Rectangle 7"/>
          <p:cNvSpPr>
            <a:spLocks/>
          </p:cNvSpPr>
          <p:nvPr/>
        </p:nvSpPr>
        <p:spPr bwMode="auto">
          <a:xfrm>
            <a:off x="3514725" y="3505200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rgbClr val="A5A5A5"/>
                </a:solidFill>
                <a:latin typeface="Courier New Bold" charset="0"/>
                <a:cs typeface="Courier New Bold" charset="0"/>
                <a:sym typeface="Courier New Bold" charset="0"/>
              </a:rPr>
              <a:t>amI</a:t>
            </a:r>
          </a:p>
        </p:txBody>
      </p:sp>
      <p:sp>
        <p:nvSpPr>
          <p:cNvPr id="52232" name="Rectangle 8"/>
          <p:cNvSpPr>
            <a:spLocks/>
          </p:cNvSpPr>
          <p:nvPr/>
        </p:nvSpPr>
        <p:spPr bwMode="auto">
          <a:xfrm>
            <a:off x="3514725" y="4267200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rgbClr val="A5A5A5"/>
                </a:solidFill>
                <a:latin typeface="Courier New Bold" charset="0"/>
                <a:cs typeface="Courier New Bold" charset="0"/>
                <a:sym typeface="Courier New Bold" charset="0"/>
              </a:rPr>
              <a:t>amI</a:t>
            </a:r>
          </a:p>
        </p:txBody>
      </p:sp>
      <p:sp>
        <p:nvSpPr>
          <p:cNvPr id="52233" name="Line 9"/>
          <p:cNvSpPr>
            <a:spLocks noChangeShapeType="1"/>
          </p:cNvSpPr>
          <p:nvPr/>
        </p:nvSpPr>
        <p:spPr bwMode="auto">
          <a:xfrm>
            <a:off x="3821113" y="1752600"/>
            <a:ext cx="0" cy="4318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2234" name="Line 10"/>
          <p:cNvSpPr>
            <a:spLocks noChangeShapeType="1"/>
          </p:cNvSpPr>
          <p:nvPr/>
        </p:nvSpPr>
        <p:spPr bwMode="auto">
          <a:xfrm>
            <a:off x="3821113" y="2438400"/>
            <a:ext cx="0" cy="431800"/>
          </a:xfrm>
          <a:prstGeom prst="line">
            <a:avLst/>
          </a:prstGeom>
          <a:noFill/>
          <a:ln w="25400" cap="flat">
            <a:solidFill>
              <a:srgbClr val="A5A5A5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2235" name="Line 11"/>
          <p:cNvSpPr>
            <a:spLocks noChangeShapeType="1"/>
          </p:cNvSpPr>
          <p:nvPr/>
        </p:nvSpPr>
        <p:spPr bwMode="auto">
          <a:xfrm>
            <a:off x="3821113" y="3124200"/>
            <a:ext cx="0" cy="431800"/>
          </a:xfrm>
          <a:prstGeom prst="line">
            <a:avLst/>
          </a:prstGeom>
          <a:noFill/>
          <a:ln w="25400" cap="flat">
            <a:solidFill>
              <a:srgbClr val="A5A5A5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2236" name="Line 12"/>
          <p:cNvSpPr>
            <a:spLocks noChangeShapeType="1"/>
          </p:cNvSpPr>
          <p:nvPr/>
        </p:nvSpPr>
        <p:spPr bwMode="auto">
          <a:xfrm>
            <a:off x="3821113" y="3886200"/>
            <a:ext cx="0" cy="431800"/>
          </a:xfrm>
          <a:prstGeom prst="line">
            <a:avLst/>
          </a:prstGeom>
          <a:noFill/>
          <a:ln w="25400" cap="flat">
            <a:solidFill>
              <a:srgbClr val="A5A5A5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2237" name="Rectangle 13"/>
          <p:cNvSpPr>
            <a:spLocks/>
          </p:cNvSpPr>
          <p:nvPr/>
        </p:nvSpPr>
        <p:spPr bwMode="auto">
          <a:xfrm>
            <a:off x="4181475" y="2795588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rgbClr val="A5A5A5"/>
                </a:solidFill>
                <a:latin typeface="Courier New Bold" charset="0"/>
                <a:cs typeface="Courier New Bold" charset="0"/>
                <a:sym typeface="Courier New Bold" charset="0"/>
              </a:rPr>
              <a:t>amI</a:t>
            </a:r>
          </a:p>
        </p:txBody>
      </p:sp>
      <p:sp>
        <p:nvSpPr>
          <p:cNvPr id="52238" name="Line 14"/>
          <p:cNvSpPr>
            <a:spLocks noChangeShapeType="1"/>
          </p:cNvSpPr>
          <p:nvPr/>
        </p:nvSpPr>
        <p:spPr bwMode="auto">
          <a:xfrm>
            <a:off x="3962400" y="2438400"/>
            <a:ext cx="536575" cy="431800"/>
          </a:xfrm>
          <a:prstGeom prst="line">
            <a:avLst/>
          </a:prstGeom>
          <a:noFill/>
          <a:ln w="25400" cap="flat">
            <a:solidFill>
              <a:srgbClr val="A5A5A5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2239" name="Rectangle 15"/>
          <p:cNvSpPr>
            <a:spLocks/>
          </p:cNvSpPr>
          <p:nvPr/>
        </p:nvSpPr>
        <p:spPr bwMode="auto">
          <a:xfrm>
            <a:off x="6932613" y="1641475"/>
            <a:ext cx="1308100" cy="609600"/>
          </a:xfrm>
          <a:prstGeom prst="rect">
            <a:avLst/>
          </a:prstGeom>
          <a:solidFill>
            <a:srgbClr val="F6F5BD"/>
          </a:solidFill>
          <a:ln w="1905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l"/>
            <a:endParaRPr lang="en-US" sz="1800">
              <a:solidFill>
                <a:schemeClr val="tx1"/>
              </a:solidFill>
              <a:latin typeface="Courier New Bold" charset="0"/>
              <a:ea typeface="Monaco" charset="0"/>
              <a:cs typeface="Monaco" charset="0"/>
              <a:sym typeface="Courier New Bold" charset="0"/>
            </a:endParaRPr>
          </a:p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yoo</a:t>
            </a:r>
          </a:p>
        </p:txBody>
      </p:sp>
      <p:grpSp>
        <p:nvGrpSpPr>
          <p:cNvPr id="52240" name="Group 16"/>
          <p:cNvGrpSpPr>
            <a:grpSpLocks/>
          </p:cNvGrpSpPr>
          <p:nvPr/>
        </p:nvGrpSpPr>
        <p:grpSpPr bwMode="auto">
          <a:xfrm>
            <a:off x="5391150" y="2379663"/>
            <a:ext cx="1495425" cy="928687"/>
            <a:chOff x="0" y="0"/>
            <a:chExt cx="941" cy="585"/>
          </a:xfrm>
        </p:grpSpPr>
        <p:sp>
          <p:nvSpPr>
            <p:cNvPr id="52241" name="Line 17"/>
            <p:cNvSpPr>
              <a:spLocks noChangeShapeType="1"/>
            </p:cNvSpPr>
            <p:nvPr/>
          </p:nvSpPr>
          <p:spPr bwMode="auto">
            <a:xfrm>
              <a:off x="489" y="110"/>
              <a:ext cx="452" cy="0"/>
            </a:xfrm>
            <a:prstGeom prst="line">
              <a:avLst/>
            </a:prstGeom>
            <a:noFill/>
            <a:ln w="25400" cap="flat">
              <a:solidFill>
                <a:srgbClr val="7F7F7F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52242" name="Rectangle 18"/>
            <p:cNvSpPr>
              <a:spLocks/>
            </p:cNvSpPr>
            <p:nvPr/>
          </p:nvSpPr>
          <p:spPr bwMode="auto">
            <a:xfrm>
              <a:off x="1" y="0"/>
              <a:ext cx="496" cy="208"/>
            </a:xfrm>
            <a:prstGeom prst="rect">
              <a:avLst/>
            </a:prstGeom>
            <a:noFill/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/>
            <a:lstStyle/>
            <a:p>
              <a:pPr algn="r"/>
              <a:r>
                <a:rPr lang="en-US" sz="1800" dirty="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</a:t>
              </a:r>
              <a:r>
                <a:rPr lang="en-US" sz="1800" dirty="0" err="1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rbp</a:t>
              </a:r>
              <a:endPara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endParaRPr>
            </a:p>
          </p:txBody>
        </p:sp>
        <p:sp>
          <p:nvSpPr>
            <p:cNvPr id="52243" name="Line 19"/>
            <p:cNvSpPr>
              <a:spLocks noChangeShapeType="1"/>
            </p:cNvSpPr>
            <p:nvPr/>
          </p:nvSpPr>
          <p:spPr bwMode="auto">
            <a:xfrm>
              <a:off x="488" y="499"/>
              <a:ext cx="452" cy="0"/>
            </a:xfrm>
            <a:prstGeom prst="line">
              <a:avLst/>
            </a:prstGeom>
            <a:noFill/>
            <a:ln w="25400" cap="flat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52244" name="Rectangle 20"/>
            <p:cNvSpPr>
              <a:spLocks/>
            </p:cNvSpPr>
            <p:nvPr/>
          </p:nvSpPr>
          <p:spPr bwMode="auto">
            <a:xfrm>
              <a:off x="0" y="377"/>
              <a:ext cx="496" cy="208"/>
            </a:xfrm>
            <a:prstGeom prst="rect">
              <a:avLst/>
            </a:prstGeom>
            <a:noFill/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/>
            <a:lstStyle/>
            <a:p>
              <a:pPr algn="r"/>
              <a:r>
                <a:rPr lang="en-US" sz="1800" dirty="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</a:t>
              </a:r>
              <a:r>
                <a:rPr lang="en-US" sz="1800" dirty="0" err="1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rsp</a:t>
              </a:r>
              <a:endPara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endParaRPr>
            </a:p>
          </p:txBody>
        </p:sp>
      </p:grpSp>
      <p:sp>
        <p:nvSpPr>
          <p:cNvPr id="52245" name="Rectangle 21"/>
          <p:cNvSpPr>
            <a:spLocks/>
          </p:cNvSpPr>
          <p:nvPr/>
        </p:nvSpPr>
        <p:spPr bwMode="auto">
          <a:xfrm>
            <a:off x="6932613" y="1022350"/>
            <a:ext cx="1308100" cy="444500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2246" name="Rectangle 22"/>
          <p:cNvSpPr>
            <a:spLocks/>
          </p:cNvSpPr>
          <p:nvPr/>
        </p:nvSpPr>
        <p:spPr bwMode="auto">
          <a:xfrm>
            <a:off x="7194550" y="381000"/>
            <a:ext cx="760413" cy="444500"/>
          </a:xfrm>
          <a:prstGeom prst="rect">
            <a:avLst/>
          </a:prstGeom>
          <a:noFill/>
          <a:ln w="12700" cap="rnd">
            <a:noFill/>
            <a:round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24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Stack</a:t>
            </a:r>
          </a:p>
        </p:txBody>
      </p:sp>
      <p:graphicFrame>
        <p:nvGraphicFramePr>
          <p:cNvPr id="52247" name="Group 23"/>
          <p:cNvGraphicFramePr>
            <a:graphicFrameLocks noGrp="1"/>
          </p:cNvGraphicFramePr>
          <p:nvPr/>
        </p:nvGraphicFramePr>
        <p:xfrm>
          <a:off x="6934200" y="838200"/>
          <a:ext cx="1397000" cy="5778500"/>
        </p:xfrm>
        <a:graphic>
          <a:graphicData uri="http://schemas.openxmlformats.org/drawingml/2006/table">
            <a:tbl>
              <a:tblPr/>
              <a:tblGrid>
                <a:gridCol w="139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yoo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E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who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F1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2279" name="AutoShape 55"/>
          <p:cNvSpPr>
            <a:spLocks/>
          </p:cNvSpPr>
          <p:nvPr/>
        </p:nvSpPr>
        <p:spPr bwMode="auto">
          <a:xfrm>
            <a:off x="508000" y="2374900"/>
            <a:ext cx="685800" cy="431800"/>
          </a:xfrm>
          <a:prstGeom prst="rightArrow">
            <a:avLst>
              <a:gd name="adj1" fmla="val 41185"/>
              <a:gd name="adj2" fmla="val 76471"/>
            </a:avLst>
          </a:prstGeom>
          <a:solidFill>
            <a:srgbClr val="C00000"/>
          </a:solidFill>
          <a:ln w="25400" cap="flat">
            <a:noFill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7" name="Rectangle 5"/>
          <p:cNvSpPr>
            <a:spLocks/>
          </p:cNvSpPr>
          <p:nvPr/>
        </p:nvSpPr>
        <p:spPr bwMode="auto">
          <a:xfrm>
            <a:off x="1295400" y="1676400"/>
            <a:ext cx="1612900" cy="2133600"/>
          </a:xfrm>
          <a:prstGeom prst="rect">
            <a:avLst/>
          </a:prstGeom>
          <a:solidFill>
            <a:srgbClr val="D5F1CF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who(…)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 •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();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 •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();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 •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48CAE28-82E8-1CBF-220A-64F3341EE5A1}"/>
              </a:ext>
            </a:extLst>
          </p:cNvPr>
          <p:cNvSpPr>
            <a:spLocks/>
          </p:cNvSpPr>
          <p:nvPr/>
        </p:nvSpPr>
        <p:spPr bwMode="auto">
          <a:xfrm>
            <a:off x="-12700" y="6658594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ectangle 4"/>
          <p:cNvSpPr>
            <a:spLocks/>
          </p:cNvSpPr>
          <p:nvPr/>
        </p:nvSpPr>
        <p:spPr bwMode="auto">
          <a:xfrm>
            <a:off x="977900" y="1447800"/>
            <a:ext cx="1536700" cy="21336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yoo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(…)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who();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  </a:t>
            </a:r>
          </a:p>
        </p:txBody>
      </p:sp>
      <p:sp>
        <p:nvSpPr>
          <p:cNvPr id="60" name="Rectangle 5"/>
          <p:cNvSpPr>
            <a:spLocks/>
          </p:cNvSpPr>
          <p:nvPr/>
        </p:nvSpPr>
        <p:spPr bwMode="auto">
          <a:xfrm>
            <a:off x="1295400" y="1676400"/>
            <a:ext cx="1612900" cy="2133600"/>
          </a:xfrm>
          <a:prstGeom prst="rect">
            <a:avLst/>
          </a:prstGeom>
          <a:solidFill>
            <a:srgbClr val="D5F1CF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who(…)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 •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();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 •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();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 •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53249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53250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Example #3</a:t>
            </a:r>
          </a:p>
        </p:txBody>
      </p:sp>
      <p:sp>
        <p:nvSpPr>
          <p:cNvPr id="53252" name="Rectangle 4"/>
          <p:cNvSpPr>
            <a:spLocks/>
          </p:cNvSpPr>
          <p:nvPr/>
        </p:nvSpPr>
        <p:spPr bwMode="auto">
          <a:xfrm>
            <a:off x="3514725" y="1446213"/>
            <a:ext cx="622300" cy="331787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yoo</a:t>
            </a:r>
          </a:p>
        </p:txBody>
      </p:sp>
      <p:sp>
        <p:nvSpPr>
          <p:cNvPr id="53253" name="Rectangle 5"/>
          <p:cNvSpPr>
            <a:spLocks/>
          </p:cNvSpPr>
          <p:nvPr/>
        </p:nvSpPr>
        <p:spPr bwMode="auto">
          <a:xfrm>
            <a:off x="3514725" y="2133600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who</a:t>
            </a:r>
          </a:p>
        </p:txBody>
      </p:sp>
      <p:sp>
        <p:nvSpPr>
          <p:cNvPr id="53254" name="Rectangle 6"/>
          <p:cNvSpPr>
            <a:spLocks/>
          </p:cNvSpPr>
          <p:nvPr/>
        </p:nvSpPr>
        <p:spPr bwMode="auto">
          <a:xfrm>
            <a:off x="3503613" y="2808288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amI</a:t>
            </a:r>
          </a:p>
        </p:txBody>
      </p:sp>
      <p:sp>
        <p:nvSpPr>
          <p:cNvPr id="53255" name="Rectangle 7"/>
          <p:cNvSpPr>
            <a:spLocks/>
          </p:cNvSpPr>
          <p:nvPr/>
        </p:nvSpPr>
        <p:spPr bwMode="auto">
          <a:xfrm>
            <a:off x="3514725" y="3505200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rgbClr val="A5A5A5"/>
                </a:solidFill>
                <a:latin typeface="Courier New Bold" charset="0"/>
                <a:cs typeface="Courier New Bold" charset="0"/>
                <a:sym typeface="Courier New Bold" charset="0"/>
              </a:rPr>
              <a:t>amI</a:t>
            </a:r>
          </a:p>
        </p:txBody>
      </p:sp>
      <p:sp>
        <p:nvSpPr>
          <p:cNvPr id="53256" name="Rectangle 8"/>
          <p:cNvSpPr>
            <a:spLocks/>
          </p:cNvSpPr>
          <p:nvPr/>
        </p:nvSpPr>
        <p:spPr bwMode="auto">
          <a:xfrm>
            <a:off x="3514725" y="4267200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rgbClr val="A5A5A5"/>
                </a:solidFill>
                <a:latin typeface="Courier New Bold" charset="0"/>
                <a:cs typeface="Courier New Bold" charset="0"/>
                <a:sym typeface="Courier New Bold" charset="0"/>
              </a:rPr>
              <a:t>amI</a:t>
            </a:r>
          </a:p>
        </p:txBody>
      </p:sp>
      <p:sp>
        <p:nvSpPr>
          <p:cNvPr id="53257" name="Line 9"/>
          <p:cNvSpPr>
            <a:spLocks noChangeShapeType="1"/>
          </p:cNvSpPr>
          <p:nvPr/>
        </p:nvSpPr>
        <p:spPr bwMode="auto">
          <a:xfrm>
            <a:off x="3821113" y="1752600"/>
            <a:ext cx="0" cy="4318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3258" name="Line 10"/>
          <p:cNvSpPr>
            <a:spLocks noChangeShapeType="1"/>
          </p:cNvSpPr>
          <p:nvPr/>
        </p:nvSpPr>
        <p:spPr bwMode="auto">
          <a:xfrm>
            <a:off x="3821113" y="2438400"/>
            <a:ext cx="0" cy="4318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3259" name="Line 11"/>
          <p:cNvSpPr>
            <a:spLocks noChangeShapeType="1"/>
          </p:cNvSpPr>
          <p:nvPr/>
        </p:nvSpPr>
        <p:spPr bwMode="auto">
          <a:xfrm>
            <a:off x="3821113" y="3124200"/>
            <a:ext cx="0" cy="431800"/>
          </a:xfrm>
          <a:prstGeom prst="line">
            <a:avLst/>
          </a:prstGeom>
          <a:noFill/>
          <a:ln w="25400" cap="flat">
            <a:solidFill>
              <a:srgbClr val="A5A5A5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3260" name="Line 12"/>
          <p:cNvSpPr>
            <a:spLocks noChangeShapeType="1"/>
          </p:cNvSpPr>
          <p:nvPr/>
        </p:nvSpPr>
        <p:spPr bwMode="auto">
          <a:xfrm>
            <a:off x="3821113" y="3886200"/>
            <a:ext cx="0" cy="431800"/>
          </a:xfrm>
          <a:prstGeom prst="line">
            <a:avLst/>
          </a:prstGeom>
          <a:noFill/>
          <a:ln w="25400" cap="flat">
            <a:solidFill>
              <a:srgbClr val="A5A5A5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3261" name="Rectangle 13"/>
          <p:cNvSpPr>
            <a:spLocks/>
          </p:cNvSpPr>
          <p:nvPr/>
        </p:nvSpPr>
        <p:spPr bwMode="auto">
          <a:xfrm>
            <a:off x="4181475" y="2795588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rgbClr val="A5A5A5"/>
                </a:solidFill>
                <a:latin typeface="Courier New Bold" charset="0"/>
                <a:cs typeface="Courier New Bold" charset="0"/>
                <a:sym typeface="Courier New Bold" charset="0"/>
              </a:rPr>
              <a:t>amI</a:t>
            </a:r>
          </a:p>
        </p:txBody>
      </p:sp>
      <p:sp>
        <p:nvSpPr>
          <p:cNvPr id="53262" name="Line 14"/>
          <p:cNvSpPr>
            <a:spLocks noChangeShapeType="1"/>
          </p:cNvSpPr>
          <p:nvPr/>
        </p:nvSpPr>
        <p:spPr bwMode="auto">
          <a:xfrm>
            <a:off x="3962400" y="2438400"/>
            <a:ext cx="536575" cy="431800"/>
          </a:xfrm>
          <a:prstGeom prst="line">
            <a:avLst/>
          </a:prstGeom>
          <a:noFill/>
          <a:ln w="25400" cap="flat">
            <a:solidFill>
              <a:srgbClr val="A5A5A5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3263" name="Rectangle 15"/>
          <p:cNvSpPr>
            <a:spLocks/>
          </p:cNvSpPr>
          <p:nvPr/>
        </p:nvSpPr>
        <p:spPr bwMode="auto">
          <a:xfrm>
            <a:off x="6932613" y="1641475"/>
            <a:ext cx="1308100" cy="609600"/>
          </a:xfrm>
          <a:prstGeom prst="rect">
            <a:avLst/>
          </a:prstGeom>
          <a:solidFill>
            <a:srgbClr val="F6F5BD"/>
          </a:solidFill>
          <a:ln w="1905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l"/>
            <a:endParaRPr lang="en-US" sz="1800">
              <a:solidFill>
                <a:schemeClr val="tx1"/>
              </a:solidFill>
              <a:latin typeface="Courier New Bold" charset="0"/>
              <a:ea typeface="Monaco" charset="0"/>
              <a:cs typeface="Monaco" charset="0"/>
              <a:sym typeface="Courier New Bold" charset="0"/>
            </a:endParaRPr>
          </a:p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yoo</a:t>
            </a:r>
          </a:p>
        </p:txBody>
      </p:sp>
      <p:grpSp>
        <p:nvGrpSpPr>
          <p:cNvPr id="53264" name="Group 16"/>
          <p:cNvGrpSpPr>
            <a:grpSpLocks/>
          </p:cNvGrpSpPr>
          <p:nvPr/>
        </p:nvGrpSpPr>
        <p:grpSpPr bwMode="auto">
          <a:xfrm>
            <a:off x="5397500" y="3225800"/>
            <a:ext cx="1493838" cy="928688"/>
            <a:chOff x="0" y="0"/>
            <a:chExt cx="941" cy="585"/>
          </a:xfrm>
        </p:grpSpPr>
        <p:sp>
          <p:nvSpPr>
            <p:cNvPr id="53265" name="Line 17"/>
            <p:cNvSpPr>
              <a:spLocks noChangeShapeType="1"/>
            </p:cNvSpPr>
            <p:nvPr/>
          </p:nvSpPr>
          <p:spPr bwMode="auto">
            <a:xfrm>
              <a:off x="489" y="110"/>
              <a:ext cx="452" cy="0"/>
            </a:xfrm>
            <a:prstGeom prst="line">
              <a:avLst/>
            </a:prstGeom>
            <a:noFill/>
            <a:ln w="25400" cap="flat">
              <a:solidFill>
                <a:srgbClr val="7F7F7F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53266" name="Rectangle 18"/>
            <p:cNvSpPr>
              <a:spLocks/>
            </p:cNvSpPr>
            <p:nvPr/>
          </p:nvSpPr>
          <p:spPr bwMode="auto">
            <a:xfrm>
              <a:off x="1" y="0"/>
              <a:ext cx="496" cy="208"/>
            </a:xfrm>
            <a:prstGeom prst="rect">
              <a:avLst/>
            </a:prstGeom>
            <a:noFill/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/>
            <a:lstStyle/>
            <a:p>
              <a:pPr algn="r"/>
              <a:r>
                <a:rPr lang="en-US" sz="1800" dirty="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</a:t>
              </a:r>
              <a:r>
                <a:rPr lang="en-US" sz="1800" dirty="0" err="1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rbp</a:t>
              </a:r>
              <a:endPara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endParaRPr>
            </a:p>
          </p:txBody>
        </p:sp>
        <p:sp>
          <p:nvSpPr>
            <p:cNvPr id="53267" name="Line 19"/>
            <p:cNvSpPr>
              <a:spLocks noChangeShapeType="1"/>
            </p:cNvSpPr>
            <p:nvPr/>
          </p:nvSpPr>
          <p:spPr bwMode="auto">
            <a:xfrm>
              <a:off x="488" y="499"/>
              <a:ext cx="452" cy="0"/>
            </a:xfrm>
            <a:prstGeom prst="line">
              <a:avLst/>
            </a:prstGeom>
            <a:noFill/>
            <a:ln w="25400" cap="flat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53268" name="Rectangle 20"/>
            <p:cNvSpPr>
              <a:spLocks/>
            </p:cNvSpPr>
            <p:nvPr/>
          </p:nvSpPr>
          <p:spPr bwMode="auto">
            <a:xfrm>
              <a:off x="0" y="377"/>
              <a:ext cx="496" cy="208"/>
            </a:xfrm>
            <a:prstGeom prst="rect">
              <a:avLst/>
            </a:prstGeom>
            <a:noFill/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/>
            <a:lstStyle/>
            <a:p>
              <a:pPr algn="r"/>
              <a:r>
                <a:rPr lang="en-US" sz="1800" dirty="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</a:t>
              </a:r>
              <a:r>
                <a:rPr lang="en-US" sz="1800" dirty="0" err="1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rsp</a:t>
              </a:r>
              <a:endPara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endParaRPr>
            </a:p>
          </p:txBody>
        </p:sp>
      </p:grpSp>
      <p:sp>
        <p:nvSpPr>
          <p:cNvPr id="53269" name="Rectangle 21"/>
          <p:cNvSpPr>
            <a:spLocks/>
          </p:cNvSpPr>
          <p:nvPr/>
        </p:nvSpPr>
        <p:spPr bwMode="auto">
          <a:xfrm>
            <a:off x="6932613" y="1022350"/>
            <a:ext cx="1308100" cy="444500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3270" name="Rectangle 22"/>
          <p:cNvSpPr>
            <a:spLocks/>
          </p:cNvSpPr>
          <p:nvPr/>
        </p:nvSpPr>
        <p:spPr bwMode="auto">
          <a:xfrm>
            <a:off x="7194550" y="381000"/>
            <a:ext cx="760413" cy="444500"/>
          </a:xfrm>
          <a:prstGeom prst="rect">
            <a:avLst/>
          </a:prstGeom>
          <a:noFill/>
          <a:ln w="12700" cap="rnd">
            <a:noFill/>
            <a:round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24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Stack</a:t>
            </a:r>
          </a:p>
        </p:txBody>
      </p:sp>
      <p:graphicFrame>
        <p:nvGraphicFramePr>
          <p:cNvPr id="53271" name="Group 23"/>
          <p:cNvGraphicFramePr>
            <a:graphicFrameLocks noGrp="1"/>
          </p:cNvGraphicFramePr>
          <p:nvPr/>
        </p:nvGraphicFramePr>
        <p:xfrm>
          <a:off x="6934200" y="838200"/>
          <a:ext cx="1397000" cy="5778500"/>
        </p:xfrm>
        <a:graphic>
          <a:graphicData uri="http://schemas.openxmlformats.org/drawingml/2006/table">
            <a:tbl>
              <a:tblPr/>
              <a:tblGrid>
                <a:gridCol w="139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yoo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E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who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F1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amI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3304" name="AutoShape 56"/>
          <p:cNvSpPr>
            <a:spLocks/>
          </p:cNvSpPr>
          <p:nvPr/>
        </p:nvSpPr>
        <p:spPr bwMode="auto">
          <a:xfrm>
            <a:off x="914400" y="2730500"/>
            <a:ext cx="685800" cy="431800"/>
          </a:xfrm>
          <a:prstGeom prst="rightArrow">
            <a:avLst>
              <a:gd name="adj1" fmla="val 41185"/>
              <a:gd name="adj2" fmla="val 76471"/>
            </a:avLst>
          </a:prstGeom>
          <a:solidFill>
            <a:srgbClr val="C00000"/>
          </a:solidFill>
          <a:ln w="25400" cap="flat">
            <a:noFill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8" name="Rectangle 6"/>
          <p:cNvSpPr>
            <a:spLocks/>
          </p:cNvSpPr>
          <p:nvPr/>
        </p:nvSpPr>
        <p:spPr bwMode="auto">
          <a:xfrm>
            <a:off x="1600200" y="2133600"/>
            <a:ext cx="1536700" cy="2286000"/>
          </a:xfrm>
          <a:prstGeom prst="rect">
            <a:avLst/>
          </a:prstGeom>
          <a:solidFill>
            <a:srgbClr val="F1C7C7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(…)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();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3E69C03-E63B-BD83-D5F6-E30B8E079011}"/>
              </a:ext>
            </a:extLst>
          </p:cNvPr>
          <p:cNvSpPr>
            <a:spLocks/>
          </p:cNvSpPr>
          <p:nvPr/>
        </p:nvSpPr>
        <p:spPr bwMode="auto">
          <a:xfrm>
            <a:off x="-1270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8A9B28C-DFF6-0B4A-E79E-700937270711}"/>
              </a:ext>
            </a:extLst>
          </p:cNvPr>
          <p:cNvSpPr>
            <a:spLocks/>
          </p:cNvSpPr>
          <p:nvPr/>
        </p:nvSpPr>
        <p:spPr bwMode="auto">
          <a:xfrm>
            <a:off x="-12700" y="6658594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54274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Example #4</a:t>
            </a:r>
          </a:p>
        </p:txBody>
      </p:sp>
      <p:sp>
        <p:nvSpPr>
          <p:cNvPr id="54276" name="Rectangle 4"/>
          <p:cNvSpPr>
            <a:spLocks/>
          </p:cNvSpPr>
          <p:nvPr/>
        </p:nvSpPr>
        <p:spPr bwMode="auto">
          <a:xfrm>
            <a:off x="3514725" y="1446213"/>
            <a:ext cx="622300" cy="331787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yoo</a:t>
            </a:r>
          </a:p>
        </p:txBody>
      </p:sp>
      <p:sp>
        <p:nvSpPr>
          <p:cNvPr id="54277" name="Rectangle 5"/>
          <p:cNvSpPr>
            <a:spLocks/>
          </p:cNvSpPr>
          <p:nvPr/>
        </p:nvSpPr>
        <p:spPr bwMode="auto">
          <a:xfrm>
            <a:off x="3514725" y="2133600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who</a:t>
            </a:r>
          </a:p>
        </p:txBody>
      </p:sp>
      <p:sp>
        <p:nvSpPr>
          <p:cNvPr id="54278" name="Rectangle 6"/>
          <p:cNvSpPr>
            <a:spLocks/>
          </p:cNvSpPr>
          <p:nvPr/>
        </p:nvSpPr>
        <p:spPr bwMode="auto">
          <a:xfrm>
            <a:off x="3503613" y="2808288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amI</a:t>
            </a:r>
          </a:p>
        </p:txBody>
      </p:sp>
      <p:sp>
        <p:nvSpPr>
          <p:cNvPr id="54279" name="Rectangle 7"/>
          <p:cNvSpPr>
            <a:spLocks/>
          </p:cNvSpPr>
          <p:nvPr/>
        </p:nvSpPr>
        <p:spPr bwMode="auto">
          <a:xfrm>
            <a:off x="3514725" y="3505200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amI</a:t>
            </a:r>
          </a:p>
        </p:txBody>
      </p:sp>
      <p:sp>
        <p:nvSpPr>
          <p:cNvPr id="54280" name="Rectangle 8"/>
          <p:cNvSpPr>
            <a:spLocks/>
          </p:cNvSpPr>
          <p:nvPr/>
        </p:nvSpPr>
        <p:spPr bwMode="auto">
          <a:xfrm>
            <a:off x="3514725" y="4267200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rgbClr val="A5A5A5"/>
                </a:solidFill>
                <a:latin typeface="Courier New Bold" charset="0"/>
                <a:cs typeface="Courier New Bold" charset="0"/>
                <a:sym typeface="Courier New Bold" charset="0"/>
              </a:rPr>
              <a:t>amI</a:t>
            </a:r>
          </a:p>
        </p:txBody>
      </p:sp>
      <p:sp>
        <p:nvSpPr>
          <p:cNvPr id="54281" name="Line 9"/>
          <p:cNvSpPr>
            <a:spLocks noChangeShapeType="1"/>
          </p:cNvSpPr>
          <p:nvPr/>
        </p:nvSpPr>
        <p:spPr bwMode="auto">
          <a:xfrm>
            <a:off x="3821113" y="1752600"/>
            <a:ext cx="0" cy="4318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4282" name="Line 10"/>
          <p:cNvSpPr>
            <a:spLocks noChangeShapeType="1"/>
          </p:cNvSpPr>
          <p:nvPr/>
        </p:nvSpPr>
        <p:spPr bwMode="auto">
          <a:xfrm>
            <a:off x="3821113" y="2438400"/>
            <a:ext cx="0" cy="4318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4283" name="Line 11"/>
          <p:cNvSpPr>
            <a:spLocks noChangeShapeType="1"/>
          </p:cNvSpPr>
          <p:nvPr/>
        </p:nvSpPr>
        <p:spPr bwMode="auto">
          <a:xfrm>
            <a:off x="3821113" y="3124200"/>
            <a:ext cx="0" cy="4318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4284" name="Line 12"/>
          <p:cNvSpPr>
            <a:spLocks noChangeShapeType="1"/>
          </p:cNvSpPr>
          <p:nvPr/>
        </p:nvSpPr>
        <p:spPr bwMode="auto">
          <a:xfrm>
            <a:off x="3821113" y="3886200"/>
            <a:ext cx="0" cy="431800"/>
          </a:xfrm>
          <a:prstGeom prst="line">
            <a:avLst/>
          </a:prstGeom>
          <a:noFill/>
          <a:ln w="25400" cap="flat">
            <a:solidFill>
              <a:srgbClr val="A5A5A5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4285" name="Rectangle 13"/>
          <p:cNvSpPr>
            <a:spLocks/>
          </p:cNvSpPr>
          <p:nvPr/>
        </p:nvSpPr>
        <p:spPr bwMode="auto">
          <a:xfrm>
            <a:off x="4181475" y="2795588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rgbClr val="A5A5A5"/>
                </a:solidFill>
                <a:latin typeface="Courier New Bold" charset="0"/>
                <a:cs typeface="Courier New Bold" charset="0"/>
                <a:sym typeface="Courier New Bold" charset="0"/>
              </a:rPr>
              <a:t>amI</a:t>
            </a:r>
          </a:p>
        </p:txBody>
      </p:sp>
      <p:sp>
        <p:nvSpPr>
          <p:cNvPr id="54286" name="Line 14"/>
          <p:cNvSpPr>
            <a:spLocks noChangeShapeType="1"/>
          </p:cNvSpPr>
          <p:nvPr/>
        </p:nvSpPr>
        <p:spPr bwMode="auto">
          <a:xfrm>
            <a:off x="3962400" y="2438400"/>
            <a:ext cx="536575" cy="431800"/>
          </a:xfrm>
          <a:prstGeom prst="line">
            <a:avLst/>
          </a:prstGeom>
          <a:noFill/>
          <a:ln w="25400" cap="flat">
            <a:solidFill>
              <a:srgbClr val="A5A5A5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4287" name="Rectangle 15"/>
          <p:cNvSpPr>
            <a:spLocks/>
          </p:cNvSpPr>
          <p:nvPr/>
        </p:nvSpPr>
        <p:spPr bwMode="auto">
          <a:xfrm>
            <a:off x="6932613" y="1641475"/>
            <a:ext cx="1308100" cy="609600"/>
          </a:xfrm>
          <a:prstGeom prst="rect">
            <a:avLst/>
          </a:prstGeom>
          <a:solidFill>
            <a:srgbClr val="F6F5BD"/>
          </a:solidFill>
          <a:ln w="1905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l"/>
            <a:endParaRPr lang="en-US" sz="1800">
              <a:solidFill>
                <a:schemeClr val="tx1"/>
              </a:solidFill>
              <a:latin typeface="Courier New Bold" charset="0"/>
              <a:ea typeface="Monaco" charset="0"/>
              <a:cs typeface="Monaco" charset="0"/>
              <a:sym typeface="Courier New Bold" charset="0"/>
            </a:endParaRPr>
          </a:p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yoo</a:t>
            </a:r>
          </a:p>
        </p:txBody>
      </p:sp>
      <p:grpSp>
        <p:nvGrpSpPr>
          <p:cNvPr id="54288" name="Group 16"/>
          <p:cNvGrpSpPr>
            <a:grpSpLocks/>
          </p:cNvGrpSpPr>
          <p:nvPr/>
        </p:nvGrpSpPr>
        <p:grpSpPr bwMode="auto">
          <a:xfrm>
            <a:off x="5391150" y="4056063"/>
            <a:ext cx="1495425" cy="928687"/>
            <a:chOff x="0" y="0"/>
            <a:chExt cx="941" cy="585"/>
          </a:xfrm>
        </p:grpSpPr>
        <p:sp>
          <p:nvSpPr>
            <p:cNvPr id="54289" name="Line 17"/>
            <p:cNvSpPr>
              <a:spLocks noChangeShapeType="1"/>
            </p:cNvSpPr>
            <p:nvPr/>
          </p:nvSpPr>
          <p:spPr bwMode="auto">
            <a:xfrm>
              <a:off x="489" y="110"/>
              <a:ext cx="452" cy="0"/>
            </a:xfrm>
            <a:prstGeom prst="line">
              <a:avLst/>
            </a:prstGeom>
            <a:noFill/>
            <a:ln w="25400" cap="flat">
              <a:solidFill>
                <a:srgbClr val="7F7F7F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54290" name="Rectangle 18"/>
            <p:cNvSpPr>
              <a:spLocks/>
            </p:cNvSpPr>
            <p:nvPr/>
          </p:nvSpPr>
          <p:spPr bwMode="auto">
            <a:xfrm>
              <a:off x="1" y="0"/>
              <a:ext cx="496" cy="208"/>
            </a:xfrm>
            <a:prstGeom prst="rect">
              <a:avLst/>
            </a:prstGeom>
            <a:noFill/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/>
            <a:lstStyle/>
            <a:p>
              <a:pPr algn="r"/>
              <a:r>
                <a:rPr lang="en-US" sz="1800" dirty="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</a:t>
              </a:r>
              <a:r>
                <a:rPr lang="en-US" sz="1800" dirty="0" err="1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rbp</a:t>
              </a:r>
              <a:endPara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endParaRPr>
            </a:p>
          </p:txBody>
        </p:sp>
        <p:sp>
          <p:nvSpPr>
            <p:cNvPr id="54291" name="Line 19"/>
            <p:cNvSpPr>
              <a:spLocks noChangeShapeType="1"/>
            </p:cNvSpPr>
            <p:nvPr/>
          </p:nvSpPr>
          <p:spPr bwMode="auto">
            <a:xfrm>
              <a:off x="488" y="499"/>
              <a:ext cx="452" cy="0"/>
            </a:xfrm>
            <a:prstGeom prst="line">
              <a:avLst/>
            </a:prstGeom>
            <a:noFill/>
            <a:ln w="25400" cap="flat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54292" name="Rectangle 20"/>
            <p:cNvSpPr>
              <a:spLocks/>
            </p:cNvSpPr>
            <p:nvPr/>
          </p:nvSpPr>
          <p:spPr bwMode="auto">
            <a:xfrm>
              <a:off x="0" y="377"/>
              <a:ext cx="496" cy="208"/>
            </a:xfrm>
            <a:prstGeom prst="rect">
              <a:avLst/>
            </a:prstGeom>
            <a:noFill/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/>
            <a:lstStyle/>
            <a:p>
              <a:pPr algn="r"/>
              <a:r>
                <a:rPr lang="en-US" sz="1800" dirty="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</a:t>
              </a:r>
              <a:r>
                <a:rPr lang="en-US" sz="1800" dirty="0" err="1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rsp</a:t>
              </a:r>
              <a:endPara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endParaRPr>
            </a:p>
          </p:txBody>
        </p:sp>
      </p:grpSp>
      <p:sp>
        <p:nvSpPr>
          <p:cNvPr id="54293" name="Rectangle 21"/>
          <p:cNvSpPr>
            <a:spLocks/>
          </p:cNvSpPr>
          <p:nvPr/>
        </p:nvSpPr>
        <p:spPr bwMode="auto">
          <a:xfrm>
            <a:off x="6932613" y="1022350"/>
            <a:ext cx="1308100" cy="444500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4294" name="Rectangle 22"/>
          <p:cNvSpPr>
            <a:spLocks/>
          </p:cNvSpPr>
          <p:nvPr/>
        </p:nvSpPr>
        <p:spPr bwMode="auto">
          <a:xfrm>
            <a:off x="7194550" y="381000"/>
            <a:ext cx="760413" cy="444500"/>
          </a:xfrm>
          <a:prstGeom prst="rect">
            <a:avLst/>
          </a:prstGeom>
          <a:noFill/>
          <a:ln w="12700" cap="rnd">
            <a:noFill/>
            <a:round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24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Stack</a:t>
            </a:r>
          </a:p>
        </p:txBody>
      </p:sp>
      <p:graphicFrame>
        <p:nvGraphicFramePr>
          <p:cNvPr id="54295" name="Group 23"/>
          <p:cNvGraphicFramePr>
            <a:graphicFrameLocks noGrp="1"/>
          </p:cNvGraphicFramePr>
          <p:nvPr/>
        </p:nvGraphicFramePr>
        <p:xfrm>
          <a:off x="6934200" y="838200"/>
          <a:ext cx="1397000" cy="5778500"/>
        </p:xfrm>
        <a:graphic>
          <a:graphicData uri="http://schemas.openxmlformats.org/drawingml/2006/table">
            <a:tbl>
              <a:tblPr/>
              <a:tblGrid>
                <a:gridCol w="139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yoo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E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who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F1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amI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amI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9" name="Rectangle 4"/>
          <p:cNvSpPr>
            <a:spLocks/>
          </p:cNvSpPr>
          <p:nvPr/>
        </p:nvSpPr>
        <p:spPr bwMode="auto">
          <a:xfrm>
            <a:off x="292100" y="1447800"/>
            <a:ext cx="1536700" cy="21336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yoo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(…)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who();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  </a:t>
            </a:r>
          </a:p>
        </p:txBody>
      </p:sp>
      <p:sp>
        <p:nvSpPr>
          <p:cNvPr id="60" name="Rectangle 5"/>
          <p:cNvSpPr>
            <a:spLocks/>
          </p:cNvSpPr>
          <p:nvPr/>
        </p:nvSpPr>
        <p:spPr bwMode="auto">
          <a:xfrm>
            <a:off x="609600" y="1676400"/>
            <a:ext cx="1612900" cy="2133600"/>
          </a:xfrm>
          <a:prstGeom prst="rect">
            <a:avLst/>
          </a:prstGeom>
          <a:solidFill>
            <a:srgbClr val="D5F1CF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who(…)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 •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();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 •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();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 •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62" name="Rectangle 6"/>
          <p:cNvSpPr>
            <a:spLocks/>
          </p:cNvSpPr>
          <p:nvPr/>
        </p:nvSpPr>
        <p:spPr bwMode="auto">
          <a:xfrm>
            <a:off x="914400" y="2133600"/>
            <a:ext cx="1536700" cy="2286000"/>
          </a:xfrm>
          <a:prstGeom prst="rect">
            <a:avLst/>
          </a:prstGeom>
          <a:solidFill>
            <a:srgbClr val="F1C7C7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(…)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();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63" name="Rectangle 6"/>
          <p:cNvSpPr>
            <a:spLocks/>
          </p:cNvSpPr>
          <p:nvPr/>
        </p:nvSpPr>
        <p:spPr bwMode="auto">
          <a:xfrm>
            <a:off x="1358900" y="2590800"/>
            <a:ext cx="1536700" cy="2286000"/>
          </a:xfrm>
          <a:prstGeom prst="rect">
            <a:avLst/>
          </a:prstGeom>
          <a:solidFill>
            <a:srgbClr val="F1C7C7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(…)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();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61" name="AutoShape 56"/>
          <p:cNvSpPr>
            <a:spLocks/>
          </p:cNvSpPr>
          <p:nvPr/>
        </p:nvSpPr>
        <p:spPr bwMode="auto">
          <a:xfrm>
            <a:off x="609600" y="2730500"/>
            <a:ext cx="685800" cy="431800"/>
          </a:xfrm>
          <a:prstGeom prst="rightArrow">
            <a:avLst>
              <a:gd name="adj1" fmla="val 41185"/>
              <a:gd name="adj2" fmla="val 76471"/>
            </a:avLst>
          </a:prstGeom>
          <a:solidFill>
            <a:srgbClr val="C00000"/>
          </a:solidFill>
          <a:ln w="25400" cap="flat">
            <a:noFill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0EB8F66-7EB5-4815-43FC-7CBB8F3ED17F}"/>
              </a:ext>
            </a:extLst>
          </p:cNvPr>
          <p:cNvSpPr>
            <a:spLocks/>
          </p:cNvSpPr>
          <p:nvPr/>
        </p:nvSpPr>
        <p:spPr bwMode="auto">
          <a:xfrm>
            <a:off x="-1270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7C5CFA5-1B50-63DF-48FC-64EA9A8BBF9E}"/>
              </a:ext>
            </a:extLst>
          </p:cNvPr>
          <p:cNvSpPr>
            <a:spLocks/>
          </p:cNvSpPr>
          <p:nvPr/>
        </p:nvSpPr>
        <p:spPr bwMode="auto">
          <a:xfrm>
            <a:off x="-12700" y="6658594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55299" name="Rectangle 3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55300" name="Rectangle 4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Example #5</a:t>
            </a:r>
          </a:p>
        </p:txBody>
      </p:sp>
      <p:sp>
        <p:nvSpPr>
          <p:cNvPr id="55301" name="Rectangle 5"/>
          <p:cNvSpPr>
            <a:spLocks/>
          </p:cNvSpPr>
          <p:nvPr/>
        </p:nvSpPr>
        <p:spPr bwMode="auto">
          <a:xfrm>
            <a:off x="3514725" y="1446213"/>
            <a:ext cx="622300" cy="331787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yoo</a:t>
            </a:r>
          </a:p>
        </p:txBody>
      </p:sp>
      <p:sp>
        <p:nvSpPr>
          <p:cNvPr id="55302" name="Rectangle 6"/>
          <p:cNvSpPr>
            <a:spLocks/>
          </p:cNvSpPr>
          <p:nvPr/>
        </p:nvSpPr>
        <p:spPr bwMode="auto">
          <a:xfrm>
            <a:off x="3514725" y="2133600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who</a:t>
            </a:r>
          </a:p>
        </p:txBody>
      </p:sp>
      <p:sp>
        <p:nvSpPr>
          <p:cNvPr id="55303" name="Rectangle 7"/>
          <p:cNvSpPr>
            <a:spLocks/>
          </p:cNvSpPr>
          <p:nvPr/>
        </p:nvSpPr>
        <p:spPr bwMode="auto">
          <a:xfrm>
            <a:off x="3503613" y="2808288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amI</a:t>
            </a:r>
          </a:p>
        </p:txBody>
      </p:sp>
      <p:sp>
        <p:nvSpPr>
          <p:cNvPr id="55304" name="Rectangle 8"/>
          <p:cNvSpPr>
            <a:spLocks/>
          </p:cNvSpPr>
          <p:nvPr/>
        </p:nvSpPr>
        <p:spPr bwMode="auto">
          <a:xfrm>
            <a:off x="3514725" y="3505200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amI</a:t>
            </a:r>
          </a:p>
        </p:txBody>
      </p:sp>
      <p:sp>
        <p:nvSpPr>
          <p:cNvPr id="55305" name="Rectangle 9"/>
          <p:cNvSpPr>
            <a:spLocks/>
          </p:cNvSpPr>
          <p:nvPr/>
        </p:nvSpPr>
        <p:spPr bwMode="auto">
          <a:xfrm>
            <a:off x="3514725" y="4267200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amI</a:t>
            </a:r>
          </a:p>
        </p:txBody>
      </p:sp>
      <p:sp>
        <p:nvSpPr>
          <p:cNvPr id="55306" name="Line 10"/>
          <p:cNvSpPr>
            <a:spLocks noChangeShapeType="1"/>
          </p:cNvSpPr>
          <p:nvPr/>
        </p:nvSpPr>
        <p:spPr bwMode="auto">
          <a:xfrm>
            <a:off x="3821113" y="1752600"/>
            <a:ext cx="0" cy="4318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5307" name="Line 11"/>
          <p:cNvSpPr>
            <a:spLocks noChangeShapeType="1"/>
          </p:cNvSpPr>
          <p:nvPr/>
        </p:nvSpPr>
        <p:spPr bwMode="auto">
          <a:xfrm>
            <a:off x="3821113" y="2438400"/>
            <a:ext cx="0" cy="4318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5308" name="Line 12"/>
          <p:cNvSpPr>
            <a:spLocks noChangeShapeType="1"/>
          </p:cNvSpPr>
          <p:nvPr/>
        </p:nvSpPr>
        <p:spPr bwMode="auto">
          <a:xfrm>
            <a:off x="3821113" y="3124200"/>
            <a:ext cx="0" cy="4318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5309" name="Line 13"/>
          <p:cNvSpPr>
            <a:spLocks noChangeShapeType="1"/>
          </p:cNvSpPr>
          <p:nvPr/>
        </p:nvSpPr>
        <p:spPr bwMode="auto">
          <a:xfrm>
            <a:off x="3821113" y="3886200"/>
            <a:ext cx="0" cy="4318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5310" name="Rectangle 14"/>
          <p:cNvSpPr>
            <a:spLocks/>
          </p:cNvSpPr>
          <p:nvPr/>
        </p:nvSpPr>
        <p:spPr bwMode="auto">
          <a:xfrm>
            <a:off x="4181475" y="2795588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rgbClr val="A5A5A5"/>
                </a:solidFill>
                <a:latin typeface="Courier New Bold" charset="0"/>
                <a:cs typeface="Courier New Bold" charset="0"/>
                <a:sym typeface="Courier New Bold" charset="0"/>
              </a:rPr>
              <a:t>amI</a:t>
            </a:r>
          </a:p>
        </p:txBody>
      </p:sp>
      <p:sp>
        <p:nvSpPr>
          <p:cNvPr id="55311" name="Line 15"/>
          <p:cNvSpPr>
            <a:spLocks noChangeShapeType="1"/>
          </p:cNvSpPr>
          <p:nvPr/>
        </p:nvSpPr>
        <p:spPr bwMode="auto">
          <a:xfrm>
            <a:off x="3962400" y="2438400"/>
            <a:ext cx="536575" cy="431800"/>
          </a:xfrm>
          <a:prstGeom prst="line">
            <a:avLst/>
          </a:prstGeom>
          <a:noFill/>
          <a:ln w="25400" cap="flat">
            <a:solidFill>
              <a:srgbClr val="A5A5A5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5312" name="Rectangle 16"/>
          <p:cNvSpPr>
            <a:spLocks/>
          </p:cNvSpPr>
          <p:nvPr/>
        </p:nvSpPr>
        <p:spPr bwMode="auto">
          <a:xfrm>
            <a:off x="6932613" y="1641475"/>
            <a:ext cx="1308100" cy="609600"/>
          </a:xfrm>
          <a:prstGeom prst="rect">
            <a:avLst/>
          </a:prstGeom>
          <a:solidFill>
            <a:srgbClr val="F6F5BD"/>
          </a:solidFill>
          <a:ln w="1905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l"/>
            <a:endParaRPr lang="en-US" sz="1800">
              <a:solidFill>
                <a:schemeClr val="tx1"/>
              </a:solidFill>
              <a:latin typeface="Courier New Bold" charset="0"/>
              <a:ea typeface="Monaco" charset="0"/>
              <a:cs typeface="Monaco" charset="0"/>
              <a:sym typeface="Courier New Bold" charset="0"/>
            </a:endParaRPr>
          </a:p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yoo</a:t>
            </a:r>
          </a:p>
        </p:txBody>
      </p:sp>
      <p:grpSp>
        <p:nvGrpSpPr>
          <p:cNvPr id="55313" name="Group 17"/>
          <p:cNvGrpSpPr>
            <a:grpSpLocks/>
          </p:cNvGrpSpPr>
          <p:nvPr/>
        </p:nvGrpSpPr>
        <p:grpSpPr bwMode="auto">
          <a:xfrm>
            <a:off x="5391150" y="4919663"/>
            <a:ext cx="1495425" cy="928687"/>
            <a:chOff x="0" y="0"/>
            <a:chExt cx="941" cy="585"/>
          </a:xfrm>
        </p:grpSpPr>
        <p:sp>
          <p:nvSpPr>
            <p:cNvPr id="55314" name="Line 18"/>
            <p:cNvSpPr>
              <a:spLocks noChangeShapeType="1"/>
            </p:cNvSpPr>
            <p:nvPr/>
          </p:nvSpPr>
          <p:spPr bwMode="auto">
            <a:xfrm>
              <a:off x="489" y="110"/>
              <a:ext cx="452" cy="0"/>
            </a:xfrm>
            <a:prstGeom prst="line">
              <a:avLst/>
            </a:prstGeom>
            <a:noFill/>
            <a:ln w="25400" cap="flat">
              <a:solidFill>
                <a:srgbClr val="7F7F7F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55315" name="Rectangle 19"/>
            <p:cNvSpPr>
              <a:spLocks/>
            </p:cNvSpPr>
            <p:nvPr/>
          </p:nvSpPr>
          <p:spPr bwMode="auto">
            <a:xfrm>
              <a:off x="1" y="0"/>
              <a:ext cx="496" cy="208"/>
            </a:xfrm>
            <a:prstGeom prst="rect">
              <a:avLst/>
            </a:prstGeom>
            <a:noFill/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/>
            <a:lstStyle/>
            <a:p>
              <a:pPr algn="r"/>
              <a:r>
                <a:rPr lang="en-US" sz="1800" dirty="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</a:t>
              </a:r>
              <a:r>
                <a:rPr lang="en-US" sz="1800" dirty="0" err="1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rbp</a:t>
              </a:r>
              <a:endPara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endParaRPr>
            </a:p>
          </p:txBody>
        </p:sp>
        <p:sp>
          <p:nvSpPr>
            <p:cNvPr id="55316" name="Line 20"/>
            <p:cNvSpPr>
              <a:spLocks noChangeShapeType="1"/>
            </p:cNvSpPr>
            <p:nvPr/>
          </p:nvSpPr>
          <p:spPr bwMode="auto">
            <a:xfrm>
              <a:off x="488" y="499"/>
              <a:ext cx="452" cy="0"/>
            </a:xfrm>
            <a:prstGeom prst="line">
              <a:avLst/>
            </a:prstGeom>
            <a:noFill/>
            <a:ln w="25400" cap="flat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55317" name="Rectangle 21"/>
            <p:cNvSpPr>
              <a:spLocks/>
            </p:cNvSpPr>
            <p:nvPr/>
          </p:nvSpPr>
          <p:spPr bwMode="auto">
            <a:xfrm>
              <a:off x="0" y="377"/>
              <a:ext cx="496" cy="208"/>
            </a:xfrm>
            <a:prstGeom prst="rect">
              <a:avLst/>
            </a:prstGeom>
            <a:noFill/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/>
            <a:lstStyle/>
            <a:p>
              <a:pPr algn="r"/>
              <a:r>
                <a:rPr lang="en-US" sz="1800" dirty="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</a:t>
              </a:r>
              <a:r>
                <a:rPr lang="en-US" sz="1800" dirty="0" err="1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rsp</a:t>
              </a:r>
              <a:endPara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endParaRPr>
            </a:p>
          </p:txBody>
        </p:sp>
      </p:grpSp>
      <p:sp>
        <p:nvSpPr>
          <p:cNvPr id="55318" name="Rectangle 22"/>
          <p:cNvSpPr>
            <a:spLocks/>
          </p:cNvSpPr>
          <p:nvPr/>
        </p:nvSpPr>
        <p:spPr bwMode="auto">
          <a:xfrm>
            <a:off x="6932613" y="1022350"/>
            <a:ext cx="1308100" cy="444500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5319" name="Rectangle 23"/>
          <p:cNvSpPr>
            <a:spLocks/>
          </p:cNvSpPr>
          <p:nvPr/>
        </p:nvSpPr>
        <p:spPr bwMode="auto">
          <a:xfrm>
            <a:off x="7194550" y="381000"/>
            <a:ext cx="760413" cy="444500"/>
          </a:xfrm>
          <a:prstGeom prst="rect">
            <a:avLst/>
          </a:prstGeom>
          <a:noFill/>
          <a:ln w="12700" cap="rnd">
            <a:noFill/>
            <a:round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24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Stack</a:t>
            </a:r>
          </a:p>
        </p:txBody>
      </p:sp>
      <p:graphicFrame>
        <p:nvGraphicFramePr>
          <p:cNvPr id="55320" name="Group 24"/>
          <p:cNvGraphicFramePr>
            <a:graphicFrameLocks noGrp="1"/>
          </p:cNvGraphicFramePr>
          <p:nvPr/>
        </p:nvGraphicFramePr>
        <p:xfrm>
          <a:off x="6934200" y="838200"/>
          <a:ext cx="1397000" cy="5778500"/>
        </p:xfrm>
        <a:graphic>
          <a:graphicData uri="http://schemas.openxmlformats.org/drawingml/2006/table">
            <a:tbl>
              <a:tblPr/>
              <a:tblGrid>
                <a:gridCol w="139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yoo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E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who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F1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amI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amI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amI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0" name="Rectangle 4"/>
          <p:cNvSpPr>
            <a:spLocks/>
          </p:cNvSpPr>
          <p:nvPr/>
        </p:nvSpPr>
        <p:spPr bwMode="auto">
          <a:xfrm>
            <a:off x="292100" y="1447800"/>
            <a:ext cx="1536700" cy="21336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yoo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(…)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who();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  </a:t>
            </a:r>
          </a:p>
        </p:txBody>
      </p:sp>
      <p:sp>
        <p:nvSpPr>
          <p:cNvPr id="61" name="Rectangle 5"/>
          <p:cNvSpPr>
            <a:spLocks/>
          </p:cNvSpPr>
          <p:nvPr/>
        </p:nvSpPr>
        <p:spPr bwMode="auto">
          <a:xfrm>
            <a:off x="609600" y="1676400"/>
            <a:ext cx="1612900" cy="2133600"/>
          </a:xfrm>
          <a:prstGeom prst="rect">
            <a:avLst/>
          </a:prstGeom>
          <a:solidFill>
            <a:srgbClr val="D5F1CF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who(…)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 •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();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 •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();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 •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62" name="Rectangle 6"/>
          <p:cNvSpPr>
            <a:spLocks/>
          </p:cNvSpPr>
          <p:nvPr/>
        </p:nvSpPr>
        <p:spPr bwMode="auto">
          <a:xfrm>
            <a:off x="914400" y="2133600"/>
            <a:ext cx="1536700" cy="2286000"/>
          </a:xfrm>
          <a:prstGeom prst="rect">
            <a:avLst/>
          </a:prstGeom>
          <a:solidFill>
            <a:srgbClr val="F1C7C7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(…)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();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63" name="Rectangle 6"/>
          <p:cNvSpPr>
            <a:spLocks/>
          </p:cNvSpPr>
          <p:nvPr/>
        </p:nvSpPr>
        <p:spPr bwMode="auto">
          <a:xfrm>
            <a:off x="1358900" y="2590800"/>
            <a:ext cx="1536700" cy="2286000"/>
          </a:xfrm>
          <a:prstGeom prst="rect">
            <a:avLst/>
          </a:prstGeom>
          <a:solidFill>
            <a:srgbClr val="F1C7C7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(…)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();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64" name="AutoShape 56"/>
          <p:cNvSpPr>
            <a:spLocks/>
          </p:cNvSpPr>
          <p:nvPr/>
        </p:nvSpPr>
        <p:spPr bwMode="auto">
          <a:xfrm>
            <a:off x="1066800" y="3733800"/>
            <a:ext cx="685800" cy="431800"/>
          </a:xfrm>
          <a:prstGeom prst="rightArrow">
            <a:avLst>
              <a:gd name="adj1" fmla="val 41185"/>
              <a:gd name="adj2" fmla="val 76471"/>
            </a:avLst>
          </a:prstGeom>
          <a:solidFill>
            <a:srgbClr val="C00000"/>
          </a:solidFill>
          <a:ln w="25400" cap="flat">
            <a:noFill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5" name="Rectangle 6"/>
          <p:cNvSpPr>
            <a:spLocks/>
          </p:cNvSpPr>
          <p:nvPr/>
        </p:nvSpPr>
        <p:spPr bwMode="auto">
          <a:xfrm>
            <a:off x="1816100" y="3048000"/>
            <a:ext cx="1536700" cy="2286000"/>
          </a:xfrm>
          <a:prstGeom prst="rect">
            <a:avLst/>
          </a:prstGeom>
          <a:solidFill>
            <a:srgbClr val="F1C7C7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(…)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();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8370922-1F1F-D862-4A36-3863ED141EA7}"/>
              </a:ext>
            </a:extLst>
          </p:cNvPr>
          <p:cNvSpPr>
            <a:spLocks/>
          </p:cNvSpPr>
          <p:nvPr/>
        </p:nvSpPr>
        <p:spPr bwMode="auto">
          <a:xfrm>
            <a:off x="-1270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7B3500D-BD93-1924-6BB7-AC7BB4FE078F}"/>
              </a:ext>
            </a:extLst>
          </p:cNvPr>
          <p:cNvSpPr>
            <a:spLocks/>
          </p:cNvSpPr>
          <p:nvPr/>
        </p:nvSpPr>
        <p:spPr bwMode="auto">
          <a:xfrm>
            <a:off x="-12700" y="6658594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56322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Example #6</a:t>
            </a:r>
          </a:p>
        </p:txBody>
      </p:sp>
      <p:sp>
        <p:nvSpPr>
          <p:cNvPr id="56324" name="Rectangle 4"/>
          <p:cNvSpPr>
            <a:spLocks/>
          </p:cNvSpPr>
          <p:nvPr/>
        </p:nvSpPr>
        <p:spPr bwMode="auto">
          <a:xfrm>
            <a:off x="3514725" y="1446213"/>
            <a:ext cx="622300" cy="331787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yoo</a:t>
            </a:r>
          </a:p>
        </p:txBody>
      </p:sp>
      <p:sp>
        <p:nvSpPr>
          <p:cNvPr id="56325" name="Rectangle 5"/>
          <p:cNvSpPr>
            <a:spLocks/>
          </p:cNvSpPr>
          <p:nvPr/>
        </p:nvSpPr>
        <p:spPr bwMode="auto">
          <a:xfrm>
            <a:off x="3514725" y="2133600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who</a:t>
            </a:r>
          </a:p>
        </p:txBody>
      </p:sp>
      <p:sp>
        <p:nvSpPr>
          <p:cNvPr id="56326" name="Rectangle 6"/>
          <p:cNvSpPr>
            <a:spLocks/>
          </p:cNvSpPr>
          <p:nvPr/>
        </p:nvSpPr>
        <p:spPr bwMode="auto">
          <a:xfrm>
            <a:off x="3503613" y="2808288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amI</a:t>
            </a:r>
          </a:p>
        </p:txBody>
      </p:sp>
      <p:sp>
        <p:nvSpPr>
          <p:cNvPr id="56327" name="Rectangle 7"/>
          <p:cNvSpPr>
            <a:spLocks/>
          </p:cNvSpPr>
          <p:nvPr/>
        </p:nvSpPr>
        <p:spPr bwMode="auto">
          <a:xfrm>
            <a:off x="3514725" y="3505200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amI</a:t>
            </a:r>
          </a:p>
        </p:txBody>
      </p:sp>
      <p:sp>
        <p:nvSpPr>
          <p:cNvPr id="56328" name="Rectangle 8"/>
          <p:cNvSpPr>
            <a:spLocks/>
          </p:cNvSpPr>
          <p:nvPr/>
        </p:nvSpPr>
        <p:spPr bwMode="auto">
          <a:xfrm>
            <a:off x="3514725" y="4267200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rgbClr val="A5A5A5"/>
                </a:solidFill>
                <a:latin typeface="Courier New Bold" charset="0"/>
                <a:cs typeface="Courier New Bold" charset="0"/>
                <a:sym typeface="Courier New Bold" charset="0"/>
              </a:rPr>
              <a:t>amI</a:t>
            </a:r>
          </a:p>
        </p:txBody>
      </p:sp>
      <p:sp>
        <p:nvSpPr>
          <p:cNvPr id="56329" name="Line 9"/>
          <p:cNvSpPr>
            <a:spLocks noChangeShapeType="1"/>
          </p:cNvSpPr>
          <p:nvPr/>
        </p:nvSpPr>
        <p:spPr bwMode="auto">
          <a:xfrm>
            <a:off x="3821113" y="1752600"/>
            <a:ext cx="0" cy="4318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6330" name="Line 10"/>
          <p:cNvSpPr>
            <a:spLocks noChangeShapeType="1"/>
          </p:cNvSpPr>
          <p:nvPr/>
        </p:nvSpPr>
        <p:spPr bwMode="auto">
          <a:xfrm>
            <a:off x="3821113" y="2438400"/>
            <a:ext cx="0" cy="4318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6331" name="Line 11"/>
          <p:cNvSpPr>
            <a:spLocks noChangeShapeType="1"/>
          </p:cNvSpPr>
          <p:nvPr/>
        </p:nvSpPr>
        <p:spPr bwMode="auto">
          <a:xfrm>
            <a:off x="3821113" y="3124200"/>
            <a:ext cx="0" cy="4318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6332" name="Line 12"/>
          <p:cNvSpPr>
            <a:spLocks noChangeShapeType="1"/>
          </p:cNvSpPr>
          <p:nvPr/>
        </p:nvSpPr>
        <p:spPr bwMode="auto">
          <a:xfrm>
            <a:off x="3821113" y="3886200"/>
            <a:ext cx="0" cy="431800"/>
          </a:xfrm>
          <a:prstGeom prst="line">
            <a:avLst/>
          </a:prstGeom>
          <a:noFill/>
          <a:ln w="25400" cap="flat">
            <a:solidFill>
              <a:srgbClr val="A5A5A5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6333" name="Rectangle 13"/>
          <p:cNvSpPr>
            <a:spLocks/>
          </p:cNvSpPr>
          <p:nvPr/>
        </p:nvSpPr>
        <p:spPr bwMode="auto">
          <a:xfrm>
            <a:off x="4181475" y="2795588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rgbClr val="A5A5A5"/>
                </a:solidFill>
                <a:latin typeface="Courier New Bold" charset="0"/>
                <a:cs typeface="Courier New Bold" charset="0"/>
                <a:sym typeface="Courier New Bold" charset="0"/>
              </a:rPr>
              <a:t>amI</a:t>
            </a:r>
          </a:p>
        </p:txBody>
      </p:sp>
      <p:sp>
        <p:nvSpPr>
          <p:cNvPr id="56334" name="Line 14"/>
          <p:cNvSpPr>
            <a:spLocks noChangeShapeType="1"/>
          </p:cNvSpPr>
          <p:nvPr/>
        </p:nvSpPr>
        <p:spPr bwMode="auto">
          <a:xfrm>
            <a:off x="3962400" y="2438400"/>
            <a:ext cx="536575" cy="431800"/>
          </a:xfrm>
          <a:prstGeom prst="line">
            <a:avLst/>
          </a:prstGeom>
          <a:noFill/>
          <a:ln w="25400" cap="flat">
            <a:solidFill>
              <a:srgbClr val="A5A5A5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6335" name="Rectangle 15"/>
          <p:cNvSpPr>
            <a:spLocks/>
          </p:cNvSpPr>
          <p:nvPr/>
        </p:nvSpPr>
        <p:spPr bwMode="auto">
          <a:xfrm>
            <a:off x="6932613" y="1641475"/>
            <a:ext cx="1308100" cy="609600"/>
          </a:xfrm>
          <a:prstGeom prst="rect">
            <a:avLst/>
          </a:prstGeom>
          <a:solidFill>
            <a:srgbClr val="F6F5BD"/>
          </a:solidFill>
          <a:ln w="1905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l"/>
            <a:endParaRPr lang="en-US" sz="1800">
              <a:solidFill>
                <a:schemeClr val="tx1"/>
              </a:solidFill>
              <a:latin typeface="Courier New Bold" charset="0"/>
              <a:ea typeface="Monaco" charset="0"/>
              <a:cs typeface="Monaco" charset="0"/>
              <a:sym typeface="Courier New Bold" charset="0"/>
            </a:endParaRPr>
          </a:p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yoo</a:t>
            </a:r>
          </a:p>
        </p:txBody>
      </p:sp>
      <p:grpSp>
        <p:nvGrpSpPr>
          <p:cNvPr id="56336" name="Group 16"/>
          <p:cNvGrpSpPr>
            <a:grpSpLocks/>
          </p:cNvGrpSpPr>
          <p:nvPr/>
        </p:nvGrpSpPr>
        <p:grpSpPr bwMode="auto">
          <a:xfrm>
            <a:off x="5391150" y="4056063"/>
            <a:ext cx="1495425" cy="928687"/>
            <a:chOff x="0" y="0"/>
            <a:chExt cx="941" cy="585"/>
          </a:xfrm>
        </p:grpSpPr>
        <p:sp>
          <p:nvSpPr>
            <p:cNvPr id="56337" name="Line 17"/>
            <p:cNvSpPr>
              <a:spLocks noChangeShapeType="1"/>
            </p:cNvSpPr>
            <p:nvPr/>
          </p:nvSpPr>
          <p:spPr bwMode="auto">
            <a:xfrm>
              <a:off x="489" y="110"/>
              <a:ext cx="452" cy="0"/>
            </a:xfrm>
            <a:prstGeom prst="line">
              <a:avLst/>
            </a:prstGeom>
            <a:noFill/>
            <a:ln w="25400" cap="flat">
              <a:solidFill>
                <a:srgbClr val="7F7F7F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56338" name="Rectangle 18"/>
            <p:cNvSpPr>
              <a:spLocks/>
            </p:cNvSpPr>
            <p:nvPr/>
          </p:nvSpPr>
          <p:spPr bwMode="auto">
            <a:xfrm>
              <a:off x="1" y="0"/>
              <a:ext cx="496" cy="208"/>
            </a:xfrm>
            <a:prstGeom prst="rect">
              <a:avLst/>
            </a:prstGeom>
            <a:noFill/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/>
            <a:lstStyle/>
            <a:p>
              <a:pPr algn="r"/>
              <a:r>
                <a:rPr lang="en-US" sz="1800" dirty="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</a:t>
              </a:r>
              <a:r>
                <a:rPr lang="en-US" sz="1800" dirty="0" err="1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rbp</a:t>
              </a:r>
              <a:endPara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endParaRPr>
            </a:p>
          </p:txBody>
        </p:sp>
        <p:sp>
          <p:nvSpPr>
            <p:cNvPr id="56339" name="Line 19"/>
            <p:cNvSpPr>
              <a:spLocks noChangeShapeType="1"/>
            </p:cNvSpPr>
            <p:nvPr/>
          </p:nvSpPr>
          <p:spPr bwMode="auto">
            <a:xfrm>
              <a:off x="488" y="499"/>
              <a:ext cx="452" cy="0"/>
            </a:xfrm>
            <a:prstGeom prst="line">
              <a:avLst/>
            </a:prstGeom>
            <a:noFill/>
            <a:ln w="25400" cap="flat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56340" name="Rectangle 20"/>
            <p:cNvSpPr>
              <a:spLocks/>
            </p:cNvSpPr>
            <p:nvPr/>
          </p:nvSpPr>
          <p:spPr bwMode="auto">
            <a:xfrm>
              <a:off x="0" y="377"/>
              <a:ext cx="496" cy="208"/>
            </a:xfrm>
            <a:prstGeom prst="rect">
              <a:avLst/>
            </a:prstGeom>
            <a:noFill/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/>
            <a:lstStyle/>
            <a:p>
              <a:pPr algn="r"/>
              <a:r>
                <a:rPr lang="en-US" sz="1800" dirty="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</a:t>
              </a:r>
              <a:r>
                <a:rPr lang="en-US" sz="1800" dirty="0" err="1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rsp</a:t>
              </a:r>
              <a:endPara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endParaRPr>
            </a:p>
          </p:txBody>
        </p:sp>
      </p:grpSp>
      <p:sp>
        <p:nvSpPr>
          <p:cNvPr id="56341" name="Rectangle 21"/>
          <p:cNvSpPr>
            <a:spLocks/>
          </p:cNvSpPr>
          <p:nvPr/>
        </p:nvSpPr>
        <p:spPr bwMode="auto">
          <a:xfrm>
            <a:off x="6932613" y="1022350"/>
            <a:ext cx="1308100" cy="444500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6342" name="Rectangle 22"/>
          <p:cNvSpPr>
            <a:spLocks/>
          </p:cNvSpPr>
          <p:nvPr/>
        </p:nvSpPr>
        <p:spPr bwMode="auto">
          <a:xfrm>
            <a:off x="7194550" y="381000"/>
            <a:ext cx="760413" cy="444500"/>
          </a:xfrm>
          <a:prstGeom prst="rect">
            <a:avLst/>
          </a:prstGeom>
          <a:noFill/>
          <a:ln w="12700" cap="rnd">
            <a:noFill/>
            <a:round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24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Stack</a:t>
            </a:r>
          </a:p>
        </p:txBody>
      </p:sp>
      <p:graphicFrame>
        <p:nvGraphicFramePr>
          <p:cNvPr id="56343" name="Group 23"/>
          <p:cNvGraphicFramePr>
            <a:graphicFrameLocks noGrp="1"/>
          </p:cNvGraphicFramePr>
          <p:nvPr/>
        </p:nvGraphicFramePr>
        <p:xfrm>
          <a:off x="6934200" y="838200"/>
          <a:ext cx="1397000" cy="5778500"/>
        </p:xfrm>
        <a:graphic>
          <a:graphicData uri="http://schemas.openxmlformats.org/drawingml/2006/table">
            <a:tbl>
              <a:tblPr/>
              <a:tblGrid>
                <a:gridCol w="139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yoo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E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who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F1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amI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amI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9" name="Rectangle 4"/>
          <p:cNvSpPr>
            <a:spLocks/>
          </p:cNvSpPr>
          <p:nvPr/>
        </p:nvSpPr>
        <p:spPr bwMode="auto">
          <a:xfrm>
            <a:off x="292100" y="1447800"/>
            <a:ext cx="1536700" cy="21336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yoo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(…)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who();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  </a:t>
            </a:r>
          </a:p>
        </p:txBody>
      </p:sp>
      <p:sp>
        <p:nvSpPr>
          <p:cNvPr id="60" name="Rectangle 5"/>
          <p:cNvSpPr>
            <a:spLocks/>
          </p:cNvSpPr>
          <p:nvPr/>
        </p:nvSpPr>
        <p:spPr bwMode="auto">
          <a:xfrm>
            <a:off x="609600" y="1676400"/>
            <a:ext cx="1612900" cy="2133600"/>
          </a:xfrm>
          <a:prstGeom prst="rect">
            <a:avLst/>
          </a:prstGeom>
          <a:solidFill>
            <a:srgbClr val="D5F1CF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who(…)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 •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();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 •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();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 •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61" name="Rectangle 6"/>
          <p:cNvSpPr>
            <a:spLocks/>
          </p:cNvSpPr>
          <p:nvPr/>
        </p:nvSpPr>
        <p:spPr bwMode="auto">
          <a:xfrm>
            <a:off x="914400" y="2133600"/>
            <a:ext cx="1536700" cy="2286000"/>
          </a:xfrm>
          <a:prstGeom prst="rect">
            <a:avLst/>
          </a:prstGeom>
          <a:solidFill>
            <a:srgbClr val="F1C7C7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(…)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();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62" name="Rectangle 6"/>
          <p:cNvSpPr>
            <a:spLocks/>
          </p:cNvSpPr>
          <p:nvPr/>
        </p:nvSpPr>
        <p:spPr bwMode="auto">
          <a:xfrm>
            <a:off x="1358900" y="2590800"/>
            <a:ext cx="1536700" cy="2286000"/>
          </a:xfrm>
          <a:prstGeom prst="rect">
            <a:avLst/>
          </a:prstGeom>
          <a:solidFill>
            <a:srgbClr val="F1C7C7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(…)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();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63" name="AutoShape 56"/>
          <p:cNvSpPr>
            <a:spLocks/>
          </p:cNvSpPr>
          <p:nvPr/>
        </p:nvSpPr>
        <p:spPr bwMode="auto">
          <a:xfrm>
            <a:off x="685800" y="3429000"/>
            <a:ext cx="685800" cy="431800"/>
          </a:xfrm>
          <a:prstGeom prst="rightArrow">
            <a:avLst>
              <a:gd name="adj1" fmla="val 41185"/>
              <a:gd name="adj2" fmla="val 76471"/>
            </a:avLst>
          </a:prstGeom>
          <a:solidFill>
            <a:srgbClr val="C00000"/>
          </a:solidFill>
          <a:ln w="25400" cap="flat">
            <a:noFill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BB43A50-1E05-3A82-DDD8-0F3778957296}"/>
              </a:ext>
            </a:extLst>
          </p:cNvPr>
          <p:cNvSpPr>
            <a:spLocks/>
          </p:cNvSpPr>
          <p:nvPr/>
        </p:nvSpPr>
        <p:spPr bwMode="auto">
          <a:xfrm>
            <a:off x="-1270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16FE201-BE7A-FF08-1EAC-3FF3BF6F18B0}"/>
              </a:ext>
            </a:extLst>
          </p:cNvPr>
          <p:cNvSpPr>
            <a:spLocks/>
          </p:cNvSpPr>
          <p:nvPr/>
        </p:nvSpPr>
        <p:spPr bwMode="auto">
          <a:xfrm>
            <a:off x="-12700" y="6658594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57346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Example #7</a:t>
            </a:r>
          </a:p>
        </p:txBody>
      </p:sp>
      <p:sp>
        <p:nvSpPr>
          <p:cNvPr id="57348" name="Rectangle 4"/>
          <p:cNvSpPr>
            <a:spLocks/>
          </p:cNvSpPr>
          <p:nvPr/>
        </p:nvSpPr>
        <p:spPr bwMode="auto">
          <a:xfrm>
            <a:off x="3514725" y="1446213"/>
            <a:ext cx="622300" cy="331787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yoo</a:t>
            </a:r>
          </a:p>
        </p:txBody>
      </p:sp>
      <p:sp>
        <p:nvSpPr>
          <p:cNvPr id="57349" name="Rectangle 5"/>
          <p:cNvSpPr>
            <a:spLocks/>
          </p:cNvSpPr>
          <p:nvPr/>
        </p:nvSpPr>
        <p:spPr bwMode="auto">
          <a:xfrm>
            <a:off x="3514725" y="2133600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who</a:t>
            </a:r>
          </a:p>
        </p:txBody>
      </p:sp>
      <p:sp>
        <p:nvSpPr>
          <p:cNvPr id="57350" name="Rectangle 6"/>
          <p:cNvSpPr>
            <a:spLocks/>
          </p:cNvSpPr>
          <p:nvPr/>
        </p:nvSpPr>
        <p:spPr bwMode="auto">
          <a:xfrm>
            <a:off x="3503613" y="2808288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amI</a:t>
            </a:r>
          </a:p>
        </p:txBody>
      </p:sp>
      <p:sp>
        <p:nvSpPr>
          <p:cNvPr id="57351" name="Rectangle 7"/>
          <p:cNvSpPr>
            <a:spLocks/>
          </p:cNvSpPr>
          <p:nvPr/>
        </p:nvSpPr>
        <p:spPr bwMode="auto">
          <a:xfrm>
            <a:off x="3514725" y="3505200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rgbClr val="A5A5A5"/>
                </a:solidFill>
                <a:latin typeface="Courier New Bold" charset="0"/>
                <a:cs typeface="Courier New Bold" charset="0"/>
                <a:sym typeface="Courier New Bold" charset="0"/>
              </a:rPr>
              <a:t>amI</a:t>
            </a:r>
          </a:p>
        </p:txBody>
      </p:sp>
      <p:sp>
        <p:nvSpPr>
          <p:cNvPr id="57352" name="Rectangle 8"/>
          <p:cNvSpPr>
            <a:spLocks/>
          </p:cNvSpPr>
          <p:nvPr/>
        </p:nvSpPr>
        <p:spPr bwMode="auto">
          <a:xfrm>
            <a:off x="3514725" y="4267200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rgbClr val="A5A5A5"/>
                </a:solidFill>
                <a:latin typeface="Courier New Bold" charset="0"/>
                <a:cs typeface="Courier New Bold" charset="0"/>
                <a:sym typeface="Courier New Bold" charset="0"/>
              </a:rPr>
              <a:t>amI</a:t>
            </a:r>
          </a:p>
        </p:txBody>
      </p:sp>
      <p:sp>
        <p:nvSpPr>
          <p:cNvPr id="57353" name="Line 9"/>
          <p:cNvSpPr>
            <a:spLocks noChangeShapeType="1"/>
          </p:cNvSpPr>
          <p:nvPr/>
        </p:nvSpPr>
        <p:spPr bwMode="auto">
          <a:xfrm>
            <a:off x="3821113" y="1752600"/>
            <a:ext cx="0" cy="4318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7354" name="Line 10"/>
          <p:cNvSpPr>
            <a:spLocks noChangeShapeType="1"/>
          </p:cNvSpPr>
          <p:nvPr/>
        </p:nvSpPr>
        <p:spPr bwMode="auto">
          <a:xfrm>
            <a:off x="3821113" y="2438400"/>
            <a:ext cx="0" cy="4318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7355" name="Line 11"/>
          <p:cNvSpPr>
            <a:spLocks noChangeShapeType="1"/>
          </p:cNvSpPr>
          <p:nvPr/>
        </p:nvSpPr>
        <p:spPr bwMode="auto">
          <a:xfrm>
            <a:off x="3821113" y="3124200"/>
            <a:ext cx="0" cy="431800"/>
          </a:xfrm>
          <a:prstGeom prst="line">
            <a:avLst/>
          </a:prstGeom>
          <a:noFill/>
          <a:ln w="25400" cap="flat">
            <a:solidFill>
              <a:srgbClr val="A5A5A5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7356" name="Line 12"/>
          <p:cNvSpPr>
            <a:spLocks noChangeShapeType="1"/>
          </p:cNvSpPr>
          <p:nvPr/>
        </p:nvSpPr>
        <p:spPr bwMode="auto">
          <a:xfrm>
            <a:off x="3821113" y="3886200"/>
            <a:ext cx="0" cy="431800"/>
          </a:xfrm>
          <a:prstGeom prst="line">
            <a:avLst/>
          </a:prstGeom>
          <a:noFill/>
          <a:ln w="25400" cap="flat">
            <a:solidFill>
              <a:srgbClr val="A5A5A5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7357" name="Rectangle 13"/>
          <p:cNvSpPr>
            <a:spLocks/>
          </p:cNvSpPr>
          <p:nvPr/>
        </p:nvSpPr>
        <p:spPr bwMode="auto">
          <a:xfrm>
            <a:off x="4181475" y="2795588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rgbClr val="A5A5A5"/>
                </a:solidFill>
                <a:latin typeface="Courier New Bold" charset="0"/>
                <a:cs typeface="Courier New Bold" charset="0"/>
                <a:sym typeface="Courier New Bold" charset="0"/>
              </a:rPr>
              <a:t>amI</a:t>
            </a:r>
          </a:p>
        </p:txBody>
      </p:sp>
      <p:sp>
        <p:nvSpPr>
          <p:cNvPr id="57358" name="Line 14"/>
          <p:cNvSpPr>
            <a:spLocks noChangeShapeType="1"/>
          </p:cNvSpPr>
          <p:nvPr/>
        </p:nvSpPr>
        <p:spPr bwMode="auto">
          <a:xfrm>
            <a:off x="3962400" y="2438400"/>
            <a:ext cx="536575" cy="431800"/>
          </a:xfrm>
          <a:prstGeom prst="line">
            <a:avLst/>
          </a:prstGeom>
          <a:noFill/>
          <a:ln w="25400" cap="flat">
            <a:solidFill>
              <a:srgbClr val="A5A5A5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7359" name="Rectangle 15"/>
          <p:cNvSpPr>
            <a:spLocks/>
          </p:cNvSpPr>
          <p:nvPr/>
        </p:nvSpPr>
        <p:spPr bwMode="auto">
          <a:xfrm>
            <a:off x="6932613" y="1641475"/>
            <a:ext cx="1308100" cy="609600"/>
          </a:xfrm>
          <a:prstGeom prst="rect">
            <a:avLst/>
          </a:prstGeom>
          <a:solidFill>
            <a:srgbClr val="F6F5BD"/>
          </a:solidFill>
          <a:ln w="1905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l"/>
            <a:endParaRPr lang="en-US" sz="1800">
              <a:solidFill>
                <a:schemeClr val="tx1"/>
              </a:solidFill>
              <a:latin typeface="Courier New Bold" charset="0"/>
              <a:ea typeface="Monaco" charset="0"/>
              <a:cs typeface="Monaco" charset="0"/>
              <a:sym typeface="Courier New Bold" charset="0"/>
            </a:endParaRPr>
          </a:p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yoo</a:t>
            </a:r>
          </a:p>
        </p:txBody>
      </p:sp>
      <p:grpSp>
        <p:nvGrpSpPr>
          <p:cNvPr id="57360" name="Group 16"/>
          <p:cNvGrpSpPr>
            <a:grpSpLocks/>
          </p:cNvGrpSpPr>
          <p:nvPr/>
        </p:nvGrpSpPr>
        <p:grpSpPr bwMode="auto">
          <a:xfrm>
            <a:off x="5397500" y="3225800"/>
            <a:ext cx="1493838" cy="928688"/>
            <a:chOff x="0" y="0"/>
            <a:chExt cx="941" cy="585"/>
          </a:xfrm>
        </p:grpSpPr>
        <p:sp>
          <p:nvSpPr>
            <p:cNvPr id="57361" name="Line 17"/>
            <p:cNvSpPr>
              <a:spLocks noChangeShapeType="1"/>
            </p:cNvSpPr>
            <p:nvPr/>
          </p:nvSpPr>
          <p:spPr bwMode="auto">
            <a:xfrm>
              <a:off x="489" y="110"/>
              <a:ext cx="452" cy="0"/>
            </a:xfrm>
            <a:prstGeom prst="line">
              <a:avLst/>
            </a:prstGeom>
            <a:noFill/>
            <a:ln w="25400" cap="flat">
              <a:solidFill>
                <a:srgbClr val="7F7F7F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57362" name="Rectangle 18"/>
            <p:cNvSpPr>
              <a:spLocks/>
            </p:cNvSpPr>
            <p:nvPr/>
          </p:nvSpPr>
          <p:spPr bwMode="auto">
            <a:xfrm>
              <a:off x="1" y="0"/>
              <a:ext cx="496" cy="208"/>
            </a:xfrm>
            <a:prstGeom prst="rect">
              <a:avLst/>
            </a:prstGeom>
            <a:noFill/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/>
            <a:lstStyle/>
            <a:p>
              <a:pPr algn="r"/>
              <a:r>
                <a:rPr lang="en-US" sz="1800" dirty="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</a:t>
              </a:r>
              <a:r>
                <a:rPr lang="en-US" sz="1800" dirty="0" err="1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rbp</a:t>
              </a:r>
              <a:endPara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endParaRPr>
            </a:p>
          </p:txBody>
        </p:sp>
        <p:sp>
          <p:nvSpPr>
            <p:cNvPr id="57363" name="Line 19"/>
            <p:cNvSpPr>
              <a:spLocks noChangeShapeType="1"/>
            </p:cNvSpPr>
            <p:nvPr/>
          </p:nvSpPr>
          <p:spPr bwMode="auto">
            <a:xfrm>
              <a:off x="488" y="499"/>
              <a:ext cx="452" cy="0"/>
            </a:xfrm>
            <a:prstGeom prst="line">
              <a:avLst/>
            </a:prstGeom>
            <a:noFill/>
            <a:ln w="25400" cap="flat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57364" name="Rectangle 20"/>
            <p:cNvSpPr>
              <a:spLocks/>
            </p:cNvSpPr>
            <p:nvPr/>
          </p:nvSpPr>
          <p:spPr bwMode="auto">
            <a:xfrm>
              <a:off x="0" y="377"/>
              <a:ext cx="496" cy="208"/>
            </a:xfrm>
            <a:prstGeom prst="rect">
              <a:avLst/>
            </a:prstGeom>
            <a:noFill/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/>
            <a:lstStyle/>
            <a:p>
              <a:pPr algn="r"/>
              <a:r>
                <a:rPr lang="en-US" sz="1800" dirty="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</a:t>
              </a:r>
              <a:r>
                <a:rPr lang="en-US" sz="1800" dirty="0" err="1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rsp</a:t>
              </a:r>
              <a:endPara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endParaRPr>
            </a:p>
          </p:txBody>
        </p:sp>
      </p:grpSp>
      <p:sp>
        <p:nvSpPr>
          <p:cNvPr id="57365" name="Rectangle 21"/>
          <p:cNvSpPr>
            <a:spLocks/>
          </p:cNvSpPr>
          <p:nvPr/>
        </p:nvSpPr>
        <p:spPr bwMode="auto">
          <a:xfrm>
            <a:off x="6932613" y="1022350"/>
            <a:ext cx="1308100" cy="444500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7366" name="Rectangle 22"/>
          <p:cNvSpPr>
            <a:spLocks/>
          </p:cNvSpPr>
          <p:nvPr/>
        </p:nvSpPr>
        <p:spPr bwMode="auto">
          <a:xfrm>
            <a:off x="7194550" y="381000"/>
            <a:ext cx="760413" cy="444500"/>
          </a:xfrm>
          <a:prstGeom prst="rect">
            <a:avLst/>
          </a:prstGeom>
          <a:noFill/>
          <a:ln w="12700" cap="rnd">
            <a:noFill/>
            <a:round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24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Stack</a:t>
            </a:r>
          </a:p>
        </p:txBody>
      </p:sp>
      <p:graphicFrame>
        <p:nvGraphicFramePr>
          <p:cNvPr id="57367" name="Group 23"/>
          <p:cNvGraphicFramePr>
            <a:graphicFrameLocks noGrp="1"/>
          </p:cNvGraphicFramePr>
          <p:nvPr/>
        </p:nvGraphicFramePr>
        <p:xfrm>
          <a:off x="6934200" y="838200"/>
          <a:ext cx="1397000" cy="5778500"/>
        </p:xfrm>
        <a:graphic>
          <a:graphicData uri="http://schemas.openxmlformats.org/drawingml/2006/table">
            <a:tbl>
              <a:tblPr/>
              <a:tblGrid>
                <a:gridCol w="139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yoo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E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who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F1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amI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8" name="Rectangle 4"/>
          <p:cNvSpPr>
            <a:spLocks/>
          </p:cNvSpPr>
          <p:nvPr/>
        </p:nvSpPr>
        <p:spPr bwMode="auto">
          <a:xfrm>
            <a:off x="292100" y="1447800"/>
            <a:ext cx="1536700" cy="21336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yoo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(…)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who();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  </a:t>
            </a:r>
          </a:p>
        </p:txBody>
      </p:sp>
      <p:sp>
        <p:nvSpPr>
          <p:cNvPr id="59" name="Rectangle 5"/>
          <p:cNvSpPr>
            <a:spLocks/>
          </p:cNvSpPr>
          <p:nvPr/>
        </p:nvSpPr>
        <p:spPr bwMode="auto">
          <a:xfrm>
            <a:off x="609600" y="1676400"/>
            <a:ext cx="1612900" cy="2133600"/>
          </a:xfrm>
          <a:prstGeom prst="rect">
            <a:avLst/>
          </a:prstGeom>
          <a:solidFill>
            <a:srgbClr val="D5F1CF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who(…)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 •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();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 •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();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 •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60" name="Rectangle 6"/>
          <p:cNvSpPr>
            <a:spLocks/>
          </p:cNvSpPr>
          <p:nvPr/>
        </p:nvSpPr>
        <p:spPr bwMode="auto">
          <a:xfrm>
            <a:off x="914400" y="2133600"/>
            <a:ext cx="1536700" cy="2286000"/>
          </a:xfrm>
          <a:prstGeom prst="rect">
            <a:avLst/>
          </a:prstGeom>
          <a:solidFill>
            <a:srgbClr val="F1C7C7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(…)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();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62" name="AutoShape 56"/>
          <p:cNvSpPr>
            <a:spLocks/>
          </p:cNvSpPr>
          <p:nvPr/>
        </p:nvSpPr>
        <p:spPr bwMode="auto">
          <a:xfrm>
            <a:off x="228600" y="2971800"/>
            <a:ext cx="685800" cy="431800"/>
          </a:xfrm>
          <a:prstGeom prst="rightArrow">
            <a:avLst>
              <a:gd name="adj1" fmla="val 41185"/>
              <a:gd name="adj2" fmla="val 76471"/>
            </a:avLst>
          </a:prstGeom>
          <a:solidFill>
            <a:srgbClr val="C00000"/>
          </a:solidFill>
          <a:ln w="25400" cap="flat">
            <a:noFill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6C391FE-DFE0-5A11-A950-0503135CFE5A}"/>
              </a:ext>
            </a:extLst>
          </p:cNvPr>
          <p:cNvSpPr>
            <a:spLocks/>
          </p:cNvSpPr>
          <p:nvPr/>
        </p:nvSpPr>
        <p:spPr bwMode="auto">
          <a:xfrm>
            <a:off x="-1270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76D5410-0272-994D-828E-E2C512F53364}"/>
              </a:ext>
            </a:extLst>
          </p:cNvPr>
          <p:cNvSpPr>
            <a:spLocks/>
          </p:cNvSpPr>
          <p:nvPr/>
        </p:nvSpPr>
        <p:spPr bwMode="auto">
          <a:xfrm>
            <a:off x="-12700" y="6658594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58370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Example #8</a:t>
            </a:r>
          </a:p>
        </p:txBody>
      </p:sp>
      <p:sp>
        <p:nvSpPr>
          <p:cNvPr id="58372" name="Rectangle 4"/>
          <p:cNvSpPr>
            <a:spLocks/>
          </p:cNvSpPr>
          <p:nvPr/>
        </p:nvSpPr>
        <p:spPr bwMode="auto">
          <a:xfrm>
            <a:off x="3514725" y="1446213"/>
            <a:ext cx="622300" cy="331787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yoo</a:t>
            </a:r>
          </a:p>
        </p:txBody>
      </p:sp>
      <p:sp>
        <p:nvSpPr>
          <p:cNvPr id="58373" name="Rectangle 5"/>
          <p:cNvSpPr>
            <a:spLocks/>
          </p:cNvSpPr>
          <p:nvPr/>
        </p:nvSpPr>
        <p:spPr bwMode="auto">
          <a:xfrm>
            <a:off x="3514725" y="2133600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who</a:t>
            </a:r>
          </a:p>
        </p:txBody>
      </p:sp>
      <p:sp>
        <p:nvSpPr>
          <p:cNvPr id="58374" name="Rectangle 6"/>
          <p:cNvSpPr>
            <a:spLocks/>
          </p:cNvSpPr>
          <p:nvPr/>
        </p:nvSpPr>
        <p:spPr bwMode="auto">
          <a:xfrm>
            <a:off x="3503613" y="2808288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rgbClr val="A5A5A5"/>
                </a:solidFill>
                <a:latin typeface="Courier New Bold" charset="0"/>
                <a:cs typeface="Courier New Bold" charset="0"/>
                <a:sym typeface="Courier New Bold" charset="0"/>
              </a:rPr>
              <a:t>amI</a:t>
            </a:r>
          </a:p>
        </p:txBody>
      </p:sp>
      <p:sp>
        <p:nvSpPr>
          <p:cNvPr id="58375" name="Rectangle 7"/>
          <p:cNvSpPr>
            <a:spLocks/>
          </p:cNvSpPr>
          <p:nvPr/>
        </p:nvSpPr>
        <p:spPr bwMode="auto">
          <a:xfrm>
            <a:off x="3514725" y="3505200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rgbClr val="A5A5A5"/>
                </a:solidFill>
                <a:latin typeface="Courier New Bold" charset="0"/>
                <a:cs typeface="Courier New Bold" charset="0"/>
                <a:sym typeface="Courier New Bold" charset="0"/>
              </a:rPr>
              <a:t>amI</a:t>
            </a:r>
          </a:p>
        </p:txBody>
      </p:sp>
      <p:sp>
        <p:nvSpPr>
          <p:cNvPr id="58376" name="Rectangle 8"/>
          <p:cNvSpPr>
            <a:spLocks/>
          </p:cNvSpPr>
          <p:nvPr/>
        </p:nvSpPr>
        <p:spPr bwMode="auto">
          <a:xfrm>
            <a:off x="3514725" y="4267200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rgbClr val="A5A5A5"/>
                </a:solidFill>
                <a:latin typeface="Courier New Bold" charset="0"/>
                <a:cs typeface="Courier New Bold" charset="0"/>
                <a:sym typeface="Courier New Bold" charset="0"/>
              </a:rPr>
              <a:t>amI</a:t>
            </a:r>
          </a:p>
        </p:txBody>
      </p:sp>
      <p:sp>
        <p:nvSpPr>
          <p:cNvPr id="58377" name="Line 9"/>
          <p:cNvSpPr>
            <a:spLocks noChangeShapeType="1"/>
          </p:cNvSpPr>
          <p:nvPr/>
        </p:nvSpPr>
        <p:spPr bwMode="auto">
          <a:xfrm>
            <a:off x="3821113" y="1752600"/>
            <a:ext cx="0" cy="4318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8378" name="Line 10"/>
          <p:cNvSpPr>
            <a:spLocks noChangeShapeType="1"/>
          </p:cNvSpPr>
          <p:nvPr/>
        </p:nvSpPr>
        <p:spPr bwMode="auto">
          <a:xfrm>
            <a:off x="3821113" y="2438400"/>
            <a:ext cx="0" cy="431800"/>
          </a:xfrm>
          <a:prstGeom prst="line">
            <a:avLst/>
          </a:prstGeom>
          <a:noFill/>
          <a:ln w="25400" cap="flat">
            <a:solidFill>
              <a:srgbClr val="A5A5A5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8379" name="Line 11"/>
          <p:cNvSpPr>
            <a:spLocks noChangeShapeType="1"/>
          </p:cNvSpPr>
          <p:nvPr/>
        </p:nvSpPr>
        <p:spPr bwMode="auto">
          <a:xfrm>
            <a:off x="3821113" y="3124200"/>
            <a:ext cx="0" cy="431800"/>
          </a:xfrm>
          <a:prstGeom prst="line">
            <a:avLst/>
          </a:prstGeom>
          <a:noFill/>
          <a:ln w="25400" cap="flat">
            <a:solidFill>
              <a:srgbClr val="A5A5A5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8380" name="Line 12"/>
          <p:cNvSpPr>
            <a:spLocks noChangeShapeType="1"/>
          </p:cNvSpPr>
          <p:nvPr/>
        </p:nvSpPr>
        <p:spPr bwMode="auto">
          <a:xfrm>
            <a:off x="3821113" y="3886200"/>
            <a:ext cx="0" cy="431800"/>
          </a:xfrm>
          <a:prstGeom prst="line">
            <a:avLst/>
          </a:prstGeom>
          <a:noFill/>
          <a:ln w="25400" cap="flat">
            <a:solidFill>
              <a:srgbClr val="A5A5A5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8381" name="Rectangle 13"/>
          <p:cNvSpPr>
            <a:spLocks/>
          </p:cNvSpPr>
          <p:nvPr/>
        </p:nvSpPr>
        <p:spPr bwMode="auto">
          <a:xfrm>
            <a:off x="4181475" y="2795588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rgbClr val="A5A5A5"/>
                </a:solidFill>
                <a:latin typeface="Courier New Bold" charset="0"/>
                <a:cs typeface="Courier New Bold" charset="0"/>
                <a:sym typeface="Courier New Bold" charset="0"/>
              </a:rPr>
              <a:t>amI</a:t>
            </a:r>
          </a:p>
        </p:txBody>
      </p:sp>
      <p:sp>
        <p:nvSpPr>
          <p:cNvPr id="58382" name="Line 14"/>
          <p:cNvSpPr>
            <a:spLocks noChangeShapeType="1"/>
          </p:cNvSpPr>
          <p:nvPr/>
        </p:nvSpPr>
        <p:spPr bwMode="auto">
          <a:xfrm>
            <a:off x="3962400" y="2438400"/>
            <a:ext cx="536575" cy="431800"/>
          </a:xfrm>
          <a:prstGeom prst="line">
            <a:avLst/>
          </a:prstGeom>
          <a:noFill/>
          <a:ln w="25400" cap="flat">
            <a:solidFill>
              <a:srgbClr val="A5A5A5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8383" name="Rectangle 15"/>
          <p:cNvSpPr>
            <a:spLocks/>
          </p:cNvSpPr>
          <p:nvPr/>
        </p:nvSpPr>
        <p:spPr bwMode="auto">
          <a:xfrm>
            <a:off x="6932613" y="1641475"/>
            <a:ext cx="1308100" cy="609600"/>
          </a:xfrm>
          <a:prstGeom prst="rect">
            <a:avLst/>
          </a:prstGeom>
          <a:solidFill>
            <a:srgbClr val="F6F5BD"/>
          </a:solidFill>
          <a:ln w="1905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l"/>
            <a:endParaRPr lang="en-US" sz="1800">
              <a:solidFill>
                <a:schemeClr val="tx1"/>
              </a:solidFill>
              <a:latin typeface="Courier New Bold" charset="0"/>
              <a:ea typeface="Monaco" charset="0"/>
              <a:cs typeface="Monaco" charset="0"/>
              <a:sym typeface="Courier New Bold" charset="0"/>
            </a:endParaRPr>
          </a:p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yoo</a:t>
            </a:r>
          </a:p>
        </p:txBody>
      </p:sp>
      <p:grpSp>
        <p:nvGrpSpPr>
          <p:cNvPr id="58384" name="Group 16"/>
          <p:cNvGrpSpPr>
            <a:grpSpLocks/>
          </p:cNvGrpSpPr>
          <p:nvPr/>
        </p:nvGrpSpPr>
        <p:grpSpPr bwMode="auto">
          <a:xfrm>
            <a:off x="5391150" y="2379663"/>
            <a:ext cx="1495425" cy="928687"/>
            <a:chOff x="0" y="0"/>
            <a:chExt cx="941" cy="585"/>
          </a:xfrm>
        </p:grpSpPr>
        <p:sp>
          <p:nvSpPr>
            <p:cNvPr id="58385" name="Line 17"/>
            <p:cNvSpPr>
              <a:spLocks noChangeShapeType="1"/>
            </p:cNvSpPr>
            <p:nvPr/>
          </p:nvSpPr>
          <p:spPr bwMode="auto">
            <a:xfrm>
              <a:off x="489" y="110"/>
              <a:ext cx="452" cy="0"/>
            </a:xfrm>
            <a:prstGeom prst="line">
              <a:avLst/>
            </a:prstGeom>
            <a:noFill/>
            <a:ln w="25400" cap="flat">
              <a:solidFill>
                <a:srgbClr val="7F7F7F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58386" name="Rectangle 18"/>
            <p:cNvSpPr>
              <a:spLocks/>
            </p:cNvSpPr>
            <p:nvPr/>
          </p:nvSpPr>
          <p:spPr bwMode="auto">
            <a:xfrm>
              <a:off x="1" y="0"/>
              <a:ext cx="496" cy="208"/>
            </a:xfrm>
            <a:prstGeom prst="rect">
              <a:avLst/>
            </a:prstGeom>
            <a:noFill/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/>
            <a:lstStyle/>
            <a:p>
              <a:pPr algn="r"/>
              <a:r>
                <a:rPr lang="en-US" sz="1800" dirty="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</a:t>
              </a:r>
              <a:r>
                <a:rPr lang="en-US" sz="1800" dirty="0" err="1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rbp</a:t>
              </a:r>
              <a:endPara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endParaRPr>
            </a:p>
          </p:txBody>
        </p:sp>
        <p:sp>
          <p:nvSpPr>
            <p:cNvPr id="58387" name="Line 19"/>
            <p:cNvSpPr>
              <a:spLocks noChangeShapeType="1"/>
            </p:cNvSpPr>
            <p:nvPr/>
          </p:nvSpPr>
          <p:spPr bwMode="auto">
            <a:xfrm>
              <a:off x="488" y="499"/>
              <a:ext cx="452" cy="0"/>
            </a:xfrm>
            <a:prstGeom prst="line">
              <a:avLst/>
            </a:prstGeom>
            <a:noFill/>
            <a:ln w="25400" cap="flat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58388" name="Rectangle 20"/>
            <p:cNvSpPr>
              <a:spLocks/>
            </p:cNvSpPr>
            <p:nvPr/>
          </p:nvSpPr>
          <p:spPr bwMode="auto">
            <a:xfrm>
              <a:off x="0" y="377"/>
              <a:ext cx="496" cy="208"/>
            </a:xfrm>
            <a:prstGeom prst="rect">
              <a:avLst/>
            </a:prstGeom>
            <a:noFill/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/>
            <a:lstStyle/>
            <a:p>
              <a:pPr algn="r"/>
              <a:r>
                <a:rPr lang="en-US" sz="1800" dirty="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</a:t>
              </a:r>
              <a:r>
                <a:rPr lang="en-US" sz="1800" dirty="0" err="1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rsp</a:t>
              </a:r>
              <a:endPara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endParaRPr>
            </a:p>
          </p:txBody>
        </p:sp>
      </p:grpSp>
      <p:sp>
        <p:nvSpPr>
          <p:cNvPr id="58389" name="Rectangle 21"/>
          <p:cNvSpPr>
            <a:spLocks/>
          </p:cNvSpPr>
          <p:nvPr/>
        </p:nvSpPr>
        <p:spPr bwMode="auto">
          <a:xfrm>
            <a:off x="6932613" y="1022350"/>
            <a:ext cx="1308100" cy="444500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8390" name="Rectangle 22"/>
          <p:cNvSpPr>
            <a:spLocks/>
          </p:cNvSpPr>
          <p:nvPr/>
        </p:nvSpPr>
        <p:spPr bwMode="auto">
          <a:xfrm>
            <a:off x="7194550" y="381000"/>
            <a:ext cx="760413" cy="444500"/>
          </a:xfrm>
          <a:prstGeom prst="rect">
            <a:avLst/>
          </a:prstGeom>
          <a:noFill/>
          <a:ln w="12700" cap="rnd">
            <a:noFill/>
            <a:round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24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Stack</a:t>
            </a:r>
          </a:p>
        </p:txBody>
      </p:sp>
      <p:graphicFrame>
        <p:nvGraphicFramePr>
          <p:cNvPr id="58391" name="Group 23"/>
          <p:cNvGraphicFramePr>
            <a:graphicFrameLocks noGrp="1"/>
          </p:cNvGraphicFramePr>
          <p:nvPr/>
        </p:nvGraphicFramePr>
        <p:xfrm>
          <a:off x="6934200" y="838200"/>
          <a:ext cx="1397000" cy="5778500"/>
        </p:xfrm>
        <a:graphic>
          <a:graphicData uri="http://schemas.openxmlformats.org/drawingml/2006/table">
            <a:tbl>
              <a:tblPr/>
              <a:tblGrid>
                <a:gridCol w="139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yoo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E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who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F1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7" name="Rectangle 4"/>
          <p:cNvSpPr>
            <a:spLocks/>
          </p:cNvSpPr>
          <p:nvPr/>
        </p:nvSpPr>
        <p:spPr bwMode="auto">
          <a:xfrm>
            <a:off x="292100" y="1447800"/>
            <a:ext cx="1536700" cy="21336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yoo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(…)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who();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  </a:t>
            </a:r>
          </a:p>
        </p:txBody>
      </p:sp>
      <p:sp>
        <p:nvSpPr>
          <p:cNvPr id="58" name="Rectangle 5"/>
          <p:cNvSpPr>
            <a:spLocks/>
          </p:cNvSpPr>
          <p:nvPr/>
        </p:nvSpPr>
        <p:spPr bwMode="auto">
          <a:xfrm>
            <a:off x="609600" y="1676400"/>
            <a:ext cx="1612900" cy="2133600"/>
          </a:xfrm>
          <a:prstGeom prst="rect">
            <a:avLst/>
          </a:prstGeom>
          <a:solidFill>
            <a:srgbClr val="D5F1CF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who(…)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 •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();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 •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();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 •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61" name="AutoShape 56"/>
          <p:cNvSpPr>
            <a:spLocks/>
          </p:cNvSpPr>
          <p:nvPr/>
        </p:nvSpPr>
        <p:spPr bwMode="auto">
          <a:xfrm>
            <a:off x="-152400" y="2514600"/>
            <a:ext cx="685800" cy="431800"/>
          </a:xfrm>
          <a:prstGeom prst="rightArrow">
            <a:avLst>
              <a:gd name="adj1" fmla="val 41185"/>
              <a:gd name="adj2" fmla="val 76471"/>
            </a:avLst>
          </a:prstGeom>
          <a:solidFill>
            <a:srgbClr val="C00000"/>
          </a:solidFill>
          <a:ln w="25400" cap="flat">
            <a:noFill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F142EA0-9BE4-ECF8-D4BC-408DC7AA7A3E}"/>
              </a:ext>
            </a:extLst>
          </p:cNvPr>
          <p:cNvSpPr>
            <a:spLocks/>
          </p:cNvSpPr>
          <p:nvPr/>
        </p:nvSpPr>
        <p:spPr bwMode="auto">
          <a:xfrm>
            <a:off x="-1270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29BBAE3-6D24-ADC4-F85F-551F9796FA9A}"/>
              </a:ext>
            </a:extLst>
          </p:cNvPr>
          <p:cNvSpPr>
            <a:spLocks/>
          </p:cNvSpPr>
          <p:nvPr/>
        </p:nvSpPr>
        <p:spPr bwMode="auto">
          <a:xfrm>
            <a:off x="-12700" y="6658594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59394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Example #9</a:t>
            </a:r>
          </a:p>
        </p:txBody>
      </p:sp>
      <p:sp>
        <p:nvSpPr>
          <p:cNvPr id="59396" name="Rectangle 4"/>
          <p:cNvSpPr>
            <a:spLocks/>
          </p:cNvSpPr>
          <p:nvPr/>
        </p:nvSpPr>
        <p:spPr bwMode="auto">
          <a:xfrm>
            <a:off x="3514725" y="1446213"/>
            <a:ext cx="622300" cy="331787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yoo</a:t>
            </a:r>
          </a:p>
        </p:txBody>
      </p:sp>
      <p:sp>
        <p:nvSpPr>
          <p:cNvPr id="59397" name="Rectangle 5"/>
          <p:cNvSpPr>
            <a:spLocks/>
          </p:cNvSpPr>
          <p:nvPr/>
        </p:nvSpPr>
        <p:spPr bwMode="auto">
          <a:xfrm>
            <a:off x="3514725" y="2133600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who</a:t>
            </a:r>
          </a:p>
        </p:txBody>
      </p:sp>
      <p:sp>
        <p:nvSpPr>
          <p:cNvPr id="59398" name="Rectangle 6"/>
          <p:cNvSpPr>
            <a:spLocks/>
          </p:cNvSpPr>
          <p:nvPr/>
        </p:nvSpPr>
        <p:spPr bwMode="auto">
          <a:xfrm>
            <a:off x="3503613" y="2808288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rgbClr val="A6A6A6"/>
                </a:solidFill>
                <a:latin typeface="Courier New Bold" charset="0"/>
                <a:cs typeface="Courier New Bold" charset="0"/>
                <a:sym typeface="Courier New Bold" charset="0"/>
              </a:rPr>
              <a:t>amI</a:t>
            </a:r>
          </a:p>
        </p:txBody>
      </p:sp>
      <p:sp>
        <p:nvSpPr>
          <p:cNvPr id="59399" name="Rectangle 7"/>
          <p:cNvSpPr>
            <a:spLocks/>
          </p:cNvSpPr>
          <p:nvPr/>
        </p:nvSpPr>
        <p:spPr bwMode="auto">
          <a:xfrm>
            <a:off x="3514725" y="3505200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rgbClr val="A5A5A5"/>
                </a:solidFill>
                <a:latin typeface="Courier New Bold" charset="0"/>
                <a:cs typeface="Courier New Bold" charset="0"/>
                <a:sym typeface="Courier New Bold" charset="0"/>
              </a:rPr>
              <a:t>amI</a:t>
            </a:r>
          </a:p>
        </p:txBody>
      </p:sp>
      <p:sp>
        <p:nvSpPr>
          <p:cNvPr id="59400" name="Rectangle 8"/>
          <p:cNvSpPr>
            <a:spLocks/>
          </p:cNvSpPr>
          <p:nvPr/>
        </p:nvSpPr>
        <p:spPr bwMode="auto">
          <a:xfrm>
            <a:off x="3514725" y="4267200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rgbClr val="A5A5A5"/>
                </a:solidFill>
                <a:latin typeface="Courier New Bold" charset="0"/>
                <a:cs typeface="Courier New Bold" charset="0"/>
                <a:sym typeface="Courier New Bold" charset="0"/>
              </a:rPr>
              <a:t>amI</a:t>
            </a:r>
          </a:p>
        </p:txBody>
      </p:sp>
      <p:sp>
        <p:nvSpPr>
          <p:cNvPr id="59401" name="Line 9"/>
          <p:cNvSpPr>
            <a:spLocks noChangeShapeType="1"/>
          </p:cNvSpPr>
          <p:nvPr/>
        </p:nvSpPr>
        <p:spPr bwMode="auto">
          <a:xfrm>
            <a:off x="3821113" y="1752600"/>
            <a:ext cx="0" cy="4318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9402" name="Line 10"/>
          <p:cNvSpPr>
            <a:spLocks noChangeShapeType="1"/>
          </p:cNvSpPr>
          <p:nvPr/>
        </p:nvSpPr>
        <p:spPr bwMode="auto">
          <a:xfrm>
            <a:off x="3821113" y="2438400"/>
            <a:ext cx="0" cy="431800"/>
          </a:xfrm>
          <a:prstGeom prst="line">
            <a:avLst/>
          </a:prstGeom>
          <a:noFill/>
          <a:ln w="25400" cap="flat">
            <a:solidFill>
              <a:srgbClr val="A6A6A6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9403" name="Line 11"/>
          <p:cNvSpPr>
            <a:spLocks noChangeShapeType="1"/>
          </p:cNvSpPr>
          <p:nvPr/>
        </p:nvSpPr>
        <p:spPr bwMode="auto">
          <a:xfrm>
            <a:off x="3821113" y="3124200"/>
            <a:ext cx="0" cy="431800"/>
          </a:xfrm>
          <a:prstGeom prst="line">
            <a:avLst/>
          </a:prstGeom>
          <a:noFill/>
          <a:ln w="25400" cap="flat">
            <a:solidFill>
              <a:srgbClr val="A5A5A5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9404" name="Line 12"/>
          <p:cNvSpPr>
            <a:spLocks noChangeShapeType="1"/>
          </p:cNvSpPr>
          <p:nvPr/>
        </p:nvSpPr>
        <p:spPr bwMode="auto">
          <a:xfrm>
            <a:off x="3821113" y="3886200"/>
            <a:ext cx="0" cy="431800"/>
          </a:xfrm>
          <a:prstGeom prst="line">
            <a:avLst/>
          </a:prstGeom>
          <a:noFill/>
          <a:ln w="25400" cap="flat">
            <a:solidFill>
              <a:srgbClr val="A5A5A5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9405" name="Rectangle 13"/>
          <p:cNvSpPr>
            <a:spLocks/>
          </p:cNvSpPr>
          <p:nvPr/>
        </p:nvSpPr>
        <p:spPr bwMode="auto">
          <a:xfrm>
            <a:off x="4181475" y="2795588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amI</a:t>
            </a:r>
          </a:p>
        </p:txBody>
      </p:sp>
      <p:sp>
        <p:nvSpPr>
          <p:cNvPr id="59406" name="Line 14"/>
          <p:cNvSpPr>
            <a:spLocks noChangeShapeType="1"/>
          </p:cNvSpPr>
          <p:nvPr/>
        </p:nvSpPr>
        <p:spPr bwMode="auto">
          <a:xfrm>
            <a:off x="3962400" y="2438400"/>
            <a:ext cx="536575" cy="4318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9407" name="Rectangle 15"/>
          <p:cNvSpPr>
            <a:spLocks/>
          </p:cNvSpPr>
          <p:nvPr/>
        </p:nvSpPr>
        <p:spPr bwMode="auto">
          <a:xfrm>
            <a:off x="6932613" y="1641475"/>
            <a:ext cx="1308100" cy="609600"/>
          </a:xfrm>
          <a:prstGeom prst="rect">
            <a:avLst/>
          </a:prstGeom>
          <a:solidFill>
            <a:srgbClr val="F6F5BD"/>
          </a:solidFill>
          <a:ln w="1905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l"/>
            <a:endParaRPr lang="en-US" sz="1800">
              <a:solidFill>
                <a:schemeClr val="tx1"/>
              </a:solidFill>
              <a:latin typeface="Courier New Bold" charset="0"/>
              <a:ea typeface="Monaco" charset="0"/>
              <a:cs typeface="Monaco" charset="0"/>
              <a:sym typeface="Courier New Bold" charset="0"/>
            </a:endParaRPr>
          </a:p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yoo</a:t>
            </a:r>
          </a:p>
        </p:txBody>
      </p:sp>
      <p:grpSp>
        <p:nvGrpSpPr>
          <p:cNvPr id="59408" name="Group 16"/>
          <p:cNvGrpSpPr>
            <a:grpSpLocks/>
          </p:cNvGrpSpPr>
          <p:nvPr/>
        </p:nvGrpSpPr>
        <p:grpSpPr bwMode="auto">
          <a:xfrm>
            <a:off x="5397500" y="3225800"/>
            <a:ext cx="1493838" cy="928688"/>
            <a:chOff x="0" y="0"/>
            <a:chExt cx="941" cy="585"/>
          </a:xfrm>
        </p:grpSpPr>
        <p:sp>
          <p:nvSpPr>
            <p:cNvPr id="59409" name="Line 17"/>
            <p:cNvSpPr>
              <a:spLocks noChangeShapeType="1"/>
            </p:cNvSpPr>
            <p:nvPr/>
          </p:nvSpPr>
          <p:spPr bwMode="auto">
            <a:xfrm>
              <a:off x="489" y="110"/>
              <a:ext cx="452" cy="0"/>
            </a:xfrm>
            <a:prstGeom prst="line">
              <a:avLst/>
            </a:prstGeom>
            <a:noFill/>
            <a:ln w="25400" cap="flat">
              <a:solidFill>
                <a:srgbClr val="7F7F7F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59410" name="Rectangle 18"/>
            <p:cNvSpPr>
              <a:spLocks/>
            </p:cNvSpPr>
            <p:nvPr/>
          </p:nvSpPr>
          <p:spPr bwMode="auto">
            <a:xfrm>
              <a:off x="1" y="0"/>
              <a:ext cx="496" cy="208"/>
            </a:xfrm>
            <a:prstGeom prst="rect">
              <a:avLst/>
            </a:prstGeom>
            <a:noFill/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/>
            <a:lstStyle/>
            <a:p>
              <a:pPr algn="r"/>
              <a:r>
                <a:rPr lang="en-US" sz="1800" dirty="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</a:t>
              </a:r>
              <a:r>
                <a:rPr lang="en-US" sz="1800" dirty="0" err="1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rbp</a:t>
              </a:r>
              <a:endPara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endParaRPr>
            </a:p>
          </p:txBody>
        </p:sp>
        <p:sp>
          <p:nvSpPr>
            <p:cNvPr id="59411" name="Line 19"/>
            <p:cNvSpPr>
              <a:spLocks noChangeShapeType="1"/>
            </p:cNvSpPr>
            <p:nvPr/>
          </p:nvSpPr>
          <p:spPr bwMode="auto">
            <a:xfrm>
              <a:off x="488" y="499"/>
              <a:ext cx="452" cy="0"/>
            </a:xfrm>
            <a:prstGeom prst="line">
              <a:avLst/>
            </a:prstGeom>
            <a:noFill/>
            <a:ln w="25400" cap="flat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59412" name="Rectangle 20"/>
            <p:cNvSpPr>
              <a:spLocks/>
            </p:cNvSpPr>
            <p:nvPr/>
          </p:nvSpPr>
          <p:spPr bwMode="auto">
            <a:xfrm>
              <a:off x="0" y="377"/>
              <a:ext cx="496" cy="208"/>
            </a:xfrm>
            <a:prstGeom prst="rect">
              <a:avLst/>
            </a:prstGeom>
            <a:noFill/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/>
            <a:lstStyle/>
            <a:p>
              <a:pPr algn="r"/>
              <a:r>
                <a:rPr lang="en-US" sz="1800" dirty="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</a:t>
              </a:r>
              <a:r>
                <a:rPr lang="en-US" sz="1800" dirty="0" err="1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rsp</a:t>
              </a:r>
              <a:endPara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endParaRPr>
            </a:p>
          </p:txBody>
        </p:sp>
      </p:grpSp>
      <p:sp>
        <p:nvSpPr>
          <p:cNvPr id="59413" name="Rectangle 21"/>
          <p:cNvSpPr>
            <a:spLocks/>
          </p:cNvSpPr>
          <p:nvPr/>
        </p:nvSpPr>
        <p:spPr bwMode="auto">
          <a:xfrm>
            <a:off x="6932613" y="1022350"/>
            <a:ext cx="1308100" cy="444500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9414" name="Rectangle 22"/>
          <p:cNvSpPr>
            <a:spLocks/>
          </p:cNvSpPr>
          <p:nvPr/>
        </p:nvSpPr>
        <p:spPr bwMode="auto">
          <a:xfrm>
            <a:off x="7194550" y="381000"/>
            <a:ext cx="760413" cy="444500"/>
          </a:xfrm>
          <a:prstGeom prst="rect">
            <a:avLst/>
          </a:prstGeom>
          <a:noFill/>
          <a:ln w="12700" cap="rnd">
            <a:noFill/>
            <a:round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24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Stack</a:t>
            </a:r>
          </a:p>
        </p:txBody>
      </p:sp>
      <p:graphicFrame>
        <p:nvGraphicFramePr>
          <p:cNvPr id="59415" name="Group 23"/>
          <p:cNvGraphicFramePr>
            <a:graphicFrameLocks noGrp="1"/>
          </p:cNvGraphicFramePr>
          <p:nvPr/>
        </p:nvGraphicFramePr>
        <p:xfrm>
          <a:off x="6934200" y="838200"/>
          <a:ext cx="1397000" cy="5778500"/>
        </p:xfrm>
        <a:graphic>
          <a:graphicData uri="http://schemas.openxmlformats.org/drawingml/2006/table">
            <a:tbl>
              <a:tblPr/>
              <a:tblGrid>
                <a:gridCol w="139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yoo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E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who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F1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amI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8" name="Rectangle 4"/>
          <p:cNvSpPr>
            <a:spLocks/>
          </p:cNvSpPr>
          <p:nvPr/>
        </p:nvSpPr>
        <p:spPr bwMode="auto">
          <a:xfrm>
            <a:off x="292100" y="1447800"/>
            <a:ext cx="1536700" cy="21336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yoo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(…)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who();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  </a:t>
            </a:r>
          </a:p>
        </p:txBody>
      </p:sp>
      <p:sp>
        <p:nvSpPr>
          <p:cNvPr id="59" name="Rectangle 5"/>
          <p:cNvSpPr>
            <a:spLocks/>
          </p:cNvSpPr>
          <p:nvPr/>
        </p:nvSpPr>
        <p:spPr bwMode="auto">
          <a:xfrm>
            <a:off x="609600" y="1676400"/>
            <a:ext cx="1612900" cy="2133600"/>
          </a:xfrm>
          <a:prstGeom prst="rect">
            <a:avLst/>
          </a:prstGeom>
          <a:solidFill>
            <a:srgbClr val="D5F1CF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who(…)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 •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();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 •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();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 •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60" name="Rectangle 6"/>
          <p:cNvSpPr>
            <a:spLocks/>
          </p:cNvSpPr>
          <p:nvPr/>
        </p:nvSpPr>
        <p:spPr bwMode="auto">
          <a:xfrm>
            <a:off x="914400" y="2133600"/>
            <a:ext cx="1536700" cy="2286000"/>
          </a:xfrm>
          <a:prstGeom prst="rect">
            <a:avLst/>
          </a:prstGeom>
          <a:solidFill>
            <a:srgbClr val="F1C7C7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(…)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();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61" name="AutoShape 56"/>
          <p:cNvSpPr>
            <a:spLocks/>
          </p:cNvSpPr>
          <p:nvPr/>
        </p:nvSpPr>
        <p:spPr bwMode="auto">
          <a:xfrm>
            <a:off x="228600" y="2971800"/>
            <a:ext cx="685800" cy="431800"/>
          </a:xfrm>
          <a:prstGeom prst="rightArrow">
            <a:avLst>
              <a:gd name="adj1" fmla="val 41185"/>
              <a:gd name="adj2" fmla="val 76471"/>
            </a:avLst>
          </a:prstGeom>
          <a:solidFill>
            <a:srgbClr val="C00000"/>
          </a:solidFill>
          <a:ln w="25400" cap="flat">
            <a:noFill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874B119-22A3-E83D-A898-EBA3807F22F9}"/>
              </a:ext>
            </a:extLst>
          </p:cNvPr>
          <p:cNvSpPr>
            <a:spLocks/>
          </p:cNvSpPr>
          <p:nvPr/>
        </p:nvSpPr>
        <p:spPr bwMode="auto">
          <a:xfrm>
            <a:off x="-1270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1248564-B224-0EC4-736A-AC33DD05D45F}"/>
              </a:ext>
            </a:extLst>
          </p:cNvPr>
          <p:cNvSpPr>
            <a:spLocks/>
          </p:cNvSpPr>
          <p:nvPr/>
        </p:nvSpPr>
        <p:spPr bwMode="auto">
          <a:xfrm>
            <a:off x="-12700" y="6658594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60418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Example #10</a:t>
            </a:r>
          </a:p>
        </p:txBody>
      </p:sp>
      <p:sp>
        <p:nvSpPr>
          <p:cNvPr id="60420" name="Rectangle 4"/>
          <p:cNvSpPr>
            <a:spLocks/>
          </p:cNvSpPr>
          <p:nvPr/>
        </p:nvSpPr>
        <p:spPr bwMode="auto">
          <a:xfrm>
            <a:off x="3514725" y="1446213"/>
            <a:ext cx="622300" cy="331787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yoo</a:t>
            </a:r>
          </a:p>
        </p:txBody>
      </p:sp>
      <p:sp>
        <p:nvSpPr>
          <p:cNvPr id="60421" name="Rectangle 5"/>
          <p:cNvSpPr>
            <a:spLocks/>
          </p:cNvSpPr>
          <p:nvPr/>
        </p:nvSpPr>
        <p:spPr bwMode="auto">
          <a:xfrm>
            <a:off x="3514725" y="2133600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who</a:t>
            </a:r>
          </a:p>
        </p:txBody>
      </p:sp>
      <p:sp>
        <p:nvSpPr>
          <p:cNvPr id="60422" name="Rectangle 6"/>
          <p:cNvSpPr>
            <a:spLocks/>
          </p:cNvSpPr>
          <p:nvPr/>
        </p:nvSpPr>
        <p:spPr bwMode="auto">
          <a:xfrm>
            <a:off x="3503613" y="2808288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rgbClr val="A5A5A5"/>
                </a:solidFill>
                <a:latin typeface="Courier New Bold" charset="0"/>
                <a:cs typeface="Courier New Bold" charset="0"/>
                <a:sym typeface="Courier New Bold" charset="0"/>
              </a:rPr>
              <a:t>amI</a:t>
            </a:r>
          </a:p>
        </p:txBody>
      </p:sp>
      <p:sp>
        <p:nvSpPr>
          <p:cNvPr id="60423" name="Rectangle 7"/>
          <p:cNvSpPr>
            <a:spLocks/>
          </p:cNvSpPr>
          <p:nvPr/>
        </p:nvSpPr>
        <p:spPr bwMode="auto">
          <a:xfrm>
            <a:off x="3514725" y="3505200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rgbClr val="A5A5A5"/>
                </a:solidFill>
                <a:latin typeface="Courier New Bold" charset="0"/>
                <a:cs typeface="Courier New Bold" charset="0"/>
                <a:sym typeface="Courier New Bold" charset="0"/>
              </a:rPr>
              <a:t>amI</a:t>
            </a:r>
          </a:p>
        </p:txBody>
      </p:sp>
      <p:sp>
        <p:nvSpPr>
          <p:cNvPr id="60424" name="Rectangle 8"/>
          <p:cNvSpPr>
            <a:spLocks/>
          </p:cNvSpPr>
          <p:nvPr/>
        </p:nvSpPr>
        <p:spPr bwMode="auto">
          <a:xfrm>
            <a:off x="3514725" y="4267200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rgbClr val="A5A5A5"/>
                </a:solidFill>
                <a:latin typeface="Courier New Bold" charset="0"/>
                <a:cs typeface="Courier New Bold" charset="0"/>
                <a:sym typeface="Courier New Bold" charset="0"/>
              </a:rPr>
              <a:t>amI</a:t>
            </a:r>
          </a:p>
        </p:txBody>
      </p:sp>
      <p:sp>
        <p:nvSpPr>
          <p:cNvPr id="60425" name="Line 9"/>
          <p:cNvSpPr>
            <a:spLocks noChangeShapeType="1"/>
          </p:cNvSpPr>
          <p:nvPr/>
        </p:nvSpPr>
        <p:spPr bwMode="auto">
          <a:xfrm>
            <a:off x="3821113" y="1752600"/>
            <a:ext cx="0" cy="4318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0426" name="Line 10"/>
          <p:cNvSpPr>
            <a:spLocks noChangeShapeType="1"/>
          </p:cNvSpPr>
          <p:nvPr/>
        </p:nvSpPr>
        <p:spPr bwMode="auto">
          <a:xfrm>
            <a:off x="3821113" y="2438400"/>
            <a:ext cx="0" cy="431800"/>
          </a:xfrm>
          <a:prstGeom prst="line">
            <a:avLst/>
          </a:prstGeom>
          <a:noFill/>
          <a:ln w="25400" cap="flat">
            <a:solidFill>
              <a:srgbClr val="A5A5A5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0427" name="Line 11"/>
          <p:cNvSpPr>
            <a:spLocks noChangeShapeType="1"/>
          </p:cNvSpPr>
          <p:nvPr/>
        </p:nvSpPr>
        <p:spPr bwMode="auto">
          <a:xfrm>
            <a:off x="3821113" y="3124200"/>
            <a:ext cx="0" cy="431800"/>
          </a:xfrm>
          <a:prstGeom prst="line">
            <a:avLst/>
          </a:prstGeom>
          <a:noFill/>
          <a:ln w="25400" cap="flat">
            <a:solidFill>
              <a:srgbClr val="A5A5A5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0428" name="Line 12"/>
          <p:cNvSpPr>
            <a:spLocks noChangeShapeType="1"/>
          </p:cNvSpPr>
          <p:nvPr/>
        </p:nvSpPr>
        <p:spPr bwMode="auto">
          <a:xfrm>
            <a:off x="3821113" y="3886200"/>
            <a:ext cx="0" cy="431800"/>
          </a:xfrm>
          <a:prstGeom prst="line">
            <a:avLst/>
          </a:prstGeom>
          <a:noFill/>
          <a:ln w="25400" cap="flat">
            <a:solidFill>
              <a:srgbClr val="A5A5A5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0429" name="Rectangle 13"/>
          <p:cNvSpPr>
            <a:spLocks/>
          </p:cNvSpPr>
          <p:nvPr/>
        </p:nvSpPr>
        <p:spPr bwMode="auto">
          <a:xfrm>
            <a:off x="4181475" y="2795588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rgbClr val="A5A5A5"/>
                </a:solidFill>
                <a:latin typeface="Courier New Bold" charset="0"/>
                <a:cs typeface="Courier New Bold" charset="0"/>
                <a:sym typeface="Courier New Bold" charset="0"/>
              </a:rPr>
              <a:t>amI</a:t>
            </a:r>
          </a:p>
        </p:txBody>
      </p:sp>
      <p:sp>
        <p:nvSpPr>
          <p:cNvPr id="60430" name="Line 14"/>
          <p:cNvSpPr>
            <a:spLocks noChangeShapeType="1"/>
          </p:cNvSpPr>
          <p:nvPr/>
        </p:nvSpPr>
        <p:spPr bwMode="auto">
          <a:xfrm>
            <a:off x="3962400" y="2438400"/>
            <a:ext cx="536575" cy="431800"/>
          </a:xfrm>
          <a:prstGeom prst="line">
            <a:avLst/>
          </a:prstGeom>
          <a:noFill/>
          <a:ln w="25400" cap="flat">
            <a:solidFill>
              <a:srgbClr val="A5A5A5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0431" name="Rectangle 15"/>
          <p:cNvSpPr>
            <a:spLocks/>
          </p:cNvSpPr>
          <p:nvPr/>
        </p:nvSpPr>
        <p:spPr bwMode="auto">
          <a:xfrm>
            <a:off x="6932613" y="1641475"/>
            <a:ext cx="1308100" cy="609600"/>
          </a:xfrm>
          <a:prstGeom prst="rect">
            <a:avLst/>
          </a:prstGeom>
          <a:solidFill>
            <a:srgbClr val="F6F5BD"/>
          </a:solidFill>
          <a:ln w="1905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l"/>
            <a:endParaRPr lang="en-US" sz="1800">
              <a:solidFill>
                <a:schemeClr val="tx1"/>
              </a:solidFill>
              <a:latin typeface="Courier New Bold" charset="0"/>
              <a:ea typeface="Monaco" charset="0"/>
              <a:cs typeface="Monaco" charset="0"/>
              <a:sym typeface="Courier New Bold" charset="0"/>
            </a:endParaRPr>
          </a:p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yoo</a:t>
            </a:r>
          </a:p>
        </p:txBody>
      </p:sp>
      <p:grpSp>
        <p:nvGrpSpPr>
          <p:cNvPr id="60432" name="Group 16"/>
          <p:cNvGrpSpPr>
            <a:grpSpLocks/>
          </p:cNvGrpSpPr>
          <p:nvPr/>
        </p:nvGrpSpPr>
        <p:grpSpPr bwMode="auto">
          <a:xfrm>
            <a:off x="5391150" y="2379663"/>
            <a:ext cx="1495425" cy="928687"/>
            <a:chOff x="0" y="0"/>
            <a:chExt cx="941" cy="585"/>
          </a:xfrm>
        </p:grpSpPr>
        <p:sp>
          <p:nvSpPr>
            <p:cNvPr id="60433" name="Line 17"/>
            <p:cNvSpPr>
              <a:spLocks noChangeShapeType="1"/>
            </p:cNvSpPr>
            <p:nvPr/>
          </p:nvSpPr>
          <p:spPr bwMode="auto">
            <a:xfrm>
              <a:off x="489" y="110"/>
              <a:ext cx="452" cy="0"/>
            </a:xfrm>
            <a:prstGeom prst="line">
              <a:avLst/>
            </a:prstGeom>
            <a:noFill/>
            <a:ln w="25400" cap="flat">
              <a:solidFill>
                <a:srgbClr val="7F7F7F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0434" name="Rectangle 18"/>
            <p:cNvSpPr>
              <a:spLocks/>
            </p:cNvSpPr>
            <p:nvPr/>
          </p:nvSpPr>
          <p:spPr bwMode="auto">
            <a:xfrm>
              <a:off x="1" y="0"/>
              <a:ext cx="496" cy="208"/>
            </a:xfrm>
            <a:prstGeom prst="rect">
              <a:avLst/>
            </a:prstGeom>
            <a:noFill/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/>
            <a:lstStyle/>
            <a:p>
              <a:pPr algn="r"/>
              <a:r>
                <a:rPr lang="en-US" sz="1800" dirty="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</a:t>
              </a:r>
              <a:r>
                <a:rPr lang="en-US" sz="1800" dirty="0" err="1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rbp</a:t>
              </a:r>
              <a:endPara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endParaRPr>
            </a:p>
          </p:txBody>
        </p:sp>
        <p:sp>
          <p:nvSpPr>
            <p:cNvPr id="60435" name="Line 19"/>
            <p:cNvSpPr>
              <a:spLocks noChangeShapeType="1"/>
            </p:cNvSpPr>
            <p:nvPr/>
          </p:nvSpPr>
          <p:spPr bwMode="auto">
            <a:xfrm>
              <a:off x="488" y="499"/>
              <a:ext cx="452" cy="0"/>
            </a:xfrm>
            <a:prstGeom prst="line">
              <a:avLst/>
            </a:prstGeom>
            <a:noFill/>
            <a:ln w="25400" cap="flat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0436" name="Rectangle 20"/>
            <p:cNvSpPr>
              <a:spLocks/>
            </p:cNvSpPr>
            <p:nvPr/>
          </p:nvSpPr>
          <p:spPr bwMode="auto">
            <a:xfrm>
              <a:off x="0" y="377"/>
              <a:ext cx="496" cy="208"/>
            </a:xfrm>
            <a:prstGeom prst="rect">
              <a:avLst/>
            </a:prstGeom>
            <a:noFill/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/>
            <a:lstStyle/>
            <a:p>
              <a:pPr algn="r"/>
              <a:r>
                <a:rPr lang="en-US" sz="1800" dirty="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</a:t>
              </a:r>
              <a:r>
                <a:rPr lang="en-US" sz="1800" dirty="0" err="1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rsp</a:t>
              </a:r>
              <a:endPara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endParaRPr>
            </a:p>
          </p:txBody>
        </p:sp>
      </p:grpSp>
      <p:sp>
        <p:nvSpPr>
          <p:cNvPr id="60437" name="Rectangle 21"/>
          <p:cNvSpPr>
            <a:spLocks/>
          </p:cNvSpPr>
          <p:nvPr/>
        </p:nvSpPr>
        <p:spPr bwMode="auto">
          <a:xfrm>
            <a:off x="6932613" y="1022350"/>
            <a:ext cx="1308100" cy="444500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0438" name="Rectangle 22"/>
          <p:cNvSpPr>
            <a:spLocks/>
          </p:cNvSpPr>
          <p:nvPr/>
        </p:nvSpPr>
        <p:spPr bwMode="auto">
          <a:xfrm>
            <a:off x="7194550" y="381000"/>
            <a:ext cx="760413" cy="444500"/>
          </a:xfrm>
          <a:prstGeom prst="rect">
            <a:avLst/>
          </a:prstGeom>
          <a:noFill/>
          <a:ln w="12700" cap="rnd">
            <a:noFill/>
            <a:round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24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Stack</a:t>
            </a:r>
          </a:p>
        </p:txBody>
      </p:sp>
      <p:graphicFrame>
        <p:nvGraphicFramePr>
          <p:cNvPr id="60439" name="Group 23"/>
          <p:cNvGraphicFramePr>
            <a:graphicFrameLocks noGrp="1"/>
          </p:cNvGraphicFramePr>
          <p:nvPr/>
        </p:nvGraphicFramePr>
        <p:xfrm>
          <a:off x="6934200" y="838200"/>
          <a:ext cx="1397000" cy="5778500"/>
        </p:xfrm>
        <a:graphic>
          <a:graphicData uri="http://schemas.openxmlformats.org/drawingml/2006/table">
            <a:tbl>
              <a:tblPr/>
              <a:tblGrid>
                <a:gridCol w="139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yoo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E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who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F1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7" name="Rectangle 4"/>
          <p:cNvSpPr>
            <a:spLocks/>
          </p:cNvSpPr>
          <p:nvPr/>
        </p:nvSpPr>
        <p:spPr bwMode="auto">
          <a:xfrm>
            <a:off x="431800" y="1447800"/>
            <a:ext cx="1536700" cy="21336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yoo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(…)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who();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  </a:t>
            </a:r>
          </a:p>
        </p:txBody>
      </p:sp>
      <p:sp>
        <p:nvSpPr>
          <p:cNvPr id="58" name="Rectangle 5"/>
          <p:cNvSpPr>
            <a:spLocks/>
          </p:cNvSpPr>
          <p:nvPr/>
        </p:nvSpPr>
        <p:spPr bwMode="auto">
          <a:xfrm>
            <a:off x="749300" y="1676400"/>
            <a:ext cx="1612900" cy="2133600"/>
          </a:xfrm>
          <a:prstGeom prst="rect">
            <a:avLst/>
          </a:prstGeom>
          <a:solidFill>
            <a:srgbClr val="D5F1CF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who(…)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 •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();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 •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();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 •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60" name="AutoShape 56"/>
          <p:cNvSpPr>
            <a:spLocks/>
          </p:cNvSpPr>
          <p:nvPr/>
        </p:nvSpPr>
        <p:spPr bwMode="auto">
          <a:xfrm>
            <a:off x="139700" y="2514600"/>
            <a:ext cx="685800" cy="431800"/>
          </a:xfrm>
          <a:prstGeom prst="rightArrow">
            <a:avLst>
              <a:gd name="adj1" fmla="val 41185"/>
              <a:gd name="adj2" fmla="val 76471"/>
            </a:avLst>
          </a:prstGeom>
          <a:solidFill>
            <a:srgbClr val="C00000"/>
          </a:solidFill>
          <a:ln w="25400" cap="flat">
            <a:noFill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59C0106-8A90-C9AA-CAA2-1B6317819CE3}"/>
              </a:ext>
            </a:extLst>
          </p:cNvPr>
          <p:cNvSpPr>
            <a:spLocks/>
          </p:cNvSpPr>
          <p:nvPr/>
        </p:nvSpPr>
        <p:spPr bwMode="auto">
          <a:xfrm>
            <a:off x="-1270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0CF173B-9349-23E7-93B0-09D900AC192E}"/>
              </a:ext>
            </a:extLst>
          </p:cNvPr>
          <p:cNvSpPr>
            <a:spLocks/>
          </p:cNvSpPr>
          <p:nvPr/>
        </p:nvSpPr>
        <p:spPr bwMode="auto">
          <a:xfrm>
            <a:off x="-12700" y="6658594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61443" name="Rectangle 3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61444" name="Rectangle 4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Example #11</a:t>
            </a:r>
          </a:p>
        </p:txBody>
      </p:sp>
      <p:sp>
        <p:nvSpPr>
          <p:cNvPr id="61445" name="Rectangle 5"/>
          <p:cNvSpPr>
            <a:spLocks/>
          </p:cNvSpPr>
          <p:nvPr/>
        </p:nvSpPr>
        <p:spPr bwMode="auto">
          <a:xfrm>
            <a:off x="3514725" y="1446213"/>
            <a:ext cx="622300" cy="331787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yoo</a:t>
            </a:r>
          </a:p>
        </p:txBody>
      </p:sp>
      <p:sp>
        <p:nvSpPr>
          <p:cNvPr id="61446" name="Rectangle 6"/>
          <p:cNvSpPr>
            <a:spLocks/>
          </p:cNvSpPr>
          <p:nvPr/>
        </p:nvSpPr>
        <p:spPr bwMode="auto">
          <a:xfrm>
            <a:off x="3514725" y="2133600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rgbClr val="A5A5A5"/>
                </a:solidFill>
                <a:latin typeface="Courier New Bold" charset="0"/>
                <a:cs typeface="Courier New Bold" charset="0"/>
                <a:sym typeface="Courier New Bold" charset="0"/>
              </a:rPr>
              <a:t>who</a:t>
            </a:r>
          </a:p>
        </p:txBody>
      </p:sp>
      <p:sp>
        <p:nvSpPr>
          <p:cNvPr id="61447" name="Rectangle 7"/>
          <p:cNvSpPr>
            <a:spLocks/>
          </p:cNvSpPr>
          <p:nvPr/>
        </p:nvSpPr>
        <p:spPr bwMode="auto">
          <a:xfrm>
            <a:off x="3503613" y="2808288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rgbClr val="A5A5A5"/>
                </a:solidFill>
                <a:latin typeface="Courier New Bold" charset="0"/>
                <a:cs typeface="Courier New Bold" charset="0"/>
                <a:sym typeface="Courier New Bold" charset="0"/>
              </a:rPr>
              <a:t>amI</a:t>
            </a:r>
          </a:p>
        </p:txBody>
      </p:sp>
      <p:sp>
        <p:nvSpPr>
          <p:cNvPr id="61448" name="Rectangle 8"/>
          <p:cNvSpPr>
            <a:spLocks/>
          </p:cNvSpPr>
          <p:nvPr/>
        </p:nvSpPr>
        <p:spPr bwMode="auto">
          <a:xfrm>
            <a:off x="3514725" y="3505200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rgbClr val="A5A5A5"/>
                </a:solidFill>
                <a:latin typeface="Courier New Bold" charset="0"/>
                <a:cs typeface="Courier New Bold" charset="0"/>
                <a:sym typeface="Courier New Bold" charset="0"/>
              </a:rPr>
              <a:t>amI</a:t>
            </a:r>
          </a:p>
        </p:txBody>
      </p:sp>
      <p:sp>
        <p:nvSpPr>
          <p:cNvPr id="61449" name="Rectangle 9"/>
          <p:cNvSpPr>
            <a:spLocks/>
          </p:cNvSpPr>
          <p:nvPr/>
        </p:nvSpPr>
        <p:spPr bwMode="auto">
          <a:xfrm>
            <a:off x="3514725" y="4267200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rgbClr val="A5A5A5"/>
                </a:solidFill>
                <a:latin typeface="Courier New Bold" charset="0"/>
                <a:cs typeface="Courier New Bold" charset="0"/>
                <a:sym typeface="Courier New Bold" charset="0"/>
              </a:rPr>
              <a:t>amI</a:t>
            </a:r>
          </a:p>
        </p:txBody>
      </p:sp>
      <p:sp>
        <p:nvSpPr>
          <p:cNvPr id="61450" name="Line 10"/>
          <p:cNvSpPr>
            <a:spLocks noChangeShapeType="1"/>
          </p:cNvSpPr>
          <p:nvPr/>
        </p:nvSpPr>
        <p:spPr bwMode="auto">
          <a:xfrm>
            <a:off x="3821113" y="1752600"/>
            <a:ext cx="0" cy="431800"/>
          </a:xfrm>
          <a:prstGeom prst="line">
            <a:avLst/>
          </a:prstGeom>
          <a:noFill/>
          <a:ln w="25400" cap="flat">
            <a:solidFill>
              <a:srgbClr val="A5A5A5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1451" name="Line 11"/>
          <p:cNvSpPr>
            <a:spLocks noChangeShapeType="1"/>
          </p:cNvSpPr>
          <p:nvPr/>
        </p:nvSpPr>
        <p:spPr bwMode="auto">
          <a:xfrm>
            <a:off x="3821113" y="2438400"/>
            <a:ext cx="0" cy="431800"/>
          </a:xfrm>
          <a:prstGeom prst="line">
            <a:avLst/>
          </a:prstGeom>
          <a:noFill/>
          <a:ln w="25400" cap="flat">
            <a:solidFill>
              <a:srgbClr val="A5A5A5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1452" name="Line 12"/>
          <p:cNvSpPr>
            <a:spLocks noChangeShapeType="1"/>
          </p:cNvSpPr>
          <p:nvPr/>
        </p:nvSpPr>
        <p:spPr bwMode="auto">
          <a:xfrm>
            <a:off x="3821113" y="3124200"/>
            <a:ext cx="0" cy="431800"/>
          </a:xfrm>
          <a:prstGeom prst="line">
            <a:avLst/>
          </a:prstGeom>
          <a:noFill/>
          <a:ln w="25400" cap="flat">
            <a:solidFill>
              <a:srgbClr val="A5A5A5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1453" name="Line 13"/>
          <p:cNvSpPr>
            <a:spLocks noChangeShapeType="1"/>
          </p:cNvSpPr>
          <p:nvPr/>
        </p:nvSpPr>
        <p:spPr bwMode="auto">
          <a:xfrm>
            <a:off x="3821113" y="3886200"/>
            <a:ext cx="0" cy="431800"/>
          </a:xfrm>
          <a:prstGeom prst="line">
            <a:avLst/>
          </a:prstGeom>
          <a:noFill/>
          <a:ln w="25400" cap="flat">
            <a:solidFill>
              <a:srgbClr val="A5A5A5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1454" name="Rectangle 14"/>
          <p:cNvSpPr>
            <a:spLocks/>
          </p:cNvSpPr>
          <p:nvPr/>
        </p:nvSpPr>
        <p:spPr bwMode="auto">
          <a:xfrm>
            <a:off x="4181475" y="2795588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rgbClr val="A5A5A5"/>
                </a:solidFill>
                <a:latin typeface="Courier New Bold" charset="0"/>
                <a:cs typeface="Courier New Bold" charset="0"/>
                <a:sym typeface="Courier New Bold" charset="0"/>
              </a:rPr>
              <a:t>amI</a:t>
            </a:r>
          </a:p>
        </p:txBody>
      </p:sp>
      <p:sp>
        <p:nvSpPr>
          <p:cNvPr id="61455" name="Line 15"/>
          <p:cNvSpPr>
            <a:spLocks noChangeShapeType="1"/>
          </p:cNvSpPr>
          <p:nvPr/>
        </p:nvSpPr>
        <p:spPr bwMode="auto">
          <a:xfrm>
            <a:off x="3962400" y="2438400"/>
            <a:ext cx="536575" cy="431800"/>
          </a:xfrm>
          <a:prstGeom prst="line">
            <a:avLst/>
          </a:prstGeom>
          <a:noFill/>
          <a:ln w="25400" cap="flat">
            <a:solidFill>
              <a:srgbClr val="A5A5A5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1456" name="Rectangle 16"/>
          <p:cNvSpPr>
            <a:spLocks/>
          </p:cNvSpPr>
          <p:nvPr/>
        </p:nvSpPr>
        <p:spPr bwMode="auto">
          <a:xfrm>
            <a:off x="6932613" y="1641475"/>
            <a:ext cx="1308100" cy="609600"/>
          </a:xfrm>
          <a:prstGeom prst="rect">
            <a:avLst/>
          </a:prstGeom>
          <a:solidFill>
            <a:srgbClr val="F6F5BD"/>
          </a:solidFill>
          <a:ln w="1905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l"/>
            <a:endParaRPr lang="en-US" sz="1800">
              <a:solidFill>
                <a:schemeClr val="tx1"/>
              </a:solidFill>
              <a:latin typeface="Courier New Bold" charset="0"/>
              <a:ea typeface="Monaco" charset="0"/>
              <a:cs typeface="Monaco" charset="0"/>
              <a:sym typeface="Courier New Bold" charset="0"/>
            </a:endParaRPr>
          </a:p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yoo</a:t>
            </a:r>
          </a:p>
        </p:txBody>
      </p:sp>
      <p:grpSp>
        <p:nvGrpSpPr>
          <p:cNvPr id="61457" name="Group 17"/>
          <p:cNvGrpSpPr>
            <a:grpSpLocks/>
          </p:cNvGrpSpPr>
          <p:nvPr/>
        </p:nvGrpSpPr>
        <p:grpSpPr bwMode="auto">
          <a:xfrm>
            <a:off x="5397500" y="1592263"/>
            <a:ext cx="1493838" cy="928687"/>
            <a:chOff x="0" y="0"/>
            <a:chExt cx="941" cy="585"/>
          </a:xfrm>
        </p:grpSpPr>
        <p:sp>
          <p:nvSpPr>
            <p:cNvPr id="61458" name="Line 18"/>
            <p:cNvSpPr>
              <a:spLocks noChangeShapeType="1"/>
            </p:cNvSpPr>
            <p:nvPr/>
          </p:nvSpPr>
          <p:spPr bwMode="auto">
            <a:xfrm>
              <a:off x="489" y="110"/>
              <a:ext cx="452" cy="0"/>
            </a:xfrm>
            <a:prstGeom prst="line">
              <a:avLst/>
            </a:prstGeom>
            <a:noFill/>
            <a:ln w="25400" cap="flat">
              <a:solidFill>
                <a:srgbClr val="7F7F7F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1459" name="Rectangle 19"/>
            <p:cNvSpPr>
              <a:spLocks/>
            </p:cNvSpPr>
            <p:nvPr/>
          </p:nvSpPr>
          <p:spPr bwMode="auto">
            <a:xfrm>
              <a:off x="1" y="0"/>
              <a:ext cx="496" cy="208"/>
            </a:xfrm>
            <a:prstGeom prst="rect">
              <a:avLst/>
            </a:prstGeom>
            <a:noFill/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/>
            <a:lstStyle/>
            <a:p>
              <a:pPr algn="r"/>
              <a:r>
                <a:rPr lang="en-US" sz="1800" dirty="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</a:t>
              </a:r>
              <a:r>
                <a:rPr lang="en-US" sz="1800" dirty="0" err="1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rbp</a:t>
              </a:r>
              <a:endPara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endParaRPr>
            </a:p>
          </p:txBody>
        </p:sp>
        <p:sp>
          <p:nvSpPr>
            <p:cNvPr id="61460" name="Line 20"/>
            <p:cNvSpPr>
              <a:spLocks noChangeShapeType="1"/>
            </p:cNvSpPr>
            <p:nvPr/>
          </p:nvSpPr>
          <p:spPr bwMode="auto">
            <a:xfrm>
              <a:off x="488" y="499"/>
              <a:ext cx="452" cy="0"/>
            </a:xfrm>
            <a:prstGeom prst="line">
              <a:avLst/>
            </a:prstGeom>
            <a:noFill/>
            <a:ln w="25400" cap="flat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1461" name="Rectangle 21"/>
            <p:cNvSpPr>
              <a:spLocks/>
            </p:cNvSpPr>
            <p:nvPr/>
          </p:nvSpPr>
          <p:spPr bwMode="auto">
            <a:xfrm>
              <a:off x="0" y="377"/>
              <a:ext cx="496" cy="208"/>
            </a:xfrm>
            <a:prstGeom prst="rect">
              <a:avLst/>
            </a:prstGeom>
            <a:noFill/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/>
            <a:lstStyle/>
            <a:p>
              <a:pPr algn="r"/>
              <a:r>
                <a:rPr lang="en-US" sz="1800" dirty="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</a:t>
              </a:r>
              <a:r>
                <a:rPr lang="en-US" sz="1800" dirty="0" err="1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rsp</a:t>
              </a:r>
              <a:endPara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endParaRPr>
            </a:p>
          </p:txBody>
        </p:sp>
      </p:grpSp>
      <p:sp>
        <p:nvSpPr>
          <p:cNvPr id="61462" name="Rectangle 22"/>
          <p:cNvSpPr>
            <a:spLocks/>
          </p:cNvSpPr>
          <p:nvPr/>
        </p:nvSpPr>
        <p:spPr bwMode="auto">
          <a:xfrm>
            <a:off x="6932613" y="1022350"/>
            <a:ext cx="1308100" cy="444500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1463" name="Rectangle 23"/>
          <p:cNvSpPr>
            <a:spLocks/>
          </p:cNvSpPr>
          <p:nvPr/>
        </p:nvSpPr>
        <p:spPr bwMode="auto">
          <a:xfrm>
            <a:off x="7194550" y="381000"/>
            <a:ext cx="760413" cy="444500"/>
          </a:xfrm>
          <a:prstGeom prst="rect">
            <a:avLst/>
          </a:prstGeom>
          <a:noFill/>
          <a:ln w="12700" cap="rnd">
            <a:noFill/>
            <a:round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24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Stack</a:t>
            </a:r>
          </a:p>
        </p:txBody>
      </p:sp>
      <p:graphicFrame>
        <p:nvGraphicFramePr>
          <p:cNvPr id="61465" name="Group 25"/>
          <p:cNvGraphicFramePr>
            <a:graphicFrameLocks noGrp="1"/>
          </p:cNvGraphicFramePr>
          <p:nvPr/>
        </p:nvGraphicFramePr>
        <p:xfrm>
          <a:off x="6934200" y="838200"/>
          <a:ext cx="1397000" cy="5778500"/>
        </p:xfrm>
        <a:graphic>
          <a:graphicData uri="http://schemas.openxmlformats.org/drawingml/2006/table">
            <a:tbl>
              <a:tblPr/>
              <a:tblGrid>
                <a:gridCol w="139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yoo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E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6" name="Rectangle 4"/>
          <p:cNvSpPr>
            <a:spLocks/>
          </p:cNvSpPr>
          <p:nvPr/>
        </p:nvSpPr>
        <p:spPr bwMode="auto">
          <a:xfrm>
            <a:off x="825500" y="1676400"/>
            <a:ext cx="1536700" cy="21336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yoo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(…)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who();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  </a:t>
            </a:r>
          </a:p>
        </p:txBody>
      </p:sp>
      <p:sp>
        <p:nvSpPr>
          <p:cNvPr id="58" name="AutoShape 56"/>
          <p:cNvSpPr>
            <a:spLocks/>
          </p:cNvSpPr>
          <p:nvPr/>
        </p:nvSpPr>
        <p:spPr bwMode="auto">
          <a:xfrm>
            <a:off x="139700" y="2514600"/>
            <a:ext cx="685800" cy="431800"/>
          </a:xfrm>
          <a:prstGeom prst="rightArrow">
            <a:avLst>
              <a:gd name="adj1" fmla="val 41185"/>
              <a:gd name="adj2" fmla="val 76471"/>
            </a:avLst>
          </a:prstGeom>
          <a:solidFill>
            <a:srgbClr val="C00000"/>
          </a:solidFill>
          <a:ln w="25400" cap="flat">
            <a:noFill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7B30341-E05B-6112-CA93-6F8E8C006384}"/>
              </a:ext>
            </a:extLst>
          </p:cNvPr>
          <p:cNvSpPr>
            <a:spLocks/>
          </p:cNvSpPr>
          <p:nvPr/>
        </p:nvSpPr>
        <p:spPr bwMode="auto">
          <a:xfrm>
            <a:off x="-1270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C35758F-B91B-5E7A-09A2-07F9CFBCB493}"/>
              </a:ext>
            </a:extLst>
          </p:cNvPr>
          <p:cNvSpPr>
            <a:spLocks/>
          </p:cNvSpPr>
          <p:nvPr/>
        </p:nvSpPr>
        <p:spPr bwMode="auto">
          <a:xfrm>
            <a:off x="-12700" y="6658594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62466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x86-64/Linux Stack Frame</a:t>
            </a:r>
          </a:p>
        </p:txBody>
      </p:sp>
      <p:sp>
        <p:nvSpPr>
          <p:cNvPr id="62468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381000" y="1397000"/>
            <a:ext cx="5372100" cy="5435600"/>
          </a:xfrm>
          <a:ln/>
        </p:spPr>
        <p:txBody>
          <a:bodyPr/>
          <a:lstStyle/>
          <a:p>
            <a:r>
              <a:rPr lang="en-US" dirty="0"/>
              <a:t>Current Stack Frame (“Top” to Bottom)</a:t>
            </a:r>
          </a:p>
          <a:p>
            <a:pPr marL="552450" lvl="1"/>
            <a:r>
              <a:rPr lang="en-US" dirty="0"/>
              <a:t>“Argument build:”</a:t>
            </a:r>
            <a:br>
              <a:rPr lang="en-US" dirty="0"/>
            </a:br>
            <a:r>
              <a:rPr lang="en-US" dirty="0"/>
              <a:t>Parameters for function about to call</a:t>
            </a:r>
          </a:p>
          <a:p>
            <a:pPr marL="552450" lvl="1"/>
            <a:r>
              <a:rPr lang="en-US" dirty="0"/>
              <a:t>Local variables</a:t>
            </a:r>
            <a:br>
              <a:rPr lang="en-US" dirty="0"/>
            </a:br>
            <a:r>
              <a:rPr lang="en-US" dirty="0"/>
              <a:t>If can’t keep in registers</a:t>
            </a:r>
          </a:p>
          <a:p>
            <a:pPr marL="552450" lvl="1"/>
            <a:r>
              <a:rPr lang="en-US" dirty="0"/>
              <a:t>Saved register context</a:t>
            </a:r>
          </a:p>
          <a:p>
            <a:pPr marL="552450" lvl="1"/>
            <a:r>
              <a:rPr lang="en-US" dirty="0"/>
              <a:t>Old frame pointer (optional)</a:t>
            </a:r>
          </a:p>
          <a:p>
            <a:endParaRPr lang="en-US" dirty="0"/>
          </a:p>
          <a:p>
            <a:r>
              <a:rPr lang="en-US" dirty="0"/>
              <a:t>Caller Stack Frame</a:t>
            </a:r>
          </a:p>
          <a:p>
            <a:pPr marL="552450" lvl="1"/>
            <a:r>
              <a:rPr lang="en-US" dirty="0"/>
              <a:t>Return address</a:t>
            </a:r>
          </a:p>
          <a:p>
            <a:pPr marL="838200" lvl="2"/>
            <a:r>
              <a:rPr lang="en-US" dirty="0"/>
              <a:t>Pushed by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call</a:t>
            </a:r>
            <a:r>
              <a:rPr lang="en-US" dirty="0"/>
              <a:t> instruction</a:t>
            </a:r>
          </a:p>
          <a:p>
            <a:pPr marL="552450" lvl="1"/>
            <a:r>
              <a:rPr lang="en-US" dirty="0"/>
              <a:t>Arguments for this call</a:t>
            </a:r>
          </a:p>
        </p:txBody>
      </p:sp>
      <p:sp>
        <p:nvSpPr>
          <p:cNvPr id="62469" name="Rectangle 5"/>
          <p:cNvSpPr>
            <a:spLocks/>
          </p:cNvSpPr>
          <p:nvPr/>
        </p:nvSpPr>
        <p:spPr bwMode="auto">
          <a:xfrm>
            <a:off x="7366000" y="3276600"/>
            <a:ext cx="1270000" cy="304800"/>
          </a:xfrm>
          <a:prstGeom prst="rect">
            <a:avLst/>
          </a:prstGeom>
          <a:solidFill>
            <a:srgbClr val="F2F2F2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r>
              <a:rPr lang="en-US" sz="18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Return Addr</a:t>
            </a:r>
          </a:p>
        </p:txBody>
      </p:sp>
      <p:sp>
        <p:nvSpPr>
          <p:cNvPr id="62470" name="Rectangle 6"/>
          <p:cNvSpPr>
            <a:spLocks/>
          </p:cNvSpPr>
          <p:nvPr/>
        </p:nvSpPr>
        <p:spPr bwMode="auto">
          <a:xfrm>
            <a:off x="7366000" y="3886200"/>
            <a:ext cx="1270000" cy="18161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r>
              <a:rPr lang="en-US" sz="18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Saved</a:t>
            </a:r>
          </a:p>
          <a:p>
            <a:r>
              <a:rPr lang="en-US" sz="18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Registers</a:t>
            </a:r>
          </a:p>
          <a:p>
            <a:r>
              <a:rPr lang="en-US" sz="18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+</a:t>
            </a:r>
          </a:p>
          <a:p>
            <a:r>
              <a:rPr lang="en-US" sz="18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Local</a:t>
            </a:r>
          </a:p>
          <a:p>
            <a:r>
              <a:rPr lang="en-US" sz="18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Variables</a:t>
            </a:r>
          </a:p>
        </p:txBody>
      </p:sp>
      <p:sp>
        <p:nvSpPr>
          <p:cNvPr id="62471" name="Rectangle 7"/>
          <p:cNvSpPr>
            <a:spLocks/>
          </p:cNvSpPr>
          <p:nvPr/>
        </p:nvSpPr>
        <p:spPr bwMode="auto">
          <a:xfrm>
            <a:off x="7366000" y="5699124"/>
            <a:ext cx="1270000" cy="854075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Argument</a:t>
            </a:r>
          </a:p>
          <a:p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Build</a:t>
            </a:r>
          </a:p>
          <a:p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(Optional)</a:t>
            </a:r>
          </a:p>
        </p:txBody>
      </p:sp>
      <p:sp>
        <p:nvSpPr>
          <p:cNvPr id="62472" name="Rectangle 8"/>
          <p:cNvSpPr>
            <a:spLocks/>
          </p:cNvSpPr>
          <p:nvPr/>
        </p:nvSpPr>
        <p:spPr bwMode="auto">
          <a:xfrm>
            <a:off x="7366000" y="1295400"/>
            <a:ext cx="1270000" cy="1371600"/>
          </a:xfrm>
          <a:prstGeom prst="rect">
            <a:avLst/>
          </a:prstGeom>
          <a:solidFill>
            <a:srgbClr val="F2F2F2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2473" name="Rectangle 9"/>
          <p:cNvSpPr>
            <a:spLocks/>
          </p:cNvSpPr>
          <p:nvPr/>
        </p:nvSpPr>
        <p:spPr bwMode="auto">
          <a:xfrm>
            <a:off x="7366000" y="3581400"/>
            <a:ext cx="1270000" cy="304800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r>
              <a:rPr lang="en-US" sz="1800" dirty="0">
                <a:solidFill>
                  <a:srgbClr val="7F7F7F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Old </a:t>
            </a:r>
            <a:r>
              <a:rPr lang="en-US" sz="1800" b="1" dirty="0">
                <a:solidFill>
                  <a:srgbClr val="7F7F7F"/>
                </a:solidFill>
                <a:latin typeface="Courier New"/>
                <a:ea typeface="Calibri Bold" charset="0"/>
                <a:cs typeface="Courier New"/>
                <a:sym typeface="Calibri Bold" charset="0"/>
              </a:rPr>
              <a:t>%</a:t>
            </a:r>
            <a:r>
              <a:rPr lang="en-US" sz="1800" b="1" dirty="0" err="1">
                <a:solidFill>
                  <a:srgbClr val="7F7F7F"/>
                </a:solidFill>
                <a:latin typeface="Courier New"/>
                <a:ea typeface="Calibri Bold" charset="0"/>
                <a:cs typeface="Courier New"/>
                <a:sym typeface="Calibri Bold" charset="0"/>
              </a:rPr>
              <a:t>rbp</a:t>
            </a:r>
            <a:endParaRPr lang="en-US" sz="1800" b="1" dirty="0">
              <a:solidFill>
                <a:srgbClr val="7F7F7F"/>
              </a:solidFill>
              <a:latin typeface="Courier New"/>
              <a:ea typeface="Calibri Bold" charset="0"/>
              <a:cs typeface="Courier New"/>
              <a:sym typeface="Calibri Bold" charset="0"/>
            </a:endParaRPr>
          </a:p>
        </p:txBody>
      </p:sp>
      <p:sp>
        <p:nvSpPr>
          <p:cNvPr id="62474" name="Rectangle 10"/>
          <p:cNvSpPr>
            <a:spLocks/>
          </p:cNvSpPr>
          <p:nvPr/>
        </p:nvSpPr>
        <p:spPr bwMode="auto">
          <a:xfrm>
            <a:off x="7366000" y="2667000"/>
            <a:ext cx="1270000" cy="609600"/>
          </a:xfrm>
          <a:prstGeom prst="rect">
            <a:avLst/>
          </a:prstGeom>
          <a:solidFill>
            <a:srgbClr val="F2F2F2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Arguments</a:t>
            </a:r>
          </a:p>
          <a:p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7+</a:t>
            </a:r>
          </a:p>
        </p:txBody>
      </p:sp>
      <p:sp>
        <p:nvSpPr>
          <p:cNvPr id="62475" name="Rectangle 11"/>
          <p:cNvSpPr>
            <a:spLocks/>
          </p:cNvSpPr>
          <p:nvPr/>
        </p:nvSpPr>
        <p:spPr bwMode="auto">
          <a:xfrm>
            <a:off x="6235700" y="2125663"/>
            <a:ext cx="684213" cy="6350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r"/>
            <a:r>
              <a:rPr lang="en-US" sz="18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Caller</a:t>
            </a:r>
            <a:endParaRPr lang="en-US">
              <a:solidFill>
                <a:schemeClr val="tx1"/>
              </a:solidFill>
              <a:latin typeface="Arial Narrow Bold" charset="0"/>
              <a:ea typeface="Lucida Grande" charset="0"/>
              <a:cs typeface="Lucida Grande" charset="0"/>
              <a:sym typeface="Arial Narrow Bold" charset="0"/>
            </a:endParaRPr>
          </a:p>
          <a:p>
            <a:pPr algn="r"/>
            <a:r>
              <a:rPr lang="en-US" sz="18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Frame</a:t>
            </a:r>
          </a:p>
        </p:txBody>
      </p:sp>
      <p:sp>
        <p:nvSpPr>
          <p:cNvPr id="62476" name="AutoShape 12"/>
          <p:cNvSpPr>
            <a:spLocks/>
          </p:cNvSpPr>
          <p:nvPr/>
        </p:nvSpPr>
        <p:spPr bwMode="auto">
          <a:xfrm>
            <a:off x="6981825" y="1295400"/>
            <a:ext cx="228600" cy="2260600"/>
          </a:xfrm>
          <a:custGeom>
            <a:avLst/>
            <a:gdLst>
              <a:gd name="T0" fmla="*/ 10800 w 21600"/>
              <a:gd name="T1" fmla="*/ 10800 h 21600"/>
            </a:gdLst>
            <a:ahLst/>
            <a:cxnLst>
              <a:cxn ang="0">
                <a:pos x="T0" y="T1"/>
              </a:cxn>
            </a:cxnLst>
            <a:rect l="0" t="0" r="r" b="b"/>
            <a:pathLst>
              <a:path w="21600" h="21600">
                <a:moveTo>
                  <a:pt x="21600" y="21600"/>
                </a:moveTo>
                <a:cubicBezTo>
                  <a:pt x="15635" y="21600"/>
                  <a:pt x="10800" y="20875"/>
                  <a:pt x="10800" y="19980"/>
                </a:cubicBezTo>
                <a:lnTo>
                  <a:pt x="10800" y="12420"/>
                </a:lnTo>
                <a:cubicBezTo>
                  <a:pt x="10800" y="11525"/>
                  <a:pt x="5965" y="10800"/>
                  <a:pt x="0" y="10800"/>
                </a:cubicBezTo>
                <a:cubicBezTo>
                  <a:pt x="5965" y="10800"/>
                  <a:pt x="10800" y="10075"/>
                  <a:pt x="10800" y="9180"/>
                </a:cubicBezTo>
                <a:lnTo>
                  <a:pt x="10800" y="1620"/>
                </a:lnTo>
                <a:cubicBezTo>
                  <a:pt x="10800" y="725"/>
                  <a:pt x="15635" y="0"/>
                  <a:pt x="21600" y="0"/>
                </a:cubicBezTo>
              </a:path>
            </a:pathLst>
          </a:cu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2477" name="Line 13"/>
          <p:cNvSpPr>
            <a:spLocks noChangeShapeType="1"/>
          </p:cNvSpPr>
          <p:nvPr/>
        </p:nvSpPr>
        <p:spPr bwMode="auto">
          <a:xfrm>
            <a:off x="6469063" y="3732213"/>
            <a:ext cx="717550" cy="0"/>
          </a:xfrm>
          <a:prstGeom prst="line">
            <a:avLst/>
          </a:prstGeom>
          <a:noFill/>
          <a:ln w="25400" cap="flat">
            <a:solidFill>
              <a:srgbClr val="7F7F7F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2478" name="Rectangle 14"/>
          <p:cNvSpPr>
            <a:spLocks/>
          </p:cNvSpPr>
          <p:nvPr/>
        </p:nvSpPr>
        <p:spPr bwMode="auto">
          <a:xfrm>
            <a:off x="4927600" y="3268663"/>
            <a:ext cx="1562100" cy="6096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r"/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Frame pointer</a:t>
            </a:r>
            <a:b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</a:br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18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rbp</a:t>
            </a:r>
            <a:endParaRPr lang="en-US" sz="18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62479" name="Line 15"/>
          <p:cNvSpPr>
            <a:spLocks noChangeShapeType="1"/>
          </p:cNvSpPr>
          <p:nvPr/>
        </p:nvSpPr>
        <p:spPr bwMode="auto">
          <a:xfrm>
            <a:off x="6478588" y="6488112"/>
            <a:ext cx="719137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2480" name="Rectangle 16"/>
          <p:cNvSpPr>
            <a:spLocks/>
          </p:cNvSpPr>
          <p:nvPr/>
        </p:nvSpPr>
        <p:spPr bwMode="auto">
          <a:xfrm>
            <a:off x="5005388" y="6019800"/>
            <a:ext cx="1485900" cy="6096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r"/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Stack pointer</a:t>
            </a:r>
            <a:endParaRPr lang="en-US" dirty="0">
              <a:solidFill>
                <a:schemeClr val="tx1"/>
              </a:solidFill>
              <a:latin typeface="Arial Narrow Bold" charset="0"/>
              <a:ea typeface="Lucida Grande" charset="0"/>
              <a:cs typeface="Lucida Grande" charset="0"/>
              <a:sym typeface="Arial Narrow Bold" charset="0"/>
            </a:endParaRPr>
          </a:p>
          <a:p>
            <a:pPr algn="r"/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18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rsp</a:t>
            </a:r>
            <a:endParaRPr lang="en-US" sz="18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18" name="Rectangle 14"/>
          <p:cNvSpPr>
            <a:spLocks/>
          </p:cNvSpPr>
          <p:nvPr/>
        </p:nvSpPr>
        <p:spPr bwMode="auto">
          <a:xfrm>
            <a:off x="4953000" y="3810000"/>
            <a:ext cx="1562100" cy="6096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r"/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(Optional)</a:t>
            </a:r>
            <a:endParaRPr lang="en-US" sz="18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836380E-68C0-A1E5-2099-55BC7FE63BAC}"/>
              </a:ext>
            </a:extLst>
          </p:cNvPr>
          <p:cNvSpPr>
            <a:spLocks/>
          </p:cNvSpPr>
          <p:nvPr/>
        </p:nvSpPr>
        <p:spPr bwMode="auto">
          <a:xfrm>
            <a:off x="-1270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88D3C45-5783-6AA6-77CF-D8783BAA4156}"/>
              </a:ext>
            </a:extLst>
          </p:cNvPr>
          <p:cNvSpPr>
            <a:spLocks/>
          </p:cNvSpPr>
          <p:nvPr/>
        </p:nvSpPr>
        <p:spPr bwMode="auto">
          <a:xfrm>
            <a:off x="-12700" y="6658594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63490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Example: 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incr</a:t>
            </a:r>
            <a:endParaRPr lang="en-US" dirty="0">
              <a:latin typeface="Courier New Bold" charset="0"/>
              <a:sym typeface="Courier New Bold" charset="0"/>
            </a:endParaRPr>
          </a:p>
        </p:txBody>
      </p:sp>
      <p:sp>
        <p:nvSpPr>
          <p:cNvPr id="63492" name="Rectangle 4"/>
          <p:cNvSpPr>
            <a:spLocks/>
          </p:cNvSpPr>
          <p:nvPr/>
        </p:nvSpPr>
        <p:spPr bwMode="auto">
          <a:xfrm>
            <a:off x="381000" y="1371600"/>
            <a:ext cx="4876800" cy="18288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long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incr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(long *p, long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val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 {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long x = *p;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long y = x +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val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;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*p = y;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return x;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63494" name="Rectangle 6"/>
          <p:cNvSpPr>
            <a:spLocks/>
          </p:cNvSpPr>
          <p:nvPr/>
        </p:nvSpPr>
        <p:spPr bwMode="auto">
          <a:xfrm>
            <a:off x="381000" y="4038600"/>
            <a:ext cx="4279900" cy="1524000"/>
          </a:xfrm>
          <a:prstGeom prst="rect">
            <a:avLst/>
          </a:prstGeom>
          <a:solidFill>
            <a:srgbClr val="CDF1C5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>
              <a:tabLst>
                <a:tab pos="457200" algn="l"/>
                <a:tab pos="1485900" algn="l"/>
                <a:tab pos="2349500" algn="l"/>
                <a:tab pos="457200" algn="l"/>
                <a:tab pos="1485900" algn="l"/>
                <a:tab pos="2349500" algn="l"/>
                <a:tab pos="457200" algn="l"/>
                <a:tab pos="1485900" algn="l"/>
                <a:tab pos="2349500" algn="l"/>
                <a:tab pos="457200" algn="l"/>
                <a:tab pos="1485900" algn="l"/>
                <a:tab pos="2349500" algn="l"/>
                <a:tab pos="457200" algn="l"/>
                <a:tab pos="1485900" algn="l"/>
                <a:tab pos="2349500" algn="l"/>
                <a:tab pos="457200" algn="l"/>
                <a:tab pos="1485900" algn="l"/>
                <a:tab pos="2349500" algn="l"/>
              </a:tabLst>
            </a:pP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incr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:</a:t>
            </a:r>
          </a:p>
          <a:p>
            <a:pPr algn="l">
              <a:tabLst>
                <a:tab pos="457200" algn="l"/>
                <a:tab pos="1485900" algn="l"/>
                <a:tab pos="2349500" algn="l"/>
                <a:tab pos="457200" algn="l"/>
                <a:tab pos="1485900" algn="l"/>
                <a:tab pos="2349500" algn="l"/>
                <a:tab pos="457200" algn="l"/>
                <a:tab pos="1485900" algn="l"/>
                <a:tab pos="2349500" algn="l"/>
                <a:tab pos="457200" algn="l"/>
                <a:tab pos="1485900" algn="l"/>
                <a:tab pos="2349500" algn="l"/>
                <a:tab pos="457200" algn="l"/>
                <a:tab pos="1485900" algn="l"/>
                <a:tab pos="2349500" algn="l"/>
                <a:tab pos="457200" algn="l"/>
                <a:tab pos="1485900" algn="l"/>
                <a:tab pos="23495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movq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(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%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rdi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), </a:t>
            </a:r>
            <a:r>
              <a:rPr lang="en-US" sz="1800" b="1" dirty="0">
                <a:solidFill>
                  <a:srgbClr val="008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%</a:t>
            </a:r>
            <a:r>
              <a:rPr lang="en-US" sz="1800" b="1" dirty="0" err="1">
                <a:solidFill>
                  <a:srgbClr val="008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rax</a:t>
            </a:r>
            <a:endParaRPr lang="en-US" sz="1800" b="1" dirty="0">
              <a:solidFill>
                <a:srgbClr val="008000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2349500" algn="l"/>
                <a:tab pos="457200" algn="l"/>
                <a:tab pos="1485900" algn="l"/>
                <a:tab pos="2349500" algn="l"/>
                <a:tab pos="457200" algn="l"/>
                <a:tab pos="1485900" algn="l"/>
                <a:tab pos="2349500" algn="l"/>
                <a:tab pos="457200" algn="l"/>
                <a:tab pos="1485900" algn="l"/>
                <a:tab pos="2349500" algn="l"/>
                <a:tab pos="457200" algn="l"/>
                <a:tab pos="1485900" algn="l"/>
                <a:tab pos="2349500" algn="l"/>
                <a:tab pos="457200" algn="l"/>
                <a:tab pos="1485900" algn="l"/>
                <a:tab pos="23495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addq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rax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rsi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2349500" algn="l"/>
                <a:tab pos="457200" algn="l"/>
                <a:tab pos="1485900" algn="l"/>
                <a:tab pos="2349500" algn="l"/>
                <a:tab pos="457200" algn="l"/>
                <a:tab pos="1485900" algn="l"/>
                <a:tab pos="2349500" algn="l"/>
                <a:tab pos="457200" algn="l"/>
                <a:tab pos="1485900" algn="l"/>
                <a:tab pos="2349500" algn="l"/>
                <a:tab pos="457200" algn="l"/>
                <a:tab pos="1485900" algn="l"/>
                <a:tab pos="2349500" algn="l"/>
                <a:tab pos="457200" algn="l"/>
                <a:tab pos="1485900" algn="l"/>
                <a:tab pos="23495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movq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%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rsi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, (%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rdi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</a:t>
            </a:r>
          </a:p>
          <a:p>
            <a:pPr algn="l">
              <a:tabLst>
                <a:tab pos="457200" algn="l"/>
                <a:tab pos="1485900" algn="l"/>
                <a:tab pos="2349500" algn="l"/>
                <a:tab pos="457200" algn="l"/>
                <a:tab pos="1485900" algn="l"/>
                <a:tab pos="2349500" algn="l"/>
                <a:tab pos="457200" algn="l"/>
                <a:tab pos="1485900" algn="l"/>
                <a:tab pos="2349500" algn="l"/>
                <a:tab pos="457200" algn="l"/>
                <a:tab pos="1485900" algn="l"/>
                <a:tab pos="2349500" algn="l"/>
                <a:tab pos="457200" algn="l"/>
                <a:tab pos="1485900" algn="l"/>
                <a:tab pos="2349500" algn="l"/>
                <a:tab pos="457200" algn="l"/>
                <a:tab pos="1485900" algn="l"/>
                <a:tab pos="23495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ret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1571314"/>
              </p:ext>
            </p:extLst>
          </p:nvPr>
        </p:nvGraphicFramePr>
        <p:xfrm>
          <a:off x="5257800" y="4114800"/>
          <a:ext cx="335280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Register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Use(s)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rdi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Argument </a:t>
                      </a:r>
                      <a:r>
                        <a:rPr lang="en-US" b="1" i="0" dirty="0">
                          <a:latin typeface="Courier New"/>
                          <a:cs typeface="Courier New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rsi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Argument 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val</a:t>
                      </a:r>
                      <a:r>
                        <a:rPr lang="en-US" dirty="0">
                          <a:latin typeface="Calibri"/>
                          <a:cs typeface="Calibri"/>
                        </a:rPr>
                        <a:t>, </a:t>
                      </a:r>
                      <a:r>
                        <a:rPr lang="en-US" b="1" i="0" dirty="0">
                          <a:latin typeface="Courier New"/>
                          <a:cs typeface="Courier New"/>
                        </a:rPr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rax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x</a:t>
                      </a:r>
                      <a:r>
                        <a:rPr lang="en-US" dirty="0">
                          <a:latin typeface="Calibri"/>
                          <a:cs typeface="Calibri"/>
                        </a:rPr>
                        <a:t>, Return value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AAF2BB57-2122-9B5E-93EA-CAEE24D86A6D}"/>
              </a:ext>
            </a:extLst>
          </p:cNvPr>
          <p:cNvSpPr>
            <a:spLocks/>
          </p:cNvSpPr>
          <p:nvPr/>
        </p:nvSpPr>
        <p:spPr bwMode="auto">
          <a:xfrm>
            <a:off x="-1270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148335F-14E1-91CC-62F3-F902AC85F3D9}"/>
              </a:ext>
            </a:extLst>
          </p:cNvPr>
          <p:cNvSpPr>
            <a:spLocks/>
          </p:cNvSpPr>
          <p:nvPr/>
        </p:nvSpPr>
        <p:spPr bwMode="auto">
          <a:xfrm>
            <a:off x="-12700" y="6658594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63490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Example: Calling 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incr</a:t>
            </a:r>
            <a:r>
              <a:rPr lang="en-US" dirty="0"/>
              <a:t> #1</a:t>
            </a:r>
            <a:endParaRPr lang="en-US" dirty="0">
              <a:latin typeface="Courier New Bold" charset="0"/>
              <a:sym typeface="Courier New Bold" charset="0"/>
            </a:endParaRPr>
          </a:p>
        </p:txBody>
      </p:sp>
      <p:sp>
        <p:nvSpPr>
          <p:cNvPr id="63492" name="Rectangle 4"/>
          <p:cNvSpPr>
            <a:spLocks/>
          </p:cNvSpPr>
          <p:nvPr/>
        </p:nvSpPr>
        <p:spPr bwMode="auto">
          <a:xfrm>
            <a:off x="381000" y="3581400"/>
            <a:ext cx="4419600" cy="29718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call_incr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: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subq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$16, %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rsp</a:t>
            </a:r>
            <a:endParaRPr lang="en-US" sz="1800" b="1" dirty="0">
              <a:solidFill>
                <a:srgbClr val="FF0000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movq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$15213, 8(%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rsp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movl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$3000,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esi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leaq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8(%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rsp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rdi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call  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incr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addq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8(%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rsp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rax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addq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$16,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rsp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ret</a:t>
            </a:r>
          </a:p>
        </p:txBody>
      </p:sp>
      <p:sp>
        <p:nvSpPr>
          <p:cNvPr id="63493" name="Rectangle 5"/>
          <p:cNvSpPr>
            <a:spLocks/>
          </p:cNvSpPr>
          <p:nvPr/>
        </p:nvSpPr>
        <p:spPr bwMode="auto">
          <a:xfrm>
            <a:off x="381000" y="1371600"/>
            <a:ext cx="4343400" cy="16002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long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call_incr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() {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long v1 = 15213;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long v2 =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incr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(&amp;v1, 3000);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return v1+v2;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</p:txBody>
      </p:sp>
      <p:sp>
        <p:nvSpPr>
          <p:cNvPr id="63498" name="Line 10"/>
          <p:cNvSpPr>
            <a:spLocks noChangeShapeType="1"/>
          </p:cNvSpPr>
          <p:nvPr/>
        </p:nvSpPr>
        <p:spPr bwMode="auto">
          <a:xfrm flipH="1">
            <a:off x="6477000" y="2743200"/>
            <a:ext cx="45720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3499" name="Rectangle 11"/>
          <p:cNvSpPr>
            <a:spLocks/>
          </p:cNvSpPr>
          <p:nvPr/>
        </p:nvSpPr>
        <p:spPr bwMode="auto">
          <a:xfrm>
            <a:off x="6983413" y="2584450"/>
            <a:ext cx="654025" cy="35394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18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rsp</a:t>
            </a:r>
            <a:endParaRPr lang="en-US" sz="18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63500" name="Rectangle 12"/>
          <p:cNvSpPr>
            <a:spLocks/>
          </p:cNvSpPr>
          <p:nvPr/>
        </p:nvSpPr>
        <p:spPr bwMode="auto">
          <a:xfrm>
            <a:off x="5943600" y="1066800"/>
            <a:ext cx="2301486" cy="384721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20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Initial Stack Structure</a:t>
            </a:r>
          </a:p>
        </p:txBody>
      </p:sp>
      <p:sp>
        <p:nvSpPr>
          <p:cNvPr id="63501" name="Rectangle 13"/>
          <p:cNvSpPr>
            <a:spLocks/>
          </p:cNvSpPr>
          <p:nvPr/>
        </p:nvSpPr>
        <p:spPr bwMode="auto">
          <a:xfrm>
            <a:off x="5181600" y="1600200"/>
            <a:ext cx="1295400" cy="9144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. . .</a:t>
            </a:r>
          </a:p>
        </p:txBody>
      </p:sp>
      <p:sp>
        <p:nvSpPr>
          <p:cNvPr id="16" name="Rectangle 9"/>
          <p:cNvSpPr>
            <a:spLocks/>
          </p:cNvSpPr>
          <p:nvPr/>
        </p:nvSpPr>
        <p:spPr bwMode="auto">
          <a:xfrm>
            <a:off x="5181600" y="2514600"/>
            <a:ext cx="1295400" cy="381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 err="1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Rtn</a:t>
            </a:r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 address</a:t>
            </a:r>
          </a:p>
        </p:txBody>
      </p:sp>
      <p:sp>
        <p:nvSpPr>
          <p:cNvPr id="17" name="Rectangle 7"/>
          <p:cNvSpPr>
            <a:spLocks/>
          </p:cNvSpPr>
          <p:nvPr/>
        </p:nvSpPr>
        <p:spPr bwMode="auto">
          <a:xfrm>
            <a:off x="5181600" y="5715000"/>
            <a:ext cx="1295400" cy="381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15213</a:t>
            </a:r>
          </a:p>
        </p:txBody>
      </p:sp>
      <p:sp>
        <p:nvSpPr>
          <p:cNvPr id="18" name="Rectangle 9"/>
          <p:cNvSpPr>
            <a:spLocks/>
          </p:cNvSpPr>
          <p:nvPr/>
        </p:nvSpPr>
        <p:spPr bwMode="auto">
          <a:xfrm>
            <a:off x="5181600" y="6096000"/>
            <a:ext cx="1295400" cy="381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Unused</a:t>
            </a:r>
          </a:p>
        </p:txBody>
      </p:sp>
      <p:sp>
        <p:nvSpPr>
          <p:cNvPr id="19" name="Line 10"/>
          <p:cNvSpPr>
            <a:spLocks noChangeShapeType="1"/>
          </p:cNvSpPr>
          <p:nvPr/>
        </p:nvSpPr>
        <p:spPr bwMode="auto">
          <a:xfrm flipH="1">
            <a:off x="6503987" y="6330950"/>
            <a:ext cx="45720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0" name="Rectangle 11"/>
          <p:cNvSpPr>
            <a:spLocks/>
          </p:cNvSpPr>
          <p:nvPr/>
        </p:nvSpPr>
        <p:spPr bwMode="auto">
          <a:xfrm>
            <a:off x="7010400" y="6102350"/>
            <a:ext cx="654025" cy="35394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18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rsp</a:t>
            </a:r>
            <a:endParaRPr lang="en-US" sz="18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21" name="Rectangle 12"/>
          <p:cNvSpPr>
            <a:spLocks/>
          </p:cNvSpPr>
          <p:nvPr/>
        </p:nvSpPr>
        <p:spPr bwMode="auto">
          <a:xfrm>
            <a:off x="5943600" y="3886200"/>
            <a:ext cx="2677816" cy="384721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20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Resulting Stack Structure</a:t>
            </a:r>
          </a:p>
        </p:txBody>
      </p:sp>
      <p:sp>
        <p:nvSpPr>
          <p:cNvPr id="22" name="Rectangle 13"/>
          <p:cNvSpPr>
            <a:spLocks/>
          </p:cNvSpPr>
          <p:nvPr/>
        </p:nvSpPr>
        <p:spPr bwMode="auto">
          <a:xfrm>
            <a:off x="5181600" y="4419600"/>
            <a:ext cx="1295400" cy="9144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. . .</a:t>
            </a:r>
          </a:p>
        </p:txBody>
      </p:sp>
      <p:sp>
        <p:nvSpPr>
          <p:cNvPr id="23" name="Rectangle 9"/>
          <p:cNvSpPr>
            <a:spLocks/>
          </p:cNvSpPr>
          <p:nvPr/>
        </p:nvSpPr>
        <p:spPr bwMode="auto">
          <a:xfrm>
            <a:off x="5181600" y="5334000"/>
            <a:ext cx="1295400" cy="381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 err="1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Rtn</a:t>
            </a:r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 address</a:t>
            </a:r>
          </a:p>
        </p:txBody>
      </p:sp>
      <p:sp>
        <p:nvSpPr>
          <p:cNvPr id="26" name="Line 10"/>
          <p:cNvSpPr>
            <a:spLocks noChangeShapeType="1"/>
          </p:cNvSpPr>
          <p:nvPr/>
        </p:nvSpPr>
        <p:spPr bwMode="auto">
          <a:xfrm flipH="1">
            <a:off x="6477000" y="5943600"/>
            <a:ext cx="45720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7" name="Rectangle 11"/>
          <p:cNvSpPr>
            <a:spLocks/>
          </p:cNvSpPr>
          <p:nvPr/>
        </p:nvSpPr>
        <p:spPr bwMode="auto">
          <a:xfrm>
            <a:off x="6983413" y="5715000"/>
            <a:ext cx="908076" cy="35394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%rsp+8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536782-1D04-8409-AA97-A818926EF028}"/>
              </a:ext>
            </a:extLst>
          </p:cNvPr>
          <p:cNvSpPr>
            <a:spLocks/>
          </p:cNvSpPr>
          <p:nvPr/>
        </p:nvSpPr>
        <p:spPr bwMode="auto">
          <a:xfrm>
            <a:off x="-1270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40422F8-6B37-76E9-8787-C1BA288AD6D9}"/>
              </a:ext>
            </a:extLst>
          </p:cNvPr>
          <p:cNvSpPr>
            <a:spLocks/>
          </p:cNvSpPr>
          <p:nvPr/>
        </p:nvSpPr>
        <p:spPr bwMode="auto">
          <a:xfrm>
            <a:off x="-12700" y="6658594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422931"/>
      </p:ext>
    </p:extLst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63490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Example: Calling 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incr</a:t>
            </a:r>
            <a:r>
              <a:rPr lang="en-US" dirty="0"/>
              <a:t> #2</a:t>
            </a:r>
            <a:endParaRPr lang="en-US" dirty="0">
              <a:latin typeface="Courier New Bold" charset="0"/>
              <a:sym typeface="Courier New Bold" charset="0"/>
            </a:endParaRPr>
          </a:p>
        </p:txBody>
      </p:sp>
      <p:sp>
        <p:nvSpPr>
          <p:cNvPr id="63492" name="Rectangle 4"/>
          <p:cNvSpPr>
            <a:spLocks/>
          </p:cNvSpPr>
          <p:nvPr/>
        </p:nvSpPr>
        <p:spPr bwMode="auto">
          <a:xfrm>
            <a:off x="381000" y="3581400"/>
            <a:ext cx="4419600" cy="29718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call_incr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: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subq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$16,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rsp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movq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$15213, 8(%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rsp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movl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$3000, %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esi</a:t>
            </a:r>
            <a:endParaRPr lang="en-US" sz="1800" b="1" dirty="0">
              <a:solidFill>
                <a:srgbClr val="FF0000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leaq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8(%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rsp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), %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rdi</a:t>
            </a:r>
            <a:endParaRPr lang="en-US" sz="1800" b="1" dirty="0">
              <a:solidFill>
                <a:srgbClr val="FF0000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  call    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incr</a:t>
            </a:r>
            <a:endParaRPr lang="en-US" sz="1800" b="1" dirty="0"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addq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8(%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rsp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rax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addq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$16,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rsp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ret</a:t>
            </a:r>
          </a:p>
        </p:txBody>
      </p:sp>
      <p:sp>
        <p:nvSpPr>
          <p:cNvPr id="63493" name="Rectangle 5"/>
          <p:cNvSpPr>
            <a:spLocks/>
          </p:cNvSpPr>
          <p:nvPr/>
        </p:nvSpPr>
        <p:spPr bwMode="auto">
          <a:xfrm>
            <a:off x="381000" y="1371600"/>
            <a:ext cx="4343400" cy="16002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long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call_incr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() {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long v1 = 15213;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long v2 = 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incr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(&amp;v1, 3000);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return v1+v2;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</p:txBody>
      </p:sp>
      <p:sp>
        <p:nvSpPr>
          <p:cNvPr id="17" name="Rectangle 7"/>
          <p:cNvSpPr>
            <a:spLocks/>
          </p:cNvSpPr>
          <p:nvPr/>
        </p:nvSpPr>
        <p:spPr bwMode="auto">
          <a:xfrm>
            <a:off x="5181600" y="2971800"/>
            <a:ext cx="1295400" cy="381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15213</a:t>
            </a:r>
          </a:p>
        </p:txBody>
      </p:sp>
      <p:sp>
        <p:nvSpPr>
          <p:cNvPr id="18" name="Rectangle 9"/>
          <p:cNvSpPr>
            <a:spLocks/>
          </p:cNvSpPr>
          <p:nvPr/>
        </p:nvSpPr>
        <p:spPr bwMode="auto">
          <a:xfrm>
            <a:off x="5181600" y="3352800"/>
            <a:ext cx="1295400" cy="381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Unused</a:t>
            </a:r>
          </a:p>
        </p:txBody>
      </p:sp>
      <p:sp>
        <p:nvSpPr>
          <p:cNvPr id="19" name="Line 10"/>
          <p:cNvSpPr>
            <a:spLocks noChangeShapeType="1"/>
          </p:cNvSpPr>
          <p:nvPr/>
        </p:nvSpPr>
        <p:spPr bwMode="auto">
          <a:xfrm flipH="1">
            <a:off x="6503987" y="3587750"/>
            <a:ext cx="45720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0" name="Rectangle 11"/>
          <p:cNvSpPr>
            <a:spLocks/>
          </p:cNvSpPr>
          <p:nvPr/>
        </p:nvSpPr>
        <p:spPr bwMode="auto">
          <a:xfrm>
            <a:off x="7010400" y="3359150"/>
            <a:ext cx="654025" cy="35394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18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rsp</a:t>
            </a:r>
            <a:endParaRPr lang="en-US" sz="18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21" name="Rectangle 12"/>
          <p:cNvSpPr>
            <a:spLocks/>
          </p:cNvSpPr>
          <p:nvPr/>
        </p:nvSpPr>
        <p:spPr bwMode="auto">
          <a:xfrm>
            <a:off x="5943600" y="1143000"/>
            <a:ext cx="1660661" cy="384721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20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Stack Structure</a:t>
            </a:r>
          </a:p>
        </p:txBody>
      </p:sp>
      <p:sp>
        <p:nvSpPr>
          <p:cNvPr id="22" name="Rectangle 13"/>
          <p:cNvSpPr>
            <a:spLocks/>
          </p:cNvSpPr>
          <p:nvPr/>
        </p:nvSpPr>
        <p:spPr bwMode="auto">
          <a:xfrm>
            <a:off x="5181600" y="1676400"/>
            <a:ext cx="1295400" cy="9144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. . .</a:t>
            </a:r>
          </a:p>
        </p:txBody>
      </p:sp>
      <p:sp>
        <p:nvSpPr>
          <p:cNvPr id="23" name="Rectangle 9"/>
          <p:cNvSpPr>
            <a:spLocks/>
          </p:cNvSpPr>
          <p:nvPr/>
        </p:nvSpPr>
        <p:spPr bwMode="auto">
          <a:xfrm>
            <a:off x="5181600" y="2590800"/>
            <a:ext cx="1295400" cy="381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 err="1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Rtn</a:t>
            </a:r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 address</a:t>
            </a:r>
          </a:p>
        </p:txBody>
      </p:sp>
      <p:sp>
        <p:nvSpPr>
          <p:cNvPr id="26" name="Line 10"/>
          <p:cNvSpPr>
            <a:spLocks noChangeShapeType="1"/>
          </p:cNvSpPr>
          <p:nvPr/>
        </p:nvSpPr>
        <p:spPr bwMode="auto">
          <a:xfrm flipH="1">
            <a:off x="6477000" y="3200400"/>
            <a:ext cx="45720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7" name="Rectangle 11"/>
          <p:cNvSpPr>
            <a:spLocks/>
          </p:cNvSpPr>
          <p:nvPr/>
        </p:nvSpPr>
        <p:spPr bwMode="auto">
          <a:xfrm>
            <a:off x="6983413" y="2971800"/>
            <a:ext cx="908076" cy="35394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%rsp+8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9738014"/>
              </p:ext>
            </p:extLst>
          </p:nvPr>
        </p:nvGraphicFramePr>
        <p:xfrm>
          <a:off x="5257800" y="4114800"/>
          <a:ext cx="3352800" cy="112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Register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Use(s)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rdi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&amp;v1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rsi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i="0" dirty="0">
                          <a:latin typeface="Courier New"/>
                          <a:cs typeface="Courier New"/>
                        </a:rPr>
                        <a:t>3000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5EDB6A82-FC0B-7B86-69D5-AF35F353C264}"/>
              </a:ext>
            </a:extLst>
          </p:cNvPr>
          <p:cNvSpPr>
            <a:spLocks/>
          </p:cNvSpPr>
          <p:nvPr/>
        </p:nvSpPr>
        <p:spPr bwMode="auto">
          <a:xfrm>
            <a:off x="-1270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527A2B2-264A-924A-3969-178C285DD870}"/>
              </a:ext>
            </a:extLst>
          </p:cNvPr>
          <p:cNvSpPr>
            <a:spLocks/>
          </p:cNvSpPr>
          <p:nvPr/>
        </p:nvSpPr>
        <p:spPr bwMode="auto">
          <a:xfrm>
            <a:off x="-12700" y="6658594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713233"/>
      </p:ext>
    </p:extLst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63490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Example: Calling 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incr</a:t>
            </a:r>
            <a:r>
              <a:rPr lang="en-US" dirty="0"/>
              <a:t> #3</a:t>
            </a:r>
            <a:endParaRPr lang="en-US" dirty="0">
              <a:latin typeface="Courier New Bold" charset="0"/>
              <a:sym typeface="Courier New Bold" charset="0"/>
            </a:endParaRPr>
          </a:p>
        </p:txBody>
      </p:sp>
      <p:sp>
        <p:nvSpPr>
          <p:cNvPr id="63492" name="Rectangle 4"/>
          <p:cNvSpPr>
            <a:spLocks/>
          </p:cNvSpPr>
          <p:nvPr/>
        </p:nvSpPr>
        <p:spPr bwMode="auto">
          <a:xfrm>
            <a:off x="381000" y="3581400"/>
            <a:ext cx="4419600" cy="29718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call_incr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: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subq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$16,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rsp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movq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$15213, 8(%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rsp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movl</a:t>
            </a: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    $3000, %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esi</a:t>
            </a:r>
            <a:endParaRPr lang="en-US" sz="1800" b="1" dirty="0"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leaq</a:t>
            </a: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    8(%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rsp</a:t>
            </a: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), %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rdi</a:t>
            </a:r>
            <a:endParaRPr lang="en-US" sz="1800" b="1" dirty="0"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call    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incr</a:t>
            </a:r>
            <a:endParaRPr lang="en-US" sz="1800" b="1" dirty="0">
              <a:solidFill>
                <a:srgbClr val="FF0000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addq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8(%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rsp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rax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addq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$16,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rsp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ret</a:t>
            </a:r>
          </a:p>
        </p:txBody>
      </p:sp>
      <p:sp>
        <p:nvSpPr>
          <p:cNvPr id="63493" name="Rectangle 5"/>
          <p:cNvSpPr>
            <a:spLocks/>
          </p:cNvSpPr>
          <p:nvPr/>
        </p:nvSpPr>
        <p:spPr bwMode="auto">
          <a:xfrm>
            <a:off x="381000" y="1371600"/>
            <a:ext cx="4343400" cy="16002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long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call_incr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() {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long v1 = 15213;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long v2 = 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incr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(&amp;v1, 3000);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return v1+v2;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</p:txBody>
      </p:sp>
      <p:sp>
        <p:nvSpPr>
          <p:cNvPr id="17" name="Rectangle 7"/>
          <p:cNvSpPr>
            <a:spLocks/>
          </p:cNvSpPr>
          <p:nvPr/>
        </p:nvSpPr>
        <p:spPr bwMode="auto">
          <a:xfrm>
            <a:off x="5181600" y="2971800"/>
            <a:ext cx="1295400" cy="381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b="1" dirty="0">
                <a:solidFill>
                  <a:srgbClr val="FF0000"/>
                </a:solidFill>
                <a:latin typeface="Courier New Bold" charset="0"/>
                <a:cs typeface="Courier New Bold" charset="0"/>
                <a:sym typeface="Courier New Bold" charset="0"/>
              </a:rPr>
              <a:t>18213</a:t>
            </a:r>
          </a:p>
        </p:txBody>
      </p:sp>
      <p:sp>
        <p:nvSpPr>
          <p:cNvPr id="18" name="Rectangle 9"/>
          <p:cNvSpPr>
            <a:spLocks/>
          </p:cNvSpPr>
          <p:nvPr/>
        </p:nvSpPr>
        <p:spPr bwMode="auto">
          <a:xfrm>
            <a:off x="5181600" y="3352800"/>
            <a:ext cx="1295400" cy="381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Unused</a:t>
            </a:r>
          </a:p>
        </p:txBody>
      </p:sp>
      <p:sp>
        <p:nvSpPr>
          <p:cNvPr id="19" name="Line 10"/>
          <p:cNvSpPr>
            <a:spLocks noChangeShapeType="1"/>
          </p:cNvSpPr>
          <p:nvPr/>
        </p:nvSpPr>
        <p:spPr bwMode="auto">
          <a:xfrm flipH="1">
            <a:off x="6503987" y="3587750"/>
            <a:ext cx="45720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0" name="Rectangle 11"/>
          <p:cNvSpPr>
            <a:spLocks/>
          </p:cNvSpPr>
          <p:nvPr/>
        </p:nvSpPr>
        <p:spPr bwMode="auto">
          <a:xfrm>
            <a:off x="7010400" y="3359150"/>
            <a:ext cx="654025" cy="35394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18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rsp</a:t>
            </a:r>
            <a:endParaRPr lang="en-US" sz="18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21" name="Rectangle 12"/>
          <p:cNvSpPr>
            <a:spLocks/>
          </p:cNvSpPr>
          <p:nvPr/>
        </p:nvSpPr>
        <p:spPr bwMode="auto">
          <a:xfrm>
            <a:off x="5943600" y="1143000"/>
            <a:ext cx="1660661" cy="384721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20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Stack Structure</a:t>
            </a:r>
          </a:p>
        </p:txBody>
      </p:sp>
      <p:sp>
        <p:nvSpPr>
          <p:cNvPr id="22" name="Rectangle 13"/>
          <p:cNvSpPr>
            <a:spLocks/>
          </p:cNvSpPr>
          <p:nvPr/>
        </p:nvSpPr>
        <p:spPr bwMode="auto">
          <a:xfrm>
            <a:off x="5181600" y="1676400"/>
            <a:ext cx="1295400" cy="9144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. . .</a:t>
            </a:r>
          </a:p>
        </p:txBody>
      </p:sp>
      <p:sp>
        <p:nvSpPr>
          <p:cNvPr id="23" name="Rectangle 9"/>
          <p:cNvSpPr>
            <a:spLocks/>
          </p:cNvSpPr>
          <p:nvPr/>
        </p:nvSpPr>
        <p:spPr bwMode="auto">
          <a:xfrm>
            <a:off x="5181600" y="2590800"/>
            <a:ext cx="1295400" cy="381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 err="1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Rtn</a:t>
            </a:r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 address</a:t>
            </a:r>
          </a:p>
        </p:txBody>
      </p:sp>
      <p:sp>
        <p:nvSpPr>
          <p:cNvPr id="26" name="Line 10"/>
          <p:cNvSpPr>
            <a:spLocks noChangeShapeType="1"/>
          </p:cNvSpPr>
          <p:nvPr/>
        </p:nvSpPr>
        <p:spPr bwMode="auto">
          <a:xfrm flipH="1">
            <a:off x="6477000" y="3200400"/>
            <a:ext cx="45720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7" name="Rectangle 11"/>
          <p:cNvSpPr>
            <a:spLocks/>
          </p:cNvSpPr>
          <p:nvPr/>
        </p:nvSpPr>
        <p:spPr bwMode="auto">
          <a:xfrm>
            <a:off x="6983413" y="2971800"/>
            <a:ext cx="908076" cy="35394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%rsp+8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8426936"/>
              </p:ext>
            </p:extLst>
          </p:nvPr>
        </p:nvGraphicFramePr>
        <p:xfrm>
          <a:off x="5257800" y="4114800"/>
          <a:ext cx="3352800" cy="112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Register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Use(s)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rdi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&amp;v1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rsi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i="0" dirty="0">
                          <a:latin typeface="Courier New"/>
                          <a:cs typeface="Courier New"/>
                        </a:rPr>
                        <a:t>3000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F231D291-2AFA-BDDF-9ED5-064C21363E94}"/>
              </a:ext>
            </a:extLst>
          </p:cNvPr>
          <p:cNvSpPr>
            <a:spLocks/>
          </p:cNvSpPr>
          <p:nvPr/>
        </p:nvSpPr>
        <p:spPr bwMode="auto">
          <a:xfrm>
            <a:off x="-1270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444C25-91CA-8AC4-5C60-67188756614E}"/>
              </a:ext>
            </a:extLst>
          </p:cNvPr>
          <p:cNvSpPr>
            <a:spLocks/>
          </p:cNvSpPr>
          <p:nvPr/>
        </p:nvSpPr>
        <p:spPr bwMode="auto">
          <a:xfrm>
            <a:off x="-12700" y="6658594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464016"/>
      </p:ext>
    </p:extLst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63490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Example: Calling 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incr</a:t>
            </a:r>
            <a:r>
              <a:rPr lang="en-US" dirty="0"/>
              <a:t> #4</a:t>
            </a:r>
            <a:endParaRPr lang="en-US" dirty="0">
              <a:latin typeface="Courier New Bold" charset="0"/>
              <a:sym typeface="Courier New Bold" charset="0"/>
            </a:endParaRPr>
          </a:p>
        </p:txBody>
      </p:sp>
      <p:sp>
        <p:nvSpPr>
          <p:cNvPr id="63492" name="Rectangle 4"/>
          <p:cNvSpPr>
            <a:spLocks/>
          </p:cNvSpPr>
          <p:nvPr/>
        </p:nvSpPr>
        <p:spPr bwMode="auto">
          <a:xfrm>
            <a:off x="381000" y="3581400"/>
            <a:ext cx="4419600" cy="29718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call_incr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: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subq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$16,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rsp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movq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$15213, 8(%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rsp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movl</a:t>
            </a: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    $3000, %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esi</a:t>
            </a:r>
            <a:endParaRPr lang="en-US" sz="1800" b="1" dirty="0"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leaq</a:t>
            </a: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    8(%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rsp</a:t>
            </a: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), %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rdi</a:t>
            </a:r>
            <a:endParaRPr lang="en-US" sz="1800" b="1" dirty="0"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  call    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incr</a:t>
            </a:r>
            <a:endParaRPr lang="en-US" sz="1800" b="1" dirty="0"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addq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8(%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rsp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), %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rax</a:t>
            </a:r>
            <a:endParaRPr lang="en-US" sz="1800" b="1" dirty="0">
              <a:solidFill>
                <a:srgbClr val="FF0000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addq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$16, %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rsp</a:t>
            </a:r>
            <a:endParaRPr lang="en-US" sz="1800" b="1" dirty="0">
              <a:solidFill>
                <a:srgbClr val="FF0000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ret</a:t>
            </a:r>
          </a:p>
        </p:txBody>
      </p:sp>
      <p:sp>
        <p:nvSpPr>
          <p:cNvPr id="63493" name="Rectangle 5"/>
          <p:cNvSpPr>
            <a:spLocks/>
          </p:cNvSpPr>
          <p:nvPr/>
        </p:nvSpPr>
        <p:spPr bwMode="auto">
          <a:xfrm>
            <a:off x="381000" y="1371600"/>
            <a:ext cx="4343400" cy="16002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long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call_incr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() {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long v1 = 15213;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long v2 =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incr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(&amp;v1, 3000);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return 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v1+v2;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</p:txBody>
      </p:sp>
      <p:sp>
        <p:nvSpPr>
          <p:cNvPr id="17" name="Rectangle 7"/>
          <p:cNvSpPr>
            <a:spLocks/>
          </p:cNvSpPr>
          <p:nvPr/>
        </p:nvSpPr>
        <p:spPr bwMode="auto">
          <a:xfrm>
            <a:off x="5181600" y="2590800"/>
            <a:ext cx="1295400" cy="381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b="1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18213</a:t>
            </a:r>
          </a:p>
        </p:txBody>
      </p:sp>
      <p:sp>
        <p:nvSpPr>
          <p:cNvPr id="18" name="Rectangle 9"/>
          <p:cNvSpPr>
            <a:spLocks/>
          </p:cNvSpPr>
          <p:nvPr/>
        </p:nvSpPr>
        <p:spPr bwMode="auto">
          <a:xfrm>
            <a:off x="5181600" y="2971800"/>
            <a:ext cx="1295400" cy="381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Unused</a:t>
            </a:r>
          </a:p>
        </p:txBody>
      </p:sp>
      <p:sp>
        <p:nvSpPr>
          <p:cNvPr id="19" name="Line 10"/>
          <p:cNvSpPr>
            <a:spLocks noChangeShapeType="1"/>
          </p:cNvSpPr>
          <p:nvPr/>
        </p:nvSpPr>
        <p:spPr bwMode="auto">
          <a:xfrm flipH="1">
            <a:off x="6503987" y="3206750"/>
            <a:ext cx="45720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0" name="Rectangle 11"/>
          <p:cNvSpPr>
            <a:spLocks/>
          </p:cNvSpPr>
          <p:nvPr/>
        </p:nvSpPr>
        <p:spPr bwMode="auto">
          <a:xfrm>
            <a:off x="7010400" y="2978150"/>
            <a:ext cx="654025" cy="35394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18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rsp</a:t>
            </a:r>
            <a:endParaRPr lang="en-US" sz="18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21" name="Rectangle 12"/>
          <p:cNvSpPr>
            <a:spLocks/>
          </p:cNvSpPr>
          <p:nvPr/>
        </p:nvSpPr>
        <p:spPr bwMode="auto">
          <a:xfrm>
            <a:off x="5943600" y="762000"/>
            <a:ext cx="1660661" cy="384721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20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Stack Structure</a:t>
            </a:r>
          </a:p>
        </p:txBody>
      </p:sp>
      <p:sp>
        <p:nvSpPr>
          <p:cNvPr id="22" name="Rectangle 13"/>
          <p:cNvSpPr>
            <a:spLocks/>
          </p:cNvSpPr>
          <p:nvPr/>
        </p:nvSpPr>
        <p:spPr bwMode="auto">
          <a:xfrm>
            <a:off x="5181600" y="1295400"/>
            <a:ext cx="1295400" cy="9144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. . .</a:t>
            </a:r>
          </a:p>
        </p:txBody>
      </p:sp>
      <p:sp>
        <p:nvSpPr>
          <p:cNvPr id="23" name="Rectangle 9"/>
          <p:cNvSpPr>
            <a:spLocks/>
          </p:cNvSpPr>
          <p:nvPr/>
        </p:nvSpPr>
        <p:spPr bwMode="auto">
          <a:xfrm>
            <a:off x="5181600" y="2209800"/>
            <a:ext cx="1295400" cy="381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 err="1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Rtn</a:t>
            </a:r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 address</a:t>
            </a:r>
          </a:p>
        </p:txBody>
      </p:sp>
      <p:sp>
        <p:nvSpPr>
          <p:cNvPr id="26" name="Line 10"/>
          <p:cNvSpPr>
            <a:spLocks noChangeShapeType="1"/>
          </p:cNvSpPr>
          <p:nvPr/>
        </p:nvSpPr>
        <p:spPr bwMode="auto">
          <a:xfrm flipH="1">
            <a:off x="6477000" y="2819400"/>
            <a:ext cx="45720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7" name="Rectangle 11"/>
          <p:cNvSpPr>
            <a:spLocks/>
          </p:cNvSpPr>
          <p:nvPr/>
        </p:nvSpPr>
        <p:spPr bwMode="auto">
          <a:xfrm>
            <a:off x="6983413" y="2590800"/>
            <a:ext cx="908076" cy="35394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%rsp+8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9220560"/>
              </p:ext>
            </p:extLst>
          </p:nvPr>
        </p:nvGraphicFramePr>
        <p:xfrm>
          <a:off x="5257800" y="3733800"/>
          <a:ext cx="3352800" cy="746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Register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Use(s)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rax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Return value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9" name="Line 10"/>
          <p:cNvSpPr>
            <a:spLocks noChangeShapeType="1"/>
          </p:cNvSpPr>
          <p:nvPr/>
        </p:nvSpPr>
        <p:spPr bwMode="auto">
          <a:xfrm flipH="1">
            <a:off x="6477000" y="6324600"/>
            <a:ext cx="45720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0" name="Rectangle 11"/>
          <p:cNvSpPr>
            <a:spLocks/>
          </p:cNvSpPr>
          <p:nvPr/>
        </p:nvSpPr>
        <p:spPr bwMode="auto">
          <a:xfrm>
            <a:off x="6983413" y="6096000"/>
            <a:ext cx="654025" cy="35394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18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rsp</a:t>
            </a:r>
            <a:endParaRPr lang="en-US" sz="18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31" name="Rectangle 12"/>
          <p:cNvSpPr>
            <a:spLocks/>
          </p:cNvSpPr>
          <p:nvPr/>
        </p:nvSpPr>
        <p:spPr bwMode="auto">
          <a:xfrm>
            <a:off x="5943600" y="4648200"/>
            <a:ext cx="2623840" cy="384721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20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Updated Stack Structure</a:t>
            </a:r>
          </a:p>
        </p:txBody>
      </p:sp>
      <p:sp>
        <p:nvSpPr>
          <p:cNvPr id="32" name="Rectangle 13"/>
          <p:cNvSpPr>
            <a:spLocks/>
          </p:cNvSpPr>
          <p:nvPr/>
        </p:nvSpPr>
        <p:spPr bwMode="auto">
          <a:xfrm>
            <a:off x="5181600" y="5181600"/>
            <a:ext cx="1295400" cy="9144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. . .</a:t>
            </a:r>
          </a:p>
        </p:txBody>
      </p:sp>
      <p:sp>
        <p:nvSpPr>
          <p:cNvPr id="36" name="Rectangle 9"/>
          <p:cNvSpPr>
            <a:spLocks/>
          </p:cNvSpPr>
          <p:nvPr/>
        </p:nvSpPr>
        <p:spPr bwMode="auto">
          <a:xfrm>
            <a:off x="5181600" y="6096000"/>
            <a:ext cx="1295400" cy="381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 err="1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Rtn</a:t>
            </a:r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 address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582E3E8-26A3-4110-9F5C-4C82027A2A5A}"/>
              </a:ext>
            </a:extLst>
          </p:cNvPr>
          <p:cNvSpPr>
            <a:spLocks/>
          </p:cNvSpPr>
          <p:nvPr/>
        </p:nvSpPr>
        <p:spPr bwMode="auto">
          <a:xfrm>
            <a:off x="-1270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7D3BC55-3ACD-A06E-EEE5-17492E7C1C81}"/>
              </a:ext>
            </a:extLst>
          </p:cNvPr>
          <p:cNvSpPr>
            <a:spLocks/>
          </p:cNvSpPr>
          <p:nvPr/>
        </p:nvSpPr>
        <p:spPr bwMode="auto">
          <a:xfrm>
            <a:off x="-12700" y="6658594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858759"/>
      </p:ext>
    </p:extLst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63490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Example: Calling 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incr</a:t>
            </a:r>
            <a:r>
              <a:rPr lang="en-US" dirty="0"/>
              <a:t> #5</a:t>
            </a:r>
            <a:endParaRPr lang="en-US" dirty="0">
              <a:latin typeface="Courier New Bold" charset="0"/>
              <a:sym typeface="Courier New Bold" charset="0"/>
            </a:endParaRPr>
          </a:p>
        </p:txBody>
      </p:sp>
      <p:sp>
        <p:nvSpPr>
          <p:cNvPr id="63492" name="Rectangle 4"/>
          <p:cNvSpPr>
            <a:spLocks/>
          </p:cNvSpPr>
          <p:nvPr/>
        </p:nvSpPr>
        <p:spPr bwMode="auto">
          <a:xfrm>
            <a:off x="381000" y="3581400"/>
            <a:ext cx="4419600" cy="29718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call_incr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: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subq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$16,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rsp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movq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$15213, 8(%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rsp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movl</a:t>
            </a: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    $3000, %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esi</a:t>
            </a:r>
            <a:endParaRPr lang="en-US" sz="1800" b="1" dirty="0"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leaq</a:t>
            </a: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    8(%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rsp</a:t>
            </a: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), %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rdi</a:t>
            </a:r>
            <a:endParaRPr lang="en-US" sz="1800" b="1" dirty="0"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  call    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incr</a:t>
            </a:r>
            <a:endParaRPr lang="en-US" sz="1800" b="1" dirty="0"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addq</a:t>
            </a: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    8(%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rsp</a:t>
            </a: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), %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rax</a:t>
            </a:r>
            <a:endParaRPr lang="en-US" sz="1800" b="1" dirty="0"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addq</a:t>
            </a: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    $16, %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rsp</a:t>
            </a:r>
            <a:endParaRPr lang="en-US" sz="1800" b="1" dirty="0"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ret</a:t>
            </a:r>
          </a:p>
        </p:txBody>
      </p:sp>
      <p:sp>
        <p:nvSpPr>
          <p:cNvPr id="63493" name="Rectangle 5"/>
          <p:cNvSpPr>
            <a:spLocks/>
          </p:cNvSpPr>
          <p:nvPr/>
        </p:nvSpPr>
        <p:spPr bwMode="auto">
          <a:xfrm>
            <a:off x="381000" y="1371600"/>
            <a:ext cx="4343400" cy="16002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long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call_incr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() {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long v1 = 15213;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long v2 =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incr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(&amp;v1, 3000);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return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v1+v2;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</p:txBody>
      </p:sp>
      <p:graphicFrame>
        <p:nvGraphicFramePr>
          <p:cNvPr id="24" name="Table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8917685"/>
              </p:ext>
            </p:extLst>
          </p:nvPr>
        </p:nvGraphicFramePr>
        <p:xfrm>
          <a:off x="5257800" y="3733800"/>
          <a:ext cx="3352800" cy="746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Register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Use(s)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rax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Return value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9" name="Line 10"/>
          <p:cNvSpPr>
            <a:spLocks noChangeShapeType="1"/>
          </p:cNvSpPr>
          <p:nvPr/>
        </p:nvSpPr>
        <p:spPr bwMode="auto">
          <a:xfrm flipH="1">
            <a:off x="6553200" y="2895600"/>
            <a:ext cx="45720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0" name="Rectangle 11"/>
          <p:cNvSpPr>
            <a:spLocks/>
          </p:cNvSpPr>
          <p:nvPr/>
        </p:nvSpPr>
        <p:spPr bwMode="auto">
          <a:xfrm>
            <a:off x="7059613" y="2667000"/>
            <a:ext cx="654025" cy="35394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18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rsp</a:t>
            </a:r>
            <a:endParaRPr lang="en-US" sz="18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31" name="Rectangle 12"/>
          <p:cNvSpPr>
            <a:spLocks/>
          </p:cNvSpPr>
          <p:nvPr/>
        </p:nvSpPr>
        <p:spPr bwMode="auto">
          <a:xfrm>
            <a:off x="6019800" y="1219200"/>
            <a:ext cx="2623840" cy="384721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20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Updated Stack Structure</a:t>
            </a:r>
          </a:p>
        </p:txBody>
      </p:sp>
      <p:sp>
        <p:nvSpPr>
          <p:cNvPr id="32" name="Rectangle 13"/>
          <p:cNvSpPr>
            <a:spLocks/>
          </p:cNvSpPr>
          <p:nvPr/>
        </p:nvSpPr>
        <p:spPr bwMode="auto">
          <a:xfrm>
            <a:off x="5257800" y="1752600"/>
            <a:ext cx="1295400" cy="9144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. . .</a:t>
            </a:r>
          </a:p>
        </p:txBody>
      </p:sp>
      <p:sp>
        <p:nvSpPr>
          <p:cNvPr id="36" name="Rectangle 9"/>
          <p:cNvSpPr>
            <a:spLocks/>
          </p:cNvSpPr>
          <p:nvPr/>
        </p:nvSpPr>
        <p:spPr bwMode="auto">
          <a:xfrm>
            <a:off x="5257800" y="2667000"/>
            <a:ext cx="1295400" cy="381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 err="1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Rtn</a:t>
            </a:r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 address</a:t>
            </a:r>
          </a:p>
        </p:txBody>
      </p:sp>
      <p:sp>
        <p:nvSpPr>
          <p:cNvPr id="25" name="Line 10"/>
          <p:cNvSpPr>
            <a:spLocks noChangeShapeType="1"/>
          </p:cNvSpPr>
          <p:nvPr/>
        </p:nvSpPr>
        <p:spPr bwMode="auto">
          <a:xfrm flipH="1">
            <a:off x="6553200" y="5943600"/>
            <a:ext cx="45720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8" name="Rectangle 11"/>
          <p:cNvSpPr>
            <a:spLocks/>
          </p:cNvSpPr>
          <p:nvPr/>
        </p:nvSpPr>
        <p:spPr bwMode="auto">
          <a:xfrm>
            <a:off x="7059613" y="5715000"/>
            <a:ext cx="654025" cy="35394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18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rsp</a:t>
            </a:r>
            <a:endParaRPr lang="en-US" sz="18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33" name="Rectangle 12"/>
          <p:cNvSpPr>
            <a:spLocks/>
          </p:cNvSpPr>
          <p:nvPr/>
        </p:nvSpPr>
        <p:spPr bwMode="auto">
          <a:xfrm>
            <a:off x="6019800" y="4648200"/>
            <a:ext cx="2211818" cy="384721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20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Final Stack Structure</a:t>
            </a:r>
          </a:p>
        </p:txBody>
      </p:sp>
      <p:sp>
        <p:nvSpPr>
          <p:cNvPr id="34" name="Rectangle 13"/>
          <p:cNvSpPr>
            <a:spLocks/>
          </p:cNvSpPr>
          <p:nvPr/>
        </p:nvSpPr>
        <p:spPr bwMode="auto">
          <a:xfrm>
            <a:off x="5257800" y="5181600"/>
            <a:ext cx="1295400" cy="9144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. . 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BB96195-760F-C130-B544-5257AE4EB10F}"/>
              </a:ext>
            </a:extLst>
          </p:cNvPr>
          <p:cNvSpPr>
            <a:spLocks/>
          </p:cNvSpPr>
          <p:nvPr/>
        </p:nvSpPr>
        <p:spPr bwMode="auto">
          <a:xfrm>
            <a:off x="-1270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1697BC-4AA5-82D8-7C1F-334C99C575FA}"/>
              </a:ext>
            </a:extLst>
          </p:cNvPr>
          <p:cNvSpPr>
            <a:spLocks/>
          </p:cNvSpPr>
          <p:nvPr/>
        </p:nvSpPr>
        <p:spPr bwMode="auto">
          <a:xfrm>
            <a:off x="-12700" y="6658594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87487"/>
      </p:ext>
    </p:extLst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74754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Register Saving Conventions</a:t>
            </a:r>
          </a:p>
        </p:txBody>
      </p:sp>
      <p:sp>
        <p:nvSpPr>
          <p:cNvPr id="74756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dirty="0"/>
              <a:t>When procedure 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yoo</a:t>
            </a:r>
            <a:r>
              <a:rPr lang="en-US" dirty="0"/>
              <a:t> calls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who</a:t>
            </a:r>
            <a:r>
              <a:rPr lang="en-US" dirty="0"/>
              <a:t>:</a:t>
            </a:r>
          </a:p>
          <a:p>
            <a:pPr marL="552450" lvl="1"/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yoo</a:t>
            </a:r>
            <a:r>
              <a:rPr lang="en-US" dirty="0"/>
              <a:t> is the </a:t>
            </a:r>
            <a:r>
              <a:rPr lang="en-US" dirty="0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caller</a:t>
            </a:r>
            <a:endParaRPr lang="en-US" dirty="0"/>
          </a:p>
          <a:p>
            <a:pPr marL="552450" lvl="1"/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who</a:t>
            </a:r>
            <a:r>
              <a:rPr lang="en-US" dirty="0"/>
              <a:t> is the </a:t>
            </a:r>
            <a:r>
              <a:rPr lang="en-US" dirty="0" err="1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callee</a:t>
            </a:r>
            <a:endParaRPr lang="en-US" dirty="0"/>
          </a:p>
          <a:p>
            <a:pPr>
              <a:spcBef>
                <a:spcPts val="1200"/>
              </a:spcBef>
            </a:pPr>
            <a:r>
              <a:rPr lang="en-US" dirty="0"/>
              <a:t>Can register be used for temporary storage?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552450" lvl="1"/>
            <a:r>
              <a:rPr lang="en-US" dirty="0"/>
              <a:t>Contents of register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rdx</a:t>
            </a:r>
            <a:r>
              <a:rPr lang="en-US" dirty="0"/>
              <a:t> overwritten by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who</a:t>
            </a:r>
            <a:endParaRPr lang="en-US" dirty="0"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 marL="552450" lvl="1"/>
            <a:r>
              <a:rPr lang="en-US" dirty="0">
                <a:ea typeface="Zapf Dingbats" charset="0"/>
                <a:cs typeface="Zapf Dingbats" charset="0"/>
              </a:rPr>
              <a:t>This could be trouble ➙ something should be done!</a:t>
            </a:r>
            <a:endParaRPr lang="en-US" sz="1800" dirty="0"/>
          </a:p>
          <a:p>
            <a:pPr marL="838200" lvl="2"/>
            <a:r>
              <a:rPr lang="en-US" dirty="0"/>
              <a:t>Need some coordination</a:t>
            </a:r>
          </a:p>
        </p:txBody>
      </p:sp>
      <p:sp>
        <p:nvSpPr>
          <p:cNvPr id="74757" name="Rectangle 5"/>
          <p:cNvSpPr>
            <a:spLocks/>
          </p:cNvSpPr>
          <p:nvPr/>
        </p:nvSpPr>
        <p:spPr bwMode="auto">
          <a:xfrm>
            <a:off x="760413" y="3200400"/>
            <a:ext cx="3797300" cy="1976438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>
              <a:tabLst>
                <a:tab pos="457200" algn="l"/>
                <a:tab pos="457200" algn="l"/>
                <a:tab pos="457200" algn="l"/>
                <a:tab pos="457200" algn="l"/>
                <a:tab pos="457200" algn="l"/>
                <a:tab pos="457200" algn="l"/>
                <a:tab pos="457200" algn="l"/>
              </a:tabLst>
            </a:pP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yoo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: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tabLst>
                <a:tab pos="457200" algn="l"/>
                <a:tab pos="457200" algn="l"/>
                <a:tab pos="457200" algn="l"/>
                <a:tab pos="457200" algn="l"/>
                <a:tab pos="457200" algn="l"/>
                <a:tab pos="457200" algn="l"/>
                <a:tab pos="4572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	• • •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tabLst>
                <a:tab pos="457200" algn="l"/>
                <a:tab pos="457200" algn="l"/>
                <a:tab pos="457200" algn="l"/>
                <a:tab pos="457200" algn="l"/>
                <a:tab pos="457200" algn="l"/>
                <a:tab pos="457200" algn="l"/>
                <a:tab pos="4572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movq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$15213, </a:t>
            </a:r>
            <a:r>
              <a:rPr lang="en-US" sz="18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%</a:t>
            </a:r>
            <a:r>
              <a:rPr lang="en-US" sz="1800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rdx</a:t>
            </a:r>
            <a:endParaRPr lang="en-US" sz="2400" b="1" dirty="0">
              <a:solidFill>
                <a:srgbClr val="C00000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tabLst>
                <a:tab pos="457200" algn="l"/>
                <a:tab pos="457200" algn="l"/>
                <a:tab pos="457200" algn="l"/>
                <a:tab pos="457200" algn="l"/>
                <a:tab pos="457200" algn="l"/>
                <a:tab pos="457200" algn="l"/>
                <a:tab pos="4572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call who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tabLst>
                <a:tab pos="457200" algn="l"/>
                <a:tab pos="457200" algn="l"/>
                <a:tab pos="457200" algn="l"/>
                <a:tab pos="457200" algn="l"/>
                <a:tab pos="457200" algn="l"/>
                <a:tab pos="457200" algn="l"/>
                <a:tab pos="4572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addq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%</a:t>
            </a:r>
            <a:r>
              <a:rPr lang="en-US" sz="1800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rdx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rax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tabLst>
                <a:tab pos="457200" algn="l"/>
                <a:tab pos="457200" algn="l"/>
                <a:tab pos="457200" algn="l"/>
                <a:tab pos="457200" algn="l"/>
                <a:tab pos="457200" algn="l"/>
                <a:tab pos="457200" algn="l"/>
                <a:tab pos="4572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	• • •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tabLst>
                <a:tab pos="457200" algn="l"/>
                <a:tab pos="457200" algn="l"/>
                <a:tab pos="457200" algn="l"/>
                <a:tab pos="457200" algn="l"/>
                <a:tab pos="457200" algn="l"/>
                <a:tab pos="457200" algn="l"/>
                <a:tab pos="4572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ret</a:t>
            </a:r>
          </a:p>
        </p:txBody>
      </p:sp>
      <p:sp>
        <p:nvSpPr>
          <p:cNvPr id="74758" name="Rectangle 6"/>
          <p:cNvSpPr>
            <a:spLocks/>
          </p:cNvSpPr>
          <p:nvPr/>
        </p:nvSpPr>
        <p:spPr bwMode="auto">
          <a:xfrm>
            <a:off x="4751388" y="3200400"/>
            <a:ext cx="3797300" cy="1981200"/>
          </a:xfrm>
          <a:prstGeom prst="rect">
            <a:avLst/>
          </a:prstGeom>
          <a:solidFill>
            <a:srgbClr val="D5F1CF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>
              <a:tabLst>
                <a:tab pos="457200" algn="l"/>
                <a:tab pos="457200" algn="l"/>
                <a:tab pos="457200" algn="l"/>
                <a:tab pos="457200" algn="l"/>
                <a:tab pos="457200" algn="l"/>
                <a:tab pos="4572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who: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tabLst>
                <a:tab pos="457200" algn="l"/>
                <a:tab pos="457200" algn="l"/>
                <a:tab pos="457200" algn="l"/>
                <a:tab pos="457200" algn="l"/>
                <a:tab pos="457200" algn="l"/>
                <a:tab pos="4572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	• • •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tabLst>
                <a:tab pos="457200" algn="l"/>
                <a:tab pos="457200" algn="l"/>
                <a:tab pos="457200" algn="l"/>
                <a:tab pos="457200" algn="l"/>
                <a:tab pos="457200" algn="l"/>
                <a:tab pos="4572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	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subq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$18213, </a:t>
            </a:r>
            <a:r>
              <a:rPr lang="en-US" sz="18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%</a:t>
            </a:r>
            <a:r>
              <a:rPr lang="en-US" sz="1800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rdx</a:t>
            </a:r>
            <a:endParaRPr lang="en-US" sz="2400" b="1" dirty="0">
              <a:solidFill>
                <a:srgbClr val="C00000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tabLst>
                <a:tab pos="457200" algn="l"/>
                <a:tab pos="457200" algn="l"/>
                <a:tab pos="457200" algn="l"/>
                <a:tab pos="457200" algn="l"/>
                <a:tab pos="457200" algn="l"/>
                <a:tab pos="4572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	• • •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tabLst>
                <a:tab pos="457200" algn="l"/>
                <a:tab pos="457200" algn="l"/>
                <a:tab pos="457200" algn="l"/>
                <a:tab pos="457200" algn="l"/>
                <a:tab pos="457200" algn="l"/>
                <a:tab pos="4572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ret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C8FD878-99AD-3538-F6BD-70D677B4E4DB}"/>
              </a:ext>
            </a:extLst>
          </p:cNvPr>
          <p:cNvSpPr>
            <a:spLocks/>
          </p:cNvSpPr>
          <p:nvPr/>
        </p:nvSpPr>
        <p:spPr bwMode="auto">
          <a:xfrm>
            <a:off x="-1270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ACA048B-EC4A-B35D-91EA-DFD9A61592F0}"/>
              </a:ext>
            </a:extLst>
          </p:cNvPr>
          <p:cNvSpPr>
            <a:spLocks/>
          </p:cNvSpPr>
          <p:nvPr/>
        </p:nvSpPr>
        <p:spPr bwMode="auto">
          <a:xfrm>
            <a:off x="-12700" y="6658594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75778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75779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Register Saving Conventions</a:t>
            </a:r>
          </a:p>
        </p:txBody>
      </p:sp>
      <p:sp>
        <p:nvSpPr>
          <p:cNvPr id="75780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dirty="0"/>
              <a:t>When procedure 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yoo</a:t>
            </a:r>
            <a:r>
              <a:rPr lang="en-US" dirty="0"/>
              <a:t> calls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who</a:t>
            </a:r>
            <a:r>
              <a:rPr lang="en-US" dirty="0"/>
              <a:t>:</a:t>
            </a:r>
          </a:p>
          <a:p>
            <a:pPr marL="552450" lvl="1"/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yoo</a:t>
            </a:r>
            <a:r>
              <a:rPr lang="en-US" dirty="0"/>
              <a:t> is the </a:t>
            </a:r>
            <a:r>
              <a:rPr lang="en-US" dirty="0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caller</a:t>
            </a:r>
            <a:endParaRPr lang="en-US" dirty="0"/>
          </a:p>
          <a:p>
            <a:pPr marL="552450" lvl="1"/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who</a:t>
            </a:r>
            <a:r>
              <a:rPr lang="en-US" dirty="0"/>
              <a:t> is the </a:t>
            </a:r>
            <a:r>
              <a:rPr lang="en-US" dirty="0" err="1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callee</a:t>
            </a:r>
            <a:endParaRPr lang="en-US" dirty="0"/>
          </a:p>
          <a:p>
            <a:pPr>
              <a:spcBef>
                <a:spcPts val="1200"/>
              </a:spcBef>
            </a:pPr>
            <a:r>
              <a:rPr lang="en-US" dirty="0"/>
              <a:t>Can register be used for temporary storage?</a:t>
            </a:r>
          </a:p>
          <a:p>
            <a:r>
              <a:rPr lang="en-US" dirty="0"/>
              <a:t>Conventions</a:t>
            </a:r>
          </a:p>
          <a:p>
            <a:pPr marL="552450" lvl="1"/>
            <a:r>
              <a:rPr lang="en-US" dirty="0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“Caller Saved”</a:t>
            </a:r>
            <a:endParaRPr lang="en-US" dirty="0">
              <a:solidFill>
                <a:srgbClr val="980002"/>
              </a:solidFill>
              <a:latin typeface="Calibri Bold Italic" charset="0"/>
              <a:ea typeface="ヒラギノ角ゴ ProN W6" charset="0"/>
              <a:cs typeface="ヒラギノ角ゴ ProN W6" charset="0"/>
              <a:sym typeface="Calibri Bold Italic" charset="0"/>
            </a:endParaRPr>
          </a:p>
          <a:p>
            <a:pPr marL="838200" lvl="2"/>
            <a:r>
              <a:rPr lang="en-US" dirty="0"/>
              <a:t>Caller saves temporary values in its frame before the call</a:t>
            </a:r>
          </a:p>
          <a:p>
            <a:pPr marL="552450" lvl="1"/>
            <a:r>
              <a:rPr lang="en-US" dirty="0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“</a:t>
            </a:r>
            <a:r>
              <a:rPr lang="en-US" dirty="0" err="1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Callee</a:t>
            </a:r>
            <a:r>
              <a:rPr lang="en-US" dirty="0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 Saved”</a:t>
            </a:r>
            <a:endParaRPr lang="en-US" dirty="0">
              <a:solidFill>
                <a:srgbClr val="980002"/>
              </a:solidFill>
              <a:latin typeface="Calibri Bold Italic" charset="0"/>
              <a:ea typeface="ヒラギノ角ゴ ProN W6" charset="0"/>
              <a:cs typeface="ヒラギノ角ゴ ProN W6" charset="0"/>
              <a:sym typeface="Calibri Bold Italic" charset="0"/>
            </a:endParaRPr>
          </a:p>
          <a:p>
            <a:pPr marL="838200" lvl="2"/>
            <a:r>
              <a:rPr lang="en-US" dirty="0" err="1"/>
              <a:t>Callee</a:t>
            </a:r>
            <a:r>
              <a:rPr lang="en-US" dirty="0"/>
              <a:t> saves temporary values in its frame before using</a:t>
            </a:r>
          </a:p>
          <a:p>
            <a:pPr marL="838200" lvl="2"/>
            <a:r>
              <a:rPr lang="en-US" dirty="0" err="1"/>
              <a:t>Callee</a:t>
            </a:r>
            <a:r>
              <a:rPr lang="en-US" dirty="0"/>
              <a:t> restores them before returning to caller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8EA2C15-4C29-7422-0D87-F58172D2A2CF}"/>
              </a:ext>
            </a:extLst>
          </p:cNvPr>
          <p:cNvSpPr>
            <a:spLocks/>
          </p:cNvSpPr>
          <p:nvPr/>
        </p:nvSpPr>
        <p:spPr bwMode="auto">
          <a:xfrm>
            <a:off x="-1270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92407D0-376D-0C41-C80D-7E96BC40AA37}"/>
              </a:ext>
            </a:extLst>
          </p:cNvPr>
          <p:cNvSpPr>
            <a:spLocks/>
          </p:cNvSpPr>
          <p:nvPr/>
        </p:nvSpPr>
        <p:spPr bwMode="auto">
          <a:xfrm>
            <a:off x="-12700" y="6658594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76802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76803" name="Rectangle 3"/>
          <p:cNvSpPr>
            <a:spLocks noGrp="1" noChangeArrowheads="1"/>
          </p:cNvSpPr>
          <p:nvPr>
            <p:ph type="title"/>
          </p:nvPr>
        </p:nvSpPr>
        <p:spPr>
          <a:xfrm>
            <a:off x="381000" y="254000"/>
            <a:ext cx="6477000" cy="1143000"/>
          </a:xfrm>
          <a:ln/>
        </p:spPr>
        <p:txBody>
          <a:bodyPr/>
          <a:lstStyle/>
          <a:p>
            <a:pPr marL="119063" indent="-119063"/>
            <a:r>
              <a:rPr lang="en-US" dirty="0"/>
              <a:t>x86-64 Linux Register Usage #1</a:t>
            </a:r>
          </a:p>
        </p:txBody>
      </p:sp>
      <p:sp>
        <p:nvSpPr>
          <p:cNvPr id="76804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381000" y="1397000"/>
            <a:ext cx="4064000" cy="5435600"/>
          </a:xfrm>
          <a:ln/>
        </p:spPr>
        <p:txBody>
          <a:bodyPr/>
          <a:lstStyle/>
          <a:p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rax</a:t>
            </a:r>
            <a:endParaRPr lang="en-US" dirty="0">
              <a:latin typeface="Courier New Bold" charset="0"/>
              <a:sym typeface="Courier New Bold" charset="0"/>
            </a:endParaRPr>
          </a:p>
          <a:p>
            <a:pPr marL="552450" lvl="1"/>
            <a:r>
              <a:rPr lang="en-US" dirty="0"/>
              <a:t>Return value</a:t>
            </a:r>
          </a:p>
          <a:p>
            <a:pPr marL="552450" lvl="1"/>
            <a:r>
              <a:rPr lang="en-US" dirty="0"/>
              <a:t>Also caller-saved</a:t>
            </a:r>
          </a:p>
          <a:p>
            <a:pPr marL="552450" lvl="1"/>
            <a:r>
              <a:rPr lang="en-US" dirty="0"/>
              <a:t>Can be modified by procedure</a:t>
            </a:r>
          </a:p>
          <a:p>
            <a:pPr marL="292100"/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rdi</a:t>
            </a:r>
            <a:r>
              <a:rPr lang="en-US" b="0" dirty="0">
                <a:cs typeface="Courier New Bold" charset="0"/>
                <a:sym typeface="Courier New Bold" charset="0"/>
              </a:rPr>
              <a:t>, ...,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%r9</a:t>
            </a:r>
            <a:endParaRPr lang="en-US" dirty="0">
              <a:latin typeface="Courier New Bold" charset="0"/>
              <a:sym typeface="Courier New Bold" charset="0"/>
            </a:endParaRPr>
          </a:p>
          <a:p>
            <a:pPr marL="552450" lvl="1"/>
            <a:r>
              <a:rPr lang="en-US" dirty="0"/>
              <a:t>Arguments</a:t>
            </a:r>
          </a:p>
          <a:p>
            <a:pPr marL="552450" lvl="1"/>
            <a:r>
              <a:rPr lang="en-US" dirty="0"/>
              <a:t>Also caller-saved</a:t>
            </a:r>
          </a:p>
          <a:p>
            <a:pPr marL="552450" lvl="1"/>
            <a:r>
              <a:rPr lang="en-US" dirty="0"/>
              <a:t>Can be modified by procedure</a:t>
            </a:r>
          </a:p>
          <a:p>
            <a:pPr marL="292100"/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%r10</a:t>
            </a:r>
            <a:r>
              <a:rPr lang="en-US" b="0" dirty="0">
                <a:cs typeface="Courier New Bold" charset="0"/>
                <a:sym typeface="Courier New Bold" charset="0"/>
              </a:rPr>
              <a:t>,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%r11</a:t>
            </a:r>
            <a:endParaRPr lang="en-US" dirty="0">
              <a:latin typeface="Courier New Bold" charset="0"/>
              <a:sym typeface="Courier New Bold" charset="0"/>
            </a:endParaRPr>
          </a:p>
          <a:p>
            <a:pPr marL="552450" lvl="1"/>
            <a:r>
              <a:rPr lang="en-US" dirty="0"/>
              <a:t>Caller-saved</a:t>
            </a:r>
          </a:p>
          <a:p>
            <a:pPr marL="552450" lvl="1"/>
            <a:r>
              <a:rPr lang="en-US" dirty="0"/>
              <a:t>Can be modified by procedure</a:t>
            </a:r>
          </a:p>
          <a:p>
            <a:pPr marL="552450" lvl="1"/>
            <a:endParaRPr lang="en-US" dirty="0"/>
          </a:p>
          <a:p>
            <a:pPr marL="552450" lvl="1"/>
            <a:endParaRPr lang="en-US" dirty="0"/>
          </a:p>
          <a:p>
            <a:pPr marL="552450" lvl="1"/>
            <a:endParaRPr lang="en-US" dirty="0"/>
          </a:p>
        </p:txBody>
      </p:sp>
      <p:sp>
        <p:nvSpPr>
          <p:cNvPr id="76805" name="Rectangle 5"/>
          <p:cNvSpPr>
            <a:spLocks/>
          </p:cNvSpPr>
          <p:nvPr/>
        </p:nvSpPr>
        <p:spPr bwMode="auto">
          <a:xfrm>
            <a:off x="6324600" y="1600200"/>
            <a:ext cx="2540000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r>
              <a:rPr lang="en-US" sz="24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24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rax</a:t>
            </a:r>
            <a:endParaRPr lang="en-US" sz="24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76806" name="Rectangle 6"/>
          <p:cNvSpPr>
            <a:spLocks/>
          </p:cNvSpPr>
          <p:nvPr/>
        </p:nvSpPr>
        <p:spPr bwMode="auto">
          <a:xfrm>
            <a:off x="6324600" y="2971800"/>
            <a:ext cx="25400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r>
              <a:rPr lang="en-US" sz="24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24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rdx</a:t>
            </a:r>
            <a:endParaRPr lang="en-US" sz="24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76807" name="Rectangle 7"/>
          <p:cNvSpPr>
            <a:spLocks/>
          </p:cNvSpPr>
          <p:nvPr/>
        </p:nvSpPr>
        <p:spPr bwMode="auto">
          <a:xfrm>
            <a:off x="6324600" y="3429000"/>
            <a:ext cx="25400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r>
              <a:rPr lang="en-US" sz="24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24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rcx</a:t>
            </a:r>
            <a:endParaRPr lang="en-US" sz="24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76813" name="AutoShape 13"/>
          <p:cNvSpPr>
            <a:spLocks/>
          </p:cNvSpPr>
          <p:nvPr/>
        </p:nvSpPr>
        <p:spPr bwMode="auto">
          <a:xfrm>
            <a:off x="5867400" y="2057400"/>
            <a:ext cx="304800" cy="2667000"/>
          </a:xfrm>
          <a:custGeom>
            <a:avLst/>
            <a:gdLst>
              <a:gd name="T0" fmla="*/ 10800 w 21600"/>
              <a:gd name="T1" fmla="*/ 10800 h 21600"/>
            </a:gdLst>
            <a:ahLst/>
            <a:cxnLst>
              <a:cxn ang="0">
                <a:pos x="T0" y="T1"/>
              </a:cxn>
            </a:cxnLst>
            <a:rect l="0" t="0" r="r" b="b"/>
            <a:pathLst>
              <a:path w="21600" h="21600">
                <a:moveTo>
                  <a:pt x="21600" y="21600"/>
                </a:moveTo>
                <a:cubicBezTo>
                  <a:pt x="15635" y="21600"/>
                  <a:pt x="10800" y="21140"/>
                  <a:pt x="10800" y="20571"/>
                </a:cubicBezTo>
                <a:lnTo>
                  <a:pt x="10800" y="11829"/>
                </a:lnTo>
                <a:cubicBezTo>
                  <a:pt x="10800" y="11261"/>
                  <a:pt x="5965" y="10800"/>
                  <a:pt x="0" y="10800"/>
                </a:cubicBezTo>
                <a:cubicBezTo>
                  <a:pt x="5965" y="10800"/>
                  <a:pt x="10800" y="10339"/>
                  <a:pt x="10800" y="9771"/>
                </a:cubicBezTo>
                <a:lnTo>
                  <a:pt x="10800" y="1029"/>
                </a:lnTo>
                <a:cubicBezTo>
                  <a:pt x="10800" y="461"/>
                  <a:pt x="15635" y="0"/>
                  <a:pt x="21600" y="0"/>
                </a:cubicBezTo>
              </a:path>
            </a:pathLst>
          </a:cu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76816" name="Rectangle 16"/>
          <p:cNvSpPr>
            <a:spLocks/>
          </p:cNvSpPr>
          <p:nvPr/>
        </p:nvSpPr>
        <p:spPr bwMode="auto">
          <a:xfrm>
            <a:off x="4522513" y="1600200"/>
            <a:ext cx="1273598" cy="35394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r"/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Return value</a:t>
            </a:r>
          </a:p>
        </p:txBody>
      </p:sp>
      <p:sp>
        <p:nvSpPr>
          <p:cNvPr id="20" name="Rectangle 7"/>
          <p:cNvSpPr>
            <a:spLocks/>
          </p:cNvSpPr>
          <p:nvPr/>
        </p:nvSpPr>
        <p:spPr bwMode="auto">
          <a:xfrm>
            <a:off x="6324600" y="3886200"/>
            <a:ext cx="25400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r>
              <a:rPr lang="en-US" sz="24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%r8</a:t>
            </a:r>
          </a:p>
        </p:txBody>
      </p:sp>
      <p:sp>
        <p:nvSpPr>
          <p:cNvPr id="21" name="Rectangle 7"/>
          <p:cNvSpPr>
            <a:spLocks/>
          </p:cNvSpPr>
          <p:nvPr/>
        </p:nvSpPr>
        <p:spPr bwMode="auto">
          <a:xfrm>
            <a:off x="6324600" y="4343400"/>
            <a:ext cx="25400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r>
              <a:rPr lang="en-US" sz="24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%r9</a:t>
            </a:r>
          </a:p>
        </p:txBody>
      </p:sp>
      <p:sp>
        <p:nvSpPr>
          <p:cNvPr id="22" name="Rectangle 7"/>
          <p:cNvSpPr>
            <a:spLocks/>
          </p:cNvSpPr>
          <p:nvPr/>
        </p:nvSpPr>
        <p:spPr bwMode="auto">
          <a:xfrm>
            <a:off x="6324600" y="4800600"/>
            <a:ext cx="2540000" cy="381000"/>
          </a:xfrm>
          <a:prstGeom prst="rect">
            <a:avLst/>
          </a:prstGeom>
          <a:solidFill>
            <a:srgbClr val="F6F5BD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r>
              <a:rPr lang="en-US" sz="24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%r10</a:t>
            </a:r>
          </a:p>
        </p:txBody>
      </p:sp>
      <p:sp>
        <p:nvSpPr>
          <p:cNvPr id="23" name="Rectangle 7"/>
          <p:cNvSpPr>
            <a:spLocks/>
          </p:cNvSpPr>
          <p:nvPr/>
        </p:nvSpPr>
        <p:spPr bwMode="auto">
          <a:xfrm>
            <a:off x="6324600" y="5257800"/>
            <a:ext cx="2540000" cy="381000"/>
          </a:xfrm>
          <a:prstGeom prst="rect">
            <a:avLst/>
          </a:prstGeom>
          <a:solidFill>
            <a:srgbClr val="F6F5BD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r>
              <a:rPr lang="en-US" sz="24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%r11</a:t>
            </a:r>
          </a:p>
        </p:txBody>
      </p:sp>
      <p:sp>
        <p:nvSpPr>
          <p:cNvPr id="24" name="Rectangle 5"/>
          <p:cNvSpPr>
            <a:spLocks/>
          </p:cNvSpPr>
          <p:nvPr/>
        </p:nvSpPr>
        <p:spPr bwMode="auto">
          <a:xfrm>
            <a:off x="6324600" y="2057400"/>
            <a:ext cx="25400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r>
              <a:rPr lang="en-US" sz="24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24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rdi</a:t>
            </a:r>
            <a:endParaRPr lang="en-US" sz="24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25" name="Rectangle 5"/>
          <p:cNvSpPr>
            <a:spLocks/>
          </p:cNvSpPr>
          <p:nvPr/>
        </p:nvSpPr>
        <p:spPr bwMode="auto">
          <a:xfrm>
            <a:off x="6324600" y="2514600"/>
            <a:ext cx="25400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r>
              <a:rPr lang="en-US" sz="24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24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rsi</a:t>
            </a:r>
            <a:endParaRPr lang="en-US" sz="24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26" name="Rectangle 16"/>
          <p:cNvSpPr>
            <a:spLocks/>
          </p:cNvSpPr>
          <p:nvPr/>
        </p:nvSpPr>
        <p:spPr bwMode="auto">
          <a:xfrm>
            <a:off x="4687071" y="3200400"/>
            <a:ext cx="1109040" cy="35394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r"/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Arguments</a:t>
            </a:r>
          </a:p>
        </p:txBody>
      </p:sp>
      <p:sp>
        <p:nvSpPr>
          <p:cNvPr id="27" name="Rectangle 16"/>
          <p:cNvSpPr>
            <a:spLocks/>
          </p:cNvSpPr>
          <p:nvPr/>
        </p:nvSpPr>
        <p:spPr bwMode="auto">
          <a:xfrm>
            <a:off x="4486772" y="5029200"/>
            <a:ext cx="1270468" cy="630942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r"/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Caller-saved</a:t>
            </a:r>
          </a:p>
          <a:p>
            <a:pPr algn="r"/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temporaries</a:t>
            </a:r>
          </a:p>
        </p:txBody>
      </p:sp>
      <p:sp>
        <p:nvSpPr>
          <p:cNvPr id="28" name="AutoShape 13"/>
          <p:cNvSpPr>
            <a:spLocks/>
          </p:cNvSpPr>
          <p:nvPr/>
        </p:nvSpPr>
        <p:spPr bwMode="auto">
          <a:xfrm>
            <a:off x="5867400" y="4800600"/>
            <a:ext cx="304800" cy="838200"/>
          </a:xfrm>
          <a:custGeom>
            <a:avLst/>
            <a:gdLst>
              <a:gd name="T0" fmla="*/ 10800 w 21600"/>
              <a:gd name="T1" fmla="*/ 10800 h 21600"/>
            </a:gdLst>
            <a:ahLst/>
            <a:cxnLst>
              <a:cxn ang="0">
                <a:pos x="T0" y="T1"/>
              </a:cxn>
            </a:cxnLst>
            <a:rect l="0" t="0" r="r" b="b"/>
            <a:pathLst>
              <a:path w="21600" h="21600">
                <a:moveTo>
                  <a:pt x="21600" y="21600"/>
                </a:moveTo>
                <a:cubicBezTo>
                  <a:pt x="15635" y="21600"/>
                  <a:pt x="10800" y="21140"/>
                  <a:pt x="10800" y="20571"/>
                </a:cubicBezTo>
                <a:lnTo>
                  <a:pt x="10800" y="11829"/>
                </a:lnTo>
                <a:cubicBezTo>
                  <a:pt x="10800" y="11261"/>
                  <a:pt x="5965" y="10800"/>
                  <a:pt x="0" y="10800"/>
                </a:cubicBezTo>
                <a:cubicBezTo>
                  <a:pt x="5965" y="10800"/>
                  <a:pt x="10800" y="10339"/>
                  <a:pt x="10800" y="9771"/>
                </a:cubicBezTo>
                <a:lnTo>
                  <a:pt x="10800" y="1029"/>
                </a:lnTo>
                <a:cubicBezTo>
                  <a:pt x="10800" y="461"/>
                  <a:pt x="15635" y="0"/>
                  <a:pt x="21600" y="0"/>
                </a:cubicBezTo>
              </a:path>
            </a:pathLst>
          </a:cu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1298683-F2DD-DD2F-3C69-5632C5DA1809}"/>
              </a:ext>
            </a:extLst>
          </p:cNvPr>
          <p:cNvSpPr>
            <a:spLocks/>
          </p:cNvSpPr>
          <p:nvPr/>
        </p:nvSpPr>
        <p:spPr bwMode="auto">
          <a:xfrm>
            <a:off x="-1270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2A7ADCA-1CB1-F6FE-AB6B-74C5E4CC0B38}"/>
              </a:ext>
            </a:extLst>
          </p:cNvPr>
          <p:cNvSpPr>
            <a:spLocks/>
          </p:cNvSpPr>
          <p:nvPr/>
        </p:nvSpPr>
        <p:spPr bwMode="auto">
          <a:xfrm>
            <a:off x="-12700" y="6658594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76802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76803" name="Rectangle 3"/>
          <p:cNvSpPr>
            <a:spLocks noGrp="1" noChangeArrowheads="1"/>
          </p:cNvSpPr>
          <p:nvPr>
            <p:ph type="title"/>
          </p:nvPr>
        </p:nvSpPr>
        <p:spPr>
          <a:xfrm>
            <a:off x="381000" y="254000"/>
            <a:ext cx="6019800" cy="1143000"/>
          </a:xfrm>
          <a:ln/>
        </p:spPr>
        <p:txBody>
          <a:bodyPr/>
          <a:lstStyle/>
          <a:p>
            <a:pPr marL="119063" indent="-119063"/>
            <a:r>
              <a:rPr lang="en-US" dirty="0"/>
              <a:t>x86-64 Linux Register Usage #2</a:t>
            </a:r>
          </a:p>
        </p:txBody>
      </p:sp>
      <p:sp>
        <p:nvSpPr>
          <p:cNvPr id="76804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381000" y="1397000"/>
            <a:ext cx="4064000" cy="4394200"/>
          </a:xfrm>
          <a:ln/>
        </p:spPr>
        <p:txBody>
          <a:bodyPr/>
          <a:lstStyle/>
          <a:p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rbx</a:t>
            </a:r>
            <a:r>
              <a:rPr lang="en-US" dirty="0"/>
              <a:t>,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%r12</a:t>
            </a:r>
            <a:r>
              <a:rPr lang="en-US" dirty="0"/>
              <a:t>,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%r13</a:t>
            </a:r>
            <a:r>
              <a:rPr lang="en-US" dirty="0"/>
              <a:t>,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%r14</a:t>
            </a:r>
            <a:endParaRPr lang="en-US" dirty="0">
              <a:latin typeface="Courier New Bold" charset="0"/>
              <a:sym typeface="Courier New Bold" charset="0"/>
            </a:endParaRPr>
          </a:p>
          <a:p>
            <a:pPr marL="552450" lvl="1"/>
            <a:r>
              <a:rPr lang="en-US" dirty="0" err="1"/>
              <a:t>Callee</a:t>
            </a:r>
            <a:r>
              <a:rPr lang="en-US" dirty="0"/>
              <a:t>-saved</a:t>
            </a:r>
          </a:p>
          <a:p>
            <a:pPr marL="552450" lvl="1"/>
            <a:r>
              <a:rPr lang="en-US" dirty="0" err="1"/>
              <a:t>Callee</a:t>
            </a:r>
            <a:r>
              <a:rPr lang="en-US" dirty="0"/>
              <a:t> must save &amp; restore</a:t>
            </a:r>
          </a:p>
          <a:p>
            <a:pPr marL="292100"/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rbp</a:t>
            </a:r>
            <a:endParaRPr lang="en-US" dirty="0"/>
          </a:p>
          <a:p>
            <a:pPr marL="552450" lvl="1"/>
            <a:r>
              <a:rPr lang="en-US" dirty="0" err="1"/>
              <a:t>Callee</a:t>
            </a:r>
            <a:r>
              <a:rPr lang="en-US" dirty="0"/>
              <a:t>-saved</a:t>
            </a:r>
          </a:p>
          <a:p>
            <a:pPr marL="552450" lvl="1"/>
            <a:r>
              <a:rPr lang="en-US" dirty="0" err="1"/>
              <a:t>Callee</a:t>
            </a:r>
            <a:r>
              <a:rPr lang="en-US" dirty="0"/>
              <a:t> must save &amp; restore</a:t>
            </a:r>
          </a:p>
          <a:p>
            <a:pPr marL="552450" lvl="1"/>
            <a:r>
              <a:rPr lang="en-US" dirty="0"/>
              <a:t>May be used as frame pointer</a:t>
            </a:r>
          </a:p>
          <a:p>
            <a:pPr marL="552450" lvl="1"/>
            <a:r>
              <a:rPr lang="en-US" dirty="0"/>
              <a:t>Can mix &amp; match</a:t>
            </a:r>
          </a:p>
          <a:p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rsp</a:t>
            </a:r>
            <a:endParaRPr lang="en-US" dirty="0">
              <a:latin typeface="Courier New Bold" charset="0"/>
              <a:sym typeface="Courier New Bold" charset="0"/>
            </a:endParaRPr>
          </a:p>
          <a:p>
            <a:pPr marL="552450" lvl="1"/>
            <a:r>
              <a:rPr lang="en-US" dirty="0"/>
              <a:t>Special form of </a:t>
            </a:r>
            <a:r>
              <a:rPr lang="en-US" dirty="0" err="1"/>
              <a:t>callee</a:t>
            </a:r>
            <a:r>
              <a:rPr lang="en-US" dirty="0"/>
              <a:t> save</a:t>
            </a:r>
          </a:p>
          <a:p>
            <a:pPr marL="552450" lvl="1"/>
            <a:r>
              <a:rPr lang="en-US" dirty="0"/>
              <a:t>Restored to original value upon exit from procedure</a:t>
            </a:r>
          </a:p>
        </p:txBody>
      </p:sp>
      <p:sp>
        <p:nvSpPr>
          <p:cNvPr id="76808" name="Rectangle 8"/>
          <p:cNvSpPr>
            <a:spLocks/>
          </p:cNvSpPr>
          <p:nvPr/>
        </p:nvSpPr>
        <p:spPr bwMode="auto">
          <a:xfrm>
            <a:off x="6400800" y="1371600"/>
            <a:ext cx="2540000" cy="381000"/>
          </a:xfrm>
          <a:prstGeom prst="rect">
            <a:avLst/>
          </a:prstGeom>
          <a:solidFill>
            <a:srgbClr val="D5F1CF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r>
              <a:rPr lang="en-US" sz="24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24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rbx</a:t>
            </a:r>
            <a:endParaRPr lang="en-US" sz="24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76811" name="Rectangle 11"/>
          <p:cNvSpPr>
            <a:spLocks/>
          </p:cNvSpPr>
          <p:nvPr/>
        </p:nvSpPr>
        <p:spPr bwMode="auto">
          <a:xfrm>
            <a:off x="6400800" y="3657600"/>
            <a:ext cx="2540000" cy="381000"/>
          </a:xfrm>
          <a:prstGeom prst="rect">
            <a:avLst/>
          </a:prstGeom>
          <a:solidFill>
            <a:srgbClr val="F1C7C7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r>
              <a:rPr lang="en-US" sz="24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24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rsp</a:t>
            </a:r>
            <a:endParaRPr lang="en-US" sz="24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76814" name="AutoShape 14"/>
          <p:cNvSpPr>
            <a:spLocks/>
          </p:cNvSpPr>
          <p:nvPr/>
        </p:nvSpPr>
        <p:spPr bwMode="auto">
          <a:xfrm>
            <a:off x="5943600" y="1371600"/>
            <a:ext cx="304800" cy="2209800"/>
          </a:xfrm>
          <a:custGeom>
            <a:avLst/>
            <a:gdLst>
              <a:gd name="T0" fmla="*/ 10800 w 21600"/>
              <a:gd name="T1" fmla="*/ 10800 h 21600"/>
            </a:gdLst>
            <a:ahLst/>
            <a:cxnLst>
              <a:cxn ang="0">
                <a:pos x="T0" y="T1"/>
              </a:cxn>
            </a:cxnLst>
            <a:rect l="0" t="0" r="r" b="b"/>
            <a:pathLst>
              <a:path w="21600" h="21600">
                <a:moveTo>
                  <a:pt x="21600" y="21600"/>
                </a:moveTo>
                <a:cubicBezTo>
                  <a:pt x="15635" y="21600"/>
                  <a:pt x="10800" y="21140"/>
                  <a:pt x="10800" y="20571"/>
                </a:cubicBezTo>
                <a:lnTo>
                  <a:pt x="10800" y="11829"/>
                </a:lnTo>
                <a:cubicBezTo>
                  <a:pt x="10800" y="11261"/>
                  <a:pt x="5965" y="10800"/>
                  <a:pt x="0" y="10800"/>
                </a:cubicBezTo>
                <a:cubicBezTo>
                  <a:pt x="5965" y="10800"/>
                  <a:pt x="10800" y="10339"/>
                  <a:pt x="10800" y="9771"/>
                </a:cubicBezTo>
                <a:lnTo>
                  <a:pt x="10800" y="1029"/>
                </a:lnTo>
                <a:cubicBezTo>
                  <a:pt x="10800" y="461"/>
                  <a:pt x="15635" y="0"/>
                  <a:pt x="21600" y="0"/>
                </a:cubicBezTo>
              </a:path>
            </a:pathLst>
          </a:cu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76815" name="AutoShape 15"/>
          <p:cNvSpPr>
            <a:spLocks/>
          </p:cNvSpPr>
          <p:nvPr/>
        </p:nvSpPr>
        <p:spPr bwMode="auto">
          <a:xfrm>
            <a:off x="5715000" y="3200400"/>
            <a:ext cx="304800" cy="838200"/>
          </a:xfrm>
          <a:custGeom>
            <a:avLst/>
            <a:gdLst>
              <a:gd name="T0" fmla="*/ 10800 w 21600"/>
              <a:gd name="T1" fmla="*/ 10800 h 21600"/>
            </a:gdLst>
            <a:ahLst/>
            <a:cxnLst>
              <a:cxn ang="0">
                <a:pos x="T0" y="T1"/>
              </a:cxn>
            </a:cxnLst>
            <a:rect l="0" t="0" r="r" b="b"/>
            <a:pathLst>
              <a:path w="21600" h="21600">
                <a:moveTo>
                  <a:pt x="21600" y="21600"/>
                </a:moveTo>
                <a:cubicBezTo>
                  <a:pt x="15635" y="21600"/>
                  <a:pt x="10800" y="21139"/>
                  <a:pt x="10800" y="20571"/>
                </a:cubicBezTo>
                <a:lnTo>
                  <a:pt x="10800" y="11829"/>
                </a:lnTo>
                <a:cubicBezTo>
                  <a:pt x="10800" y="11261"/>
                  <a:pt x="5965" y="10800"/>
                  <a:pt x="0" y="10800"/>
                </a:cubicBezTo>
                <a:cubicBezTo>
                  <a:pt x="5965" y="10800"/>
                  <a:pt x="10800" y="10339"/>
                  <a:pt x="10800" y="9771"/>
                </a:cubicBezTo>
                <a:lnTo>
                  <a:pt x="10800" y="1029"/>
                </a:lnTo>
                <a:cubicBezTo>
                  <a:pt x="10800" y="461"/>
                  <a:pt x="15635" y="0"/>
                  <a:pt x="21600" y="0"/>
                </a:cubicBezTo>
              </a:path>
            </a:pathLst>
          </a:cu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76817" name="Rectangle 17"/>
          <p:cNvSpPr>
            <a:spLocks/>
          </p:cNvSpPr>
          <p:nvPr/>
        </p:nvSpPr>
        <p:spPr bwMode="auto">
          <a:xfrm>
            <a:off x="4572000" y="1981200"/>
            <a:ext cx="1262062" cy="6350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r"/>
            <a:r>
              <a:rPr lang="en-US" sz="1800" dirty="0" err="1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Callee</a:t>
            </a:r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-saved</a:t>
            </a:r>
            <a:endParaRPr lang="en-US" dirty="0">
              <a:solidFill>
                <a:schemeClr val="tx1"/>
              </a:solidFill>
              <a:latin typeface="Arial Narrow Bold" charset="0"/>
              <a:ea typeface="Lucida Grande" charset="0"/>
              <a:cs typeface="Lucida Grande" charset="0"/>
              <a:sym typeface="Arial Narrow Bold" charset="0"/>
            </a:endParaRPr>
          </a:p>
          <a:p>
            <a:pPr algn="r"/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Temporaries</a:t>
            </a:r>
          </a:p>
        </p:txBody>
      </p:sp>
      <p:sp>
        <p:nvSpPr>
          <p:cNvPr id="76818" name="Rectangle 18"/>
          <p:cNvSpPr>
            <a:spLocks/>
          </p:cNvSpPr>
          <p:nvPr/>
        </p:nvSpPr>
        <p:spPr bwMode="auto">
          <a:xfrm>
            <a:off x="4933950" y="3429000"/>
            <a:ext cx="755650" cy="3556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r"/>
            <a:r>
              <a:rPr lang="en-US" sz="18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Special</a:t>
            </a:r>
          </a:p>
        </p:txBody>
      </p:sp>
      <p:sp>
        <p:nvSpPr>
          <p:cNvPr id="24" name="Rectangle 8"/>
          <p:cNvSpPr>
            <a:spLocks/>
          </p:cNvSpPr>
          <p:nvPr/>
        </p:nvSpPr>
        <p:spPr bwMode="auto">
          <a:xfrm>
            <a:off x="6400800" y="3200400"/>
            <a:ext cx="25400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r>
              <a:rPr lang="en-US" sz="24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24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rbp</a:t>
            </a:r>
            <a:endParaRPr lang="en-US" sz="24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25" name="Rectangle 8"/>
          <p:cNvSpPr>
            <a:spLocks/>
          </p:cNvSpPr>
          <p:nvPr/>
        </p:nvSpPr>
        <p:spPr bwMode="auto">
          <a:xfrm>
            <a:off x="6400800" y="1828800"/>
            <a:ext cx="2540000" cy="381000"/>
          </a:xfrm>
          <a:prstGeom prst="rect">
            <a:avLst/>
          </a:prstGeom>
          <a:solidFill>
            <a:srgbClr val="D5F1CF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r>
              <a:rPr lang="en-US" sz="24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%r12</a:t>
            </a:r>
          </a:p>
        </p:txBody>
      </p:sp>
      <p:sp>
        <p:nvSpPr>
          <p:cNvPr id="26" name="Rectangle 8"/>
          <p:cNvSpPr>
            <a:spLocks/>
          </p:cNvSpPr>
          <p:nvPr/>
        </p:nvSpPr>
        <p:spPr bwMode="auto">
          <a:xfrm>
            <a:off x="6400800" y="2286000"/>
            <a:ext cx="2540000" cy="381000"/>
          </a:xfrm>
          <a:prstGeom prst="rect">
            <a:avLst/>
          </a:prstGeom>
          <a:solidFill>
            <a:srgbClr val="D5F1CF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r>
              <a:rPr lang="en-US" sz="24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%r13</a:t>
            </a:r>
          </a:p>
        </p:txBody>
      </p:sp>
      <p:sp>
        <p:nvSpPr>
          <p:cNvPr id="27" name="Rectangle 8"/>
          <p:cNvSpPr>
            <a:spLocks/>
          </p:cNvSpPr>
          <p:nvPr/>
        </p:nvSpPr>
        <p:spPr bwMode="auto">
          <a:xfrm>
            <a:off x="6400800" y="2743200"/>
            <a:ext cx="2540000" cy="381000"/>
          </a:xfrm>
          <a:prstGeom prst="rect">
            <a:avLst/>
          </a:prstGeom>
          <a:solidFill>
            <a:srgbClr val="D5F1CF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r>
              <a:rPr lang="en-US" sz="24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%r14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02EE016-76CE-CC63-7512-71A10A3E0AF1}"/>
              </a:ext>
            </a:extLst>
          </p:cNvPr>
          <p:cNvSpPr>
            <a:spLocks/>
          </p:cNvSpPr>
          <p:nvPr/>
        </p:nvSpPr>
        <p:spPr bwMode="auto">
          <a:xfrm>
            <a:off x="-1270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BEB13C9-75E9-8F8B-8D2B-9023CAA52357}"/>
              </a:ext>
            </a:extLst>
          </p:cNvPr>
          <p:cNvSpPr>
            <a:spLocks/>
          </p:cNvSpPr>
          <p:nvPr/>
        </p:nvSpPr>
        <p:spPr bwMode="auto">
          <a:xfrm>
            <a:off x="-12700" y="6658594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56515"/>
      </p:ext>
    </p:extLst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63490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 err="1"/>
              <a:t>Callee</a:t>
            </a:r>
            <a:r>
              <a:rPr lang="en-US" dirty="0"/>
              <a:t>-Saved Example #1</a:t>
            </a:r>
            <a:endParaRPr lang="en-US" dirty="0">
              <a:latin typeface="Courier New Bold" charset="0"/>
              <a:sym typeface="Courier New Bold" charset="0"/>
            </a:endParaRPr>
          </a:p>
        </p:txBody>
      </p:sp>
      <p:sp>
        <p:nvSpPr>
          <p:cNvPr id="63492" name="Rectangle 4"/>
          <p:cNvSpPr>
            <a:spLocks/>
          </p:cNvSpPr>
          <p:nvPr/>
        </p:nvSpPr>
        <p:spPr bwMode="auto">
          <a:xfrm>
            <a:off x="381000" y="3200400"/>
            <a:ext cx="4419600" cy="35052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call_incr2: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pushq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%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rbx</a:t>
            </a:r>
            <a:endParaRPr lang="en-US" sz="1800" b="1" dirty="0">
              <a:solidFill>
                <a:srgbClr val="FF0000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subq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$16, %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rsp</a:t>
            </a:r>
            <a:endParaRPr lang="en-US" sz="1800" b="1" dirty="0">
              <a:solidFill>
                <a:srgbClr val="FF0000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movq</a:t>
            </a: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    %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rdi</a:t>
            </a: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, %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rbx</a:t>
            </a:r>
            <a:endParaRPr lang="en-US" sz="1800" b="1" dirty="0"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movq</a:t>
            </a: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    $15213, 8(%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rsp</a:t>
            </a: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)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movl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$3000,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esi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leaq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8(%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rsp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rdi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call  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incr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addq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rbx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rax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addq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$16,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rsp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popq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rbx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ret</a:t>
            </a:r>
          </a:p>
        </p:txBody>
      </p:sp>
      <p:sp>
        <p:nvSpPr>
          <p:cNvPr id="63493" name="Rectangle 5"/>
          <p:cNvSpPr>
            <a:spLocks/>
          </p:cNvSpPr>
          <p:nvPr/>
        </p:nvSpPr>
        <p:spPr bwMode="auto">
          <a:xfrm>
            <a:off x="381000" y="1371600"/>
            <a:ext cx="4343400" cy="16002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long call_incr2(long x) {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long v1 = 15213;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long v2 =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incr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(&amp;v1, 3000);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return x+v2;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63498" name="Line 10"/>
          <p:cNvSpPr>
            <a:spLocks noChangeShapeType="1"/>
          </p:cNvSpPr>
          <p:nvPr/>
        </p:nvSpPr>
        <p:spPr bwMode="auto">
          <a:xfrm flipH="1">
            <a:off x="6477000" y="2743200"/>
            <a:ext cx="45720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3499" name="Rectangle 11"/>
          <p:cNvSpPr>
            <a:spLocks/>
          </p:cNvSpPr>
          <p:nvPr/>
        </p:nvSpPr>
        <p:spPr bwMode="auto">
          <a:xfrm>
            <a:off x="6983413" y="2584450"/>
            <a:ext cx="654025" cy="35394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18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rsp</a:t>
            </a:r>
            <a:endParaRPr lang="en-US" sz="18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63500" name="Rectangle 12"/>
          <p:cNvSpPr>
            <a:spLocks/>
          </p:cNvSpPr>
          <p:nvPr/>
        </p:nvSpPr>
        <p:spPr bwMode="auto">
          <a:xfrm>
            <a:off x="5943600" y="1066800"/>
            <a:ext cx="2301486" cy="384721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20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Initial Stack Structure</a:t>
            </a:r>
          </a:p>
        </p:txBody>
      </p:sp>
      <p:sp>
        <p:nvSpPr>
          <p:cNvPr id="63501" name="Rectangle 13"/>
          <p:cNvSpPr>
            <a:spLocks/>
          </p:cNvSpPr>
          <p:nvPr/>
        </p:nvSpPr>
        <p:spPr bwMode="auto">
          <a:xfrm>
            <a:off x="5181600" y="1600200"/>
            <a:ext cx="1295400" cy="9144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. . .</a:t>
            </a:r>
          </a:p>
        </p:txBody>
      </p:sp>
      <p:sp>
        <p:nvSpPr>
          <p:cNvPr id="16" name="Rectangle 9"/>
          <p:cNvSpPr>
            <a:spLocks/>
          </p:cNvSpPr>
          <p:nvPr/>
        </p:nvSpPr>
        <p:spPr bwMode="auto">
          <a:xfrm>
            <a:off x="5181600" y="2514600"/>
            <a:ext cx="1295400" cy="381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 err="1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Rtn</a:t>
            </a:r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 address</a:t>
            </a:r>
          </a:p>
        </p:txBody>
      </p:sp>
      <p:sp>
        <p:nvSpPr>
          <p:cNvPr id="17" name="Rectangle 7"/>
          <p:cNvSpPr>
            <a:spLocks/>
          </p:cNvSpPr>
          <p:nvPr/>
        </p:nvSpPr>
        <p:spPr bwMode="auto">
          <a:xfrm>
            <a:off x="5181600" y="5791200"/>
            <a:ext cx="1295400" cy="381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15213</a:t>
            </a:r>
          </a:p>
        </p:txBody>
      </p:sp>
      <p:sp>
        <p:nvSpPr>
          <p:cNvPr id="18" name="Rectangle 9"/>
          <p:cNvSpPr>
            <a:spLocks/>
          </p:cNvSpPr>
          <p:nvPr/>
        </p:nvSpPr>
        <p:spPr bwMode="auto">
          <a:xfrm>
            <a:off x="5181600" y="6172200"/>
            <a:ext cx="1295400" cy="381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Unused</a:t>
            </a:r>
          </a:p>
        </p:txBody>
      </p:sp>
      <p:sp>
        <p:nvSpPr>
          <p:cNvPr id="19" name="Line 10"/>
          <p:cNvSpPr>
            <a:spLocks noChangeShapeType="1"/>
          </p:cNvSpPr>
          <p:nvPr/>
        </p:nvSpPr>
        <p:spPr bwMode="auto">
          <a:xfrm flipH="1">
            <a:off x="6503987" y="6407150"/>
            <a:ext cx="45720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0" name="Rectangle 11"/>
          <p:cNvSpPr>
            <a:spLocks/>
          </p:cNvSpPr>
          <p:nvPr/>
        </p:nvSpPr>
        <p:spPr bwMode="auto">
          <a:xfrm>
            <a:off x="7010400" y="6178550"/>
            <a:ext cx="654025" cy="35394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18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rsp</a:t>
            </a:r>
            <a:endParaRPr lang="en-US" sz="18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21" name="Rectangle 12"/>
          <p:cNvSpPr>
            <a:spLocks/>
          </p:cNvSpPr>
          <p:nvPr/>
        </p:nvSpPr>
        <p:spPr bwMode="auto">
          <a:xfrm>
            <a:off x="5943600" y="3581400"/>
            <a:ext cx="2677816" cy="384721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20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Resulting Stack Structure</a:t>
            </a:r>
          </a:p>
        </p:txBody>
      </p:sp>
      <p:sp>
        <p:nvSpPr>
          <p:cNvPr id="22" name="Rectangle 13"/>
          <p:cNvSpPr>
            <a:spLocks/>
          </p:cNvSpPr>
          <p:nvPr/>
        </p:nvSpPr>
        <p:spPr bwMode="auto">
          <a:xfrm>
            <a:off x="5181600" y="4114800"/>
            <a:ext cx="1295400" cy="9144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. . .</a:t>
            </a:r>
          </a:p>
        </p:txBody>
      </p:sp>
      <p:sp>
        <p:nvSpPr>
          <p:cNvPr id="23" name="Rectangle 9"/>
          <p:cNvSpPr>
            <a:spLocks/>
          </p:cNvSpPr>
          <p:nvPr/>
        </p:nvSpPr>
        <p:spPr bwMode="auto">
          <a:xfrm>
            <a:off x="5181600" y="5029200"/>
            <a:ext cx="1295400" cy="381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 err="1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Rtn</a:t>
            </a:r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 address</a:t>
            </a:r>
          </a:p>
        </p:txBody>
      </p:sp>
      <p:sp>
        <p:nvSpPr>
          <p:cNvPr id="26" name="Line 10"/>
          <p:cNvSpPr>
            <a:spLocks noChangeShapeType="1"/>
          </p:cNvSpPr>
          <p:nvPr/>
        </p:nvSpPr>
        <p:spPr bwMode="auto">
          <a:xfrm flipH="1">
            <a:off x="6477000" y="6019800"/>
            <a:ext cx="45720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7" name="Rectangle 11"/>
          <p:cNvSpPr>
            <a:spLocks/>
          </p:cNvSpPr>
          <p:nvPr/>
        </p:nvSpPr>
        <p:spPr bwMode="auto">
          <a:xfrm>
            <a:off x="6983413" y="5791200"/>
            <a:ext cx="908076" cy="35394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%rsp+8</a:t>
            </a:r>
          </a:p>
        </p:txBody>
      </p:sp>
      <p:sp>
        <p:nvSpPr>
          <p:cNvPr id="24" name="Rectangle 9"/>
          <p:cNvSpPr>
            <a:spLocks/>
          </p:cNvSpPr>
          <p:nvPr/>
        </p:nvSpPr>
        <p:spPr bwMode="auto">
          <a:xfrm>
            <a:off x="5181600" y="5410200"/>
            <a:ext cx="1295400" cy="381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Saved </a:t>
            </a:r>
            <a:r>
              <a:rPr lang="en-US" sz="1800" b="1" dirty="0">
                <a:solidFill>
                  <a:schemeClr val="tx1"/>
                </a:solidFill>
                <a:latin typeface="Courier New"/>
                <a:ea typeface="Calibri Bold" charset="0"/>
                <a:cs typeface="Courier New"/>
                <a:sym typeface="Calibri Bold" charset="0"/>
              </a:rPr>
              <a:t>%</a:t>
            </a:r>
            <a:r>
              <a:rPr lang="en-US" sz="1800" b="1" dirty="0" err="1">
                <a:solidFill>
                  <a:schemeClr val="tx1"/>
                </a:solidFill>
                <a:latin typeface="Courier New"/>
                <a:ea typeface="Calibri Bold" charset="0"/>
                <a:cs typeface="Courier New"/>
                <a:sym typeface="Calibri Bold" charset="0"/>
              </a:rPr>
              <a:t>rbx</a:t>
            </a:r>
            <a:endParaRPr lang="en-US" sz="1800" b="1" dirty="0">
              <a:solidFill>
                <a:schemeClr val="tx1"/>
              </a:solidFill>
              <a:latin typeface="Courier New"/>
              <a:ea typeface="Calibri Bold" charset="0"/>
              <a:cs typeface="Courier New"/>
              <a:sym typeface="Calibri Bold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7ED454-4470-7F4A-7094-C190F56FE975}"/>
              </a:ext>
            </a:extLst>
          </p:cNvPr>
          <p:cNvSpPr>
            <a:spLocks/>
          </p:cNvSpPr>
          <p:nvPr/>
        </p:nvSpPr>
        <p:spPr bwMode="auto">
          <a:xfrm>
            <a:off x="-1270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2EDA5A5-865C-DAC7-3EB5-85735E849765}"/>
              </a:ext>
            </a:extLst>
          </p:cNvPr>
          <p:cNvSpPr>
            <a:spLocks/>
          </p:cNvSpPr>
          <p:nvPr/>
        </p:nvSpPr>
        <p:spPr bwMode="auto">
          <a:xfrm>
            <a:off x="-12700" y="6658594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791463"/>
      </p:ext>
    </p:extLst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63490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 err="1"/>
              <a:t>Callee</a:t>
            </a:r>
            <a:r>
              <a:rPr lang="en-US" dirty="0"/>
              <a:t>-Saved Example #2</a:t>
            </a:r>
            <a:endParaRPr lang="en-US" dirty="0">
              <a:latin typeface="Courier New Bold" charset="0"/>
              <a:sym typeface="Courier New Bold" charset="0"/>
            </a:endParaRPr>
          </a:p>
        </p:txBody>
      </p:sp>
      <p:sp>
        <p:nvSpPr>
          <p:cNvPr id="63492" name="Rectangle 4"/>
          <p:cNvSpPr>
            <a:spLocks/>
          </p:cNvSpPr>
          <p:nvPr/>
        </p:nvSpPr>
        <p:spPr bwMode="auto">
          <a:xfrm>
            <a:off x="381000" y="3200400"/>
            <a:ext cx="4419600" cy="34290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call_incr2: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pushq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rbx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subq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$16,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rsp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movq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rdi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rbx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movq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$15213, 8(%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rsp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movl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$3000,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esi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leaq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8(%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rsp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rdi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call  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incr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addq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rbx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rax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addq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$16, %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rsp</a:t>
            </a:r>
            <a:endParaRPr lang="en-US" sz="1800" b="1" dirty="0">
              <a:solidFill>
                <a:srgbClr val="FF0000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popq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%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rbx</a:t>
            </a:r>
            <a:endParaRPr lang="en-US" sz="1800" b="1" dirty="0">
              <a:solidFill>
                <a:srgbClr val="FF0000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ret</a:t>
            </a:r>
          </a:p>
        </p:txBody>
      </p:sp>
      <p:sp>
        <p:nvSpPr>
          <p:cNvPr id="63493" name="Rectangle 5"/>
          <p:cNvSpPr>
            <a:spLocks/>
          </p:cNvSpPr>
          <p:nvPr/>
        </p:nvSpPr>
        <p:spPr bwMode="auto">
          <a:xfrm>
            <a:off x="381000" y="1371600"/>
            <a:ext cx="4343400" cy="16002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long call_incr2(long x) {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long v1 = 15213;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long v2 =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incr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(&amp;v1, 3000);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return x+v2;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63498" name="Line 10"/>
          <p:cNvSpPr>
            <a:spLocks noChangeShapeType="1"/>
          </p:cNvSpPr>
          <p:nvPr/>
        </p:nvSpPr>
        <p:spPr bwMode="auto">
          <a:xfrm flipH="1">
            <a:off x="6477000" y="5943600"/>
            <a:ext cx="45720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3499" name="Rectangle 11"/>
          <p:cNvSpPr>
            <a:spLocks/>
          </p:cNvSpPr>
          <p:nvPr/>
        </p:nvSpPr>
        <p:spPr bwMode="auto">
          <a:xfrm>
            <a:off x="6983413" y="5784850"/>
            <a:ext cx="654025" cy="35394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18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rsp</a:t>
            </a:r>
            <a:endParaRPr lang="en-US" sz="18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63500" name="Rectangle 12"/>
          <p:cNvSpPr>
            <a:spLocks/>
          </p:cNvSpPr>
          <p:nvPr/>
        </p:nvSpPr>
        <p:spPr bwMode="auto">
          <a:xfrm>
            <a:off x="5943600" y="4267200"/>
            <a:ext cx="2808561" cy="384721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20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Pre-return Stack Structure</a:t>
            </a:r>
          </a:p>
        </p:txBody>
      </p:sp>
      <p:sp>
        <p:nvSpPr>
          <p:cNvPr id="63501" name="Rectangle 13"/>
          <p:cNvSpPr>
            <a:spLocks/>
          </p:cNvSpPr>
          <p:nvPr/>
        </p:nvSpPr>
        <p:spPr bwMode="auto">
          <a:xfrm>
            <a:off x="5181600" y="4800600"/>
            <a:ext cx="1295400" cy="9144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. . .</a:t>
            </a:r>
          </a:p>
        </p:txBody>
      </p:sp>
      <p:sp>
        <p:nvSpPr>
          <p:cNvPr id="16" name="Rectangle 9"/>
          <p:cNvSpPr>
            <a:spLocks/>
          </p:cNvSpPr>
          <p:nvPr/>
        </p:nvSpPr>
        <p:spPr bwMode="auto">
          <a:xfrm>
            <a:off x="5181600" y="5715000"/>
            <a:ext cx="1295400" cy="381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 err="1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Rtn</a:t>
            </a:r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 address</a:t>
            </a:r>
          </a:p>
        </p:txBody>
      </p:sp>
      <p:sp>
        <p:nvSpPr>
          <p:cNvPr id="17" name="Rectangle 7"/>
          <p:cNvSpPr>
            <a:spLocks/>
          </p:cNvSpPr>
          <p:nvPr/>
        </p:nvSpPr>
        <p:spPr bwMode="auto">
          <a:xfrm>
            <a:off x="5181600" y="3048000"/>
            <a:ext cx="1295400" cy="381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15213</a:t>
            </a:r>
          </a:p>
        </p:txBody>
      </p:sp>
      <p:sp>
        <p:nvSpPr>
          <p:cNvPr id="18" name="Rectangle 9"/>
          <p:cNvSpPr>
            <a:spLocks/>
          </p:cNvSpPr>
          <p:nvPr/>
        </p:nvSpPr>
        <p:spPr bwMode="auto">
          <a:xfrm>
            <a:off x="5181600" y="3429000"/>
            <a:ext cx="1295400" cy="381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Unused</a:t>
            </a:r>
          </a:p>
        </p:txBody>
      </p:sp>
      <p:sp>
        <p:nvSpPr>
          <p:cNvPr id="19" name="Line 10"/>
          <p:cNvSpPr>
            <a:spLocks noChangeShapeType="1"/>
          </p:cNvSpPr>
          <p:nvPr/>
        </p:nvSpPr>
        <p:spPr bwMode="auto">
          <a:xfrm flipH="1">
            <a:off x="6503987" y="3663950"/>
            <a:ext cx="45720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0" name="Rectangle 11"/>
          <p:cNvSpPr>
            <a:spLocks/>
          </p:cNvSpPr>
          <p:nvPr/>
        </p:nvSpPr>
        <p:spPr bwMode="auto">
          <a:xfrm>
            <a:off x="7010400" y="3435350"/>
            <a:ext cx="654025" cy="35394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18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rsp</a:t>
            </a:r>
            <a:endParaRPr lang="en-US" sz="18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21" name="Rectangle 12"/>
          <p:cNvSpPr>
            <a:spLocks/>
          </p:cNvSpPr>
          <p:nvPr/>
        </p:nvSpPr>
        <p:spPr bwMode="auto">
          <a:xfrm>
            <a:off x="5943600" y="838200"/>
            <a:ext cx="2677816" cy="384721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20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Resulting Stack Structure</a:t>
            </a:r>
          </a:p>
        </p:txBody>
      </p:sp>
      <p:sp>
        <p:nvSpPr>
          <p:cNvPr id="22" name="Rectangle 13"/>
          <p:cNvSpPr>
            <a:spLocks/>
          </p:cNvSpPr>
          <p:nvPr/>
        </p:nvSpPr>
        <p:spPr bwMode="auto">
          <a:xfrm>
            <a:off x="5181600" y="1371600"/>
            <a:ext cx="1295400" cy="9144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. . .</a:t>
            </a:r>
          </a:p>
        </p:txBody>
      </p:sp>
      <p:sp>
        <p:nvSpPr>
          <p:cNvPr id="23" name="Rectangle 9"/>
          <p:cNvSpPr>
            <a:spLocks/>
          </p:cNvSpPr>
          <p:nvPr/>
        </p:nvSpPr>
        <p:spPr bwMode="auto">
          <a:xfrm>
            <a:off x="5181600" y="2286000"/>
            <a:ext cx="1295400" cy="381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 err="1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Rtn</a:t>
            </a:r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 address</a:t>
            </a:r>
          </a:p>
        </p:txBody>
      </p:sp>
      <p:sp>
        <p:nvSpPr>
          <p:cNvPr id="26" name="Line 10"/>
          <p:cNvSpPr>
            <a:spLocks noChangeShapeType="1"/>
          </p:cNvSpPr>
          <p:nvPr/>
        </p:nvSpPr>
        <p:spPr bwMode="auto">
          <a:xfrm flipH="1">
            <a:off x="6477000" y="3276600"/>
            <a:ext cx="45720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7" name="Rectangle 11"/>
          <p:cNvSpPr>
            <a:spLocks/>
          </p:cNvSpPr>
          <p:nvPr/>
        </p:nvSpPr>
        <p:spPr bwMode="auto">
          <a:xfrm>
            <a:off x="6983413" y="3048000"/>
            <a:ext cx="908076" cy="35394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%rsp+8</a:t>
            </a:r>
          </a:p>
        </p:txBody>
      </p:sp>
      <p:sp>
        <p:nvSpPr>
          <p:cNvPr id="24" name="Rectangle 9"/>
          <p:cNvSpPr>
            <a:spLocks/>
          </p:cNvSpPr>
          <p:nvPr/>
        </p:nvSpPr>
        <p:spPr bwMode="auto">
          <a:xfrm>
            <a:off x="5181600" y="2667000"/>
            <a:ext cx="1295400" cy="381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Saved </a:t>
            </a:r>
            <a:r>
              <a:rPr lang="en-US" sz="1800" b="1" dirty="0">
                <a:solidFill>
                  <a:schemeClr val="tx1"/>
                </a:solidFill>
                <a:latin typeface="Courier New"/>
                <a:ea typeface="Calibri Bold" charset="0"/>
                <a:cs typeface="Courier New"/>
                <a:sym typeface="Calibri Bold" charset="0"/>
              </a:rPr>
              <a:t>%</a:t>
            </a:r>
            <a:r>
              <a:rPr lang="en-US" sz="1800" b="1" dirty="0" err="1">
                <a:solidFill>
                  <a:schemeClr val="tx1"/>
                </a:solidFill>
                <a:latin typeface="Courier New"/>
                <a:ea typeface="Calibri Bold" charset="0"/>
                <a:cs typeface="Courier New"/>
                <a:sym typeface="Calibri Bold" charset="0"/>
              </a:rPr>
              <a:t>rbx</a:t>
            </a:r>
            <a:endParaRPr lang="en-US" sz="1800" b="1" dirty="0">
              <a:solidFill>
                <a:schemeClr val="tx1"/>
              </a:solidFill>
              <a:latin typeface="Courier New"/>
              <a:ea typeface="Calibri Bold" charset="0"/>
              <a:cs typeface="Courier New"/>
              <a:sym typeface="Calibri Bold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7473ABD-165F-8081-020A-D03D5A3C8408}"/>
              </a:ext>
            </a:extLst>
          </p:cNvPr>
          <p:cNvSpPr>
            <a:spLocks/>
          </p:cNvSpPr>
          <p:nvPr/>
        </p:nvSpPr>
        <p:spPr bwMode="auto">
          <a:xfrm>
            <a:off x="-1270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21253FB-28FF-8413-5DD1-EEC504AD74CA}"/>
              </a:ext>
            </a:extLst>
          </p:cNvPr>
          <p:cNvSpPr>
            <a:spLocks/>
          </p:cNvSpPr>
          <p:nvPr/>
        </p:nvSpPr>
        <p:spPr bwMode="auto">
          <a:xfrm>
            <a:off x="-12700" y="6658594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492132"/>
      </p:ext>
    </p:extLst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12290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Today</a:t>
            </a:r>
          </a:p>
        </p:txBody>
      </p:sp>
      <p:sp>
        <p:nvSpPr>
          <p:cNvPr id="12292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dirty="0"/>
              <a:t>Procedures</a:t>
            </a:r>
          </a:p>
          <a:p>
            <a:pPr lvl="1"/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Stack Structure</a:t>
            </a:r>
          </a:p>
          <a:p>
            <a:pPr lvl="1"/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Calling Conventions</a:t>
            </a:r>
          </a:p>
          <a:p>
            <a:pPr lvl="2"/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Passing control</a:t>
            </a:r>
          </a:p>
          <a:p>
            <a:pPr lvl="2"/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Passing data</a:t>
            </a:r>
          </a:p>
          <a:p>
            <a:pPr lvl="2"/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Managing local data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6D81F3E-CFC7-A06D-3F42-E9EE428FE350}"/>
              </a:ext>
            </a:extLst>
          </p:cNvPr>
          <p:cNvSpPr>
            <a:spLocks/>
          </p:cNvSpPr>
          <p:nvPr/>
        </p:nvSpPr>
        <p:spPr bwMode="auto">
          <a:xfrm>
            <a:off x="-1270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AB89FA8-2BB5-3C28-409A-D395CB540920}"/>
              </a:ext>
            </a:extLst>
          </p:cNvPr>
          <p:cNvSpPr>
            <a:spLocks/>
          </p:cNvSpPr>
          <p:nvPr/>
        </p:nvSpPr>
        <p:spPr bwMode="auto">
          <a:xfrm>
            <a:off x="-12700" y="6658594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357063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Title Slid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990000"/>
      </a:accent1>
      <a:accent2>
        <a:srgbClr val="333399"/>
      </a:accent2>
      <a:accent3>
        <a:srgbClr val="FFFFFF"/>
      </a:accent3>
      <a:accent4>
        <a:srgbClr val="000000"/>
      </a:accent4>
      <a:accent5>
        <a:srgbClr val="CAAAAA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Slide">
      <a:majorFont>
        <a:latin typeface="Calibri Bold"/>
        <a:ea typeface="ヒラギノ角ゴ ProN W6"/>
        <a:cs typeface="ヒラギノ角ゴ ProN W6"/>
      </a:majorFont>
      <a:minorFont>
        <a:latin typeface="Calibri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Title Slid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itle and Content">
  <a:themeElements>
    <a:clrScheme name="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990000"/>
      </a:accent1>
      <a:accent2>
        <a:srgbClr val="333399"/>
      </a:accent2>
      <a:accent3>
        <a:srgbClr val="FFFFFF"/>
      </a:accent3>
      <a:accent4>
        <a:srgbClr val="000000"/>
      </a:accent4>
      <a:accent5>
        <a:srgbClr val="CAAAAA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and Content">
      <a:majorFont>
        <a:latin typeface="Calibri Bold"/>
        <a:ea typeface="ヒラギノ角ゴ ProN W6"/>
        <a:cs typeface="ヒラギノ角ゴ ProN W6"/>
      </a:majorFont>
      <a:minorFont>
        <a:latin typeface="Calibri Bold"/>
        <a:ea typeface="ヒラギノ角ゴ ProN W6"/>
        <a:cs typeface="ヒラギノ角ゴ ProN W6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Title and Conten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Title Only">
  <a:themeElements>
    <a:clrScheme name="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990000"/>
      </a:accent1>
      <a:accent2>
        <a:srgbClr val="333399"/>
      </a:accent2>
      <a:accent3>
        <a:srgbClr val="FFFFFF"/>
      </a:accent3>
      <a:accent4>
        <a:srgbClr val="000000"/>
      </a:accent4>
      <a:accent5>
        <a:srgbClr val="CAAAAA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Only">
      <a:majorFont>
        <a:latin typeface="Calibri Bold"/>
        <a:ea typeface="ヒラギノ角ゴ ProN W6"/>
        <a:cs typeface="ヒラギノ角ゴ ProN W6"/>
      </a:majorFont>
      <a:minorFont>
        <a:latin typeface="Calibri Bold"/>
        <a:ea typeface="ヒラギノ角ゴ ProN W6"/>
        <a:cs typeface="ヒラギノ角ゴ ProN W6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Title Only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Title and Content: Build">
  <a:themeElements>
    <a:clrScheme name="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990000"/>
      </a:accent1>
      <a:accent2>
        <a:srgbClr val="333399"/>
      </a:accent2>
      <a:accent3>
        <a:srgbClr val="FFFFFF"/>
      </a:accent3>
      <a:accent4>
        <a:srgbClr val="000000"/>
      </a:accent4>
      <a:accent5>
        <a:srgbClr val="CAAAAA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and Content: Build">
      <a:majorFont>
        <a:latin typeface="Calibri Bold"/>
        <a:ea typeface="ヒラギノ角ゴ ProN W6"/>
        <a:cs typeface="ヒラギノ角ゴ ProN W6"/>
      </a:majorFont>
      <a:minorFont>
        <a:latin typeface="Calibri Bold"/>
        <a:ea typeface="ヒラギノ角ゴ ProN W6"/>
        <a:cs typeface="ヒラギノ角ゴ ProN W6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Title and Content: Build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14558</TotalTime>
  <Pages>0</Pages>
  <Words>3368</Words>
  <Characters>0</Characters>
  <Application>Microsoft Macintosh PowerPoint</Application>
  <PresentationFormat>On-screen Show (4:3)</PresentationFormat>
  <Lines>0</Lines>
  <Paragraphs>1121</Paragraphs>
  <Slides>45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45</vt:i4>
      </vt:variant>
    </vt:vector>
  </HeadingPairs>
  <TitlesOfParts>
    <vt:vector size="61" baseType="lpstr">
      <vt:lpstr>Arial Narrow</vt:lpstr>
      <vt:lpstr>Arial Narrow Bold</vt:lpstr>
      <vt:lpstr>Calibri</vt:lpstr>
      <vt:lpstr>Calibri Bold</vt:lpstr>
      <vt:lpstr>Calibri Bold Italic</vt:lpstr>
      <vt:lpstr>Calibri Italic</vt:lpstr>
      <vt:lpstr>Courier New</vt:lpstr>
      <vt:lpstr>Courier New Bold</vt:lpstr>
      <vt:lpstr>Gill Sans</vt:lpstr>
      <vt:lpstr>Times New Roman</vt:lpstr>
      <vt:lpstr>Wingdings</vt:lpstr>
      <vt:lpstr>Wingdings 2</vt:lpstr>
      <vt:lpstr>Title Slide</vt:lpstr>
      <vt:lpstr>Title and Content</vt:lpstr>
      <vt:lpstr>Title Only</vt:lpstr>
      <vt:lpstr>Title and Content: Build</vt:lpstr>
      <vt:lpstr>Machine-Level Programming III: Procedures  Introduction to Computer Systems 6th Lecture, Oct. 20, 2025</vt:lpstr>
      <vt:lpstr>Mechanisms in Procedures</vt:lpstr>
      <vt:lpstr>Today</vt:lpstr>
      <vt:lpstr>x86-64 Stack</vt:lpstr>
      <vt:lpstr>x86-64 Stack: Push</vt:lpstr>
      <vt:lpstr>x86-64 Stack: Pop</vt:lpstr>
      <vt:lpstr>Today</vt:lpstr>
      <vt:lpstr>Code Examples</vt:lpstr>
      <vt:lpstr>Procedure Control Flow</vt:lpstr>
      <vt:lpstr>Control Flow Example #1</vt:lpstr>
      <vt:lpstr>Control Flow Example #2</vt:lpstr>
      <vt:lpstr>Control Flow Example #3</vt:lpstr>
      <vt:lpstr>Control Flow Example #4</vt:lpstr>
      <vt:lpstr>Today</vt:lpstr>
      <vt:lpstr>Procedure Data Flow</vt:lpstr>
      <vt:lpstr>Data Flow Examples</vt:lpstr>
      <vt:lpstr>Today</vt:lpstr>
      <vt:lpstr>Stack-Based Languages</vt:lpstr>
      <vt:lpstr>Call Chain Example</vt:lpstr>
      <vt:lpstr>Stack Frames</vt:lpstr>
      <vt:lpstr>Example #1</vt:lpstr>
      <vt:lpstr>Example #2</vt:lpstr>
      <vt:lpstr>Example #3</vt:lpstr>
      <vt:lpstr>Example #4</vt:lpstr>
      <vt:lpstr>Example #5</vt:lpstr>
      <vt:lpstr>Example #6</vt:lpstr>
      <vt:lpstr>Example #7</vt:lpstr>
      <vt:lpstr>Example #8</vt:lpstr>
      <vt:lpstr>Example #9</vt:lpstr>
      <vt:lpstr>Example #10</vt:lpstr>
      <vt:lpstr>Example #11</vt:lpstr>
      <vt:lpstr>x86-64/Linux Stack Frame</vt:lpstr>
      <vt:lpstr>Example: incr</vt:lpstr>
      <vt:lpstr>Example: Calling incr #1</vt:lpstr>
      <vt:lpstr>Example: Calling incr #2</vt:lpstr>
      <vt:lpstr>Example: Calling incr #3</vt:lpstr>
      <vt:lpstr>Example: Calling incr #4</vt:lpstr>
      <vt:lpstr>Example: Calling incr #5</vt:lpstr>
      <vt:lpstr>Register Saving Conventions</vt:lpstr>
      <vt:lpstr>Register Saving Conventions</vt:lpstr>
      <vt:lpstr>x86-64 Linux Register Usage #1</vt:lpstr>
      <vt:lpstr>x86-64 Linux Register Usage #2</vt:lpstr>
      <vt:lpstr>Callee-Saved Example #1</vt:lpstr>
      <vt:lpstr>Callee-Saved Example #2</vt:lpstr>
      <vt:lpstr>Today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Computer Systems 15-213/18-243, spring 2009</dc:title>
  <dc:creator>Markus Pueschel</dc:creator>
  <dc:description>Redesign of slides created by Randal E. Bryant and David R. O'Hallaron</dc:description>
  <cp:lastModifiedBy>Đỗ Uyên</cp:lastModifiedBy>
  <cp:revision>408</cp:revision>
  <dcterms:created xsi:type="dcterms:W3CDTF">2012-09-18T14:16:22Z</dcterms:created>
  <dcterms:modified xsi:type="dcterms:W3CDTF">2025-10-16T09:47:33Z</dcterms:modified>
</cp:coreProperties>
</file>