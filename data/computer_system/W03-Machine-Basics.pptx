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542" r:id="rId2"/>
    <p:sldId id="645" r:id="rId3"/>
    <p:sldId id="580" r:id="rId4"/>
    <p:sldId id="581" r:id="rId5"/>
    <p:sldId id="582" r:id="rId6"/>
    <p:sldId id="584" r:id="rId7"/>
    <p:sldId id="585" r:id="rId8"/>
    <p:sldId id="586" r:id="rId9"/>
    <p:sldId id="646" r:id="rId10"/>
    <p:sldId id="632" r:id="rId11"/>
    <p:sldId id="661" r:id="rId12"/>
    <p:sldId id="588" r:id="rId13"/>
    <p:sldId id="589" r:id="rId14"/>
    <p:sldId id="590" r:id="rId15"/>
    <p:sldId id="637" r:id="rId16"/>
    <p:sldId id="591" r:id="rId17"/>
    <p:sldId id="592" r:id="rId18"/>
    <p:sldId id="593" r:id="rId19"/>
    <p:sldId id="594" r:id="rId20"/>
    <p:sldId id="595" r:id="rId21"/>
    <p:sldId id="647" r:id="rId22"/>
    <p:sldId id="651" r:id="rId23"/>
    <p:sldId id="639" r:id="rId24"/>
    <p:sldId id="649" r:id="rId25"/>
    <p:sldId id="597" r:id="rId26"/>
    <p:sldId id="598" r:id="rId27"/>
    <p:sldId id="599" r:id="rId28"/>
    <p:sldId id="601" r:id="rId29"/>
    <p:sldId id="602" r:id="rId30"/>
    <p:sldId id="663" r:id="rId31"/>
    <p:sldId id="664" r:id="rId32"/>
    <p:sldId id="665" r:id="rId33"/>
    <p:sldId id="666" r:id="rId34"/>
    <p:sldId id="667" r:id="rId35"/>
    <p:sldId id="668" r:id="rId36"/>
    <p:sldId id="669" r:id="rId37"/>
    <p:sldId id="678" r:id="rId38"/>
    <p:sldId id="670" r:id="rId39"/>
    <p:sldId id="672" r:id="rId40"/>
    <p:sldId id="673" r:id="rId41"/>
    <p:sldId id="674" r:id="rId42"/>
    <p:sldId id="679" r:id="rId43"/>
    <p:sldId id="659" r:id="rId44"/>
  </p:sldIdLst>
  <p:sldSz cx="9144000" cy="6858000" type="screen4x3"/>
  <p:notesSz cx="7302500" cy="9586913"/>
  <p:custDataLst>
    <p:tags r:id="rId4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clrMru>
    <a:srgbClr val="990000"/>
    <a:srgbClr val="EFBFBF"/>
    <a:srgbClr val="F6F5BD"/>
    <a:srgbClr val="CC6600"/>
    <a:srgbClr val="FF9999"/>
    <a:srgbClr val="A8E799"/>
    <a:srgbClr val="FFFF99"/>
    <a:srgbClr val="CDF1C5"/>
    <a:srgbClr val="F1C7C7"/>
    <a:srgbClr val="C5F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8" autoAdjust="0"/>
    <p:restoredTop sz="94660"/>
  </p:normalViewPr>
  <p:slideViewPr>
    <p:cSldViewPr snapToObjects="1">
      <p:cViewPr varScale="1">
        <p:scale>
          <a:sx n="95" d="100"/>
          <a:sy n="95" d="100"/>
        </p:scale>
        <p:origin x="176" y="528"/>
      </p:cViewPr>
      <p:guideLst>
        <p:guide orient="horz" pos="254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878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428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8B12C5-B8B1-41C6-B29F-6FC9FEB127A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0xf000 + 0x8 =</a:t>
            </a:r>
            <a:r>
              <a:rPr lang="en-US" baseline="0" dirty="0"/>
              <a:t> 0xf008</a:t>
            </a:r>
          </a:p>
          <a:p>
            <a:r>
              <a:rPr lang="en-US" baseline="0" dirty="0"/>
              <a:t>0xf000 + 0x0100 = 0xf100</a:t>
            </a:r>
          </a:p>
          <a:p>
            <a:r>
              <a:rPr lang="en-US" baseline="0" dirty="0"/>
              <a:t>0xf000 + 4*0x0100 = 0xf400</a:t>
            </a:r>
          </a:p>
          <a:p>
            <a:r>
              <a:rPr lang="en-US" baseline="0" dirty="0"/>
              <a:t>2*0xf000 + 0x80 = 0x1d080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035143" y="672495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708150"/>
            <a:ext cx="7772400" cy="1720850"/>
          </a:xfrm>
        </p:spPr>
        <p:txBody>
          <a:bodyPr/>
          <a:lstStyle/>
          <a:p>
            <a:pPr marL="0" indent="0"/>
            <a:r>
              <a:rPr lang="en-US" dirty="0"/>
              <a:t>Machine-Level Programming I: Basics</a:t>
            </a:r>
            <a:br>
              <a:rPr lang="en-US" dirty="0"/>
            </a:br>
            <a:br>
              <a:rPr lang="en-US" dirty="0"/>
            </a:br>
            <a:r>
              <a:rPr lang="en-US" sz="2000" b="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Introduction to Computer Systems </a:t>
            </a:r>
            <a:br>
              <a:rPr lang="en-US" sz="2000" b="0" dirty="0"/>
            </a:br>
            <a:r>
              <a:rPr lang="en-US" sz="2000" b="0" dirty="0"/>
              <a:t>4</a:t>
            </a:r>
            <a:r>
              <a:rPr lang="en-US" sz="2000" b="0" baseline="30000" dirty="0"/>
              <a:t>th</a:t>
            </a:r>
            <a:r>
              <a:rPr lang="en-US" sz="2000" b="0" dirty="0"/>
              <a:t> Lecture, Oct. 6, 2025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ED81EE5-879B-D866-C2C1-955DCAC4876C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B9A0470-83DA-1CFD-56EB-B7EE003032FD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History of Intel processors and architectures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C, assembly, machine code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Assembly Basics: Registers, operands, move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Arithmetic &amp; logical operations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2C919A-FF8B-EF75-EF82-583C75298A9B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9700D98-FA73-9A53-ABFC-85A0DDC334DB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/>
        </p:spPr>
        <p:txBody>
          <a:bodyPr/>
          <a:lstStyle/>
          <a:p>
            <a:r>
              <a:rPr lang="en-US" dirty="0"/>
              <a:t>Intel x86 Processors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62075"/>
            <a:ext cx="7896225" cy="4972050"/>
          </a:xfrm>
          <a:noFill/>
          <a:ln/>
        </p:spPr>
        <p:txBody>
          <a:bodyPr lIns="90487" tIns="44450" rIns="90487" bIns="44450"/>
          <a:lstStyle/>
          <a:p>
            <a:r>
              <a:rPr lang="en-US" dirty="0"/>
              <a:t>Dominate laptop/desktop/server market</a:t>
            </a:r>
          </a:p>
          <a:p>
            <a:endParaRPr lang="en-US" dirty="0"/>
          </a:p>
          <a:p>
            <a:r>
              <a:rPr lang="en-US" dirty="0"/>
              <a:t>Evolutionary design</a:t>
            </a:r>
          </a:p>
          <a:p>
            <a:pPr lvl="1"/>
            <a:r>
              <a:rPr lang="en-US" dirty="0"/>
              <a:t>Backwards compatible up until 8086, introduced in 1978</a:t>
            </a:r>
          </a:p>
          <a:p>
            <a:pPr lvl="1"/>
            <a:r>
              <a:rPr lang="en-US" dirty="0"/>
              <a:t>Added more features as time goes on</a:t>
            </a:r>
          </a:p>
          <a:p>
            <a:endParaRPr lang="en-US" dirty="0"/>
          </a:p>
          <a:p>
            <a:r>
              <a:rPr lang="en-US" dirty="0"/>
              <a:t>Complex instruction set computer (CISC)</a:t>
            </a:r>
          </a:p>
          <a:p>
            <a:pPr lvl="1"/>
            <a:r>
              <a:rPr lang="en-US" dirty="0"/>
              <a:t>Many different instructions with many different formats</a:t>
            </a:r>
          </a:p>
          <a:p>
            <a:pPr lvl="2"/>
            <a:r>
              <a:rPr lang="en-US" dirty="0"/>
              <a:t>But, only small subset encountered with Linux programs</a:t>
            </a:r>
          </a:p>
          <a:p>
            <a:pPr lvl="1"/>
            <a:r>
              <a:rPr lang="en-US" dirty="0"/>
              <a:t>Hard to match performance of Reduced Instruction Set Computers (RISC)</a:t>
            </a:r>
          </a:p>
          <a:p>
            <a:pPr lvl="1"/>
            <a:r>
              <a:rPr lang="en-US" dirty="0"/>
              <a:t>But, Intel has done just that!</a:t>
            </a:r>
          </a:p>
          <a:p>
            <a:pPr lvl="2"/>
            <a:r>
              <a:rPr lang="en-US" dirty="0"/>
              <a:t>In terms of speed.  Less so for low power.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AA31B5-0F15-F013-BC65-98A81BCB57D9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59B08FE-EE54-D4E1-0C9F-40D2BE82B6F1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69912"/>
            <a:ext cx="8229600" cy="573088"/>
          </a:xfrm>
        </p:spPr>
        <p:txBody>
          <a:bodyPr/>
          <a:lstStyle/>
          <a:p>
            <a:r>
              <a:rPr lang="en-US" dirty="0"/>
              <a:t>Intel x86 Evolution: Milestones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7924800" cy="5105400"/>
          </a:xfrm>
        </p:spPr>
        <p:txBody>
          <a:bodyPr/>
          <a:lstStyle/>
          <a:p>
            <a:pPr marL="223838" indent="-223838" defTabSz="895350">
              <a:buNone/>
              <a:tabLst>
                <a:tab pos="2055813" algn="l"/>
                <a:tab pos="3884613" algn="l"/>
                <a:tab pos="5946775" algn="l"/>
              </a:tabLst>
            </a:pPr>
            <a:r>
              <a:rPr lang="en-US" i="1" dirty="0">
                <a:solidFill>
                  <a:srgbClr val="C00000"/>
                </a:solidFill>
              </a:rPr>
              <a:t>	Name	Date	Transistors	MHz</a:t>
            </a:r>
          </a:p>
          <a:p>
            <a:pPr marL="223838" indent="-223838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8086	1978	29K	5-10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16-bit Intel processor.  Basis for IBM PC &amp; DOS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1MB address space</a:t>
            </a:r>
          </a:p>
          <a:p>
            <a:pPr marL="223838" indent="-223838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386	1985	275K	16-33	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32 bit Intel processor , referred to as IA32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Added “flat addressing”, capable of running Unix</a:t>
            </a:r>
          </a:p>
          <a:p>
            <a:pPr marL="160338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Pentium 4E	2004	125M	2800-3800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64-bit Intel x86 processor, referred to as x86-64</a:t>
            </a:r>
          </a:p>
          <a:p>
            <a:pPr marL="160338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Core 2	2006	291M	1060-3500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multi-core Intel processor</a:t>
            </a:r>
          </a:p>
          <a:p>
            <a:pPr marL="160338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Core i7	2008	731M	1700-3900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Four cores (our shark machines)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C3E001-CF6F-9BC5-4B03-7EC5229D0A56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6A9895C-C846-E2B2-0A4B-AB285ADB3188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73088"/>
          </a:xfrm>
        </p:spPr>
        <p:txBody>
          <a:bodyPr/>
          <a:lstStyle/>
          <a:p>
            <a:r>
              <a:rPr lang="en-US" dirty="0"/>
              <a:t>Intel x86 Processors, cont.</a:t>
            </a:r>
          </a:p>
        </p:txBody>
      </p:sp>
      <p:sp>
        <p:nvSpPr>
          <p:cNvPr id="144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4800" y="877888"/>
            <a:ext cx="7896225" cy="4972050"/>
          </a:xfrm>
        </p:spPr>
        <p:txBody>
          <a:bodyPr/>
          <a:lstStyle/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Machine Evolution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386	1985	0.3M	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	1993	3.1M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Pentium/MMX	1997	4.5M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 err="1"/>
              <a:t>PentiumPro</a:t>
            </a:r>
            <a:r>
              <a:rPr lang="en-US" dirty="0"/>
              <a:t>	1995	6.5M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 III	1999	8.2M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 4	2001	42M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Core 2 Duo	2006	291M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Core i7	2008	731M</a:t>
            </a:r>
          </a:p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Added Features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Instructions to support multimedia operations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Instructions to enable more efficient conditional operations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Transition from 32 bits to 64 bits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More cores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1143000"/>
            <a:ext cx="42481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21F4126-6E39-E82C-2AF9-541AC7E8EB3C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C1B0F45-3902-F2B3-E772-6BA0D619FC97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x86 Clones: Advanced Micro Devices (AMD)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60338" indent="-222250" defTabSz="895350">
              <a:tabLst>
                <a:tab pos="2349500" algn="l"/>
              </a:tabLst>
            </a:pPr>
            <a:r>
              <a:rPr lang="en-US" dirty="0"/>
              <a:t>Historically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AMD has followed just behind Intel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A little bit slower, a lot cheaper</a:t>
            </a:r>
          </a:p>
          <a:p>
            <a:pPr marL="160338" indent="-222250" defTabSz="895350">
              <a:tabLst>
                <a:tab pos="2349500" algn="l"/>
              </a:tabLst>
            </a:pPr>
            <a:r>
              <a:rPr lang="en-US" dirty="0"/>
              <a:t>Then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Recruited top circuit designers from Digital Equipment Corp. and other downward trending companies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Built </a:t>
            </a:r>
            <a:r>
              <a:rPr lang="en-US" dirty="0" err="1"/>
              <a:t>Opteron</a:t>
            </a:r>
            <a:r>
              <a:rPr lang="en-US" dirty="0"/>
              <a:t>: tough competitor to Pentium 4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Developed x86-64, their own extension to 64 bits</a:t>
            </a:r>
          </a:p>
          <a:p>
            <a:pPr marL="39688" indent="-165100" defTabSz="895350">
              <a:tabLst>
                <a:tab pos="2349500" algn="l"/>
              </a:tabLst>
            </a:pPr>
            <a:r>
              <a:rPr lang="en-US" dirty="0"/>
              <a:t> Recent Years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Intel got its act together</a:t>
            </a:r>
          </a:p>
          <a:p>
            <a:pPr marL="839788" lvl="2" indent="-165100" defTabSz="895350">
              <a:tabLst>
                <a:tab pos="2349500" algn="l"/>
              </a:tabLst>
            </a:pPr>
            <a:r>
              <a:rPr lang="en-US" dirty="0"/>
              <a:t>Leads the world in semiconductor technology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AMD has fallen behind</a:t>
            </a:r>
          </a:p>
          <a:p>
            <a:pPr marL="839788" lvl="2" indent="-165100" defTabSz="895350">
              <a:tabLst>
                <a:tab pos="2349500" algn="l"/>
              </a:tabLst>
            </a:pPr>
            <a:r>
              <a:rPr lang="en-US" dirty="0"/>
              <a:t>Relies on external semiconductor manufacturer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BD3842-0581-66FE-153C-E4E9DEF0E8E1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C3B9850-CAAB-532E-4766-98F38D379A01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Intel’s 64-Bit History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200150"/>
            <a:ext cx="7896225" cy="4972050"/>
          </a:xfrm>
        </p:spPr>
        <p:txBody>
          <a:bodyPr/>
          <a:lstStyle/>
          <a:p>
            <a:r>
              <a:rPr lang="en-US" dirty="0"/>
              <a:t>2001: Intel Attempts Radical Shift from IA32 to IA64</a:t>
            </a:r>
          </a:p>
          <a:p>
            <a:pPr lvl="1"/>
            <a:r>
              <a:rPr lang="en-US" dirty="0"/>
              <a:t>Totally different architecture (Itanium)</a:t>
            </a:r>
          </a:p>
          <a:p>
            <a:pPr lvl="1"/>
            <a:r>
              <a:rPr lang="en-US" dirty="0"/>
              <a:t>Executes IA32 code only as legacy</a:t>
            </a:r>
          </a:p>
          <a:p>
            <a:pPr lvl="1"/>
            <a:r>
              <a:rPr lang="en-US" dirty="0"/>
              <a:t>Performance disappointing</a:t>
            </a:r>
          </a:p>
          <a:p>
            <a:r>
              <a:rPr lang="en-US" dirty="0"/>
              <a:t>2003: AMD Steps in with Evolutionary Solution</a:t>
            </a:r>
          </a:p>
          <a:p>
            <a:pPr lvl="1"/>
            <a:r>
              <a:rPr lang="en-US" dirty="0"/>
              <a:t>x86-64 (now called “AMD64”)</a:t>
            </a:r>
          </a:p>
          <a:p>
            <a:r>
              <a:rPr lang="en-US" dirty="0"/>
              <a:t>Intel Felt Obligated to Focus on IA64</a:t>
            </a:r>
          </a:p>
          <a:p>
            <a:pPr lvl="1"/>
            <a:r>
              <a:rPr lang="en-US" dirty="0"/>
              <a:t>Hard to admit mistake or that AMD is better</a:t>
            </a:r>
          </a:p>
          <a:p>
            <a:r>
              <a:rPr lang="en-US" dirty="0"/>
              <a:t>2004: Intel Announces EM64T extension to IA32</a:t>
            </a:r>
          </a:p>
          <a:p>
            <a:pPr lvl="1"/>
            <a:r>
              <a:rPr lang="en-US" dirty="0"/>
              <a:t>Extended Memory 64-bit Technology</a:t>
            </a:r>
          </a:p>
          <a:p>
            <a:pPr lvl="1"/>
            <a:r>
              <a:rPr lang="en-US" dirty="0"/>
              <a:t>Almost identical to x86-64!</a:t>
            </a:r>
          </a:p>
          <a:p>
            <a:r>
              <a:rPr lang="en-US" dirty="0"/>
              <a:t>All but low-end x86 processors support x86-64</a:t>
            </a:r>
          </a:p>
          <a:p>
            <a:pPr lvl="1"/>
            <a:r>
              <a:rPr lang="en-US" dirty="0"/>
              <a:t>But, lots of code still runs in 32-bit mode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2BD22A-3ED3-268B-A661-9A543626FC36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69C1E05-4D25-3FE9-0170-EE5E322B3F2F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Coverage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IA32</a:t>
            </a:r>
          </a:p>
          <a:p>
            <a:pPr lvl="1"/>
            <a:r>
              <a:rPr lang="en-US" dirty="0"/>
              <a:t>The traditional x86</a:t>
            </a:r>
          </a:p>
          <a:p>
            <a:r>
              <a:rPr lang="en-US" dirty="0"/>
              <a:t>x86-64</a:t>
            </a:r>
          </a:p>
          <a:p>
            <a:pPr lvl="1"/>
            <a:r>
              <a:rPr lang="en-US" dirty="0"/>
              <a:t>The standard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shark&gt; </a:t>
            </a:r>
            <a:r>
              <a:rPr lang="en-US" dirty="0" err="1">
                <a:latin typeface="Courier New"/>
                <a:cs typeface="Courier New"/>
              </a:rPr>
              <a:t>gcc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 err="1">
                <a:latin typeface="Courier New"/>
                <a:cs typeface="Courier New"/>
              </a:rPr>
              <a:t>hello.c</a:t>
            </a:r>
            <a:endParaRPr lang="en-US" dirty="0">
              <a:latin typeface="Courier New"/>
              <a:cs typeface="Courier New"/>
            </a:endParaRPr>
          </a:p>
          <a:p>
            <a:pPr lvl="1"/>
            <a:r>
              <a:rPr lang="en-US" dirty="0">
                <a:latin typeface="Courier New"/>
                <a:cs typeface="Courier New"/>
              </a:rPr>
              <a:t>shark&gt; </a:t>
            </a:r>
            <a:r>
              <a:rPr lang="en-US" dirty="0" err="1">
                <a:latin typeface="Courier New"/>
                <a:cs typeface="Courier New"/>
              </a:rPr>
              <a:t>gcc</a:t>
            </a:r>
            <a:r>
              <a:rPr lang="en-US" dirty="0">
                <a:latin typeface="Courier New"/>
                <a:cs typeface="Courier New"/>
              </a:rPr>
              <a:t> –m64 </a:t>
            </a:r>
            <a:r>
              <a:rPr lang="en-US" dirty="0" err="1">
                <a:latin typeface="Courier New"/>
                <a:cs typeface="Courier New"/>
              </a:rPr>
              <a:t>hello.c</a:t>
            </a:r>
            <a:endParaRPr lang="en-US" dirty="0">
              <a:latin typeface="Courier New"/>
              <a:cs typeface="Courier New"/>
            </a:endParaRPr>
          </a:p>
          <a:p>
            <a:endParaRPr lang="en-US" dirty="0"/>
          </a:p>
          <a:p>
            <a:r>
              <a:rPr lang="en-US" dirty="0"/>
              <a:t>Presentation</a:t>
            </a:r>
          </a:p>
          <a:p>
            <a:pPr lvl="1"/>
            <a:r>
              <a:rPr lang="en-US" dirty="0"/>
              <a:t>Book covers x86-64</a:t>
            </a:r>
          </a:p>
          <a:p>
            <a:pPr lvl="1"/>
            <a:r>
              <a:rPr lang="en-US" dirty="0"/>
              <a:t>Web aside on IA32</a:t>
            </a:r>
          </a:p>
          <a:p>
            <a:pPr lvl="1"/>
            <a:r>
              <a:rPr lang="en-US" dirty="0"/>
              <a:t>We will only cover x86-64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8C029A-1FE9-5920-0B16-5A834A3F84F5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AE49F6D-42AB-6919-1150-0279C6B11B7C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History of Intel processors and architectures</a:t>
            </a:r>
          </a:p>
          <a:p>
            <a:r>
              <a:rPr lang="en-US" dirty="0"/>
              <a:t>C, assembly, machine code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Assembly Basics: Registers, operands, move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Arithmetic &amp; logical operations</a:t>
            </a:r>
          </a:p>
          <a:p>
            <a:pPr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84FDD0-B64F-031C-4100-6AE62AC69CE6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B4AFFA-12D1-FE51-8FCE-4C57A0A9EC0E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591425" cy="762000"/>
          </a:xfrm>
        </p:spPr>
        <p:txBody>
          <a:bodyPr/>
          <a:lstStyle/>
          <a:p>
            <a:pPr eaLnBrk="1" hangingPunct="1"/>
            <a:r>
              <a:rPr lang="en-US" dirty="0"/>
              <a:t>Definitions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Architecture:</a:t>
            </a:r>
            <a:r>
              <a:rPr lang="en-US" dirty="0"/>
              <a:t> (also ISA: instruction set architecture) The parts of a processor design that one needs to understand or write assembly/machine code. 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instruction set specification, registers.</a:t>
            </a:r>
          </a:p>
          <a:p>
            <a:r>
              <a:rPr lang="en-US" dirty="0" err="1">
                <a:solidFill>
                  <a:srgbClr val="C00000"/>
                </a:solidFill>
              </a:rPr>
              <a:t>Microarchitecture</a:t>
            </a:r>
            <a:r>
              <a:rPr lang="en-US" dirty="0">
                <a:solidFill>
                  <a:srgbClr val="C00000"/>
                </a:solidFill>
              </a:rPr>
              <a:t>:</a:t>
            </a:r>
            <a:r>
              <a:rPr lang="en-US" dirty="0"/>
              <a:t> Implementation of the architecture.</a:t>
            </a:r>
          </a:p>
          <a:p>
            <a:pPr lvl="1"/>
            <a:r>
              <a:rPr lang="en-US" dirty="0"/>
              <a:t>Examples: cache sizes and core frequency.</a:t>
            </a:r>
          </a:p>
          <a:p>
            <a:r>
              <a:rPr lang="en-US" dirty="0"/>
              <a:t>Code Forms: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Machine Code</a:t>
            </a:r>
            <a:r>
              <a:rPr lang="en-US" dirty="0"/>
              <a:t>: The byte-level programs that a processor executes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Assembly Code</a:t>
            </a:r>
            <a:r>
              <a:rPr lang="en-US" dirty="0"/>
              <a:t>: A text representation of machine code</a:t>
            </a:r>
          </a:p>
          <a:p>
            <a:pPr eaLnBrk="1" hangingPunct="1">
              <a:buNone/>
            </a:pPr>
            <a:endParaRPr lang="en-US" dirty="0"/>
          </a:p>
          <a:p>
            <a:pPr eaLnBrk="1" hangingPunct="1"/>
            <a:r>
              <a:rPr lang="en-US" dirty="0"/>
              <a:t>Example ISAs: </a:t>
            </a:r>
          </a:p>
          <a:p>
            <a:pPr lvl="1"/>
            <a:r>
              <a:rPr lang="en-US" dirty="0"/>
              <a:t>Intel: x86, IA32, Itanium, x86-64</a:t>
            </a:r>
          </a:p>
          <a:p>
            <a:pPr lvl="1"/>
            <a:r>
              <a:rPr lang="en-US" dirty="0"/>
              <a:t>ARM: Used in almost all mobile phones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4055C2-8653-9831-8C62-1DF87E17BA3E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8520AC8-9301-C4AB-EE56-88FC1502AD0F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2" name="Rectangle 6"/>
          <p:cNvSpPr>
            <a:spLocks noChangeArrowheads="1"/>
          </p:cNvSpPr>
          <p:nvPr/>
        </p:nvSpPr>
        <p:spPr bwMode="auto">
          <a:xfrm>
            <a:off x="1066800" y="1066800"/>
            <a:ext cx="3200400" cy="2209800"/>
          </a:xfrm>
          <a:prstGeom prst="rect">
            <a:avLst/>
          </a:prstGeom>
          <a:solidFill>
            <a:srgbClr val="EFBFB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CPU</a:t>
            </a: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226300" cy="573088"/>
          </a:xfrm>
        </p:spPr>
        <p:txBody>
          <a:bodyPr/>
          <a:lstStyle/>
          <a:p>
            <a:r>
              <a:rPr lang="en-US" dirty="0"/>
              <a:t>Assembly/Machine Code View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19113" y="3149601"/>
            <a:ext cx="4852987" cy="3295649"/>
          </a:xfrm>
        </p:spPr>
        <p:txBody>
          <a:bodyPr/>
          <a:lstStyle/>
          <a:p>
            <a:pPr marL="227013" indent="-227013" defTabSz="895350">
              <a:buNone/>
              <a:tabLst>
                <a:tab pos="1371600" algn="l"/>
                <a:tab pos="4572000" algn="l"/>
              </a:tabLst>
            </a:pPr>
            <a:r>
              <a:rPr lang="en-US" sz="2400" dirty="0"/>
              <a:t>Programmer-Visible State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PC: Program counter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Address of next instruction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Called “RIP” (x86-64)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Register file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Heavily used program data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Condition codes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Store status information about most recent arithmetic or logical operation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Used for conditional branching</a:t>
            </a:r>
          </a:p>
        </p:txBody>
      </p:sp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1409700" y="1981200"/>
            <a:ext cx="533400" cy="4572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PC</a:t>
            </a:r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2362200" y="1371600"/>
            <a:ext cx="1676400" cy="7620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Registers</a:t>
            </a:r>
          </a:p>
        </p:txBody>
      </p:sp>
      <p:sp>
        <p:nvSpPr>
          <p:cNvPr id="147463" name="Rectangle 7"/>
          <p:cNvSpPr>
            <a:spLocks noChangeArrowheads="1"/>
          </p:cNvSpPr>
          <p:nvPr/>
        </p:nvSpPr>
        <p:spPr bwMode="auto">
          <a:xfrm>
            <a:off x="6019800" y="1066800"/>
            <a:ext cx="1752600" cy="2209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Ctr="1"/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Memory</a:t>
            </a:r>
          </a:p>
        </p:txBody>
      </p:sp>
      <p:sp>
        <p:nvSpPr>
          <p:cNvPr id="147464" name="Text Box 8"/>
          <p:cNvSpPr txBox="1">
            <a:spLocks noChangeArrowheads="1"/>
          </p:cNvSpPr>
          <p:nvPr/>
        </p:nvSpPr>
        <p:spPr bwMode="auto">
          <a:xfrm>
            <a:off x="6324600" y="1730102"/>
            <a:ext cx="1143000" cy="10130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Code</a:t>
            </a:r>
          </a:p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Data</a:t>
            </a:r>
          </a:p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Stack</a:t>
            </a:r>
          </a:p>
        </p:txBody>
      </p:sp>
      <p:sp>
        <p:nvSpPr>
          <p:cNvPr id="147465" name="Line 9"/>
          <p:cNvSpPr>
            <a:spLocks noChangeShapeType="1"/>
          </p:cNvSpPr>
          <p:nvPr/>
        </p:nvSpPr>
        <p:spPr bwMode="auto">
          <a:xfrm>
            <a:off x="4267200" y="17018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6" name="Line 10"/>
          <p:cNvSpPr>
            <a:spLocks noChangeShapeType="1"/>
          </p:cNvSpPr>
          <p:nvPr/>
        </p:nvSpPr>
        <p:spPr bwMode="auto">
          <a:xfrm>
            <a:off x="4267200" y="22352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7" name="Line 11"/>
          <p:cNvSpPr>
            <a:spLocks noChangeShapeType="1"/>
          </p:cNvSpPr>
          <p:nvPr/>
        </p:nvSpPr>
        <p:spPr bwMode="auto">
          <a:xfrm>
            <a:off x="4267200" y="27686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8" name="Text Box 12"/>
          <p:cNvSpPr txBox="1">
            <a:spLocks noChangeArrowheads="1"/>
          </p:cNvSpPr>
          <p:nvPr/>
        </p:nvSpPr>
        <p:spPr bwMode="auto">
          <a:xfrm>
            <a:off x="4267200" y="1295400"/>
            <a:ext cx="17526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Addresses</a:t>
            </a:r>
          </a:p>
        </p:txBody>
      </p:sp>
      <p:sp>
        <p:nvSpPr>
          <p:cNvPr id="147469" name="Text Box 13"/>
          <p:cNvSpPr txBox="1">
            <a:spLocks noChangeArrowheads="1"/>
          </p:cNvSpPr>
          <p:nvPr/>
        </p:nvSpPr>
        <p:spPr bwMode="auto">
          <a:xfrm>
            <a:off x="4267200" y="1854200"/>
            <a:ext cx="17526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Data</a:t>
            </a:r>
          </a:p>
        </p:txBody>
      </p:sp>
      <p:sp>
        <p:nvSpPr>
          <p:cNvPr id="147470" name="Text Box 14"/>
          <p:cNvSpPr txBox="1">
            <a:spLocks noChangeArrowheads="1"/>
          </p:cNvSpPr>
          <p:nvPr/>
        </p:nvSpPr>
        <p:spPr bwMode="auto">
          <a:xfrm>
            <a:off x="4267200" y="2387600"/>
            <a:ext cx="16764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Instructions</a:t>
            </a:r>
          </a:p>
        </p:txBody>
      </p:sp>
      <p:sp>
        <p:nvSpPr>
          <p:cNvPr id="147472" name="Rectangle 16"/>
          <p:cNvSpPr>
            <a:spLocks noChangeArrowheads="1"/>
          </p:cNvSpPr>
          <p:nvPr/>
        </p:nvSpPr>
        <p:spPr bwMode="auto">
          <a:xfrm>
            <a:off x="2667000" y="2286000"/>
            <a:ext cx="1066800" cy="6858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Calibri" pitchFamily="34" charset="0"/>
              </a:rPr>
              <a:t>Condition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Codes</a:t>
            </a:r>
          </a:p>
        </p:txBody>
      </p:sp>
      <p:sp>
        <p:nvSpPr>
          <p:cNvPr id="147473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5372100" y="3702050"/>
            <a:ext cx="3619500" cy="1568450"/>
          </a:xfrm>
        </p:spPr>
        <p:txBody>
          <a:bodyPr/>
          <a:lstStyle/>
          <a:p>
            <a:pPr marL="292100" lvl="1" indent="-177800"/>
            <a:r>
              <a:rPr lang="en-US" sz="2000" b="1" dirty="0"/>
              <a:t>Memory</a:t>
            </a:r>
          </a:p>
          <a:p>
            <a:pPr marL="571500" lvl="2" indent="-165100"/>
            <a:r>
              <a:rPr lang="en-US" sz="1800" dirty="0"/>
              <a:t>Byte addressable array</a:t>
            </a:r>
          </a:p>
          <a:p>
            <a:pPr marL="571500" lvl="2" indent="-165100"/>
            <a:r>
              <a:rPr lang="en-US" sz="1800" dirty="0"/>
              <a:t>Code and user data</a:t>
            </a:r>
          </a:p>
          <a:p>
            <a:pPr marL="571500" lvl="2" indent="-165100"/>
            <a:r>
              <a:rPr lang="en-US" sz="1800" dirty="0"/>
              <a:t>Stack to support procedures</a:t>
            </a:r>
          </a:p>
          <a:p>
            <a:pPr marL="0" indent="0"/>
            <a:endParaRPr lang="en-US" sz="2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F22A816-F32F-7415-223F-129BC29888F4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D884E4-1D88-C254-C7E4-9ACEFF948745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ChangeArrowheads="1"/>
          </p:cNvSpPr>
          <p:nvPr/>
        </p:nvSpPr>
        <p:spPr bwMode="auto">
          <a:xfrm>
            <a:off x="1101725" y="2514600"/>
            <a:ext cx="72707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i="1" dirty="0">
                <a:latin typeface="Calibri" pitchFamily="34" charset="0"/>
              </a:rPr>
              <a:t>text</a:t>
            </a:r>
          </a:p>
        </p:txBody>
      </p:sp>
      <p:sp>
        <p:nvSpPr>
          <p:cNvPr id="148483" name="Rectangle 3"/>
          <p:cNvSpPr>
            <a:spLocks noChangeArrowheads="1"/>
          </p:cNvSpPr>
          <p:nvPr/>
        </p:nvSpPr>
        <p:spPr bwMode="auto">
          <a:xfrm>
            <a:off x="1101725" y="3655700"/>
            <a:ext cx="72707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i="1" dirty="0">
                <a:latin typeface="Calibri" pitchFamily="34" charset="0"/>
              </a:rPr>
              <a:t>text</a:t>
            </a:r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828675" y="4724400"/>
            <a:ext cx="100012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i="1" dirty="0">
                <a:latin typeface="Calibri" pitchFamily="34" charset="0"/>
              </a:rPr>
              <a:t>binary</a:t>
            </a: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828675" y="5867400"/>
            <a:ext cx="100012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i="1" dirty="0">
                <a:latin typeface="Calibri" pitchFamily="34" charset="0"/>
              </a:rPr>
              <a:t>binary</a:t>
            </a:r>
          </a:p>
        </p:txBody>
      </p:sp>
      <p:sp>
        <p:nvSpPr>
          <p:cNvPr id="148486" name="Line 6"/>
          <p:cNvSpPr>
            <a:spLocks noChangeShapeType="1"/>
          </p:cNvSpPr>
          <p:nvPr/>
        </p:nvSpPr>
        <p:spPr bwMode="auto">
          <a:xfrm>
            <a:off x="3989388" y="2977233"/>
            <a:ext cx="0" cy="68036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87" name="Rectangle 7"/>
          <p:cNvSpPr>
            <a:spLocks noChangeArrowheads="1"/>
          </p:cNvSpPr>
          <p:nvPr/>
        </p:nvSpPr>
        <p:spPr bwMode="auto">
          <a:xfrm>
            <a:off x="4295774" y="3124200"/>
            <a:ext cx="303212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Compiler 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ourier New" pitchFamily="49" charset="0"/>
              </a:rPr>
              <a:t> –</a:t>
            </a:r>
            <a:r>
              <a:rPr lang="en-US" sz="2000" dirty="0" err="1">
                <a:latin typeface="Courier New" pitchFamily="49" charset="0"/>
              </a:rPr>
              <a:t>Og</a:t>
            </a:r>
            <a:r>
              <a:rPr lang="en-US" sz="2000" dirty="0">
                <a:latin typeface="Courier New" pitchFamily="49" charset="0"/>
              </a:rPr>
              <a:t> -S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88" name="Rectangle 8"/>
          <p:cNvSpPr>
            <a:spLocks noChangeArrowheads="1"/>
          </p:cNvSpPr>
          <p:nvPr/>
        </p:nvSpPr>
        <p:spPr bwMode="auto">
          <a:xfrm>
            <a:off x="4279900" y="4191000"/>
            <a:ext cx="30480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Assembler 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alibri" pitchFamily="34" charset="0"/>
              </a:rPr>
              <a:t> or </a:t>
            </a:r>
            <a:r>
              <a:rPr lang="en-US" sz="2000" dirty="0">
                <a:latin typeface="Courier New" pitchFamily="49" charset="0"/>
              </a:rPr>
              <a:t>as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89" name="Rectangle 9"/>
          <p:cNvSpPr>
            <a:spLocks noChangeArrowheads="1"/>
          </p:cNvSpPr>
          <p:nvPr/>
        </p:nvSpPr>
        <p:spPr bwMode="auto">
          <a:xfrm>
            <a:off x="4295775" y="5334000"/>
            <a:ext cx="263842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Linker 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alibri" pitchFamily="34" charset="0"/>
              </a:rPr>
              <a:t> or</a:t>
            </a:r>
            <a:r>
              <a:rPr lang="en-US" sz="2000" dirty="0">
                <a:latin typeface="Courier" pitchFamily="49" charset="0"/>
              </a:rPr>
              <a:t> </a:t>
            </a:r>
            <a:r>
              <a:rPr lang="en-US" sz="2000" dirty="0">
                <a:latin typeface="Courier New" pitchFamily="49" charset="0"/>
              </a:rPr>
              <a:t>ld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0" name="Rectangle 10"/>
          <p:cNvSpPr>
            <a:spLocks noChangeArrowheads="1"/>
          </p:cNvSpPr>
          <p:nvPr/>
        </p:nvSpPr>
        <p:spPr bwMode="auto">
          <a:xfrm>
            <a:off x="2373313" y="2579688"/>
            <a:ext cx="3263900" cy="397545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C program (</a:t>
            </a:r>
            <a:r>
              <a:rPr lang="en-US" sz="2000" dirty="0">
                <a:latin typeface="Courier New" pitchFamily="49" charset="0"/>
              </a:rPr>
              <a:t>p1.c p2.c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1" name="Rectangle 11"/>
          <p:cNvSpPr>
            <a:spLocks noChangeArrowheads="1"/>
          </p:cNvSpPr>
          <p:nvPr/>
        </p:nvSpPr>
        <p:spPr bwMode="auto">
          <a:xfrm>
            <a:off x="2259013" y="3657600"/>
            <a:ext cx="3492500" cy="397545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 err="1">
                <a:latin typeface="Calibri" pitchFamily="34" charset="0"/>
              </a:rPr>
              <a:t>Asm</a:t>
            </a:r>
            <a:r>
              <a:rPr lang="en-US" sz="2000" dirty="0">
                <a:latin typeface="Calibri" pitchFamily="34" charset="0"/>
              </a:rPr>
              <a:t> program (</a:t>
            </a:r>
            <a:r>
              <a:rPr lang="en-US" sz="2000" dirty="0">
                <a:latin typeface="Courier New" pitchFamily="49" charset="0"/>
              </a:rPr>
              <a:t>p1.s p2.s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2" name="Rectangle 12"/>
          <p:cNvSpPr>
            <a:spLocks noChangeArrowheads="1"/>
          </p:cNvSpPr>
          <p:nvPr/>
        </p:nvSpPr>
        <p:spPr bwMode="auto">
          <a:xfrm>
            <a:off x="2144713" y="4800600"/>
            <a:ext cx="3721100" cy="397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Object program (</a:t>
            </a:r>
            <a:r>
              <a:rPr lang="en-US" sz="2000" dirty="0">
                <a:latin typeface="Courier New" pitchFamily="49" charset="0"/>
              </a:rPr>
              <a:t>p1.o p2.o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3" name="Rectangle 13"/>
          <p:cNvSpPr>
            <a:spLocks noChangeArrowheads="1"/>
          </p:cNvSpPr>
          <p:nvPr/>
        </p:nvSpPr>
        <p:spPr bwMode="auto">
          <a:xfrm>
            <a:off x="2131219" y="5943600"/>
            <a:ext cx="3748088" cy="397545"/>
          </a:xfrm>
          <a:prstGeom prst="rect">
            <a:avLst/>
          </a:prstGeom>
          <a:solidFill>
            <a:srgbClr val="FF99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Executable program (</a:t>
            </a:r>
            <a:r>
              <a:rPr lang="en-US" sz="2000" dirty="0">
                <a:latin typeface="Courier New" pitchFamily="49" charset="0"/>
              </a:rPr>
              <a:t>p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4" name="Line 14"/>
          <p:cNvSpPr>
            <a:spLocks noChangeShapeType="1"/>
          </p:cNvSpPr>
          <p:nvPr/>
        </p:nvSpPr>
        <p:spPr bwMode="auto">
          <a:xfrm>
            <a:off x="3989388" y="4055145"/>
            <a:ext cx="0" cy="7264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5" name="Line 15"/>
          <p:cNvSpPr>
            <a:spLocks noChangeShapeType="1"/>
          </p:cNvSpPr>
          <p:nvPr/>
        </p:nvSpPr>
        <p:spPr bwMode="auto">
          <a:xfrm>
            <a:off x="3989388" y="5198145"/>
            <a:ext cx="0" cy="7264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6" name="Rectangle 16"/>
          <p:cNvSpPr>
            <a:spLocks noChangeArrowheads="1"/>
          </p:cNvSpPr>
          <p:nvPr/>
        </p:nvSpPr>
        <p:spPr bwMode="auto">
          <a:xfrm>
            <a:off x="6858000" y="4800600"/>
            <a:ext cx="2044700" cy="705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Static libraries (</a:t>
            </a:r>
            <a:r>
              <a:rPr lang="en-US" sz="2000" dirty="0">
                <a:latin typeface="Courier New" pitchFamily="49" charset="0"/>
              </a:rPr>
              <a:t>.a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7" name="Line 17"/>
          <p:cNvSpPr>
            <a:spLocks noChangeShapeType="1"/>
          </p:cNvSpPr>
          <p:nvPr/>
        </p:nvSpPr>
        <p:spPr bwMode="auto">
          <a:xfrm flipH="1">
            <a:off x="5865813" y="5334000"/>
            <a:ext cx="9906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8" name="Rectangle 18"/>
          <p:cNvSpPr>
            <a:spLocks noGrp="1" noChangeArrowheads="1"/>
          </p:cNvSpPr>
          <p:nvPr>
            <p:ph type="title"/>
          </p:nvPr>
        </p:nvSpPr>
        <p:spPr>
          <a:xfrm>
            <a:off x="381000" y="341312"/>
            <a:ext cx="6997700" cy="573088"/>
          </a:xfrm>
        </p:spPr>
        <p:txBody>
          <a:bodyPr/>
          <a:lstStyle/>
          <a:p>
            <a:r>
              <a:rPr lang="en-US" dirty="0"/>
              <a:t>Turning C into Object Code</a:t>
            </a:r>
          </a:p>
        </p:txBody>
      </p:sp>
      <p:sp>
        <p:nvSpPr>
          <p:cNvPr id="148499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290513" y="990600"/>
            <a:ext cx="8307387" cy="1463675"/>
          </a:xfrm>
        </p:spPr>
        <p:txBody>
          <a:bodyPr/>
          <a:lstStyle/>
          <a:p>
            <a:pPr marL="560388" lvl="1" indent="-222250" defTabSz="895350">
              <a:tabLst>
                <a:tab pos="2286000" algn="l"/>
                <a:tab pos="3543300" algn="l"/>
              </a:tabLst>
            </a:pPr>
            <a:r>
              <a:rPr lang="en-US" dirty="0"/>
              <a:t>Code in files  </a:t>
            </a:r>
            <a:r>
              <a:rPr lang="en-US" b="1" dirty="0">
                <a:latin typeface="Courier New" pitchFamily="49" charset="0"/>
              </a:rPr>
              <a:t>p1.c p2.c</a:t>
            </a:r>
            <a:endParaRPr lang="en-US" b="1" dirty="0">
              <a:latin typeface="Courier" pitchFamily="49" charset="0"/>
            </a:endParaRPr>
          </a:p>
          <a:p>
            <a:pPr marL="560388" lvl="1" indent="-222250" defTabSz="895350">
              <a:tabLst>
                <a:tab pos="2286000" algn="l"/>
                <a:tab pos="3543300" algn="l"/>
              </a:tabLst>
            </a:pPr>
            <a:r>
              <a:rPr lang="en-US" dirty="0"/>
              <a:t>Compile with command:  </a:t>
            </a:r>
            <a:r>
              <a:rPr lang="en-US" b="1" dirty="0" err="1">
                <a:latin typeface="Courier New" pitchFamily="49" charset="0"/>
              </a:rPr>
              <a:t>gcc</a:t>
            </a:r>
            <a:r>
              <a:rPr lang="en-US" b="1" dirty="0">
                <a:latin typeface="Courier New" pitchFamily="49" charset="0"/>
              </a:rPr>
              <a:t> –</a:t>
            </a:r>
            <a:r>
              <a:rPr lang="en-US" b="1" dirty="0" err="1">
                <a:latin typeface="Courier New" pitchFamily="49" charset="0"/>
              </a:rPr>
              <a:t>Og</a:t>
            </a:r>
            <a:r>
              <a:rPr lang="en-US" b="1" dirty="0">
                <a:latin typeface="Courier New" pitchFamily="49" charset="0"/>
              </a:rPr>
              <a:t> p1.c p2.c -o p</a:t>
            </a:r>
            <a:endParaRPr lang="en-US" b="1" dirty="0">
              <a:latin typeface="Courier" pitchFamily="49" charset="0"/>
            </a:endParaRPr>
          </a:p>
          <a:p>
            <a:pPr marL="839788" lvl="2" indent="-165100" defTabSz="895350">
              <a:tabLst>
                <a:tab pos="2286000" algn="l"/>
                <a:tab pos="3543300" algn="l"/>
              </a:tabLst>
            </a:pPr>
            <a:r>
              <a:rPr lang="en-US" dirty="0"/>
              <a:t>Use basic optimizations (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-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Og</a:t>
            </a:r>
            <a:r>
              <a:rPr lang="en-US" dirty="0"/>
              <a:t>) [New to recent versions of GCC]</a:t>
            </a:r>
          </a:p>
          <a:p>
            <a:pPr marL="839788" lvl="2" indent="-165100" defTabSz="895350">
              <a:tabLst>
                <a:tab pos="2286000" algn="l"/>
                <a:tab pos="3543300" algn="l"/>
              </a:tabLst>
            </a:pPr>
            <a:r>
              <a:rPr lang="en-US" dirty="0"/>
              <a:t>Put resulting binary in file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p</a:t>
            </a:r>
            <a:endParaRPr lang="en-US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E52310-FBD9-7F0B-D789-FA3CBC4C3D11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644A2BD-2136-7019-42F9-11DF10A8A541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34975"/>
            <a:ext cx="6845300" cy="555625"/>
          </a:xfrm>
          <a:noFill/>
          <a:ln/>
          <a:effectLst/>
        </p:spPr>
        <p:txBody>
          <a:bodyPr/>
          <a:lstStyle/>
          <a:p>
            <a:r>
              <a:rPr lang="en-US" dirty="0"/>
              <a:t>Compiling Into Assembly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46150"/>
            <a:ext cx="2438400" cy="363538"/>
          </a:xfrm>
          <a:noFill/>
          <a:ln/>
        </p:spPr>
        <p:txBody>
          <a:bodyPr lIns="90487" tIns="44450" rIns="90487" bIns="44450"/>
          <a:lstStyle/>
          <a:p>
            <a:pPr>
              <a:buNone/>
            </a:pPr>
            <a:r>
              <a:rPr lang="en-US" dirty="0"/>
              <a:t>C Code (</a:t>
            </a:r>
            <a:r>
              <a:rPr lang="en-US" dirty="0" err="1"/>
              <a:t>sum.c</a:t>
            </a:r>
            <a:r>
              <a:rPr lang="en-US" dirty="0"/>
              <a:t>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76200" y="1403350"/>
            <a:ext cx="4343400" cy="230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long plus(long x, long y); </a:t>
            </a:r>
          </a:p>
          <a:p>
            <a:pPr>
              <a:tabLst>
                <a:tab pos="457200" algn="l"/>
                <a:tab pos="1485900" algn="l"/>
              </a:tabLst>
            </a:pP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</a:t>
            </a:r>
            <a:r>
              <a:rPr lang="en-US" sz="1800" dirty="0" err="1">
                <a:latin typeface="Courier New" pitchFamily="49" charset="0"/>
              </a:rPr>
              <a:t>sumstore</a:t>
            </a:r>
            <a:r>
              <a:rPr lang="en-US" sz="1800" dirty="0">
                <a:latin typeface="Courier New" pitchFamily="49" charset="0"/>
              </a:rPr>
              <a:t>(long x, long y,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           long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 long t = plus(x, y);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 = t;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4419600" y="914400"/>
            <a:ext cx="411480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Generated x86-64 Assembly</a:t>
            </a:r>
          </a:p>
          <a:p>
            <a:pPr marL="223838" indent="-223838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4495800" y="1395413"/>
            <a:ext cx="4195763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</a:rPr>
              <a:t>sumstore</a:t>
            </a:r>
            <a:r>
              <a:rPr lang="en-US" sz="1800" dirty="0">
                <a:latin typeface="Courier New" pitchFamily="49" charset="0"/>
              </a:rPr>
              <a:t>: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pushq</a:t>
            </a:r>
            <a:r>
              <a:rPr lang="en-US" sz="1800" dirty="0">
                <a:latin typeface="Courier New" pitchFamily="49" charset="0"/>
              </a:rPr>
              <a:t>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movq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rdx</a:t>
            </a:r>
            <a:r>
              <a:rPr lang="en-US" sz="1800" dirty="0">
                <a:latin typeface="Courier New" pitchFamily="49" charset="0"/>
              </a:rPr>
              <a:t>,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call    plus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movq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, (%</a:t>
            </a:r>
            <a:r>
              <a:rPr lang="en-US" sz="1800" dirty="0" err="1">
                <a:latin typeface="Courier New" pitchFamily="49" charset="0"/>
              </a:rPr>
              <a:t>rbx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popq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ret</a:t>
            </a:r>
          </a:p>
        </p:txBody>
      </p:sp>
      <p:sp>
        <p:nvSpPr>
          <p:cNvPr id="149511" name="Rectangle 7"/>
          <p:cNvSpPr>
            <a:spLocks noChangeArrowheads="1"/>
          </p:cNvSpPr>
          <p:nvPr/>
        </p:nvSpPr>
        <p:spPr bwMode="auto">
          <a:xfrm>
            <a:off x="454025" y="3638098"/>
            <a:ext cx="7467600" cy="341375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Obtain (on shark machine) with command</a:t>
            </a:r>
          </a:p>
          <a:p>
            <a:pPr lvl="1" algn="l">
              <a:lnSpc>
                <a:spcPct val="100000"/>
              </a:lnSpc>
              <a:spcBef>
                <a:spcPct val="50000"/>
              </a:spcBef>
            </a:pPr>
            <a:r>
              <a:rPr lang="en-US" dirty="0" err="1">
                <a:latin typeface="Courier New" pitchFamily="49" charset="0"/>
              </a:rPr>
              <a:t>gcc</a:t>
            </a:r>
            <a:r>
              <a:rPr lang="en-US" dirty="0">
                <a:latin typeface="Courier New" pitchFamily="49" charset="0"/>
              </a:rPr>
              <a:t> –</a:t>
            </a:r>
            <a:r>
              <a:rPr lang="en-US" dirty="0" err="1">
                <a:latin typeface="Courier New" pitchFamily="49" charset="0"/>
              </a:rPr>
              <a:t>Og</a:t>
            </a:r>
            <a:r>
              <a:rPr lang="en-US" dirty="0">
                <a:latin typeface="Courier New" pitchFamily="49" charset="0"/>
              </a:rPr>
              <a:t> –S </a:t>
            </a:r>
            <a:r>
              <a:rPr lang="en-US" dirty="0" err="1">
                <a:latin typeface="Courier New" pitchFamily="49" charset="0"/>
              </a:rPr>
              <a:t>sum.c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Produces file </a:t>
            </a:r>
            <a:r>
              <a:rPr lang="en-US" dirty="0" err="1">
                <a:latin typeface="Courier New" pitchFamily="49" charset="0"/>
              </a:rPr>
              <a:t>sum.s</a:t>
            </a:r>
            <a:endParaRPr lang="en-US" dirty="0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i="1" dirty="0">
                <a:solidFill>
                  <a:srgbClr val="FF0000"/>
                </a:solidFill>
                <a:latin typeface="Calibri" pitchFamily="34" charset="0"/>
              </a:rPr>
              <a:t>Warning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: Will get very different results on non-Shark machines (Andrew Linux, Mac OS-X, …) due to different versions of </a:t>
            </a:r>
            <a:r>
              <a:rPr lang="en-US" dirty="0" err="1">
                <a:solidFill>
                  <a:srgbClr val="FF0000"/>
                </a:solidFill>
                <a:latin typeface="Calibri" pitchFamily="34" charset="0"/>
              </a:rPr>
              <a:t>gcc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 and different compiler settings.</a:t>
            </a:r>
            <a:endParaRPr lang="en-US" dirty="0">
              <a:solidFill>
                <a:srgbClr val="FF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endParaRPr lang="en-US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A8C1E-91B9-8D25-4E99-C942A7E59415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CAF8D05-6D1F-960E-5220-1F2780533827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382000" cy="573088"/>
          </a:xfrm>
        </p:spPr>
        <p:txBody>
          <a:bodyPr/>
          <a:lstStyle/>
          <a:p>
            <a:r>
              <a:rPr lang="en-US" dirty="0"/>
              <a:t>Assembly Characteristics: Data Types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50950"/>
            <a:ext cx="8548687" cy="5530850"/>
          </a:xfrm>
        </p:spPr>
        <p:txBody>
          <a:bodyPr/>
          <a:lstStyle/>
          <a:p>
            <a:r>
              <a:rPr lang="en-US" dirty="0"/>
              <a:t>“Integer” data of 1, 2, 4, or 8 bytes</a:t>
            </a:r>
          </a:p>
          <a:p>
            <a:pPr lvl="1"/>
            <a:r>
              <a:rPr lang="en-US" dirty="0"/>
              <a:t>Data values</a:t>
            </a:r>
          </a:p>
          <a:p>
            <a:pPr lvl="1"/>
            <a:r>
              <a:rPr lang="en-US" dirty="0"/>
              <a:t>Addresses (</a:t>
            </a:r>
            <a:r>
              <a:rPr lang="en-US" dirty="0" err="1"/>
              <a:t>untyped</a:t>
            </a:r>
            <a:r>
              <a:rPr lang="en-US" dirty="0"/>
              <a:t> pointers)</a:t>
            </a:r>
          </a:p>
          <a:p>
            <a:endParaRPr lang="en-US" dirty="0"/>
          </a:p>
          <a:p>
            <a:r>
              <a:rPr lang="en-US" dirty="0"/>
              <a:t>Floating point data of 4, 8, or 10 bytes</a:t>
            </a:r>
          </a:p>
          <a:p>
            <a:endParaRPr lang="en-US" dirty="0"/>
          </a:p>
          <a:p>
            <a:r>
              <a:rPr lang="en-US" dirty="0"/>
              <a:t>Code: Byte sequences encoding series of instructions</a:t>
            </a:r>
          </a:p>
          <a:p>
            <a:endParaRPr lang="en-US" dirty="0"/>
          </a:p>
          <a:p>
            <a:r>
              <a:rPr lang="en-US" dirty="0"/>
              <a:t>No aggregate types such as arrays or structures</a:t>
            </a:r>
          </a:p>
          <a:p>
            <a:pPr lvl="1"/>
            <a:r>
              <a:rPr lang="en-US" dirty="0"/>
              <a:t>Just contiguously allocated bytes in memory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3FF594-2A27-F429-354C-A75929BFED39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B422398-5B10-EF97-8812-A1DEE1008C28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382000" cy="573088"/>
          </a:xfrm>
        </p:spPr>
        <p:txBody>
          <a:bodyPr/>
          <a:lstStyle/>
          <a:p>
            <a:r>
              <a:rPr lang="en-US" dirty="0"/>
              <a:t>Assembly Characteristics: Operations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327150"/>
            <a:ext cx="8548687" cy="4921250"/>
          </a:xfrm>
        </p:spPr>
        <p:txBody>
          <a:bodyPr/>
          <a:lstStyle/>
          <a:p>
            <a:r>
              <a:rPr lang="en-US" dirty="0"/>
              <a:t>Perform arithmetic function on register or memory data</a:t>
            </a:r>
          </a:p>
          <a:p>
            <a:endParaRPr lang="en-US" dirty="0"/>
          </a:p>
          <a:p>
            <a:r>
              <a:rPr lang="en-US" dirty="0"/>
              <a:t>Transfer data between memory and register</a:t>
            </a:r>
          </a:p>
          <a:p>
            <a:pPr lvl="1"/>
            <a:r>
              <a:rPr lang="en-US" dirty="0"/>
              <a:t>Load data from memory into register</a:t>
            </a:r>
          </a:p>
          <a:p>
            <a:pPr lvl="1"/>
            <a:r>
              <a:rPr lang="en-US" dirty="0"/>
              <a:t>Store register data into memory</a:t>
            </a:r>
          </a:p>
          <a:p>
            <a:endParaRPr lang="en-US" dirty="0"/>
          </a:p>
          <a:p>
            <a:r>
              <a:rPr lang="en-US" dirty="0"/>
              <a:t>Transfer control</a:t>
            </a:r>
          </a:p>
          <a:p>
            <a:pPr lvl="1"/>
            <a:r>
              <a:rPr lang="en-US" dirty="0"/>
              <a:t>Unconditional jumps to/from procedures</a:t>
            </a:r>
          </a:p>
          <a:p>
            <a:pPr lvl="1"/>
            <a:r>
              <a:rPr lang="en-US" dirty="0"/>
              <a:t>Conditional branches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640DB2-3205-678D-9FB2-6CB6D2A7AC95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C69EE22-B5FE-A05F-965D-B0AC77F637BA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342900" y="914400"/>
            <a:ext cx="300990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Code for </a:t>
            </a:r>
            <a:r>
              <a:rPr lang="en-US" sz="2400" dirty="0" err="1">
                <a:latin typeface="Courier New" pitchFamily="49" charset="0"/>
              </a:rPr>
              <a:t>sumstore</a:t>
            </a: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  <a:p>
            <a:pPr marL="223838" indent="-223838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51555" name="Rectangle 3"/>
          <p:cNvSpPr>
            <a:spLocks noChangeArrowheads="1"/>
          </p:cNvSpPr>
          <p:nvPr/>
        </p:nvSpPr>
        <p:spPr bwMode="auto">
          <a:xfrm>
            <a:off x="344488" y="1447800"/>
            <a:ext cx="2511425" cy="424475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0x0400595: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0x53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0x48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0x89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0xd3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0xe8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0xf2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0x48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0x89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0x03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0x5b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0xc3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5524500" cy="573088"/>
          </a:xfrm>
        </p:spPr>
        <p:txBody>
          <a:bodyPr/>
          <a:lstStyle/>
          <a:p>
            <a:r>
              <a:rPr lang="en-US" dirty="0"/>
              <a:t>Object Code</a:t>
            </a:r>
          </a:p>
        </p:txBody>
      </p:sp>
      <p:sp>
        <p:nvSpPr>
          <p:cNvPr id="1515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505200" y="1143000"/>
            <a:ext cx="5486400" cy="5486400"/>
          </a:xfrm>
        </p:spPr>
        <p:txBody>
          <a:bodyPr/>
          <a:lstStyle/>
          <a:p>
            <a:r>
              <a:rPr lang="en-US" dirty="0"/>
              <a:t>Assembler</a:t>
            </a:r>
          </a:p>
          <a:p>
            <a:pPr lvl="1"/>
            <a:r>
              <a:rPr lang="en-US" dirty="0"/>
              <a:t>Translates </a:t>
            </a:r>
            <a:r>
              <a:rPr lang="en-US" dirty="0">
                <a:latin typeface="Courier New" pitchFamily="49" charset="0"/>
              </a:rPr>
              <a:t>.s</a:t>
            </a:r>
            <a:r>
              <a:rPr lang="en-US" dirty="0"/>
              <a:t> into </a:t>
            </a:r>
            <a:r>
              <a:rPr lang="en-US" dirty="0">
                <a:latin typeface="Courier New" pitchFamily="49" charset="0"/>
              </a:rPr>
              <a:t>.o</a:t>
            </a:r>
          </a:p>
          <a:p>
            <a:pPr lvl="1"/>
            <a:r>
              <a:rPr lang="en-US" dirty="0"/>
              <a:t>Binary encoding of each instruction</a:t>
            </a:r>
          </a:p>
          <a:p>
            <a:pPr lvl="1"/>
            <a:r>
              <a:rPr lang="en-US" dirty="0"/>
              <a:t>Nearly-complete image of executable code</a:t>
            </a:r>
          </a:p>
          <a:p>
            <a:pPr lvl="1"/>
            <a:r>
              <a:rPr lang="en-US" dirty="0"/>
              <a:t>Missing linkages between code in different files</a:t>
            </a:r>
          </a:p>
          <a:p>
            <a:r>
              <a:rPr lang="en-US" dirty="0"/>
              <a:t>Linker</a:t>
            </a:r>
          </a:p>
          <a:p>
            <a:pPr lvl="1"/>
            <a:r>
              <a:rPr lang="en-US" dirty="0"/>
              <a:t>Resolves references between files</a:t>
            </a:r>
          </a:p>
          <a:p>
            <a:pPr lvl="1"/>
            <a:r>
              <a:rPr lang="en-US" dirty="0"/>
              <a:t>Combines with static run-time libraries</a:t>
            </a:r>
          </a:p>
          <a:p>
            <a:pPr lvl="2"/>
            <a:r>
              <a:rPr lang="en-US" dirty="0"/>
              <a:t>E.g., code for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malloc</a:t>
            </a:r>
            <a:r>
              <a:rPr lang="en-US" b="1" dirty="0"/>
              <a:t>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printf</a:t>
            </a:r>
            <a:endParaRPr lang="en-US" b="1" dirty="0">
              <a:solidFill>
                <a:schemeClr val="tx1"/>
              </a:solidFill>
              <a:latin typeface="Courier New" pitchFamily="49" charset="0"/>
            </a:endParaRPr>
          </a:p>
          <a:p>
            <a:pPr lvl="1"/>
            <a:r>
              <a:rPr lang="en-US" dirty="0"/>
              <a:t>Some libraries are </a:t>
            </a:r>
            <a:r>
              <a:rPr lang="en-US" i="1" dirty="0"/>
              <a:t>dynamically linked</a:t>
            </a:r>
          </a:p>
          <a:p>
            <a:pPr lvl="2"/>
            <a:r>
              <a:rPr lang="en-US" dirty="0"/>
              <a:t>Linking occurs when program begins execution</a:t>
            </a:r>
          </a:p>
        </p:txBody>
      </p:sp>
      <p:sp>
        <p:nvSpPr>
          <p:cNvPr id="151558" name="Text Box 6"/>
          <p:cNvSpPr txBox="1">
            <a:spLocks noChangeArrowheads="1"/>
          </p:cNvSpPr>
          <p:nvPr/>
        </p:nvSpPr>
        <p:spPr bwMode="auto">
          <a:xfrm>
            <a:off x="1295400" y="4038600"/>
            <a:ext cx="2362200" cy="190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560388" lvl="1" indent="-222250" algn="l" defTabSz="895350">
              <a:spcBef>
                <a:spcPct val="30000"/>
              </a:spcBef>
              <a:buFontTx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Total of 14 bytes</a:t>
            </a:r>
          </a:p>
          <a:p>
            <a:pPr marL="560388" lvl="1" indent="-222250" algn="l" defTabSz="895350">
              <a:spcBef>
                <a:spcPct val="30000"/>
              </a:spcBef>
              <a:buFontTx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Each instruction 1, 3, or 5 bytes</a:t>
            </a:r>
          </a:p>
          <a:p>
            <a:pPr marL="560388" lvl="1" indent="-222250" algn="l" defTabSz="895350">
              <a:spcBef>
                <a:spcPct val="30000"/>
              </a:spcBef>
              <a:buFontTx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Starts at address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0x0400595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C892F1-4B1A-462F-8F43-72D2F6FEE370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362488A-1A6D-5C14-C32E-E93E3E75CC4F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264400" cy="573088"/>
          </a:xfrm>
        </p:spPr>
        <p:txBody>
          <a:bodyPr/>
          <a:lstStyle/>
          <a:p>
            <a:r>
              <a:rPr lang="en-US" dirty="0"/>
              <a:t>Machine Instruction Example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0" y="838200"/>
            <a:ext cx="4572000" cy="5791200"/>
          </a:xfrm>
        </p:spPr>
        <p:txBody>
          <a:bodyPr/>
          <a:lstStyle/>
          <a:p>
            <a:pPr marL="223838" indent="-223838" defTabSz="895350">
              <a:tabLst>
                <a:tab pos="1603375" algn="l"/>
                <a:tab pos="2514600" algn="l"/>
              </a:tabLst>
            </a:pPr>
            <a:r>
              <a:rPr lang="en-US" dirty="0"/>
              <a:t>C Code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Store value </a:t>
            </a:r>
            <a:r>
              <a:rPr lang="en-US" b="1" dirty="0">
                <a:latin typeface="Courier New"/>
                <a:cs typeface="Courier New"/>
              </a:rPr>
              <a:t>t</a:t>
            </a:r>
            <a:r>
              <a:rPr lang="en-US" dirty="0"/>
              <a:t> where designated by </a:t>
            </a:r>
            <a:r>
              <a:rPr lang="en-US" b="1" dirty="0" err="1">
                <a:latin typeface="Courier New"/>
                <a:cs typeface="Courier New"/>
              </a:rPr>
              <a:t>dest</a:t>
            </a:r>
            <a:endParaRPr lang="en-US" b="1" dirty="0">
              <a:latin typeface="Courier New"/>
              <a:cs typeface="Courier New"/>
            </a:endParaRPr>
          </a:p>
          <a:p>
            <a:pPr marL="223838" indent="-223838" defTabSz="895350">
              <a:tabLst>
                <a:tab pos="1603375" algn="l"/>
                <a:tab pos="2514600" algn="l"/>
              </a:tabLst>
            </a:pPr>
            <a:r>
              <a:rPr lang="en-US" dirty="0"/>
              <a:t>Assembly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Move 8-byte value to memory</a:t>
            </a:r>
          </a:p>
          <a:p>
            <a:pPr marL="839788" lvl="2" indent="-165100" defTabSz="895350">
              <a:tabLst>
                <a:tab pos="1603375" algn="l"/>
                <a:tab pos="2514600" algn="l"/>
              </a:tabLst>
            </a:pPr>
            <a:r>
              <a:rPr lang="en-US" dirty="0"/>
              <a:t>Quad words in x86-64 parlance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Operands:</a:t>
            </a:r>
          </a:p>
          <a:p>
            <a:pPr marL="839788" lvl="2" indent="-165100" defTabSz="895350">
              <a:buNone/>
              <a:tabLst>
                <a:tab pos="1603375" algn="l"/>
                <a:tab pos="2514600" algn="l"/>
              </a:tabLst>
            </a:pPr>
            <a:r>
              <a:rPr lang="en-US" b="1" dirty="0">
                <a:latin typeface="Courier New" pitchFamily="49" charset="0"/>
              </a:rPr>
              <a:t>t</a:t>
            </a:r>
            <a:r>
              <a:rPr lang="en-US" b="1" dirty="0"/>
              <a:t>:	</a:t>
            </a:r>
            <a:r>
              <a:rPr lang="en-US" dirty="0"/>
              <a:t>Register	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rax</a:t>
            </a:r>
            <a:endParaRPr lang="en-US" b="1" dirty="0">
              <a:latin typeface="Courier New" pitchFamily="49" charset="0"/>
            </a:endParaRPr>
          </a:p>
          <a:p>
            <a:pPr marL="839788" lvl="2" indent="-165100" defTabSz="895350">
              <a:buFont typeface="Wingdings" pitchFamily="2" charset="2"/>
              <a:buNone/>
              <a:tabLst>
                <a:tab pos="1603375" algn="l"/>
                <a:tab pos="2514600" algn="l"/>
              </a:tabLst>
            </a:pPr>
            <a:r>
              <a:rPr lang="en-US" b="1" dirty="0" err="1">
                <a:latin typeface="Courier New" pitchFamily="49" charset="0"/>
              </a:rPr>
              <a:t>dest</a:t>
            </a:r>
            <a:r>
              <a:rPr lang="en-US" b="1" dirty="0"/>
              <a:t>:</a:t>
            </a:r>
            <a:r>
              <a:rPr lang="en-US" dirty="0"/>
              <a:t>	Register	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rbx</a:t>
            </a:r>
            <a:endParaRPr lang="en-US" b="1" dirty="0">
              <a:solidFill>
                <a:schemeClr val="tx1"/>
              </a:solidFill>
              <a:latin typeface="Courier New" pitchFamily="49" charset="0"/>
            </a:endParaRPr>
          </a:p>
          <a:p>
            <a:pPr marL="839788" lvl="2" indent="-165100" defTabSz="895350">
              <a:buFont typeface="Wingdings" pitchFamily="2" charset="2"/>
              <a:buNone/>
              <a:tabLst>
                <a:tab pos="1603375" algn="l"/>
                <a:tab pos="2514600" algn="l"/>
              </a:tabLst>
            </a:pPr>
            <a:r>
              <a:rPr lang="en-US" b="1" dirty="0">
                <a:latin typeface="Courier New" pitchFamily="49" charset="0"/>
              </a:rPr>
              <a:t>*</a:t>
            </a:r>
            <a:r>
              <a:rPr lang="en-US" b="1" dirty="0" err="1">
                <a:latin typeface="Courier New" pitchFamily="49" charset="0"/>
              </a:rPr>
              <a:t>dest</a:t>
            </a:r>
            <a:r>
              <a:rPr lang="en-US" b="1" dirty="0"/>
              <a:t>:</a:t>
            </a:r>
            <a:r>
              <a:rPr lang="en-US" dirty="0"/>
              <a:t> 	Memory	</a:t>
            </a:r>
            <a:r>
              <a:rPr lang="en-US" b="1" dirty="0"/>
              <a:t>M[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rbx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]</a:t>
            </a:r>
            <a:endParaRPr lang="en-US" b="1" dirty="0"/>
          </a:p>
          <a:p>
            <a:pPr marL="223838" indent="-223838" defTabSz="895350">
              <a:tabLst>
                <a:tab pos="1603375" algn="l"/>
                <a:tab pos="2514600" algn="l"/>
              </a:tabLst>
            </a:pPr>
            <a:r>
              <a:rPr lang="en-US" dirty="0"/>
              <a:t>Object Code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3-byte instruction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Stored at address </a:t>
            </a:r>
            <a:r>
              <a:rPr lang="en-US" b="1" dirty="0">
                <a:latin typeface="Courier New" pitchFamily="49" charset="0"/>
              </a:rPr>
              <a:t>0x40059e</a:t>
            </a:r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533400" y="1143000"/>
            <a:ext cx="3883025" cy="37623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 = t;</a:t>
            </a:r>
          </a:p>
        </p:txBody>
      </p:sp>
      <p:sp>
        <p:nvSpPr>
          <p:cNvPr id="152581" name="Rectangle 5"/>
          <p:cNvSpPr>
            <a:spLocks noChangeArrowheads="1"/>
          </p:cNvSpPr>
          <p:nvPr/>
        </p:nvSpPr>
        <p:spPr bwMode="auto">
          <a:xfrm>
            <a:off x="533400" y="2286000"/>
            <a:ext cx="3886200" cy="37623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549400" algn="l"/>
              </a:tabLst>
            </a:pPr>
            <a:r>
              <a:rPr lang="en-US" sz="1800" dirty="0" err="1">
                <a:latin typeface="Courier New" pitchFamily="49" charset="0"/>
              </a:rPr>
              <a:t>movq</a:t>
            </a:r>
            <a:r>
              <a:rPr lang="en-US" sz="1800" dirty="0">
                <a:latin typeface="Courier New" pitchFamily="49" charset="0"/>
              </a:rPr>
              <a:t> 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, (%</a:t>
            </a:r>
            <a:r>
              <a:rPr lang="en-US" sz="1800" dirty="0" err="1">
                <a:latin typeface="Courier New" pitchFamily="49" charset="0"/>
              </a:rPr>
              <a:t>rbx</a:t>
            </a:r>
            <a:r>
              <a:rPr lang="en-US" sz="1800" dirty="0">
                <a:latin typeface="Courier New" pitchFamily="49" charset="0"/>
              </a:rPr>
              <a:t>)</a:t>
            </a:r>
          </a:p>
        </p:txBody>
      </p:sp>
      <p:sp>
        <p:nvSpPr>
          <p:cNvPr id="152582" name="Rectangle 6"/>
          <p:cNvSpPr>
            <a:spLocks noChangeArrowheads="1"/>
          </p:cNvSpPr>
          <p:nvPr/>
        </p:nvSpPr>
        <p:spPr bwMode="auto">
          <a:xfrm>
            <a:off x="530225" y="4912519"/>
            <a:ext cx="3886200" cy="37623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292100" algn="l"/>
              </a:tabLst>
            </a:pPr>
            <a:r>
              <a:rPr lang="en-US" sz="1800" dirty="0">
                <a:latin typeface="Courier New" pitchFamily="49" charset="0"/>
              </a:rPr>
              <a:t>0x40059e:  48 89 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F952F3-0568-158B-023D-9BB8BA1AAE67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26A6C1-7883-50D6-6C0F-288F130348C7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ChangeArrowheads="1"/>
          </p:cNvSpPr>
          <p:nvPr/>
        </p:nvSpPr>
        <p:spPr bwMode="auto">
          <a:xfrm>
            <a:off x="901700" y="1035050"/>
            <a:ext cx="260350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Disassembled</a:t>
            </a:r>
          </a:p>
          <a:p>
            <a:pPr marL="223838" indent="-223838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6819900" cy="573088"/>
          </a:xfrm>
        </p:spPr>
        <p:txBody>
          <a:bodyPr/>
          <a:lstStyle/>
          <a:p>
            <a:r>
              <a:rPr lang="en-US" dirty="0"/>
              <a:t>Disassembling Object Code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4114800"/>
            <a:ext cx="8140700" cy="2249488"/>
          </a:xfrm>
        </p:spPr>
        <p:txBody>
          <a:bodyPr/>
          <a:lstStyle/>
          <a:p>
            <a:r>
              <a:rPr lang="en-US" dirty="0" err="1"/>
              <a:t>Disassembler</a:t>
            </a:r>
            <a:endParaRPr lang="en-US" dirty="0"/>
          </a:p>
          <a:p>
            <a:pPr lvl="1">
              <a:buFont typeface="Wingdings" pitchFamily="2" charset="2"/>
              <a:buNone/>
            </a:pPr>
            <a:r>
              <a:rPr lang="en-US" b="1" dirty="0" err="1">
                <a:latin typeface="Courier New" pitchFamily="49" charset="0"/>
              </a:rPr>
              <a:t>objdump</a:t>
            </a:r>
            <a:r>
              <a:rPr lang="en-US" b="1" dirty="0">
                <a:latin typeface="Courier New" pitchFamily="49" charset="0"/>
              </a:rPr>
              <a:t> –d sum</a:t>
            </a:r>
          </a:p>
          <a:p>
            <a:pPr lvl="1"/>
            <a:r>
              <a:rPr lang="en-US" dirty="0"/>
              <a:t>Useful tool for examining object code</a:t>
            </a:r>
          </a:p>
          <a:p>
            <a:pPr lvl="1"/>
            <a:r>
              <a:rPr lang="en-US" dirty="0"/>
              <a:t>Analyzes bit pattern of series of instructions</a:t>
            </a:r>
          </a:p>
          <a:p>
            <a:pPr lvl="1"/>
            <a:r>
              <a:rPr lang="en-US" dirty="0"/>
              <a:t>Produces approximate rendition of assembly code</a:t>
            </a:r>
          </a:p>
          <a:p>
            <a:pPr lvl="1"/>
            <a:r>
              <a:rPr lang="en-US" dirty="0"/>
              <a:t>Can be run on either </a:t>
            </a:r>
            <a:r>
              <a:rPr lang="en-US" dirty="0" err="1">
                <a:latin typeface="Courier New" pitchFamily="49" charset="0"/>
              </a:rPr>
              <a:t>a.out</a:t>
            </a:r>
            <a:r>
              <a:rPr lang="en-US" dirty="0"/>
              <a:t> (complete executable) or </a:t>
            </a:r>
            <a:r>
              <a:rPr lang="en-US" dirty="0">
                <a:latin typeface="Courier New" pitchFamily="49" charset="0"/>
              </a:rPr>
              <a:t>.o</a:t>
            </a:r>
            <a:r>
              <a:rPr lang="en-US" dirty="0"/>
              <a:t> file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104900" y="1628839"/>
            <a:ext cx="7493000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0000000000400595 &lt;</a:t>
            </a:r>
            <a:r>
              <a:rPr lang="en-US" sz="1800" dirty="0" err="1">
                <a:latin typeface="Courier New" pitchFamily="49" charset="0"/>
              </a:rPr>
              <a:t>sumstore</a:t>
            </a:r>
            <a:r>
              <a:rPr lang="en-US" sz="1800" dirty="0">
                <a:latin typeface="Courier New" pitchFamily="49" charset="0"/>
              </a:rPr>
              <a:t>&gt;: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400595:  53               push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400596:  48 89 d3         </a:t>
            </a:r>
            <a:r>
              <a:rPr lang="en-US" sz="1800" dirty="0" err="1">
                <a:latin typeface="Courier New" pitchFamily="49" charset="0"/>
              </a:rPr>
              <a:t>mov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rdx</a:t>
            </a:r>
            <a:r>
              <a:rPr lang="en-US" sz="1800" dirty="0">
                <a:latin typeface="Courier New" pitchFamily="49" charset="0"/>
              </a:rPr>
              <a:t>,%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400599:  e8 f2 </a:t>
            </a:r>
            <a:r>
              <a:rPr lang="en-US" sz="1800" dirty="0" err="1">
                <a:latin typeface="Courier New" pitchFamily="49" charset="0"/>
              </a:rPr>
              <a:t>ff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ff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ff</a:t>
            </a: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callq</a:t>
            </a:r>
            <a:r>
              <a:rPr lang="en-US" sz="1800" dirty="0">
                <a:latin typeface="Courier New" pitchFamily="49" charset="0"/>
              </a:rPr>
              <a:t>  400590 &lt;plus&gt;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40059e:  48 89 03         </a:t>
            </a:r>
            <a:r>
              <a:rPr lang="en-US" sz="1800" dirty="0" err="1">
                <a:latin typeface="Courier New" pitchFamily="49" charset="0"/>
              </a:rPr>
              <a:t>mov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,(%</a:t>
            </a:r>
            <a:r>
              <a:rPr lang="en-US" sz="1800" dirty="0" err="1">
                <a:latin typeface="Courier New" pitchFamily="49" charset="0"/>
              </a:rPr>
              <a:t>rbx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4005a1:  5b               pop 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4005a2:  c3               </a:t>
            </a:r>
            <a:r>
              <a:rPr lang="en-US" sz="1800" dirty="0" err="1">
                <a:latin typeface="Courier New" pitchFamily="49" charset="0"/>
              </a:rPr>
              <a:t>retq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BBFA61-2AF7-0E05-B93E-8FBC87A8E703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07BF0E4-6439-4787-CDD6-F5119FF1C4CF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ChangeArrowheads="1"/>
          </p:cNvSpPr>
          <p:nvPr/>
        </p:nvSpPr>
        <p:spPr bwMode="auto">
          <a:xfrm>
            <a:off x="4191000" y="914400"/>
            <a:ext cx="260350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Disassembled</a:t>
            </a:r>
          </a:p>
          <a:p>
            <a:pPr marL="223838" indent="-223838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2297113" y="1705039"/>
            <a:ext cx="6846887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Dump of assembler code for function </a:t>
            </a:r>
            <a:r>
              <a:rPr lang="en-US" sz="1800" dirty="0" err="1">
                <a:latin typeface="Courier New" pitchFamily="49" charset="0"/>
              </a:rPr>
              <a:t>sumstore</a:t>
            </a:r>
            <a:r>
              <a:rPr lang="en-US" sz="1800" dirty="0">
                <a:latin typeface="Courier New" pitchFamily="49" charset="0"/>
              </a:rPr>
              <a:t>: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0x0000000000400595 &lt;+0&gt;: push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0x0000000000400596 &lt;+1&gt;: </a:t>
            </a:r>
            <a:r>
              <a:rPr lang="en-US" sz="1800" dirty="0" err="1">
                <a:latin typeface="Courier New" pitchFamily="49" charset="0"/>
              </a:rPr>
              <a:t>mov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rdx</a:t>
            </a:r>
            <a:r>
              <a:rPr lang="en-US" sz="1800" dirty="0">
                <a:latin typeface="Courier New" pitchFamily="49" charset="0"/>
              </a:rPr>
              <a:t>,%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0x0000000000400599 &lt;+4&gt;: </a:t>
            </a:r>
            <a:r>
              <a:rPr lang="en-US" sz="1800" dirty="0" err="1">
                <a:latin typeface="Courier New" pitchFamily="49" charset="0"/>
              </a:rPr>
              <a:t>callq</a:t>
            </a:r>
            <a:r>
              <a:rPr lang="en-US" sz="1800" dirty="0">
                <a:latin typeface="Courier New" pitchFamily="49" charset="0"/>
              </a:rPr>
              <a:t>  0x400590 &lt;plus&gt;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0x000000000040059e &lt;+9&gt;: </a:t>
            </a:r>
            <a:r>
              <a:rPr lang="en-US" sz="1800" dirty="0" err="1">
                <a:latin typeface="Courier New" pitchFamily="49" charset="0"/>
              </a:rPr>
              <a:t>mov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,(%</a:t>
            </a:r>
            <a:r>
              <a:rPr lang="en-US" sz="1800" dirty="0" err="1">
                <a:latin typeface="Courier New" pitchFamily="49" charset="0"/>
              </a:rPr>
              <a:t>rbx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0x00000000004005a1 &lt;+12&gt;:pop 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0x00000000004005a2 &lt;+13&gt;:</a:t>
            </a:r>
            <a:r>
              <a:rPr lang="en-US" sz="1800" dirty="0" err="1">
                <a:latin typeface="Courier New" pitchFamily="49" charset="0"/>
              </a:rPr>
              <a:t>retq</a:t>
            </a:r>
            <a:r>
              <a:rPr lang="en-US" sz="1800" dirty="0">
                <a:latin typeface="Courier New" pitchFamily="49" charset="0"/>
              </a:rPr>
              <a:t> </a:t>
            </a:r>
            <a:endParaRPr lang="en-US" sz="1800" i="1" dirty="0">
              <a:latin typeface="Courier New" pitchFamily="49" charset="0"/>
            </a:endParaRP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417512"/>
            <a:ext cx="6248400" cy="573088"/>
          </a:xfrm>
        </p:spPr>
        <p:txBody>
          <a:bodyPr/>
          <a:lstStyle/>
          <a:p>
            <a:r>
              <a:rPr lang="en-US" dirty="0"/>
              <a:t>Alternate Disassembly</a:t>
            </a:r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97113" y="4195763"/>
            <a:ext cx="6300787" cy="2249487"/>
          </a:xfrm>
        </p:spPr>
        <p:txBody>
          <a:bodyPr/>
          <a:lstStyle/>
          <a:p>
            <a:r>
              <a:rPr lang="en-US" dirty="0"/>
              <a:t>Within </a:t>
            </a:r>
            <a:r>
              <a:rPr lang="en-US" dirty="0" err="1"/>
              <a:t>gdb</a:t>
            </a:r>
            <a:r>
              <a:rPr lang="en-US" dirty="0"/>
              <a:t> Debugger</a:t>
            </a:r>
          </a:p>
          <a:p>
            <a:pPr lvl="1">
              <a:buFont typeface="Wingdings" pitchFamily="2" charset="2"/>
              <a:buNone/>
            </a:pPr>
            <a:r>
              <a:rPr lang="en-US" b="1" dirty="0" err="1">
                <a:latin typeface="Courier New" pitchFamily="49" charset="0"/>
              </a:rPr>
              <a:t>gdb</a:t>
            </a:r>
            <a:r>
              <a:rPr lang="en-US" b="1" dirty="0">
                <a:latin typeface="Courier New" pitchFamily="49" charset="0"/>
              </a:rPr>
              <a:t> sum</a:t>
            </a:r>
          </a:p>
          <a:p>
            <a:pPr lvl="1"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disassemble </a:t>
            </a:r>
            <a:r>
              <a:rPr lang="en-US" b="1" dirty="0" err="1">
                <a:latin typeface="Courier New" pitchFamily="49" charset="0"/>
              </a:rPr>
              <a:t>sumstore</a:t>
            </a:r>
            <a:endParaRPr lang="en-US" b="1" dirty="0">
              <a:latin typeface="Courier New" pitchFamily="49" charset="0"/>
            </a:endParaRPr>
          </a:p>
          <a:p>
            <a:pPr lvl="1"/>
            <a:r>
              <a:rPr lang="en-US" dirty="0"/>
              <a:t>Disassemble procedure</a:t>
            </a:r>
          </a:p>
          <a:p>
            <a:pPr lvl="1"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x/14xb </a:t>
            </a:r>
            <a:r>
              <a:rPr lang="en-US" b="1" dirty="0" err="1">
                <a:latin typeface="Courier New" pitchFamily="49" charset="0"/>
              </a:rPr>
              <a:t>sumstore</a:t>
            </a:r>
            <a:endParaRPr lang="en-US" b="1" dirty="0">
              <a:latin typeface="Courier New" pitchFamily="49" charset="0"/>
            </a:endParaRPr>
          </a:p>
          <a:p>
            <a:pPr lvl="1"/>
            <a:r>
              <a:rPr lang="en-US" dirty="0"/>
              <a:t>Examine the 14 bytes starting at </a:t>
            </a:r>
            <a:r>
              <a:rPr lang="en-US" dirty="0" err="1">
                <a:latin typeface="Courier New" pitchFamily="49" charset="0"/>
              </a:rPr>
              <a:t>sumstore</a:t>
            </a:r>
            <a:endParaRPr lang="en-US" dirty="0">
              <a:latin typeface="Courier New" pitchFamily="49" charset="0"/>
            </a:endParaRPr>
          </a:p>
          <a:p>
            <a:pPr lvl="1"/>
            <a:endParaRPr lang="en-US" dirty="0"/>
          </a:p>
        </p:txBody>
      </p:sp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685800" y="1066800"/>
            <a:ext cx="130810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Object</a:t>
            </a:r>
          </a:p>
          <a:p>
            <a:pPr marL="223838" indent="-223838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54631" name="Rectangle 7"/>
          <p:cNvSpPr>
            <a:spLocks noChangeArrowheads="1"/>
          </p:cNvSpPr>
          <p:nvPr/>
        </p:nvSpPr>
        <p:spPr bwMode="auto">
          <a:xfrm>
            <a:off x="304800" y="1524000"/>
            <a:ext cx="1828800" cy="42447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0x0400595: 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0x53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0x48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0x89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0xd3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0xe8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0xf2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0x48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0x89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0x03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0x5b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0xc3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69526F-B666-1388-3059-39CF3918EDC4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FC89289-614F-0DA4-C2B3-346BEEC4DD59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69912"/>
            <a:ext cx="7150100" cy="573088"/>
          </a:xfrm>
        </p:spPr>
        <p:txBody>
          <a:bodyPr/>
          <a:lstStyle/>
          <a:p>
            <a:r>
              <a:rPr lang="en-US" dirty="0"/>
              <a:t>What Can be Disassembled?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5551488"/>
            <a:ext cx="8624887" cy="1306512"/>
          </a:xfrm>
        </p:spPr>
        <p:txBody>
          <a:bodyPr/>
          <a:lstStyle/>
          <a:p>
            <a:r>
              <a:rPr lang="en-US" dirty="0"/>
              <a:t>Anything that can be interpreted as executable code</a:t>
            </a:r>
          </a:p>
          <a:p>
            <a:r>
              <a:rPr lang="en-US" dirty="0" err="1"/>
              <a:t>Disassembler</a:t>
            </a:r>
            <a:r>
              <a:rPr lang="en-US" dirty="0"/>
              <a:t> examines bytes and reconstructs assembly source</a:t>
            </a:r>
          </a:p>
        </p:txBody>
      </p:sp>
      <p:sp>
        <p:nvSpPr>
          <p:cNvPr id="155652" name="Rectangle 4"/>
          <p:cNvSpPr>
            <a:spLocks noChangeArrowheads="1"/>
          </p:cNvSpPr>
          <p:nvPr/>
        </p:nvSpPr>
        <p:spPr bwMode="auto">
          <a:xfrm>
            <a:off x="533400" y="1585912"/>
            <a:ext cx="8153400" cy="367188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% </a:t>
            </a:r>
            <a:r>
              <a:rPr lang="en-US" sz="1800" dirty="0" err="1">
                <a:latin typeface="Courier New" pitchFamily="49" charset="0"/>
              </a:rPr>
              <a:t>objdump</a:t>
            </a:r>
            <a:r>
              <a:rPr lang="en-US" sz="1800" dirty="0">
                <a:latin typeface="Courier New" pitchFamily="49" charset="0"/>
              </a:rPr>
              <a:t> -</a:t>
            </a:r>
            <a:r>
              <a:rPr lang="en-US" sz="1800" dirty="0" err="1">
                <a:latin typeface="Courier New" pitchFamily="49" charset="0"/>
              </a:rPr>
              <a:t>d</a:t>
            </a:r>
            <a:r>
              <a:rPr lang="en-US" sz="1800" dirty="0">
                <a:latin typeface="Courier New" pitchFamily="49" charset="0"/>
              </a:rPr>
              <a:t> WINWORD.EXE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WINWORD.EXE:   file format pei-i386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No symbols in "WINWORD.EXE".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Disassembly of section .text: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30001000 &lt;.text&gt;: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30001000:  55             push   %</a:t>
            </a:r>
            <a:r>
              <a:rPr lang="en-US" sz="1800" dirty="0" err="1">
                <a:latin typeface="Courier New" pitchFamily="49" charset="0"/>
              </a:rPr>
              <a:t>ebp</a:t>
            </a: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30001001:  8b </a:t>
            </a:r>
            <a:r>
              <a:rPr lang="en-US" sz="1800" dirty="0" err="1">
                <a:latin typeface="Courier New" pitchFamily="49" charset="0"/>
              </a:rPr>
              <a:t>ec</a:t>
            </a:r>
            <a:r>
              <a:rPr lang="en-US" sz="1800" dirty="0">
                <a:latin typeface="Courier New" pitchFamily="49" charset="0"/>
              </a:rPr>
              <a:t>          </a:t>
            </a:r>
            <a:r>
              <a:rPr lang="en-US" sz="1800" dirty="0" err="1">
                <a:latin typeface="Courier New" pitchFamily="49" charset="0"/>
              </a:rPr>
              <a:t>mov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esp,%ebp</a:t>
            </a: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30001003:  6a ff          push   $0xffffffff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30001005:  68 90 10 00 30 push   $0x30001090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3000100a:  68 91 dc 4c 30 push   $0x304cdc91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2667000" y="1975644"/>
            <a:ext cx="5334000" cy="13716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Reverse engineering forbidden by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Microsoft End User License Agreement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0ECF88-9DBE-A23C-29FB-1D7E8D34D733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173A5D-1D7F-DE1F-9BE1-3732CE906D38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History of Intel processors and architectures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C, assembly, machine code</a:t>
            </a:r>
          </a:p>
          <a:p>
            <a:r>
              <a:rPr lang="en-US" dirty="0"/>
              <a:t>Assembly Basics: Registers, operands, move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Arithmetic &amp; logical operations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D615A7-E8C8-044D-A2D0-9F3ED43A68D4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D35BDCB-13BE-76CD-3DFE-58EE4921466A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762000" y="4800600"/>
            <a:ext cx="3556000" cy="533400"/>
          </a:xfrm>
          <a:prstGeom prst="rect">
            <a:avLst/>
          </a:prstGeom>
          <a:solidFill>
            <a:srgbClr val="EFBFB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Integer Registers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18682" y="6019800"/>
            <a:ext cx="7329487" cy="838200"/>
          </a:xfrm>
          <a:ln/>
        </p:spPr>
        <p:txBody>
          <a:bodyPr/>
          <a:lstStyle/>
          <a:p>
            <a:pPr lvl="1"/>
            <a:r>
              <a:rPr lang="en-US" dirty="0"/>
              <a:t>Can reference low-order 4 bytes (also low-order 1 &amp; 2 bytes)</a:t>
            </a:r>
          </a:p>
        </p:txBody>
      </p:sp>
      <p:sp>
        <p:nvSpPr>
          <p:cNvPr id="27654" name="Rectangle 6"/>
          <p:cNvSpPr>
            <a:spLocks/>
          </p:cNvSpPr>
          <p:nvPr/>
        </p:nvSpPr>
        <p:spPr bwMode="auto">
          <a:xfrm>
            <a:off x="2552700" y="1181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%eax</a:t>
            </a:r>
          </a:p>
        </p:txBody>
      </p:sp>
      <p:sp>
        <p:nvSpPr>
          <p:cNvPr id="27655" name="Rectangle 7"/>
          <p:cNvSpPr>
            <a:spLocks/>
          </p:cNvSpPr>
          <p:nvPr/>
        </p:nvSpPr>
        <p:spPr bwMode="auto">
          <a:xfrm>
            <a:off x="2552700" y="17907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%ebx</a:t>
            </a:r>
          </a:p>
        </p:txBody>
      </p:sp>
      <p:sp>
        <p:nvSpPr>
          <p:cNvPr id="27656" name="Rectangle 8"/>
          <p:cNvSpPr>
            <a:spLocks/>
          </p:cNvSpPr>
          <p:nvPr/>
        </p:nvSpPr>
        <p:spPr bwMode="auto">
          <a:xfrm>
            <a:off x="2552700" y="24003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%ecx</a:t>
            </a:r>
          </a:p>
        </p:txBody>
      </p:sp>
      <p:sp>
        <p:nvSpPr>
          <p:cNvPr id="27657" name="Rectangle 9"/>
          <p:cNvSpPr>
            <a:spLocks/>
          </p:cNvSpPr>
          <p:nvPr/>
        </p:nvSpPr>
        <p:spPr bwMode="auto">
          <a:xfrm>
            <a:off x="2552700" y="30099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%edx</a:t>
            </a:r>
          </a:p>
        </p:txBody>
      </p:sp>
      <p:sp>
        <p:nvSpPr>
          <p:cNvPr id="27658" name="Rectangle 10"/>
          <p:cNvSpPr>
            <a:spLocks/>
          </p:cNvSpPr>
          <p:nvPr/>
        </p:nvSpPr>
        <p:spPr bwMode="auto">
          <a:xfrm>
            <a:off x="2552700" y="36195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%esi</a:t>
            </a:r>
          </a:p>
        </p:txBody>
      </p:sp>
      <p:sp>
        <p:nvSpPr>
          <p:cNvPr id="27659" name="Rectangle 11"/>
          <p:cNvSpPr>
            <a:spLocks/>
          </p:cNvSpPr>
          <p:nvPr/>
        </p:nvSpPr>
        <p:spPr bwMode="auto">
          <a:xfrm>
            <a:off x="2552700" y="4229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%edi</a:t>
            </a:r>
          </a:p>
        </p:txBody>
      </p:sp>
      <p:sp>
        <p:nvSpPr>
          <p:cNvPr id="27660" name="Rectangle 12"/>
          <p:cNvSpPr>
            <a:spLocks/>
          </p:cNvSpPr>
          <p:nvPr/>
        </p:nvSpPr>
        <p:spPr bwMode="auto">
          <a:xfrm>
            <a:off x="2552700" y="4838700"/>
            <a:ext cx="1752600" cy="444500"/>
          </a:xfrm>
          <a:prstGeom prst="rect">
            <a:avLst/>
          </a:prstGeom>
          <a:solidFill>
            <a:srgbClr val="FF99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%esp</a:t>
            </a:r>
          </a:p>
        </p:txBody>
      </p:sp>
      <p:sp>
        <p:nvSpPr>
          <p:cNvPr id="27661" name="Rectangle 13"/>
          <p:cNvSpPr>
            <a:spLocks/>
          </p:cNvSpPr>
          <p:nvPr/>
        </p:nvSpPr>
        <p:spPr bwMode="auto">
          <a:xfrm>
            <a:off x="2552700" y="54356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%ebp</a:t>
            </a:r>
          </a:p>
        </p:txBody>
      </p:sp>
      <p:sp>
        <p:nvSpPr>
          <p:cNvPr id="27662" name="Rectangle 14"/>
          <p:cNvSpPr>
            <a:spLocks/>
          </p:cNvSpPr>
          <p:nvPr/>
        </p:nvSpPr>
        <p:spPr bwMode="auto">
          <a:xfrm>
            <a:off x="6515100" y="1181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%r8d</a:t>
            </a:r>
          </a:p>
        </p:txBody>
      </p:sp>
      <p:sp>
        <p:nvSpPr>
          <p:cNvPr id="27663" name="Rectangle 15"/>
          <p:cNvSpPr>
            <a:spLocks/>
          </p:cNvSpPr>
          <p:nvPr/>
        </p:nvSpPr>
        <p:spPr bwMode="auto">
          <a:xfrm>
            <a:off x="6515100" y="17907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%r9d</a:t>
            </a:r>
          </a:p>
        </p:txBody>
      </p:sp>
      <p:sp>
        <p:nvSpPr>
          <p:cNvPr id="27664" name="Rectangle 16"/>
          <p:cNvSpPr>
            <a:spLocks/>
          </p:cNvSpPr>
          <p:nvPr/>
        </p:nvSpPr>
        <p:spPr bwMode="auto">
          <a:xfrm>
            <a:off x="6515100" y="24003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%r10d</a:t>
            </a:r>
          </a:p>
        </p:txBody>
      </p:sp>
      <p:sp>
        <p:nvSpPr>
          <p:cNvPr id="27665" name="Rectangle 17"/>
          <p:cNvSpPr>
            <a:spLocks/>
          </p:cNvSpPr>
          <p:nvPr/>
        </p:nvSpPr>
        <p:spPr bwMode="auto">
          <a:xfrm>
            <a:off x="6515100" y="30099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%r11d</a:t>
            </a:r>
          </a:p>
        </p:txBody>
      </p:sp>
      <p:sp>
        <p:nvSpPr>
          <p:cNvPr id="27666" name="Rectangle 18"/>
          <p:cNvSpPr>
            <a:spLocks/>
          </p:cNvSpPr>
          <p:nvPr/>
        </p:nvSpPr>
        <p:spPr bwMode="auto">
          <a:xfrm>
            <a:off x="6515100" y="36195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%r12d</a:t>
            </a:r>
          </a:p>
        </p:txBody>
      </p:sp>
      <p:sp>
        <p:nvSpPr>
          <p:cNvPr id="27667" name="Rectangle 19"/>
          <p:cNvSpPr>
            <a:spLocks/>
          </p:cNvSpPr>
          <p:nvPr/>
        </p:nvSpPr>
        <p:spPr bwMode="auto">
          <a:xfrm>
            <a:off x="6515100" y="4229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%r13d</a:t>
            </a:r>
          </a:p>
        </p:txBody>
      </p:sp>
      <p:sp>
        <p:nvSpPr>
          <p:cNvPr id="27668" name="Rectangle 20"/>
          <p:cNvSpPr>
            <a:spLocks/>
          </p:cNvSpPr>
          <p:nvPr/>
        </p:nvSpPr>
        <p:spPr bwMode="auto">
          <a:xfrm>
            <a:off x="6515100" y="48387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%r14d</a:t>
            </a:r>
          </a:p>
        </p:txBody>
      </p:sp>
      <p:sp>
        <p:nvSpPr>
          <p:cNvPr id="27669" name="Rectangle 21"/>
          <p:cNvSpPr>
            <a:spLocks/>
          </p:cNvSpPr>
          <p:nvPr/>
        </p:nvSpPr>
        <p:spPr bwMode="auto">
          <a:xfrm>
            <a:off x="6515100" y="54483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%r15d</a:t>
            </a:r>
          </a:p>
        </p:txBody>
      </p:sp>
      <p:sp>
        <p:nvSpPr>
          <p:cNvPr id="27670" name="Rectangle 22"/>
          <p:cNvSpPr>
            <a:spLocks/>
          </p:cNvSpPr>
          <p:nvPr/>
        </p:nvSpPr>
        <p:spPr bwMode="auto">
          <a:xfrm>
            <a:off x="47244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27671" name="Rectangle 23"/>
          <p:cNvSpPr>
            <a:spLocks/>
          </p:cNvSpPr>
          <p:nvPr/>
        </p:nvSpPr>
        <p:spPr bwMode="auto">
          <a:xfrm>
            <a:off x="47244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27672" name="Rectangle 24"/>
          <p:cNvSpPr>
            <a:spLocks/>
          </p:cNvSpPr>
          <p:nvPr/>
        </p:nvSpPr>
        <p:spPr bwMode="auto">
          <a:xfrm>
            <a:off x="47244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</a:p>
        </p:txBody>
      </p:sp>
      <p:sp>
        <p:nvSpPr>
          <p:cNvPr id="27673" name="Rectangle 25"/>
          <p:cNvSpPr>
            <a:spLocks/>
          </p:cNvSpPr>
          <p:nvPr/>
        </p:nvSpPr>
        <p:spPr bwMode="auto">
          <a:xfrm>
            <a:off x="47244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</a:p>
        </p:txBody>
      </p:sp>
      <p:sp>
        <p:nvSpPr>
          <p:cNvPr id="27674" name="Rectangle 26"/>
          <p:cNvSpPr>
            <a:spLocks/>
          </p:cNvSpPr>
          <p:nvPr/>
        </p:nvSpPr>
        <p:spPr bwMode="auto">
          <a:xfrm>
            <a:off x="47244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</a:p>
        </p:txBody>
      </p:sp>
      <p:sp>
        <p:nvSpPr>
          <p:cNvPr id="27675" name="Rectangle 27"/>
          <p:cNvSpPr>
            <a:spLocks/>
          </p:cNvSpPr>
          <p:nvPr/>
        </p:nvSpPr>
        <p:spPr bwMode="auto">
          <a:xfrm>
            <a:off x="47244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</a:p>
        </p:txBody>
      </p:sp>
      <p:sp>
        <p:nvSpPr>
          <p:cNvPr id="27676" name="Rectangle 28"/>
          <p:cNvSpPr>
            <a:spLocks/>
          </p:cNvSpPr>
          <p:nvPr/>
        </p:nvSpPr>
        <p:spPr bwMode="auto">
          <a:xfrm>
            <a:off x="4724400" y="4800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</a:p>
        </p:txBody>
      </p:sp>
      <p:sp>
        <p:nvSpPr>
          <p:cNvPr id="27677" name="Rectangle 29"/>
          <p:cNvSpPr>
            <a:spLocks/>
          </p:cNvSpPr>
          <p:nvPr/>
        </p:nvSpPr>
        <p:spPr bwMode="auto">
          <a:xfrm>
            <a:off x="47244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</a:t>
            </a:r>
          </a:p>
        </p:txBody>
      </p:sp>
      <p:sp>
        <p:nvSpPr>
          <p:cNvPr id="27678" name="Rectangle 30"/>
          <p:cNvSpPr>
            <a:spLocks/>
          </p:cNvSpPr>
          <p:nvPr/>
        </p:nvSpPr>
        <p:spPr bwMode="auto">
          <a:xfrm>
            <a:off x="7620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79" name="Rectangle 31"/>
          <p:cNvSpPr>
            <a:spLocks/>
          </p:cNvSpPr>
          <p:nvPr/>
        </p:nvSpPr>
        <p:spPr bwMode="auto">
          <a:xfrm>
            <a:off x="7620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80" name="Rectangle 32"/>
          <p:cNvSpPr>
            <a:spLocks/>
          </p:cNvSpPr>
          <p:nvPr/>
        </p:nvSpPr>
        <p:spPr bwMode="auto">
          <a:xfrm>
            <a:off x="7620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%rcx</a:t>
            </a:r>
          </a:p>
        </p:txBody>
      </p:sp>
      <p:sp>
        <p:nvSpPr>
          <p:cNvPr id="27681" name="Rectangle 33"/>
          <p:cNvSpPr>
            <a:spLocks/>
          </p:cNvSpPr>
          <p:nvPr/>
        </p:nvSpPr>
        <p:spPr bwMode="auto">
          <a:xfrm>
            <a:off x="7620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%rdx</a:t>
            </a:r>
          </a:p>
        </p:txBody>
      </p:sp>
      <p:sp>
        <p:nvSpPr>
          <p:cNvPr id="27682" name="Rectangle 34"/>
          <p:cNvSpPr>
            <a:spLocks/>
          </p:cNvSpPr>
          <p:nvPr/>
        </p:nvSpPr>
        <p:spPr bwMode="auto">
          <a:xfrm>
            <a:off x="7620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%rsi</a:t>
            </a:r>
          </a:p>
        </p:txBody>
      </p:sp>
      <p:sp>
        <p:nvSpPr>
          <p:cNvPr id="27683" name="Rectangle 35"/>
          <p:cNvSpPr>
            <a:spLocks/>
          </p:cNvSpPr>
          <p:nvPr/>
        </p:nvSpPr>
        <p:spPr bwMode="auto">
          <a:xfrm>
            <a:off x="7620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%rdi</a:t>
            </a:r>
          </a:p>
        </p:txBody>
      </p:sp>
      <p:sp>
        <p:nvSpPr>
          <p:cNvPr id="27684" name="Rectangle 36"/>
          <p:cNvSpPr>
            <a:spLocks/>
          </p:cNvSpPr>
          <p:nvPr/>
        </p:nvSpPr>
        <p:spPr bwMode="auto">
          <a:xfrm>
            <a:off x="7620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%rbp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E344EE-D5D6-8117-9D0E-5FD8FEDE5A0F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EEBC53F-B246-1A2E-4D03-6F9C67E2FD48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History: IA32 Registers</a:t>
            </a: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295400" y="1333501"/>
            <a:ext cx="5715000" cy="4533902"/>
            <a:chOff x="3984" y="1008"/>
            <a:chExt cx="1584" cy="2256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3984" y="1008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eax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3984" y="1296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ecx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984" y="1584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edx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984" y="1872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%ebx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984" y="2160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%esi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984" y="2448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%edi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3984" y="2736"/>
              <a:ext cx="1584" cy="24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%esp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984" y="3024"/>
              <a:ext cx="1584" cy="24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%ebp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184326" y="1404970"/>
            <a:ext cx="2819400" cy="343694"/>
            <a:chOff x="4495800" y="1404970"/>
            <a:chExt cx="2819400" cy="343694"/>
          </a:xfrm>
        </p:grpSpPr>
        <p:sp>
          <p:nvSpPr>
            <p:cNvPr id="13" name="Rectangle 12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19" name="Straight Connector 18"/>
            <p:cNvCxnSpPr>
              <a:stCxn id="13" idx="0"/>
              <a:endCxn id="13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3" name="Group 22"/>
          <p:cNvGrpSpPr/>
          <p:nvPr/>
        </p:nvGrpSpPr>
        <p:grpSpPr>
          <a:xfrm>
            <a:off x="4184326" y="1989024"/>
            <a:ext cx="2819400" cy="343694"/>
            <a:chOff x="4495800" y="1404970"/>
            <a:chExt cx="2819400" cy="343694"/>
          </a:xfrm>
        </p:grpSpPr>
        <p:sp>
          <p:nvSpPr>
            <p:cNvPr id="24" name="Rectangle 23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25" name="Straight Connector 24"/>
            <p:cNvCxnSpPr>
              <a:stCxn id="24" idx="0"/>
              <a:endCxn id="24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6" name="Group 25"/>
          <p:cNvGrpSpPr/>
          <p:nvPr/>
        </p:nvGrpSpPr>
        <p:grpSpPr>
          <a:xfrm>
            <a:off x="4184326" y="2558580"/>
            <a:ext cx="2819400" cy="343694"/>
            <a:chOff x="4495800" y="1404970"/>
            <a:chExt cx="2819400" cy="343694"/>
          </a:xfrm>
        </p:grpSpPr>
        <p:sp>
          <p:nvSpPr>
            <p:cNvPr id="27" name="Rectangle 26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28" name="Straight Connector 27"/>
            <p:cNvCxnSpPr>
              <a:stCxn id="27" idx="0"/>
              <a:endCxn id="27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9" name="Group 28"/>
          <p:cNvGrpSpPr/>
          <p:nvPr/>
        </p:nvGrpSpPr>
        <p:grpSpPr>
          <a:xfrm>
            <a:off x="4184326" y="3141484"/>
            <a:ext cx="2819400" cy="343694"/>
            <a:chOff x="4495800" y="1404970"/>
            <a:chExt cx="2819400" cy="343694"/>
          </a:xfrm>
        </p:grpSpPr>
        <p:sp>
          <p:nvSpPr>
            <p:cNvPr id="30" name="Rectangle 29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31" name="Straight Connector 30"/>
            <p:cNvCxnSpPr>
              <a:stCxn id="30" idx="0"/>
              <a:endCxn id="30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32"/>
          <p:cNvSpPr/>
          <p:nvPr/>
        </p:nvSpPr>
        <p:spPr bwMode="auto">
          <a:xfrm>
            <a:off x="4184326" y="3717666"/>
            <a:ext cx="2819400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4184326" y="4301720"/>
            <a:ext cx="2819400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4184326" y="4871276"/>
            <a:ext cx="2819400" cy="342900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4184326" y="5454180"/>
            <a:ext cx="2819400" cy="342900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58140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%ax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8140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58140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dx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58140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581400" y="370801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si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81400" y="42872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di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581400" y="485769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%sp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81400" y="544357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bp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7200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%ah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ch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57200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%dh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bh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94360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cl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94360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%dl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bl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3" name="AutoShape 7"/>
          <p:cNvSpPr>
            <a:spLocks/>
          </p:cNvSpPr>
          <p:nvPr/>
        </p:nvSpPr>
        <p:spPr bwMode="auto">
          <a:xfrm rot="5400000">
            <a:off x="5451983" y="4671257"/>
            <a:ext cx="279400" cy="2824085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267200" y="6172200"/>
            <a:ext cx="266072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Calibri" pitchFamily="34" charset="0"/>
              </a:rPr>
              <a:t>16-bit virtual registers</a:t>
            </a:r>
          </a:p>
          <a:p>
            <a:pPr algn="ctr"/>
            <a:r>
              <a:rPr lang="en-US" sz="1300" dirty="0">
                <a:latin typeface="Calibri" pitchFamily="34" charset="0"/>
              </a:rPr>
              <a:t>(backwards compatibility)</a:t>
            </a:r>
          </a:p>
        </p:txBody>
      </p:sp>
      <p:sp>
        <p:nvSpPr>
          <p:cNvPr id="75" name="AutoShape 7"/>
          <p:cNvSpPr>
            <a:spLocks/>
          </p:cNvSpPr>
          <p:nvPr/>
        </p:nvSpPr>
        <p:spPr bwMode="auto">
          <a:xfrm rot="10800000">
            <a:off x="914400" y="1333500"/>
            <a:ext cx="279400" cy="337631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 rot="16200000">
            <a:off x="-221736" y="2812536"/>
            <a:ext cx="1727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general purpose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55159" y="1391622"/>
            <a:ext cx="1258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accumulate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55159" y="1975438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counter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55159" y="2541296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data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55159" y="3131786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base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55159" y="3626836"/>
            <a:ext cx="936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source </a:t>
            </a:r>
          </a:p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index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55159" y="4204648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destination</a:t>
            </a:r>
          </a:p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index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55159" y="4701317"/>
            <a:ext cx="114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stack </a:t>
            </a:r>
          </a:p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pointer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55159" y="5313528"/>
            <a:ext cx="114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base</a:t>
            </a:r>
          </a:p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pointer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93942" y="649069"/>
            <a:ext cx="1850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Origin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(mostly obsolete)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D901C69D-36AA-47D7-7289-05FE8E7BDC22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E94D70EC-46B2-46F0-581E-FD85C2971487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6" grpId="0" animBg="1"/>
      <p:bldP spid="39" grpId="0" animBg="1"/>
      <p:bldP spid="42" grpId="0" animBg="1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9" grpId="0"/>
      <p:bldP spid="70" grpId="0"/>
      <p:bldP spid="71" grpId="0"/>
      <p:bldP spid="72" grpId="0"/>
      <p:bldP spid="73" grpId="0" animBg="1"/>
      <p:bldP spid="74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5537200" cy="573088"/>
          </a:xfrm>
        </p:spPr>
        <p:txBody>
          <a:bodyPr/>
          <a:lstStyle/>
          <a:p>
            <a:r>
              <a:rPr lang="en-US" dirty="0"/>
              <a:t>Moving Data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100138"/>
            <a:ext cx="8396287" cy="5224462"/>
          </a:xfrm>
        </p:spPr>
        <p:txBody>
          <a:bodyPr/>
          <a:lstStyle/>
          <a:p>
            <a:r>
              <a:rPr lang="en-US" dirty="0"/>
              <a:t>Moving Data</a:t>
            </a:r>
          </a:p>
          <a:p>
            <a:pPr lvl="1">
              <a:buFont typeface="Wingdings" pitchFamily="2" charset="2"/>
              <a:buNone/>
            </a:pPr>
            <a:r>
              <a:rPr lang="en-US" b="1" dirty="0" err="1">
                <a:latin typeface="Courier New" pitchFamily="49" charset="0"/>
              </a:rPr>
              <a:t>movq</a:t>
            </a:r>
            <a:r>
              <a:rPr lang="en-US" b="1" dirty="0"/>
              <a:t> </a:t>
            </a:r>
            <a:r>
              <a:rPr lang="en-US" b="1" i="1" dirty="0"/>
              <a:t>Source</a:t>
            </a:r>
            <a:r>
              <a:rPr lang="en-US" b="1" dirty="0"/>
              <a:t>, </a:t>
            </a:r>
            <a:r>
              <a:rPr lang="en-US" b="1" i="1" dirty="0" err="1"/>
              <a:t>Dest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Operand Types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Immediate:</a:t>
            </a:r>
            <a:r>
              <a:rPr lang="en-US" dirty="0"/>
              <a:t> Constant integer data</a:t>
            </a:r>
          </a:p>
          <a:p>
            <a:pPr lvl="2"/>
            <a:r>
              <a:rPr lang="en-US" dirty="0"/>
              <a:t>Example: </a:t>
            </a:r>
            <a:r>
              <a:rPr lang="en-US" b="1" dirty="0">
                <a:latin typeface="Courier New" pitchFamily="49" charset="0"/>
              </a:rPr>
              <a:t>$0x400</a:t>
            </a:r>
            <a:r>
              <a:rPr lang="en-US" b="1" dirty="0"/>
              <a:t>, </a:t>
            </a:r>
            <a:r>
              <a:rPr lang="en-US" b="1" dirty="0">
                <a:latin typeface="Courier New" pitchFamily="49" charset="0"/>
              </a:rPr>
              <a:t>$-533</a:t>
            </a:r>
            <a:endParaRPr lang="en-US" dirty="0"/>
          </a:p>
          <a:p>
            <a:pPr lvl="2"/>
            <a:r>
              <a:rPr lang="en-US" dirty="0"/>
              <a:t>Like C constant, but prefixed with </a:t>
            </a:r>
            <a:r>
              <a:rPr lang="en-US" b="1" dirty="0">
                <a:latin typeface="Courier New" pitchFamily="49" charset="0"/>
              </a:rPr>
              <a:t>‘$’</a:t>
            </a:r>
          </a:p>
          <a:p>
            <a:pPr lvl="2"/>
            <a:r>
              <a:rPr lang="en-US" dirty="0"/>
              <a:t>Encoded with 1, 2, or 4 bytes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Register: </a:t>
            </a:r>
            <a:r>
              <a:rPr lang="en-US" dirty="0"/>
              <a:t>One of 16 integer registers</a:t>
            </a:r>
          </a:p>
          <a:p>
            <a:pPr lvl="2"/>
            <a:r>
              <a:rPr lang="en-US" dirty="0"/>
              <a:t>Example: 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rax</a:t>
            </a:r>
            <a:r>
              <a:rPr lang="en-US" b="1" dirty="0">
                <a:latin typeface="Courier New" pitchFamily="49" charset="0"/>
              </a:rPr>
              <a:t>, %r13</a:t>
            </a:r>
          </a:p>
          <a:p>
            <a:pPr lvl="2"/>
            <a:r>
              <a:rPr lang="en-US" dirty="0"/>
              <a:t>But 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rsp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dirty="0"/>
              <a:t>reserved for special use</a:t>
            </a:r>
          </a:p>
          <a:p>
            <a:pPr lvl="2"/>
            <a:r>
              <a:rPr lang="en-US" dirty="0"/>
              <a:t>Others have special uses for particular instructions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Memory:</a:t>
            </a:r>
            <a:r>
              <a:rPr lang="en-US" dirty="0"/>
              <a:t> 8 consecutive bytes of memory at address given by register</a:t>
            </a:r>
          </a:p>
          <a:p>
            <a:pPr lvl="2"/>
            <a:r>
              <a:rPr lang="en-US" dirty="0"/>
              <a:t>Simplest example: </a:t>
            </a:r>
            <a:r>
              <a:rPr lang="en-US" b="1" dirty="0">
                <a:latin typeface="Courier New" pitchFamily="49" charset="0"/>
              </a:rPr>
              <a:t>(%</a:t>
            </a:r>
            <a:r>
              <a:rPr lang="en-US" b="1" dirty="0" err="1">
                <a:latin typeface="Courier New" pitchFamily="49" charset="0"/>
              </a:rPr>
              <a:t>rax</a:t>
            </a:r>
            <a:r>
              <a:rPr lang="en-US" b="1" dirty="0">
                <a:latin typeface="Courier New" pitchFamily="49" charset="0"/>
              </a:rPr>
              <a:t>)</a:t>
            </a:r>
          </a:p>
          <a:p>
            <a:pPr lvl="2"/>
            <a:r>
              <a:rPr lang="en-US" dirty="0"/>
              <a:t>Various other “address modes”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167416" y="609600"/>
            <a:ext cx="2519384" cy="4267200"/>
            <a:chOff x="6167416" y="609600"/>
            <a:chExt cx="2519384" cy="4267200"/>
          </a:xfrm>
        </p:grpSpPr>
        <p:sp>
          <p:nvSpPr>
            <p:cNvPr id="156676" name="Rectangle 4"/>
            <p:cNvSpPr>
              <a:spLocks noChangeArrowheads="1"/>
            </p:cNvSpPr>
            <p:nvPr/>
          </p:nvSpPr>
          <p:spPr bwMode="auto">
            <a:xfrm>
              <a:off x="6172200" y="6096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rax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77" name="Rectangle 5"/>
            <p:cNvSpPr>
              <a:spLocks noChangeArrowheads="1"/>
            </p:cNvSpPr>
            <p:nvPr/>
          </p:nvSpPr>
          <p:spPr bwMode="auto">
            <a:xfrm>
              <a:off x="6172200" y="10668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rcx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78" name="Rectangle 6"/>
            <p:cNvSpPr>
              <a:spLocks noChangeArrowheads="1"/>
            </p:cNvSpPr>
            <p:nvPr/>
          </p:nvSpPr>
          <p:spPr bwMode="auto">
            <a:xfrm>
              <a:off x="6172200" y="15240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rdx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79" name="Rectangle 7"/>
            <p:cNvSpPr>
              <a:spLocks noChangeArrowheads="1"/>
            </p:cNvSpPr>
            <p:nvPr/>
          </p:nvSpPr>
          <p:spPr bwMode="auto">
            <a:xfrm>
              <a:off x="6172200" y="19812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rbx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0" name="Rectangle 8"/>
            <p:cNvSpPr>
              <a:spLocks noChangeArrowheads="1"/>
            </p:cNvSpPr>
            <p:nvPr/>
          </p:nvSpPr>
          <p:spPr bwMode="auto">
            <a:xfrm>
              <a:off x="6172200" y="24384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rsi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1" name="Rectangle 9"/>
            <p:cNvSpPr>
              <a:spLocks noChangeArrowheads="1"/>
            </p:cNvSpPr>
            <p:nvPr/>
          </p:nvSpPr>
          <p:spPr bwMode="auto">
            <a:xfrm>
              <a:off x="6172200" y="28956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rdi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2" name="Rectangle 10"/>
            <p:cNvSpPr>
              <a:spLocks noChangeArrowheads="1"/>
            </p:cNvSpPr>
            <p:nvPr/>
          </p:nvSpPr>
          <p:spPr bwMode="auto">
            <a:xfrm>
              <a:off x="6172200" y="3352800"/>
              <a:ext cx="2514600" cy="38100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rsp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3" name="Rectangle 11"/>
            <p:cNvSpPr>
              <a:spLocks noChangeArrowheads="1"/>
            </p:cNvSpPr>
            <p:nvPr/>
          </p:nvSpPr>
          <p:spPr bwMode="auto">
            <a:xfrm>
              <a:off x="6172200" y="38100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rbp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6167416" y="44958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rN</a:t>
              </a:r>
              <a:endParaRPr lang="en-US" dirty="0">
                <a:latin typeface="Courier New" pitchFamily="49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A2DAA6F-07BE-4283-E38A-086B751F9D71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7C6753-40C4-0977-F7FB-B78A884368BB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7165975" cy="573088"/>
          </a:xfrm>
        </p:spPr>
        <p:txBody>
          <a:bodyPr/>
          <a:lstStyle/>
          <a:p>
            <a:r>
              <a:rPr lang="en-US" dirty="0" err="1">
                <a:latin typeface="Courier New" pitchFamily="49" charset="0"/>
              </a:rPr>
              <a:t>movq</a:t>
            </a:r>
            <a:r>
              <a:rPr lang="en-US" dirty="0"/>
              <a:t> Operand Combinations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943600"/>
            <a:ext cx="8140700" cy="533400"/>
          </a:xfrm>
          <a:noFill/>
        </p:spPr>
        <p:txBody>
          <a:bodyPr lIns="0" tIns="0" rIns="0" bIns="0"/>
          <a:lstStyle/>
          <a:p>
            <a:pPr marL="0" indent="0" algn="ctr">
              <a:buNone/>
            </a:pPr>
            <a:r>
              <a:rPr lang="en-US" i="1" dirty="0">
                <a:solidFill>
                  <a:srgbClr val="C00000"/>
                </a:solidFill>
              </a:rPr>
              <a:t>Cannot do memory-memory transfer with a single instruction</a:t>
            </a:r>
          </a:p>
        </p:txBody>
      </p:sp>
      <p:sp>
        <p:nvSpPr>
          <p:cNvPr id="157700" name="Text Box 4"/>
          <p:cNvSpPr txBox="1">
            <a:spLocks noChangeArrowheads="1"/>
          </p:cNvSpPr>
          <p:nvPr/>
        </p:nvSpPr>
        <p:spPr bwMode="auto">
          <a:xfrm>
            <a:off x="228600" y="3771900"/>
            <a:ext cx="936274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err="1">
                <a:latin typeface="Courier New" pitchFamily="49" charset="0"/>
              </a:rPr>
              <a:t>movq</a:t>
            </a:r>
            <a:endParaRPr lang="en-US" sz="2400" dirty="0">
              <a:latin typeface="Courier New" pitchFamily="49" charset="0"/>
            </a:endParaRPr>
          </a:p>
        </p:txBody>
      </p:sp>
      <p:sp>
        <p:nvSpPr>
          <p:cNvPr id="157701" name="Text Box 5"/>
          <p:cNvSpPr txBox="1">
            <a:spLocks noChangeArrowheads="1"/>
          </p:cNvSpPr>
          <p:nvPr/>
        </p:nvSpPr>
        <p:spPr bwMode="auto">
          <a:xfrm>
            <a:off x="1600200" y="2705100"/>
            <a:ext cx="760144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Imm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2" name="Text Box 6"/>
          <p:cNvSpPr txBox="1">
            <a:spLocks noChangeArrowheads="1"/>
          </p:cNvSpPr>
          <p:nvPr/>
        </p:nvSpPr>
        <p:spPr bwMode="auto">
          <a:xfrm>
            <a:off x="1600200" y="37719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3" name="Text Box 7"/>
          <p:cNvSpPr txBox="1">
            <a:spLocks noChangeArrowheads="1"/>
          </p:cNvSpPr>
          <p:nvPr/>
        </p:nvSpPr>
        <p:spPr bwMode="auto">
          <a:xfrm>
            <a:off x="1600200" y="4914900"/>
            <a:ext cx="8763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4" name="Text Box 8"/>
          <p:cNvSpPr txBox="1">
            <a:spLocks noChangeArrowheads="1"/>
          </p:cNvSpPr>
          <p:nvPr/>
        </p:nvSpPr>
        <p:spPr bwMode="auto">
          <a:xfrm>
            <a:off x="2819400" y="24765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5" name="Text Box 9"/>
          <p:cNvSpPr txBox="1">
            <a:spLocks noChangeArrowheads="1"/>
          </p:cNvSpPr>
          <p:nvPr/>
        </p:nvSpPr>
        <p:spPr bwMode="auto">
          <a:xfrm>
            <a:off x="2819400" y="2933700"/>
            <a:ext cx="8763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6" name="Text Box 10"/>
          <p:cNvSpPr txBox="1">
            <a:spLocks noChangeArrowheads="1"/>
          </p:cNvSpPr>
          <p:nvPr/>
        </p:nvSpPr>
        <p:spPr bwMode="auto">
          <a:xfrm>
            <a:off x="2819400" y="36195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7" name="Text Box 11"/>
          <p:cNvSpPr txBox="1">
            <a:spLocks noChangeArrowheads="1"/>
          </p:cNvSpPr>
          <p:nvPr/>
        </p:nvSpPr>
        <p:spPr bwMode="auto">
          <a:xfrm>
            <a:off x="2819400" y="4065588"/>
            <a:ext cx="8763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8" name="Text Box 12"/>
          <p:cNvSpPr txBox="1">
            <a:spLocks noChangeArrowheads="1"/>
          </p:cNvSpPr>
          <p:nvPr/>
        </p:nvSpPr>
        <p:spPr bwMode="auto">
          <a:xfrm>
            <a:off x="2819400" y="49149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9" name="Text Box 13"/>
          <p:cNvSpPr txBox="1">
            <a:spLocks noChangeArrowheads="1"/>
          </p:cNvSpPr>
          <p:nvPr/>
        </p:nvSpPr>
        <p:spPr bwMode="auto">
          <a:xfrm>
            <a:off x="1447800" y="1752600"/>
            <a:ext cx="104913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Source</a:t>
            </a:r>
          </a:p>
        </p:txBody>
      </p:sp>
      <p:sp>
        <p:nvSpPr>
          <p:cNvPr id="157710" name="Text Box 14"/>
          <p:cNvSpPr txBox="1">
            <a:spLocks noChangeArrowheads="1"/>
          </p:cNvSpPr>
          <p:nvPr/>
        </p:nvSpPr>
        <p:spPr bwMode="auto">
          <a:xfrm>
            <a:off x="2819400" y="1752600"/>
            <a:ext cx="76149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err="1">
                <a:latin typeface="Calibri" pitchFamily="34" charset="0"/>
              </a:rPr>
              <a:t>Dest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57716" name="AutoShape 20"/>
          <p:cNvSpPr>
            <a:spLocks/>
          </p:cNvSpPr>
          <p:nvPr/>
        </p:nvSpPr>
        <p:spPr bwMode="auto">
          <a:xfrm>
            <a:off x="1295400" y="2628900"/>
            <a:ext cx="304800" cy="2743200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7" name="AutoShape 21"/>
          <p:cNvSpPr>
            <a:spLocks/>
          </p:cNvSpPr>
          <p:nvPr/>
        </p:nvSpPr>
        <p:spPr bwMode="auto">
          <a:xfrm>
            <a:off x="2514600" y="2552700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8" name="AutoShape 22"/>
          <p:cNvSpPr>
            <a:spLocks/>
          </p:cNvSpPr>
          <p:nvPr/>
        </p:nvSpPr>
        <p:spPr bwMode="auto">
          <a:xfrm>
            <a:off x="2514600" y="3695700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9" name="Text Box 23"/>
          <p:cNvSpPr txBox="1">
            <a:spLocks noChangeArrowheads="1"/>
          </p:cNvSpPr>
          <p:nvPr/>
        </p:nvSpPr>
        <p:spPr bwMode="auto">
          <a:xfrm>
            <a:off x="6858000" y="1752600"/>
            <a:ext cx="130676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C Analog</a:t>
            </a:r>
          </a:p>
        </p:txBody>
      </p:sp>
      <p:sp>
        <p:nvSpPr>
          <p:cNvPr id="157711" name="Text Box 15"/>
          <p:cNvSpPr txBox="1">
            <a:spLocks noChangeArrowheads="1"/>
          </p:cNvSpPr>
          <p:nvPr/>
        </p:nvSpPr>
        <p:spPr bwMode="auto">
          <a:xfrm>
            <a:off x="3733800" y="2506663"/>
            <a:ext cx="233945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$0x4,%rax</a:t>
            </a:r>
          </a:p>
        </p:txBody>
      </p:sp>
      <p:sp>
        <p:nvSpPr>
          <p:cNvPr id="157720" name="Text Box 24"/>
          <p:cNvSpPr txBox="1">
            <a:spLocks noChangeArrowheads="1"/>
          </p:cNvSpPr>
          <p:nvPr/>
        </p:nvSpPr>
        <p:spPr bwMode="auto">
          <a:xfrm>
            <a:off x="6673850" y="2506663"/>
            <a:ext cx="18605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ourier New" pitchFamily="49" charset="0"/>
              </a:rPr>
              <a:t>temp = 0x4;</a:t>
            </a:r>
          </a:p>
        </p:txBody>
      </p:sp>
      <p:sp>
        <p:nvSpPr>
          <p:cNvPr id="157712" name="Text Box 16"/>
          <p:cNvSpPr txBox="1">
            <a:spLocks noChangeArrowheads="1"/>
          </p:cNvSpPr>
          <p:nvPr/>
        </p:nvSpPr>
        <p:spPr bwMode="auto">
          <a:xfrm>
            <a:off x="3733800" y="2963863"/>
            <a:ext cx="280119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$-147,(%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)</a:t>
            </a:r>
          </a:p>
        </p:txBody>
      </p:sp>
      <p:sp>
        <p:nvSpPr>
          <p:cNvPr id="157721" name="Text Box 25"/>
          <p:cNvSpPr txBox="1">
            <a:spLocks noChangeArrowheads="1"/>
          </p:cNvSpPr>
          <p:nvPr/>
        </p:nvSpPr>
        <p:spPr bwMode="auto">
          <a:xfrm>
            <a:off x="6673850" y="2963863"/>
            <a:ext cx="17081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ourier New" pitchFamily="49" charset="0"/>
              </a:rPr>
              <a:t>*p = -147;</a:t>
            </a:r>
          </a:p>
        </p:txBody>
      </p:sp>
      <p:sp>
        <p:nvSpPr>
          <p:cNvPr id="157713" name="Text Box 17"/>
          <p:cNvSpPr txBox="1">
            <a:spLocks noChangeArrowheads="1"/>
          </p:cNvSpPr>
          <p:nvPr/>
        </p:nvSpPr>
        <p:spPr bwMode="auto">
          <a:xfrm>
            <a:off x="3733800" y="3649663"/>
            <a:ext cx="233945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,%</a:t>
            </a:r>
            <a:r>
              <a:rPr lang="en-US" sz="2000" dirty="0" err="1">
                <a:latin typeface="Courier New" pitchFamily="49" charset="0"/>
              </a:rPr>
              <a:t>rdx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157722" name="Text Box 26"/>
          <p:cNvSpPr txBox="1">
            <a:spLocks noChangeArrowheads="1"/>
          </p:cNvSpPr>
          <p:nvPr/>
        </p:nvSpPr>
        <p:spPr bwMode="auto">
          <a:xfrm>
            <a:off x="6673850" y="3649663"/>
            <a:ext cx="23177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temp2 = temp1;</a:t>
            </a:r>
          </a:p>
        </p:txBody>
      </p:sp>
      <p:sp>
        <p:nvSpPr>
          <p:cNvPr id="157714" name="Text Box 18"/>
          <p:cNvSpPr txBox="1">
            <a:spLocks noChangeArrowheads="1"/>
          </p:cNvSpPr>
          <p:nvPr/>
        </p:nvSpPr>
        <p:spPr bwMode="auto">
          <a:xfrm>
            <a:off x="3733800" y="4095750"/>
            <a:ext cx="2647279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,(%</a:t>
            </a:r>
            <a:r>
              <a:rPr lang="en-US" sz="2000" dirty="0" err="1">
                <a:latin typeface="Courier New" pitchFamily="49" charset="0"/>
              </a:rPr>
              <a:t>rdx</a:t>
            </a:r>
            <a:r>
              <a:rPr lang="en-US" sz="2000" dirty="0">
                <a:latin typeface="Courier New" pitchFamily="49" charset="0"/>
              </a:rPr>
              <a:t>)</a:t>
            </a:r>
          </a:p>
        </p:txBody>
      </p:sp>
      <p:sp>
        <p:nvSpPr>
          <p:cNvPr id="157723" name="Text Box 27"/>
          <p:cNvSpPr txBox="1">
            <a:spLocks noChangeArrowheads="1"/>
          </p:cNvSpPr>
          <p:nvPr/>
        </p:nvSpPr>
        <p:spPr bwMode="auto">
          <a:xfrm>
            <a:off x="6673850" y="4095750"/>
            <a:ext cx="17081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*p = temp;</a:t>
            </a:r>
          </a:p>
        </p:txBody>
      </p:sp>
      <p:sp>
        <p:nvSpPr>
          <p:cNvPr id="157715" name="Text Box 19"/>
          <p:cNvSpPr txBox="1">
            <a:spLocks noChangeArrowheads="1"/>
          </p:cNvSpPr>
          <p:nvPr/>
        </p:nvSpPr>
        <p:spPr bwMode="auto">
          <a:xfrm>
            <a:off x="3733800" y="4945063"/>
            <a:ext cx="2647279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(%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),%</a:t>
            </a:r>
            <a:r>
              <a:rPr lang="en-US" sz="2000" dirty="0" err="1">
                <a:latin typeface="Courier New" pitchFamily="49" charset="0"/>
              </a:rPr>
              <a:t>rdx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157724" name="Text Box 28"/>
          <p:cNvSpPr txBox="1">
            <a:spLocks noChangeArrowheads="1"/>
          </p:cNvSpPr>
          <p:nvPr/>
        </p:nvSpPr>
        <p:spPr bwMode="auto">
          <a:xfrm>
            <a:off x="6673850" y="4945063"/>
            <a:ext cx="17081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temp = *p;</a:t>
            </a:r>
          </a:p>
        </p:txBody>
      </p:sp>
      <p:sp>
        <p:nvSpPr>
          <p:cNvPr id="157725" name="Text Box 29"/>
          <p:cNvSpPr txBox="1">
            <a:spLocks noChangeArrowheads="1"/>
          </p:cNvSpPr>
          <p:nvPr/>
        </p:nvSpPr>
        <p:spPr bwMode="auto">
          <a:xfrm>
            <a:off x="4572000" y="1752600"/>
            <a:ext cx="1220399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err="1">
                <a:latin typeface="Calibri" pitchFamily="34" charset="0"/>
              </a:rPr>
              <a:t>Src,Dest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4FBBCF-A164-4723-B03F-8C3658FAF191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4B64776-E04B-2BAC-7803-ED953A64C4B4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11" grpId="0"/>
      <p:bldP spid="157720" grpId="0"/>
      <p:bldP spid="157712" grpId="0"/>
      <p:bldP spid="157721" grpId="0"/>
      <p:bldP spid="157713" grpId="0"/>
      <p:bldP spid="157722" grpId="0"/>
      <p:bldP spid="157714" grpId="0"/>
      <p:bldP spid="157723" grpId="0"/>
      <p:bldP spid="157715" grpId="0"/>
      <p:bldP spid="1577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69912"/>
            <a:ext cx="7035800" cy="573088"/>
          </a:xfrm>
        </p:spPr>
        <p:txBody>
          <a:bodyPr/>
          <a:lstStyle/>
          <a:p>
            <a:r>
              <a:rPr lang="en-US" dirty="0"/>
              <a:t>Simple Memory Addressing Modes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Normal	(R)	</a:t>
            </a:r>
            <a:r>
              <a:rPr lang="en-US" dirty="0" err="1"/>
              <a:t>Mem[Reg[R</a:t>
            </a:r>
            <a:r>
              <a:rPr lang="en-US" dirty="0"/>
              <a:t>]]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memory address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Aha! Pointer dereferencing in C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(%</a:t>
            </a:r>
            <a:r>
              <a:rPr lang="en-US" sz="2400" b="1" dirty="0" err="1">
                <a:latin typeface="Courier New" pitchFamily="49" charset="0"/>
              </a:rPr>
              <a:t>rcx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rax</a:t>
            </a:r>
            <a:endParaRPr lang="en-US" sz="2400" b="1" dirty="0">
              <a:latin typeface="Courier New" pitchFamily="49" charset="0"/>
            </a:endParaRP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endParaRPr lang="en-US" sz="2400" dirty="0"/>
          </a:p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Displacement	D(R)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[R]+D]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start of memory region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Constant displacement D specifies offset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8(%</a:t>
            </a:r>
            <a:r>
              <a:rPr lang="en-US" sz="2400" b="1" dirty="0" err="1">
                <a:latin typeface="Courier New" pitchFamily="49" charset="0"/>
              </a:rPr>
              <a:t>rbp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rdx</a:t>
            </a:r>
            <a:endParaRPr lang="en-US" sz="2400" b="1" dirty="0">
              <a:latin typeface="Courier New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FC5DD8-6365-FB3C-AC3A-DADB9557DD7D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3F0E28E-28A4-B7EA-33EE-1D611E1686D8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658100" cy="573088"/>
          </a:xfrm>
        </p:spPr>
        <p:txBody>
          <a:bodyPr/>
          <a:lstStyle/>
          <a:p>
            <a:r>
              <a:rPr lang="en-US" dirty="0"/>
              <a:t>Example of Simple Addressing Modes</a:t>
            </a:r>
          </a:p>
        </p:txBody>
      </p:sp>
      <p:sp>
        <p:nvSpPr>
          <p:cNvPr id="159747" name="Rectangle 3"/>
          <p:cNvSpPr>
            <a:spLocks noChangeArrowheads="1"/>
          </p:cNvSpPr>
          <p:nvPr/>
        </p:nvSpPr>
        <p:spPr bwMode="auto">
          <a:xfrm>
            <a:off x="152400" y="1600200"/>
            <a:ext cx="3962400" cy="230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swap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(long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, long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) 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t0 =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t1 =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 = t1;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 = t0;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495800" y="2154198"/>
            <a:ext cx="41910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B82741-6D34-3372-B6DF-50A81979476B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4A5042A-6446-A666-FC68-C93A86FEA213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331822" y="1780988"/>
            <a:ext cx="1752600" cy="1752600"/>
            <a:chOff x="9111129" y="1790700"/>
            <a:chExt cx="1752600" cy="1752600"/>
          </a:xfrm>
        </p:grpSpPr>
        <p:sp>
          <p:nvSpPr>
            <p:cNvPr id="56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57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58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0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61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62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63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</p:grp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160771" name="Rectangle 3"/>
          <p:cNvSpPr>
            <a:spLocks noChangeArrowheads="1"/>
          </p:cNvSpPr>
          <p:nvPr/>
        </p:nvSpPr>
        <p:spPr bwMode="auto">
          <a:xfrm>
            <a:off x="304800" y="1295400"/>
            <a:ext cx="3962400" cy="230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swap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(long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, long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) 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t0 =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t1 =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 = t1;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 = t0;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160773" name="Text Box 5"/>
          <p:cNvSpPr txBox="1">
            <a:spLocks noChangeArrowheads="1"/>
          </p:cNvSpPr>
          <p:nvPr/>
        </p:nvSpPr>
        <p:spPr bwMode="auto">
          <a:xfrm>
            <a:off x="7090370" y="833735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sp>
        <p:nvSpPr>
          <p:cNvPr id="160774" name="Text Box 6"/>
          <p:cNvSpPr txBox="1">
            <a:spLocks noChangeArrowheads="1"/>
          </p:cNvSpPr>
          <p:nvPr/>
        </p:nvSpPr>
        <p:spPr bwMode="auto">
          <a:xfrm>
            <a:off x="533400" y="4114800"/>
            <a:ext cx="2438400" cy="1676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alibri" pitchFamily="34" charset="0"/>
              </a:rPr>
              <a:t>Register	Value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rdi</a:t>
            </a: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xp</a:t>
            </a: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rsi</a:t>
            </a: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yp</a:t>
            </a: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	t0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rdx</a:t>
            </a:r>
            <a:r>
              <a:rPr lang="en-US" sz="1800" dirty="0">
                <a:latin typeface="Courier New" pitchFamily="49" charset="0"/>
              </a:rPr>
              <a:t>	t1</a:t>
            </a: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3048000" y="48006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4516399" y="1219200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cxnSp>
        <p:nvCxnSpPr>
          <p:cNvPr id="3" name="Straight Arrow Connector 2"/>
          <p:cNvCxnSpPr>
            <a:endCxn id="34" idx="1"/>
          </p:cNvCxnSpPr>
          <p:nvPr/>
        </p:nvCxnSpPr>
        <p:spPr bwMode="auto">
          <a:xfrm flipV="1">
            <a:off x="5715000" y="1647175"/>
            <a:ext cx="1466178" cy="334025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5715000" y="2438400"/>
            <a:ext cx="1451237" cy="6858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" name="Oval 4"/>
          <p:cNvSpPr/>
          <p:nvPr/>
        </p:nvSpPr>
        <p:spPr bwMode="auto">
          <a:xfrm>
            <a:off x="5638800" y="1905000"/>
            <a:ext cx="152400" cy="152400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5638800" y="2362200"/>
            <a:ext cx="152400" cy="152400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181178" y="1456675"/>
            <a:ext cx="1066800" cy="1905000"/>
            <a:chOff x="7181178" y="1456675"/>
            <a:chExt cx="1066800" cy="1905000"/>
          </a:xfrm>
        </p:grpSpPr>
        <p:sp>
          <p:nvSpPr>
            <p:cNvPr id="34" name="Rectangle 8"/>
            <p:cNvSpPr>
              <a:spLocks noChangeArrowheads="1"/>
            </p:cNvSpPr>
            <p:nvPr/>
          </p:nvSpPr>
          <p:spPr bwMode="auto">
            <a:xfrm>
              <a:off x="7181178" y="1456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35" name="Rectangle 9"/>
            <p:cNvSpPr>
              <a:spLocks noChangeArrowheads="1"/>
            </p:cNvSpPr>
            <p:nvPr/>
          </p:nvSpPr>
          <p:spPr bwMode="auto">
            <a:xfrm>
              <a:off x="7181178" y="1837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7181178" y="2218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37" name="Rectangle 11"/>
            <p:cNvSpPr>
              <a:spLocks noChangeArrowheads="1"/>
            </p:cNvSpPr>
            <p:nvPr/>
          </p:nvSpPr>
          <p:spPr bwMode="auto">
            <a:xfrm>
              <a:off x="7181178" y="2599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38" name="Rectangle 20"/>
            <p:cNvSpPr>
              <a:spLocks noChangeArrowheads="1"/>
            </p:cNvSpPr>
            <p:nvPr/>
          </p:nvSpPr>
          <p:spPr bwMode="auto">
            <a:xfrm>
              <a:off x="7181178" y="2980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F507162-AE46-C39D-90BA-4E0CF6E863EC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93B450-0E36-FDBA-EDBC-857B22A9A751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123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alibri" pitchFamily="34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59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60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61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62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63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81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924CDA4-B77E-4A7F-7732-DBC622B66BD9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CC62151-246B-9C1B-435D-71F53B4548D9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123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53" idx="1"/>
            <a:endCxn id="71" idx="3"/>
          </p:cNvCxnSpPr>
          <p:nvPr/>
        </p:nvCxnSpPr>
        <p:spPr bwMode="auto">
          <a:xfrm flipH="1">
            <a:off x="2863423" y="1852210"/>
            <a:ext cx="2089577" cy="10668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30511D2-44C0-6B66-BB61-7B963C040A6D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3CE60D9-F007-CA7F-5AB0-8E34E3830D54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165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123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</a:rPr>
                <a:t>456</a:t>
              </a: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58" idx="1"/>
            <a:endCxn id="72" idx="3"/>
          </p:cNvCxnSpPr>
          <p:nvPr/>
        </p:nvCxnSpPr>
        <p:spPr bwMode="auto">
          <a:xfrm flipH="1">
            <a:off x="2863423" y="3376210"/>
            <a:ext cx="2089577" cy="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32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4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5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6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7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DAC93BE-1F6A-CBAD-8709-D4BCF4305A75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4445AF-998A-C9FD-01AD-E1AF777659BF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232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latin typeface="Courier New" pitchFamily="49" charset="0"/>
              </a:rPr>
              <a:t>456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456</a:t>
              </a: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72" idx="3"/>
            <a:endCxn id="53" idx="1"/>
          </p:cNvCxnSpPr>
          <p:nvPr/>
        </p:nvCxnSpPr>
        <p:spPr bwMode="auto">
          <a:xfrm flipV="1">
            <a:off x="2863423" y="1852210"/>
            <a:ext cx="2089577" cy="15240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309789C-CDE4-CE54-27BD-5DB81EB781CF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D80C731-D1D4-195A-1394-56F54866AF7F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01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123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456</a:t>
              </a: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71" idx="3"/>
          </p:cNvCxnSpPr>
          <p:nvPr/>
        </p:nvCxnSpPr>
        <p:spPr bwMode="auto">
          <a:xfrm>
            <a:off x="2863423" y="2919010"/>
            <a:ext cx="2074636" cy="4191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29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0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1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2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3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B395A1E-16AA-DA97-4A63-4B80B9876A3E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A279D7A-9F3F-A6FD-A101-C642FB9DCA33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046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69912"/>
            <a:ext cx="7035800" cy="573088"/>
          </a:xfrm>
        </p:spPr>
        <p:txBody>
          <a:bodyPr/>
          <a:lstStyle/>
          <a:p>
            <a:r>
              <a:rPr lang="en-US" dirty="0"/>
              <a:t>Simple Memory Addressing Modes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Normal	(R)	</a:t>
            </a:r>
            <a:r>
              <a:rPr lang="en-US" dirty="0" err="1"/>
              <a:t>Mem[Reg[R</a:t>
            </a:r>
            <a:r>
              <a:rPr lang="en-US" dirty="0"/>
              <a:t>]]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memory address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Aha! Pointer dereferencing in C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(%</a:t>
            </a:r>
            <a:r>
              <a:rPr lang="en-US" sz="2400" b="1" dirty="0" err="1">
                <a:latin typeface="Courier New" pitchFamily="49" charset="0"/>
              </a:rPr>
              <a:t>rcx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rax</a:t>
            </a:r>
            <a:endParaRPr lang="en-US" sz="2400" b="1" dirty="0">
              <a:latin typeface="Courier New" pitchFamily="49" charset="0"/>
            </a:endParaRP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endParaRPr lang="en-US" sz="2400" dirty="0"/>
          </a:p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Displacement	D(R)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[R]+D]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start of memory region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Constant displacement D specifies offset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8(%</a:t>
            </a:r>
            <a:r>
              <a:rPr lang="en-US" sz="2400" b="1" dirty="0" err="1">
                <a:latin typeface="Courier New" pitchFamily="49" charset="0"/>
              </a:rPr>
              <a:t>rbp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rdx</a:t>
            </a:r>
            <a:endParaRPr lang="en-US" sz="2400" b="1" dirty="0">
              <a:latin typeface="Courier New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2A7DDA-1126-A3A4-D2B4-B069C7BC66B7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094AC58-FC7C-F644-1795-39BD81B0141F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52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077200" cy="573088"/>
          </a:xfrm>
        </p:spPr>
        <p:txBody>
          <a:bodyPr/>
          <a:lstStyle/>
          <a:p>
            <a:r>
              <a:rPr lang="en-US" dirty="0"/>
              <a:t>Complete Memory Addressing Modes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50950"/>
            <a:ext cx="8307387" cy="5530850"/>
          </a:xfrm>
        </p:spPr>
        <p:txBody>
          <a:bodyPr/>
          <a:lstStyle/>
          <a:p>
            <a:pPr marL="223838" indent="-223838" defTabSz="895350">
              <a:tabLst>
                <a:tab pos="1206500" algn="l"/>
                <a:tab pos="3657600" algn="l"/>
              </a:tabLst>
            </a:pPr>
            <a:r>
              <a:rPr lang="en-US" dirty="0"/>
              <a:t>Most General Form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D(</a:t>
            </a:r>
            <a:r>
              <a:rPr lang="en-US" dirty="0" err="1"/>
              <a:t>Rb,Ri,S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]+S*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]+ D]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/>
              <a:t>D: 	Constant “displacement” 1, 2, or 4 bytes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 err="1"/>
              <a:t>Rb</a:t>
            </a:r>
            <a:r>
              <a:rPr lang="en-US" dirty="0"/>
              <a:t>: 	Base register: Any of 16 integer registers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 err="1"/>
              <a:t>Ri</a:t>
            </a:r>
            <a:r>
              <a:rPr lang="en-US" dirty="0"/>
              <a:t>:	Index register: Any, except for 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rsp</a:t>
            </a:r>
            <a:endParaRPr lang="en-US" b="1" dirty="0">
              <a:latin typeface="Courier New" pitchFamily="49" charset="0"/>
            </a:endParaRP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/>
              <a:t>S: 	Scale: 1, 2, 4, or 8 (</a:t>
            </a:r>
            <a:r>
              <a:rPr lang="en-US" i="1" dirty="0">
                <a:solidFill>
                  <a:srgbClr val="C00000"/>
                </a:solidFill>
              </a:rPr>
              <a:t>why these numbers?</a:t>
            </a:r>
            <a:r>
              <a:rPr lang="en-US" dirty="0"/>
              <a:t>)</a:t>
            </a:r>
          </a:p>
          <a:p>
            <a:pPr marL="223838" indent="-223838" defTabSz="895350">
              <a:tabLst>
                <a:tab pos="1206500" algn="l"/>
                <a:tab pos="3657600" algn="l"/>
              </a:tabLst>
            </a:pPr>
            <a:endParaRPr lang="en-US" dirty="0"/>
          </a:p>
          <a:p>
            <a:pPr marL="223838" indent="-223838" defTabSz="895350">
              <a:tabLst>
                <a:tab pos="1206500" algn="l"/>
                <a:tab pos="3657600" algn="l"/>
              </a:tabLst>
            </a:pPr>
            <a:r>
              <a:rPr lang="en-US" dirty="0"/>
              <a:t>Special Cases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(</a:t>
            </a:r>
            <a:r>
              <a:rPr lang="en-US" dirty="0" err="1"/>
              <a:t>Rb,Ri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]]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D(</a:t>
            </a:r>
            <a:r>
              <a:rPr lang="en-US" dirty="0" err="1"/>
              <a:t>Rb,Ri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]+D]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(</a:t>
            </a:r>
            <a:r>
              <a:rPr lang="en-US" dirty="0" err="1"/>
              <a:t>Rb,Ri,S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]+S*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D3E584-2B3A-1D91-DD52-39902856E612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75957E1-1520-CC5D-0510-E058FBED9B46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9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489084"/>
              </p:ext>
            </p:extLst>
          </p:nvPr>
        </p:nvGraphicFramePr>
        <p:xfrm>
          <a:off x="1050585" y="388620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793868"/>
              </p:ext>
            </p:extLst>
          </p:nvPr>
        </p:nvGraphicFramePr>
        <p:xfrm>
          <a:off x="1050585" y="389382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+ 4*0x100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0xf400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2*0xf000 + 0x80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0x1e080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874501"/>
              </p:ext>
            </p:extLst>
          </p:nvPr>
        </p:nvGraphicFramePr>
        <p:xfrm>
          <a:off x="1066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0x0100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77D43E0-A539-F2DE-13A8-A47FD8E64EEE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789B1B1-53C3-0F3E-CB58-CD0AB67D3DA1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0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History of Intel processors and architectures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C, assembly, machine code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Assembly Basics: Registers, operands, move</a:t>
            </a:r>
          </a:p>
          <a:p>
            <a:r>
              <a:rPr lang="en-US" dirty="0"/>
              <a:t>Arithmetic &amp; logical operations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4EA2E6-6B2D-7AE8-174A-518AFF4881A6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ABA6944-4FA7-4D9D-516D-E23942E1D4F1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11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Address Computation Instruction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leaq</a:t>
            </a:r>
            <a:r>
              <a:rPr lang="en-US" dirty="0"/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Src</a:t>
            </a:r>
            <a:r>
              <a:rPr lang="en-US" dirty="0"/>
              <a:t>,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Dst</a:t>
            </a:r>
            <a:endParaRPr lang="en-US" dirty="0"/>
          </a:p>
          <a:p>
            <a:pPr marL="552450" lvl="1"/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r>
              <a:rPr lang="en-US" dirty="0"/>
              <a:t> is address mode expression</a:t>
            </a:r>
          </a:p>
          <a:p>
            <a:pPr marL="552450" lvl="1"/>
            <a:r>
              <a:rPr lang="en-US" dirty="0"/>
              <a:t>Set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Dst</a:t>
            </a:r>
            <a:r>
              <a:rPr lang="en-US" dirty="0"/>
              <a:t> to address denoted by expression</a:t>
            </a:r>
          </a:p>
          <a:p>
            <a:pPr>
              <a:spcBef>
                <a:spcPts val="2800"/>
              </a:spcBef>
            </a:pPr>
            <a:r>
              <a:rPr lang="en-US" dirty="0"/>
              <a:t>Uses</a:t>
            </a:r>
          </a:p>
          <a:p>
            <a:pPr marL="552450" lvl="1"/>
            <a:r>
              <a:rPr lang="en-US" dirty="0"/>
              <a:t>Computing addresses without a memory reference</a:t>
            </a:r>
          </a:p>
          <a:p>
            <a:pPr marL="838200" lvl="2"/>
            <a:r>
              <a:rPr lang="en-US" dirty="0"/>
              <a:t>E.g., translation of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p = &amp;x[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];</a:t>
            </a:r>
            <a:endParaRPr lang="en-US" dirty="0"/>
          </a:p>
          <a:p>
            <a:pPr marL="552450" lvl="1"/>
            <a:r>
              <a:rPr lang="en-US" dirty="0"/>
              <a:t>Computing arithmetic expressions of the form x + k*y</a:t>
            </a:r>
          </a:p>
          <a:p>
            <a:pPr marL="838200" lvl="2"/>
            <a:r>
              <a:rPr lang="en-US" dirty="0"/>
              <a:t>k = 1, 2, 4, or 8</a:t>
            </a:r>
          </a:p>
          <a:p>
            <a:r>
              <a:rPr lang="en-US" dirty="0"/>
              <a:t>Example</a:t>
            </a:r>
          </a:p>
        </p:txBody>
      </p:sp>
      <p:sp>
        <p:nvSpPr>
          <p:cNvPr id="13317" name="Rectangle 5"/>
          <p:cNvSpPr>
            <a:spLocks/>
          </p:cNvSpPr>
          <p:nvPr/>
        </p:nvSpPr>
        <p:spPr bwMode="auto">
          <a:xfrm>
            <a:off x="304800" y="5219700"/>
            <a:ext cx="2514600" cy="1346200"/>
          </a:xfrm>
          <a:prstGeom prst="rect">
            <a:avLst/>
          </a:prstGeom>
          <a:solidFill>
            <a:srgbClr val="CDF1C5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182880" tIns="0" rIns="0" bIns="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long m12(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long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x)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{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return x*12;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}</a:t>
            </a:r>
          </a:p>
        </p:txBody>
      </p:sp>
      <p:sp>
        <p:nvSpPr>
          <p:cNvPr id="13318" name="Rectangle 6"/>
          <p:cNvSpPr>
            <a:spLocks/>
          </p:cNvSpPr>
          <p:nvPr/>
        </p:nvSpPr>
        <p:spPr bwMode="auto">
          <a:xfrm>
            <a:off x="3340100" y="5740400"/>
            <a:ext cx="5524500" cy="685800"/>
          </a:xfrm>
          <a:prstGeom prst="rect">
            <a:avLst/>
          </a:prstGeom>
          <a:solidFill>
            <a:srgbClr val="FFFF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76200" tIns="76200" rIns="76200" bIns="76200"/>
          <a:lstStyle/>
          <a:p>
            <a:pPr algn="l">
              <a:tabLst>
                <a:tab pos="228600" algn="l"/>
                <a:tab pos="228600" algn="l"/>
              </a:tabLst>
            </a:pPr>
            <a:r>
              <a:rPr lang="en-US" sz="1800" dirty="0" err="1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leaq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 (%</a:t>
            </a:r>
            <a:r>
              <a:rPr lang="en-US" sz="1800" dirty="0">
                <a:latin typeface="Courier New" charset="0"/>
                <a:cs typeface="Courier New" charset="0"/>
                <a:sym typeface="Courier New" charset="0"/>
              </a:rPr>
              <a:t>rdi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,%</a:t>
            </a:r>
            <a:r>
              <a:rPr lang="en-US" sz="1800" dirty="0">
                <a:latin typeface="Courier New" charset="0"/>
                <a:cs typeface="Courier New" charset="0"/>
                <a:sym typeface="Courier New" charset="0"/>
              </a:rPr>
              <a:t>rdi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,2), %</a:t>
            </a:r>
            <a:r>
              <a:rPr lang="en-US" sz="1800" dirty="0" err="1">
                <a:latin typeface="Courier New" charset="0"/>
                <a:cs typeface="Courier New" charset="0"/>
                <a:sym typeface="Courier New" charset="0"/>
              </a:rPr>
              <a:t>r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ax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 # t &lt;-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x+x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*2</a:t>
            </a:r>
            <a:endParaRPr lang="en-US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>
              <a:tabLst>
                <a:tab pos="228600" algn="l"/>
                <a:tab pos="228600" algn="l"/>
              </a:tabLst>
            </a:pPr>
            <a:r>
              <a:rPr lang="en-US" sz="1800" dirty="0" err="1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salq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 $2, %</a:t>
            </a:r>
            <a:r>
              <a:rPr lang="en-US" sz="1800" dirty="0" err="1">
                <a:latin typeface="Courier New" charset="0"/>
                <a:cs typeface="Courier New" charset="0"/>
                <a:sym typeface="Courier New" charset="0"/>
              </a:rPr>
              <a:t>r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ax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            </a:t>
            </a:r>
            <a:r>
              <a:rPr lang="en-US" sz="1800" dirty="0">
                <a:latin typeface="Courier New" charset="0"/>
                <a:cs typeface="Courier New" charset="0"/>
                <a:sym typeface="Courier New" charset="0"/>
              </a:rPr>
              <a:t>#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return t&lt;&lt;2</a:t>
            </a:r>
          </a:p>
        </p:txBody>
      </p:sp>
      <p:sp>
        <p:nvSpPr>
          <p:cNvPr id="13319" name="Rectangle 7"/>
          <p:cNvSpPr>
            <a:spLocks/>
          </p:cNvSpPr>
          <p:nvPr/>
        </p:nvSpPr>
        <p:spPr bwMode="auto">
          <a:xfrm>
            <a:off x="3297238" y="5295900"/>
            <a:ext cx="39497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Converted to ASM by compiler: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3D2DBB-2E67-4B7A-AE41-C9605FEC8EB6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F999128-E28D-76EA-A38E-6A419DAF2AED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84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Some Arithmetic Operations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259715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/>
              <a:t>Two Operand Instructions:</a:t>
            </a:r>
          </a:p>
          <a:p>
            <a:pPr marL="0" lvl="1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Format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Computation</a:t>
            </a:r>
            <a:endParaRPr lang="en-US" dirty="0">
              <a:solidFill>
                <a:srgbClr val="980002"/>
              </a:solidFill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+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Symbol"/>
              </a:rPr>
              <a:t></a:t>
            </a:r>
            <a:r>
              <a:rPr lang="en-US" dirty="0"/>
              <a:t>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imulq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*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salq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&lt;&lt; </a:t>
            </a:r>
            <a:r>
              <a:rPr lang="en-US" dirty="0" err="1"/>
              <a:t>Src</a:t>
            </a:r>
            <a:r>
              <a:rPr lang="en-US" dirty="0"/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Also called </a:t>
            </a:r>
            <a:r>
              <a:rPr lang="en-US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shlq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sarq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&gt;&gt; </a:t>
            </a:r>
            <a:r>
              <a:rPr lang="en-US" dirty="0" err="1"/>
              <a:t>Src</a:t>
            </a:r>
            <a:r>
              <a:rPr lang="en-US" dirty="0"/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Arithmetic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&gt;&gt; </a:t>
            </a:r>
            <a:r>
              <a:rPr lang="en-US" dirty="0" err="1"/>
              <a:t>Src</a:t>
            </a:r>
            <a:r>
              <a:rPr lang="en-US" dirty="0"/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Logical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xorq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^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andq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&amp;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orq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| </a:t>
            </a:r>
            <a:r>
              <a:rPr lang="en-US" dirty="0" err="1"/>
              <a:t>Src</a:t>
            </a:r>
            <a:endParaRPr lang="en-US" dirty="0"/>
          </a:p>
          <a:p>
            <a:pPr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/>
              <a:t>Watch out for argument order!</a:t>
            </a:r>
          </a:p>
          <a:p>
            <a:pPr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/>
              <a:t>No distinction between signed and unsigned </a:t>
            </a:r>
            <a:r>
              <a:rPr lang="en-US" dirty="0" err="1"/>
              <a:t>int</a:t>
            </a:r>
            <a:r>
              <a:rPr lang="en-US" dirty="0"/>
              <a:t> (why?)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AA639F-DC87-BD26-24E9-A36ED02BBB7D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0B22CF4-444F-B93E-A755-F11C19C2DD7B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401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Some Arithmetic Operations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/>
              <a:t>One Operand Instructions</a:t>
            </a: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sym typeface="Calibri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+ 1</a:t>
            </a:r>
            <a:endParaRPr lang="en-US" dirty="0">
              <a:latin typeface="Calibri Italic" charset="0"/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decq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sym typeface="Calibri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Symbol"/>
              </a:rPr>
              <a:t>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1</a:t>
            </a:r>
            <a:endParaRPr lang="en-US" dirty="0">
              <a:latin typeface="Calibri Italic" charset="0"/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negq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sym typeface="Calibri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Symbol"/>
              </a:rPr>
              <a:t>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endParaRPr lang="en-US" dirty="0">
              <a:latin typeface="Calibri Italic" charset="0"/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notq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sym typeface="Calibri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~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endParaRPr lang="en-US" dirty="0">
              <a:latin typeface="Calibri Italic" charset="0"/>
              <a:sym typeface="Calibri Italic" charset="0"/>
            </a:endParaRPr>
          </a:p>
          <a:p>
            <a:pPr>
              <a:spcBef>
                <a:spcPts val="3500"/>
              </a:spcBef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/>
              <a:t>See book for more instructions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BD5327-734D-B563-010B-E7BCC2A65AF5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98CBBB-8BFC-7567-06BA-8802A7BF4710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241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Arithmetic Expression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86200" y="3505199"/>
            <a:ext cx="4406900" cy="28289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Interesting Instructions</a:t>
            </a:r>
          </a:p>
          <a:p>
            <a:pPr lvl="1" indent="-342900"/>
            <a:r>
              <a:rPr lang="en-US" b="1" dirty="0" err="1">
                <a:latin typeface="Courier New"/>
                <a:cs typeface="Courier New"/>
              </a:rPr>
              <a:t>leaq</a:t>
            </a:r>
            <a:r>
              <a:rPr lang="en-US" dirty="0"/>
              <a:t>: address computation</a:t>
            </a:r>
          </a:p>
          <a:p>
            <a:pPr lvl="1" indent="-342900"/>
            <a:r>
              <a:rPr lang="en-US" b="1" dirty="0" err="1">
                <a:latin typeface="Courier New"/>
                <a:cs typeface="Courier New"/>
              </a:rPr>
              <a:t>salq</a:t>
            </a:r>
            <a:r>
              <a:rPr lang="en-US" dirty="0"/>
              <a:t>: shift</a:t>
            </a:r>
          </a:p>
          <a:p>
            <a:pPr lvl="1" indent="-342900"/>
            <a:r>
              <a:rPr lang="en-US" b="1" dirty="0" err="1">
                <a:latin typeface="Courier New"/>
                <a:cs typeface="Courier New"/>
              </a:rPr>
              <a:t>imulq</a:t>
            </a:r>
            <a:r>
              <a:rPr lang="en-US" dirty="0"/>
              <a:t>: multiplication</a:t>
            </a:r>
          </a:p>
          <a:p>
            <a:pPr lvl="2" indent="-342900"/>
            <a:r>
              <a:rPr lang="en-US" dirty="0"/>
              <a:t>But, only used once</a:t>
            </a:r>
          </a:p>
        </p:txBody>
      </p:sp>
      <p:sp>
        <p:nvSpPr>
          <p:cNvPr id="17412" name="Rectangle 4"/>
          <p:cNvSpPr>
            <a:spLocks/>
          </p:cNvSpPr>
          <p:nvPr/>
        </p:nvSpPr>
        <p:spPr bwMode="auto">
          <a:xfrm>
            <a:off x="152400" y="1752600"/>
            <a:ext cx="3581400" cy="3429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long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arith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(long x, long y, long z)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{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t1 =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x+y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t2 = z+t1;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t3 = x+4;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t4 = y * 48;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t5 = t3 + t4;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t2 * t5;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return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}</a:t>
            </a:r>
          </a:p>
        </p:txBody>
      </p:sp>
      <p:sp>
        <p:nvSpPr>
          <p:cNvPr id="17413" name="Rectangle 5"/>
          <p:cNvSpPr>
            <a:spLocks/>
          </p:cNvSpPr>
          <p:nvPr/>
        </p:nvSpPr>
        <p:spPr bwMode="auto">
          <a:xfrm>
            <a:off x="4249737" y="1193800"/>
            <a:ext cx="4127500" cy="2463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arith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(%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addq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(%rsi,%rsi,2),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salq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$4,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4(%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rcx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imulq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rcx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4092AA1-3D83-1BEC-45EB-C27BBE29C66C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F5EB00-2EA5-EED0-CE2A-B09CED1FD8A6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548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Understanding Arithmetic Expression Example</a:t>
            </a:r>
          </a:p>
        </p:txBody>
      </p:sp>
      <p:sp>
        <p:nvSpPr>
          <p:cNvPr id="17412" name="Rectangle 4"/>
          <p:cNvSpPr>
            <a:spLocks/>
          </p:cNvSpPr>
          <p:nvPr/>
        </p:nvSpPr>
        <p:spPr bwMode="auto">
          <a:xfrm>
            <a:off x="152400" y="1752600"/>
            <a:ext cx="3505200" cy="3429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long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arith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(long x, long y, long z)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{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t1 =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x+y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t2 = z+t1;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t3 = x+4;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t4 = y * 48;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t5 = t3 + t4;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t2 * t5;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return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}</a:t>
            </a:r>
          </a:p>
        </p:txBody>
      </p:sp>
      <p:sp>
        <p:nvSpPr>
          <p:cNvPr id="17413" name="Rectangle 5"/>
          <p:cNvSpPr>
            <a:spLocks/>
          </p:cNvSpPr>
          <p:nvPr/>
        </p:nvSpPr>
        <p:spPr bwMode="auto">
          <a:xfrm>
            <a:off x="3810000" y="1193800"/>
            <a:ext cx="5181600" cy="2463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arith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(%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# t1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addq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     # t2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(%rsi,%rsi,2),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salq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$4,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       # t4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4(%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rcx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t5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imulq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rcx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     #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089589"/>
              </p:ext>
            </p:extLst>
          </p:nvPr>
        </p:nvGraphicFramePr>
        <p:xfrm>
          <a:off x="4648200" y="3733800"/>
          <a:ext cx="3352800" cy="2667000"/>
        </p:xfrm>
        <a:graphic>
          <a:graphicData uri="http://schemas.openxmlformats.org/drawingml/2006/table">
            <a:tbl>
              <a:tblPr firstRow="1" bandRow="1"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t1</a:t>
                      </a:r>
                      <a:r>
                        <a:rPr lang="en-US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lang="en-US" baseline="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t2</a:t>
                      </a:r>
                      <a:r>
                        <a:rPr lang="en-US" baseline="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lang="en-US" b="1" i="0" baseline="0" dirty="0" err="1">
                          <a:latin typeface="Courier New"/>
                          <a:cs typeface="Courier New"/>
                        </a:rPr>
                        <a:t>rval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t4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rcx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t5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098D622-B16F-3444-608E-B9A742316ED8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A827767-DEC3-B6C1-26BD-11DAF61A71DD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174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Programming I: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History of Intel processors and architectures</a:t>
            </a:r>
          </a:p>
          <a:p>
            <a:pPr lvl="1"/>
            <a:r>
              <a:rPr lang="en-US" dirty="0"/>
              <a:t>Evolutionary design leads to many quirks and artifacts</a:t>
            </a:r>
          </a:p>
          <a:p>
            <a:r>
              <a:rPr lang="en-US" dirty="0"/>
              <a:t>C, assembly, machine code</a:t>
            </a:r>
          </a:p>
          <a:p>
            <a:pPr lvl="1"/>
            <a:r>
              <a:rPr lang="en-US" dirty="0"/>
              <a:t>New forms of visible state: program counter, registers, ...</a:t>
            </a:r>
          </a:p>
          <a:p>
            <a:pPr lvl="1"/>
            <a:r>
              <a:rPr lang="en-US" dirty="0"/>
              <a:t>Compiler must transform statements, expressions, procedures into low-level instruction sequences</a:t>
            </a:r>
          </a:p>
          <a:p>
            <a:r>
              <a:rPr lang="en-US" dirty="0"/>
              <a:t>Assembly Basics: Registers, operands, move</a:t>
            </a:r>
          </a:p>
          <a:p>
            <a:pPr lvl="1"/>
            <a:r>
              <a:rPr lang="en-US" dirty="0"/>
              <a:t>The x86-64 move instructions cover wide range of data movement forms</a:t>
            </a:r>
          </a:p>
          <a:p>
            <a:r>
              <a:rPr lang="en-US" dirty="0"/>
              <a:t>Arithmetic</a:t>
            </a:r>
          </a:p>
          <a:p>
            <a:pPr lvl="1"/>
            <a:r>
              <a:rPr lang="en-US" dirty="0"/>
              <a:t>C compiler will figure out different instruction combinations to carry out computation</a:t>
            </a:r>
          </a:p>
          <a:p>
            <a:pPr lvl="1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6182B5-5B89-A827-E155-E84F9CC04B29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C59535-CF48-7B54-0B2B-561ACB8EFC9C}"/>
              </a:ext>
            </a:extLst>
          </p:cNvPr>
          <p:cNvSpPr>
            <a:spLocks/>
          </p:cNvSpPr>
          <p:nvPr/>
        </p:nvSpPr>
        <p:spPr bwMode="auto">
          <a:xfrm>
            <a:off x="-6350" y="1058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25400" cap="flat" cmpd="sng" algn="ctr">
          <a:noFill/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22741</TotalTime>
  <Words>3651</Words>
  <Application>Microsoft Macintosh PowerPoint</Application>
  <PresentationFormat>On-screen Show (4:3)</PresentationFormat>
  <Paragraphs>780</Paragraphs>
  <Slides>43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Arial</vt:lpstr>
      <vt:lpstr>Arial Narrow</vt:lpstr>
      <vt:lpstr>Calibri</vt:lpstr>
      <vt:lpstr>Calibri Bold</vt:lpstr>
      <vt:lpstr>Calibri Bold Italic</vt:lpstr>
      <vt:lpstr>Calibri Italic</vt:lpstr>
      <vt:lpstr>Courier</vt:lpstr>
      <vt:lpstr>Courier New</vt:lpstr>
      <vt:lpstr>Courier New Bold</vt:lpstr>
      <vt:lpstr>Times New Roman</vt:lpstr>
      <vt:lpstr>Wingdings</vt:lpstr>
      <vt:lpstr>Wingdings 2</vt:lpstr>
      <vt:lpstr>template2007</vt:lpstr>
      <vt:lpstr>Machine-Level Programming I: Basics  Introduction to Computer Systems  4th Lecture, Oct. 6, 2025</vt:lpstr>
      <vt:lpstr>Today: Machine Programming I: Basics</vt:lpstr>
      <vt:lpstr>Intel x86 Processors</vt:lpstr>
      <vt:lpstr>Intel x86 Evolution: Milestones</vt:lpstr>
      <vt:lpstr>Intel x86 Processors, cont.</vt:lpstr>
      <vt:lpstr>x86 Clones: Advanced Micro Devices (AMD)</vt:lpstr>
      <vt:lpstr>Intel’s 64-Bit History</vt:lpstr>
      <vt:lpstr>Our Coverage</vt:lpstr>
      <vt:lpstr>Today: Machine Programming I: Basics</vt:lpstr>
      <vt:lpstr>Definitions</vt:lpstr>
      <vt:lpstr>Assembly/Machine Code View</vt:lpstr>
      <vt:lpstr>Turning C into Object Code</vt:lpstr>
      <vt:lpstr>Compiling Into Assembly</vt:lpstr>
      <vt:lpstr>Assembly Characteristics: Data Types</vt:lpstr>
      <vt:lpstr>Assembly Characteristics: Operations</vt:lpstr>
      <vt:lpstr>Object Code</vt:lpstr>
      <vt:lpstr>Machine Instruction Example</vt:lpstr>
      <vt:lpstr>Disassembling Object Code</vt:lpstr>
      <vt:lpstr>Alternate Disassembly</vt:lpstr>
      <vt:lpstr>What Can be Disassembled?</vt:lpstr>
      <vt:lpstr>Today: Machine Programming I: Basics</vt:lpstr>
      <vt:lpstr>x86-64 Integer Registers</vt:lpstr>
      <vt:lpstr>Some History: IA32 Registers</vt:lpstr>
      <vt:lpstr>Moving Data</vt:lpstr>
      <vt:lpstr>movq Operand Combinations</vt:lpstr>
      <vt:lpstr>Simple Memory Addressing Modes</vt:lpstr>
      <vt:lpstr>Example of Simple Addressing Modes</vt:lpstr>
      <vt:lpstr>Understanding Swap()</vt:lpstr>
      <vt:lpstr>Understanding Swap()</vt:lpstr>
      <vt:lpstr>Understanding Swap()</vt:lpstr>
      <vt:lpstr>Understanding Swap()</vt:lpstr>
      <vt:lpstr>Understanding Swap()</vt:lpstr>
      <vt:lpstr>Understanding Swap()</vt:lpstr>
      <vt:lpstr>Simple Memory Addressing Modes</vt:lpstr>
      <vt:lpstr>Complete Memory Addressing Modes</vt:lpstr>
      <vt:lpstr>Address Computation Examples</vt:lpstr>
      <vt:lpstr>Today: Machine Programming I: Basics</vt:lpstr>
      <vt:lpstr>Address Computation Instruction</vt:lpstr>
      <vt:lpstr>Some Arithmetic Operations</vt:lpstr>
      <vt:lpstr>Some Arithmetic Operations</vt:lpstr>
      <vt:lpstr>Arithmetic Expression Example</vt:lpstr>
      <vt:lpstr>Understanding Arithmetic Expression Example</vt:lpstr>
      <vt:lpstr>Machine Programming I: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Introduction to Computer Systems 15-213/18-213 </dc:title>
  <dc:subject/>
  <dc:creator>Markus Pueschel</dc:creator>
  <cp:keywords/>
  <dc:description/>
  <cp:lastModifiedBy>Đỗ Uyên</cp:lastModifiedBy>
  <cp:revision>668</cp:revision>
  <cp:lastPrinted>2011-09-12T20:37:42Z</cp:lastPrinted>
  <dcterms:created xsi:type="dcterms:W3CDTF">2012-09-11T15:51:41Z</dcterms:created>
  <dcterms:modified xsi:type="dcterms:W3CDTF">2025-10-06T08:57:07Z</dcterms:modified>
  <cp:category/>
</cp:coreProperties>
</file>