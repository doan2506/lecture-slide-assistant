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  <p:sldMasterId id="2147483652" r:id="rId4"/>
  </p:sldMasterIdLst>
  <p:notesMasterIdLst>
    <p:notesMasterId r:id="rId47"/>
  </p:notesMasterIdLst>
  <p:sldIdLst>
    <p:sldId id="317" r:id="rId5"/>
    <p:sldId id="344" r:id="rId6"/>
    <p:sldId id="284" r:id="rId7"/>
    <p:sldId id="285" r:id="rId8"/>
    <p:sldId id="286" r:id="rId9"/>
    <p:sldId id="287" r:id="rId10"/>
    <p:sldId id="288" r:id="rId11"/>
    <p:sldId id="364" r:id="rId12"/>
    <p:sldId id="289" r:id="rId13"/>
    <p:sldId id="350" r:id="rId14"/>
    <p:sldId id="293" r:id="rId15"/>
    <p:sldId id="295" r:id="rId16"/>
    <p:sldId id="366" r:id="rId17"/>
    <p:sldId id="301" r:id="rId18"/>
    <p:sldId id="332" r:id="rId19"/>
    <p:sldId id="302" r:id="rId20"/>
    <p:sldId id="304" r:id="rId21"/>
    <p:sldId id="351" r:id="rId22"/>
    <p:sldId id="306" r:id="rId23"/>
    <p:sldId id="307" r:id="rId24"/>
    <p:sldId id="309" r:id="rId25"/>
    <p:sldId id="312" r:id="rId26"/>
    <p:sldId id="368" r:id="rId27"/>
    <p:sldId id="367" r:id="rId28"/>
    <p:sldId id="369" r:id="rId29"/>
    <p:sldId id="336" r:id="rId30"/>
    <p:sldId id="338" r:id="rId31"/>
    <p:sldId id="370" r:id="rId32"/>
    <p:sldId id="339" r:id="rId33"/>
    <p:sldId id="365" r:id="rId34"/>
    <p:sldId id="352" r:id="rId35"/>
    <p:sldId id="353" r:id="rId36"/>
    <p:sldId id="354" r:id="rId37"/>
    <p:sldId id="355" r:id="rId38"/>
    <p:sldId id="356" r:id="rId39"/>
    <p:sldId id="357" r:id="rId40"/>
    <p:sldId id="358" r:id="rId41"/>
    <p:sldId id="359" r:id="rId42"/>
    <p:sldId id="360" r:id="rId43"/>
    <p:sldId id="361" r:id="rId44"/>
    <p:sldId id="371" r:id="rId45"/>
    <p:sldId id="324" r:id="rId46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663300"/>
    <a:srgbClr val="008000"/>
    <a:srgbClr val="CC0000"/>
    <a:srgbClr val="CCFFCC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6"/>
    <p:restoredTop sz="86449"/>
  </p:normalViewPr>
  <p:slideViewPr>
    <p:cSldViewPr>
      <p:cViewPr varScale="1">
        <p:scale>
          <a:sx n="95" d="100"/>
          <a:sy n="95" d="100"/>
        </p:scale>
        <p:origin x="200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9" d="100"/>
        <a:sy n="119" d="100"/>
      </p:scale>
      <p:origin x="0" y="26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16927-21FB-45BE-9815-9A740330FA9B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65B0C-B35D-4608-94F8-324A6C7A47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4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554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81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31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98538"/>
            <a:ext cx="2057400" cy="5127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98538"/>
            <a:ext cx="6019800" cy="5127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58721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5872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8538"/>
            <a:ext cx="7772400" cy="288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1pPr>
      <a:lvl2pPr marL="457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2pPr>
      <a:lvl3pPr marL="914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3pPr>
      <a:lvl4pPr marL="1371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4pPr>
      <a:lvl5pPr marL="18288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5pPr>
      <a:lvl6pPr marL="22860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6pPr>
      <a:lvl7pPr marL="2743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7pPr>
      <a:lvl8pPr marL="3200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8pPr>
      <a:lvl9pPr marL="3657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 b="1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 b="1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342900" indent="-3429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600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20574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8194" name="Rectangle 2"/>
          <p:cNvSpPr>
            <a:spLocks/>
          </p:cNvSpPr>
          <p:nvPr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7772400" cy="2590800"/>
          </a:xfrm>
        </p:spPr>
        <p:txBody>
          <a:bodyPr/>
          <a:lstStyle/>
          <a:p>
            <a:pPr lvl="0">
              <a:defRPr/>
            </a:pPr>
            <a:r>
              <a:rPr lang="en-US" b="1" dirty="0">
                <a:solidFill>
                  <a:srgbClr val="000000"/>
                </a:solidFill>
              </a:rPr>
              <a:t>Machine-Level Programming II: Control</a:t>
            </a:r>
            <a:br>
              <a:rPr lang="en-US" dirty="0">
                <a:solidFill>
                  <a:srgbClr val="000000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rPr>
            </a:br>
            <a:br>
              <a:rPr lang="en-US" dirty="0">
                <a:solidFill>
                  <a:srgbClr val="000000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rPr>
            </a:br>
            <a:r>
              <a:rPr lang="en-US" sz="20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15-213: Introduction to Computer Systems</a:t>
            </a:r>
            <a:br>
              <a:rPr lang="en-US" sz="2000" dirty="0">
                <a:solidFill>
                  <a:srgbClr val="000000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rPr>
            </a:br>
            <a:r>
              <a:rPr lang="en-US" sz="2000" dirty="0">
                <a:solidFill>
                  <a:srgbClr val="000000"/>
                </a:solidFill>
                <a:latin typeface="Calibri" charset="0"/>
                <a:ea typeface="ヒラギノ角ゴ ProN W3" charset="-128"/>
                <a:cs typeface="Calibri" charset="0"/>
                <a:sym typeface="Calibri" charset="0"/>
              </a:rPr>
              <a:t>5</a:t>
            </a:r>
            <a:r>
              <a:rPr lang="en-US" sz="2000" baseline="300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th</a:t>
            </a:r>
            <a:r>
              <a:rPr lang="en-US" sz="20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Lecture, Oct. 11, 2025</a:t>
            </a:r>
            <a:endParaRPr lang="en-US" dirty="0"/>
          </a:p>
        </p:txBody>
      </p:sp>
      <p:sp>
        <p:nvSpPr>
          <p:cNvPr id="9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E27BBC-C3F4-4BB3-58AB-4B64588DED38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8D4744C-4460-E157-DB66-47E7ED2893EE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433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Control: Condition codes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Conditional branches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Loops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Switch Statements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9AE8FA-B387-14BE-FFAF-2CD3FA5AB0AA}"/>
              </a:ext>
            </a:extLst>
          </p:cNvPr>
          <p:cNvSpPr>
            <a:spLocks/>
          </p:cNvSpPr>
          <p:nvPr/>
        </p:nvSpPr>
        <p:spPr bwMode="auto">
          <a:xfrm>
            <a:off x="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DFBE9C-1014-8C32-187D-6D3F564DF245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37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Processor State (x86-64, Partial)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3340100" cy="5435600"/>
          </a:xfrm>
          <a:ln/>
        </p:spPr>
        <p:txBody>
          <a:bodyPr/>
          <a:lstStyle/>
          <a:p>
            <a:r>
              <a:rPr lang="en-US" dirty="0"/>
              <a:t>Information about currently executing program</a:t>
            </a:r>
          </a:p>
          <a:p>
            <a:pPr marL="552450" lvl="1"/>
            <a:r>
              <a:rPr lang="en-US" dirty="0"/>
              <a:t>Temporary data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r>
              <a:rPr lang="en-US" dirty="0"/>
              <a:t>, … )</a:t>
            </a:r>
          </a:p>
          <a:p>
            <a:pPr marL="552450" lvl="1"/>
            <a:r>
              <a:rPr lang="en-US" dirty="0"/>
              <a:t>Location of runtime stack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)</a:t>
            </a:r>
          </a:p>
          <a:p>
            <a:pPr marL="552450" lvl="1"/>
            <a:r>
              <a:rPr lang="en-US" dirty="0"/>
              <a:t>Location of current code control point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%rip</a:t>
            </a:r>
            <a:r>
              <a:rPr lang="en-US" dirty="0"/>
              <a:t>, … )</a:t>
            </a:r>
          </a:p>
          <a:p>
            <a:pPr marL="552450" lvl="1"/>
            <a:r>
              <a:rPr lang="en-US" dirty="0"/>
              <a:t>Status of recent tests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CF, ZF, SF, OF</a:t>
            </a:r>
            <a:r>
              <a:rPr lang="en-US" dirty="0"/>
              <a:t> )</a:t>
            </a:r>
          </a:p>
        </p:txBody>
      </p:sp>
      <p:sp>
        <p:nvSpPr>
          <p:cNvPr id="33797" name="Rectangle 5"/>
          <p:cNvSpPr>
            <a:spLocks/>
          </p:cNvSpPr>
          <p:nvPr/>
        </p:nvSpPr>
        <p:spPr bwMode="auto">
          <a:xfrm>
            <a:off x="4466772" y="5410200"/>
            <a:ext cx="2057400" cy="308610"/>
          </a:xfrm>
          <a:prstGeom prst="rect">
            <a:avLst/>
          </a:prstGeom>
          <a:solidFill>
            <a:srgbClr val="D6D6F4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%rip</a:t>
            </a:r>
          </a:p>
        </p:txBody>
      </p:sp>
      <p:sp>
        <p:nvSpPr>
          <p:cNvPr id="33798" name="Rectangle 6"/>
          <p:cNvSpPr>
            <a:spLocks/>
          </p:cNvSpPr>
          <p:nvPr/>
        </p:nvSpPr>
        <p:spPr bwMode="auto">
          <a:xfrm>
            <a:off x="4466772" y="1828800"/>
            <a:ext cx="1026974" cy="384721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Registers</a:t>
            </a:r>
          </a:p>
        </p:txBody>
      </p:sp>
      <p:sp>
        <p:nvSpPr>
          <p:cNvPr id="33799" name="Rectangle 7"/>
          <p:cNvSpPr>
            <a:spLocks/>
          </p:cNvSpPr>
          <p:nvPr/>
        </p:nvSpPr>
        <p:spPr bwMode="auto">
          <a:xfrm>
            <a:off x="1981200" y="5638800"/>
            <a:ext cx="1898650" cy="3810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Current stack top</a:t>
            </a:r>
          </a:p>
        </p:txBody>
      </p:sp>
      <p:sp>
        <p:nvSpPr>
          <p:cNvPr id="33801" name="Rectangle 9"/>
          <p:cNvSpPr>
            <a:spLocks/>
          </p:cNvSpPr>
          <p:nvPr/>
        </p:nvSpPr>
        <p:spPr bwMode="auto">
          <a:xfrm>
            <a:off x="6676572" y="5334000"/>
            <a:ext cx="2063750" cy="3810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Instruction pointer</a:t>
            </a:r>
          </a:p>
        </p:txBody>
      </p:sp>
      <p:sp>
        <p:nvSpPr>
          <p:cNvPr id="33802" name="Rectangle 10"/>
          <p:cNvSpPr>
            <a:spLocks/>
          </p:cNvSpPr>
          <p:nvPr/>
        </p:nvSpPr>
        <p:spPr bwMode="auto">
          <a:xfrm>
            <a:off x="44858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CF</a:t>
            </a:r>
          </a:p>
        </p:txBody>
      </p:sp>
      <p:sp>
        <p:nvSpPr>
          <p:cNvPr id="33803" name="Rectangle 11"/>
          <p:cNvSpPr>
            <a:spLocks/>
          </p:cNvSpPr>
          <p:nvPr/>
        </p:nvSpPr>
        <p:spPr bwMode="auto">
          <a:xfrm>
            <a:off x="51589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ZF</a:t>
            </a:r>
          </a:p>
        </p:txBody>
      </p:sp>
      <p:sp>
        <p:nvSpPr>
          <p:cNvPr id="33804" name="Rectangle 12"/>
          <p:cNvSpPr>
            <a:spLocks/>
          </p:cNvSpPr>
          <p:nvPr/>
        </p:nvSpPr>
        <p:spPr bwMode="auto">
          <a:xfrm>
            <a:off x="58320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SF</a:t>
            </a:r>
          </a:p>
        </p:txBody>
      </p:sp>
      <p:sp>
        <p:nvSpPr>
          <p:cNvPr id="33805" name="Rectangle 13"/>
          <p:cNvSpPr>
            <a:spLocks/>
          </p:cNvSpPr>
          <p:nvPr/>
        </p:nvSpPr>
        <p:spPr bwMode="auto">
          <a:xfrm>
            <a:off x="65051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OF</a:t>
            </a:r>
          </a:p>
        </p:txBody>
      </p:sp>
      <p:sp>
        <p:nvSpPr>
          <p:cNvPr id="33806" name="Rectangle 14"/>
          <p:cNvSpPr>
            <a:spLocks/>
          </p:cNvSpPr>
          <p:nvPr/>
        </p:nvSpPr>
        <p:spPr bwMode="auto">
          <a:xfrm>
            <a:off x="7189788" y="6019800"/>
            <a:ext cx="1801812" cy="4445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2000" dirty="0">
                <a:solidFill>
                  <a:srgbClr val="C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Condition codes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4466772" y="2286000"/>
            <a:ext cx="4296228" cy="2743200"/>
            <a:chOff x="762000" y="1143000"/>
            <a:chExt cx="7518400" cy="4800600"/>
          </a:xfrm>
        </p:grpSpPr>
        <p:sp>
          <p:nvSpPr>
            <p:cNvPr id="27" name="Rectangle 1"/>
            <p:cNvSpPr>
              <a:spLocks/>
            </p:cNvSpPr>
            <p:nvPr/>
          </p:nvSpPr>
          <p:spPr bwMode="auto">
            <a:xfrm>
              <a:off x="762000" y="4800600"/>
              <a:ext cx="3556000" cy="533400"/>
            </a:xfrm>
            <a:prstGeom prst="rect">
              <a:avLst/>
            </a:prstGeom>
            <a:solidFill>
              <a:srgbClr val="EFBFBF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%rsp</a:t>
              </a:r>
            </a:p>
          </p:txBody>
        </p:sp>
        <p:sp>
          <p:nvSpPr>
            <p:cNvPr id="28" name="Rectangle 22"/>
            <p:cNvSpPr>
              <a:spLocks/>
            </p:cNvSpPr>
            <p:nvPr/>
          </p:nvSpPr>
          <p:spPr bwMode="auto">
            <a:xfrm>
              <a:off x="4724400" y="1143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%r8</a:t>
              </a:r>
            </a:p>
          </p:txBody>
        </p:sp>
        <p:sp>
          <p:nvSpPr>
            <p:cNvPr id="29" name="Rectangle 23"/>
            <p:cNvSpPr>
              <a:spLocks/>
            </p:cNvSpPr>
            <p:nvPr/>
          </p:nvSpPr>
          <p:spPr bwMode="auto">
            <a:xfrm>
              <a:off x="4724400" y="17526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%r9</a:t>
              </a:r>
            </a:p>
          </p:txBody>
        </p:sp>
        <p:sp>
          <p:nvSpPr>
            <p:cNvPr id="30" name="Rectangle 24"/>
            <p:cNvSpPr>
              <a:spLocks/>
            </p:cNvSpPr>
            <p:nvPr/>
          </p:nvSpPr>
          <p:spPr bwMode="auto">
            <a:xfrm>
              <a:off x="4724400" y="2362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%r10</a:t>
              </a:r>
            </a:p>
          </p:txBody>
        </p:sp>
        <p:sp>
          <p:nvSpPr>
            <p:cNvPr id="31" name="Rectangle 25"/>
            <p:cNvSpPr>
              <a:spLocks/>
            </p:cNvSpPr>
            <p:nvPr/>
          </p:nvSpPr>
          <p:spPr bwMode="auto">
            <a:xfrm>
              <a:off x="4724400" y="29718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%r11</a:t>
              </a:r>
            </a:p>
          </p:txBody>
        </p:sp>
        <p:sp>
          <p:nvSpPr>
            <p:cNvPr id="32" name="Rectangle 26"/>
            <p:cNvSpPr>
              <a:spLocks/>
            </p:cNvSpPr>
            <p:nvPr/>
          </p:nvSpPr>
          <p:spPr bwMode="auto">
            <a:xfrm>
              <a:off x="4724400" y="35814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%r12</a:t>
              </a:r>
            </a:p>
          </p:txBody>
        </p:sp>
        <p:sp>
          <p:nvSpPr>
            <p:cNvPr id="33" name="Rectangle 27"/>
            <p:cNvSpPr>
              <a:spLocks/>
            </p:cNvSpPr>
            <p:nvPr/>
          </p:nvSpPr>
          <p:spPr bwMode="auto">
            <a:xfrm>
              <a:off x="4724400" y="4191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%r13</a:t>
              </a:r>
            </a:p>
          </p:txBody>
        </p:sp>
        <p:sp>
          <p:nvSpPr>
            <p:cNvPr id="34" name="Rectangle 28"/>
            <p:cNvSpPr>
              <a:spLocks/>
            </p:cNvSpPr>
            <p:nvPr/>
          </p:nvSpPr>
          <p:spPr bwMode="auto">
            <a:xfrm>
              <a:off x="4724400" y="48006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%r14</a:t>
              </a:r>
            </a:p>
          </p:txBody>
        </p:sp>
        <p:sp>
          <p:nvSpPr>
            <p:cNvPr id="35" name="Rectangle 29"/>
            <p:cNvSpPr>
              <a:spLocks/>
            </p:cNvSpPr>
            <p:nvPr/>
          </p:nvSpPr>
          <p:spPr bwMode="auto">
            <a:xfrm>
              <a:off x="4724400" y="5410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%r15</a:t>
              </a:r>
            </a:p>
          </p:txBody>
        </p:sp>
        <p:sp>
          <p:nvSpPr>
            <p:cNvPr id="36" name="Rectangle 30"/>
            <p:cNvSpPr>
              <a:spLocks/>
            </p:cNvSpPr>
            <p:nvPr/>
          </p:nvSpPr>
          <p:spPr bwMode="auto">
            <a:xfrm>
              <a:off x="762000" y="1143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rax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37" name="Rectangle 31"/>
            <p:cNvSpPr>
              <a:spLocks/>
            </p:cNvSpPr>
            <p:nvPr/>
          </p:nvSpPr>
          <p:spPr bwMode="auto">
            <a:xfrm>
              <a:off x="762000" y="17526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rbx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38" name="Rectangle 32"/>
            <p:cNvSpPr>
              <a:spLocks/>
            </p:cNvSpPr>
            <p:nvPr/>
          </p:nvSpPr>
          <p:spPr bwMode="auto">
            <a:xfrm>
              <a:off x="762000" y="2362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%rcx</a:t>
              </a:r>
            </a:p>
          </p:txBody>
        </p:sp>
        <p:sp>
          <p:nvSpPr>
            <p:cNvPr id="39" name="Rectangle 33"/>
            <p:cNvSpPr>
              <a:spLocks/>
            </p:cNvSpPr>
            <p:nvPr/>
          </p:nvSpPr>
          <p:spPr bwMode="auto">
            <a:xfrm>
              <a:off x="762000" y="29718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%rdx</a:t>
              </a:r>
            </a:p>
          </p:txBody>
        </p:sp>
        <p:sp>
          <p:nvSpPr>
            <p:cNvPr id="40" name="Rectangle 34"/>
            <p:cNvSpPr>
              <a:spLocks/>
            </p:cNvSpPr>
            <p:nvPr/>
          </p:nvSpPr>
          <p:spPr bwMode="auto">
            <a:xfrm>
              <a:off x="762000" y="35814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%rsi</a:t>
              </a:r>
            </a:p>
          </p:txBody>
        </p:sp>
        <p:sp>
          <p:nvSpPr>
            <p:cNvPr id="41" name="Rectangle 35"/>
            <p:cNvSpPr>
              <a:spLocks/>
            </p:cNvSpPr>
            <p:nvPr/>
          </p:nvSpPr>
          <p:spPr bwMode="auto">
            <a:xfrm>
              <a:off x="762000" y="4191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%rdi</a:t>
              </a:r>
            </a:p>
          </p:txBody>
        </p:sp>
        <p:sp>
          <p:nvSpPr>
            <p:cNvPr id="42" name="Rectangle 36"/>
            <p:cNvSpPr>
              <a:spLocks/>
            </p:cNvSpPr>
            <p:nvPr/>
          </p:nvSpPr>
          <p:spPr bwMode="auto">
            <a:xfrm>
              <a:off x="762000" y="5410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%rbp</a:t>
              </a:r>
            </a:p>
          </p:txBody>
        </p:sp>
      </p:grpSp>
      <p:cxnSp>
        <p:nvCxnSpPr>
          <p:cNvPr id="3" name="Straight Arrow Connector 2"/>
          <p:cNvCxnSpPr>
            <a:endCxn id="27" idx="1"/>
          </p:cNvCxnSpPr>
          <p:nvPr/>
        </p:nvCxnSpPr>
        <p:spPr bwMode="auto">
          <a:xfrm flipV="1">
            <a:off x="3657600" y="4528457"/>
            <a:ext cx="809172" cy="118654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75153E8-61E3-EE42-5912-C073647505E7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398FDD-5118-3F6A-1924-7F319E20D695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481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Condition Codes (Implicit Setting)</a:t>
            </a:r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Single bit registers</a:t>
            </a:r>
          </a:p>
          <a:p>
            <a:pPr marL="317500" lvl="1" indent="0"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</a:t>
            </a:r>
            <a:r>
              <a:rPr lang="en-US" dirty="0"/>
              <a:t>	 Carry Flag (for unsigned)	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</a:t>
            </a:r>
            <a:r>
              <a:rPr lang="en-US" dirty="0"/>
              <a:t>  Sign Flag (for signed)</a:t>
            </a:r>
          </a:p>
          <a:p>
            <a:pPr marL="317500" lvl="1" indent="0"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</a:t>
            </a:r>
            <a:r>
              <a:rPr lang="en-US" dirty="0"/>
              <a:t>	 Zero Flag	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OF</a:t>
            </a:r>
            <a:r>
              <a:rPr lang="en-US" dirty="0"/>
              <a:t>  Overflow Flag (for signed)</a:t>
            </a:r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endParaRPr lang="en-US" dirty="0"/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Implicitly set (think of it as side effect) by arithmetic operations</a:t>
            </a:r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Example: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addq</a:t>
            </a:r>
            <a:r>
              <a:rPr lang="en-US" dirty="0"/>
              <a:t>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</a:t>
            </a:r>
            <a:r>
              <a:rPr lang="en-US" dirty="0" err="1"/>
              <a:t>,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/>
              <a:t> ↔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t =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a+b</a:t>
            </a:r>
            <a:endParaRPr lang="en-US" dirty="0"/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 set</a:t>
            </a:r>
            <a:r>
              <a:rPr lang="en-US" dirty="0"/>
              <a:t> if carry out from most significant bit (unsigned overflow)</a:t>
            </a:r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 set</a:t>
            </a:r>
            <a:r>
              <a:rPr lang="en-US" dirty="0"/>
              <a:t>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t == 0</a:t>
            </a:r>
            <a:endParaRPr lang="en-US" dirty="0"/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 set</a:t>
            </a:r>
            <a:r>
              <a:rPr lang="en-US" dirty="0"/>
              <a:t>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t &lt; 0</a:t>
            </a:r>
            <a:r>
              <a:rPr lang="en-US" dirty="0"/>
              <a:t> (as signed)</a:t>
            </a:r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OF set</a:t>
            </a:r>
            <a:r>
              <a:rPr lang="en-US" dirty="0"/>
              <a:t> if two’s-complement (signed) overflow</a:t>
            </a:r>
            <a:br>
              <a:rPr lang="en-US" dirty="0"/>
            </a:b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(a&gt;0 &amp;&amp; b&gt;0 &amp;&amp; t&lt;0) || (a&lt;0 &amp;&amp; b&lt;0 &amp;&amp; t&gt;=0)</a:t>
            </a:r>
            <a:endParaRPr lang="en-US" dirty="0"/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endParaRPr lang="en-US" dirty="0"/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Not set by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leaq</a:t>
            </a:r>
            <a:r>
              <a:rPr lang="en-US" dirty="0"/>
              <a:t> instruction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032A8B-5B9F-BB44-AFB0-81BF1DA3778C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7D7D4C-C74A-8598-B2BD-CFD8C590E05B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584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Condition Codes (Explicit Setting: Compare)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Explicit Setting by Compare Instruction</a:t>
            </a:r>
          </a:p>
          <a:p>
            <a:pPr marL="317500" lvl="1" indent="0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cmpq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Src2</a:t>
            </a:r>
            <a:r>
              <a:rPr lang="en-US" dirty="0"/>
              <a:t>,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Src1</a:t>
            </a:r>
            <a:endParaRPr lang="en-US" dirty="0"/>
          </a:p>
          <a:p>
            <a:pPr marL="317500" lvl="1" indent="0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cmpq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b,a</a:t>
            </a:r>
            <a:r>
              <a:rPr lang="en-US" dirty="0"/>
              <a:t> like computing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a-b</a:t>
            </a:r>
            <a:r>
              <a:rPr lang="en-US" dirty="0"/>
              <a:t> without setting destination</a:t>
            </a:r>
          </a:p>
          <a:p>
            <a:pPr marL="317500" lvl="1" indent="0"/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 set</a:t>
            </a:r>
            <a:r>
              <a:rPr lang="en-US" dirty="0"/>
              <a:t> if carry out from most significant bit (used for unsigned comparisons)</a:t>
            </a:r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 set</a:t>
            </a:r>
            <a:r>
              <a:rPr lang="en-US" dirty="0"/>
              <a:t>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a == b</a:t>
            </a:r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 set</a:t>
            </a:r>
            <a:r>
              <a:rPr lang="en-US" dirty="0"/>
              <a:t>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(a-b) &lt; 0</a:t>
            </a:r>
            <a:r>
              <a:rPr lang="en-US" dirty="0"/>
              <a:t> (as signed)</a:t>
            </a:r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OF set</a:t>
            </a:r>
            <a:r>
              <a:rPr lang="en-US" dirty="0"/>
              <a:t> if two’s-complement (signed) overflow</a:t>
            </a:r>
            <a:br>
              <a:rPr lang="en-US" dirty="0"/>
            </a:b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(a&gt;0 &amp;&amp; b&lt;0 &amp;&amp; (a-b)&lt;0) || (a&lt;0 &amp;&amp; b&gt;0 &amp;&amp; (a-b)&gt;0)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8AB288-9105-A313-99ED-BEC44475E656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A49FF3-1330-DE30-119C-3C4035A48716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686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Condition Codes (Explicit Setting: Test)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Explicit Setting by Test instruction</a:t>
            </a:r>
          </a:p>
          <a:p>
            <a:pPr marL="317500" lvl="1" indent="0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testq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Src2</a:t>
            </a:r>
            <a:r>
              <a:rPr lang="en-US" dirty="0"/>
              <a:t>,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Src1</a:t>
            </a:r>
            <a:endParaRPr lang="en-US" dirty="0"/>
          </a:p>
          <a:p>
            <a:pPr marL="603250" lvl="2" indent="0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testq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b,a</a:t>
            </a:r>
            <a:r>
              <a:rPr lang="en-US" dirty="0"/>
              <a:t> like computing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a&amp;b</a:t>
            </a:r>
            <a:r>
              <a:rPr lang="en-US" dirty="0"/>
              <a:t> without setting destination </a:t>
            </a:r>
          </a:p>
          <a:p>
            <a:pPr marL="317500" lvl="1" indent="0"/>
            <a:endParaRPr lang="en-US" dirty="0"/>
          </a:p>
          <a:p>
            <a:pPr marL="317500" lvl="1" indent="0"/>
            <a:r>
              <a:rPr lang="en-US" dirty="0"/>
              <a:t>Sets condition codes based on value of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Src1</a:t>
            </a:r>
            <a:r>
              <a:rPr lang="en-US" dirty="0"/>
              <a:t> &amp;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Src2</a:t>
            </a:r>
            <a:endParaRPr lang="en-US" dirty="0"/>
          </a:p>
          <a:p>
            <a:pPr marL="317500" lvl="1" indent="0"/>
            <a:r>
              <a:rPr lang="en-US" dirty="0"/>
              <a:t>Useful to have one of the operands be a mask</a:t>
            </a:r>
          </a:p>
          <a:p>
            <a:pPr marL="317500" lvl="1" indent="0"/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 set</a:t>
            </a:r>
            <a:r>
              <a:rPr lang="en-US" dirty="0"/>
              <a:t> when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a&amp;b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== 0</a:t>
            </a:r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 set</a:t>
            </a:r>
            <a:r>
              <a:rPr lang="en-US" dirty="0"/>
              <a:t> when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a&amp;b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&lt; 0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86FC0F-33B1-42B4-DC0B-19AFC9637AF8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FDFD3B-B427-E573-6514-9D5575123BDF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78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Reading Condition Codes</a:t>
            </a:r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 err="1"/>
              <a:t>SetX</a:t>
            </a:r>
            <a:r>
              <a:rPr lang="en-US" dirty="0"/>
              <a:t> Instructions</a:t>
            </a:r>
          </a:p>
          <a:p>
            <a:pPr marL="552450" lvl="1"/>
            <a:r>
              <a:rPr lang="en-US" dirty="0"/>
              <a:t>Set low-order byte of destination to 0 or 1 based on combinations of condition codes</a:t>
            </a:r>
          </a:p>
          <a:p>
            <a:pPr marL="552450" lvl="1"/>
            <a:r>
              <a:rPr lang="en-US" dirty="0"/>
              <a:t>Does not alter remaining 7 bytes</a:t>
            </a:r>
          </a:p>
          <a:p>
            <a:pPr marL="552450" lvl="1"/>
            <a:endParaRPr lang="en-US" dirty="0"/>
          </a:p>
        </p:txBody>
      </p:sp>
      <p:graphicFrame>
        <p:nvGraphicFramePr>
          <p:cNvPr id="37893" name="Group 5"/>
          <p:cNvGraphicFramePr>
            <a:graphicFrameLocks noGrp="1"/>
          </p:cNvGraphicFramePr>
          <p:nvPr/>
        </p:nvGraphicFramePr>
        <p:xfrm>
          <a:off x="1295400" y="2976880"/>
          <a:ext cx="6096000" cy="3576320"/>
        </p:xfrm>
        <a:graphic>
          <a:graphicData uri="http://schemas.openxmlformats.org/drawingml/2006/table">
            <a:tbl>
              <a:tblPr/>
              <a:tblGrid>
                <a:gridCol w="1109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SetX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Condition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Description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Equal / Zero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setne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Not Equal / Not Zero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sets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Negative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setns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~SF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Nonnegative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setg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~(SF^OF)&amp;~ZF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setge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or Equal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setl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setle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(SF^OF)|ZF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or Equal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seta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~CF&amp;~ZF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Above (unsigned)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setb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CF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Below (unsigned)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EA4ECA6E-7D44-8FEC-562D-448026DA00B3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9F209-3640-1A7C-DB45-B494573D476A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762000" y="4800600"/>
            <a:ext cx="3556000" cy="533400"/>
          </a:xfrm>
          <a:prstGeom prst="rect">
            <a:avLst/>
          </a:prstGeom>
          <a:solidFill>
            <a:srgbClr val="EFBFB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Integer Registers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18682" y="6019800"/>
            <a:ext cx="7329487" cy="838200"/>
          </a:xfrm>
          <a:ln/>
        </p:spPr>
        <p:txBody>
          <a:bodyPr/>
          <a:lstStyle/>
          <a:p>
            <a:pPr lvl="1"/>
            <a:r>
              <a:rPr lang="en-US" dirty="0"/>
              <a:t>Can reference low-order byte</a:t>
            </a:r>
          </a:p>
        </p:txBody>
      </p:sp>
      <p:sp>
        <p:nvSpPr>
          <p:cNvPr id="27654" name="Rectangle 6"/>
          <p:cNvSpPr>
            <a:spLocks/>
          </p:cNvSpPr>
          <p:nvPr/>
        </p:nvSpPr>
        <p:spPr bwMode="auto">
          <a:xfrm>
            <a:off x="3657600" y="11811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%al</a:t>
            </a:r>
          </a:p>
        </p:txBody>
      </p:sp>
      <p:sp>
        <p:nvSpPr>
          <p:cNvPr id="27655" name="Rectangle 7"/>
          <p:cNvSpPr>
            <a:spLocks/>
          </p:cNvSpPr>
          <p:nvPr/>
        </p:nvSpPr>
        <p:spPr bwMode="auto">
          <a:xfrm>
            <a:off x="3657600" y="17907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bl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56" name="Rectangle 8"/>
          <p:cNvSpPr>
            <a:spLocks/>
          </p:cNvSpPr>
          <p:nvPr/>
        </p:nvSpPr>
        <p:spPr bwMode="auto">
          <a:xfrm>
            <a:off x="3657600" y="24003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%cl</a:t>
            </a:r>
          </a:p>
        </p:txBody>
      </p:sp>
      <p:sp>
        <p:nvSpPr>
          <p:cNvPr id="27657" name="Rectangle 9"/>
          <p:cNvSpPr>
            <a:spLocks/>
          </p:cNvSpPr>
          <p:nvPr/>
        </p:nvSpPr>
        <p:spPr bwMode="auto">
          <a:xfrm>
            <a:off x="3657600" y="30099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%dl</a:t>
            </a:r>
          </a:p>
        </p:txBody>
      </p:sp>
      <p:sp>
        <p:nvSpPr>
          <p:cNvPr id="27658" name="Rectangle 10"/>
          <p:cNvSpPr>
            <a:spLocks/>
          </p:cNvSpPr>
          <p:nvPr/>
        </p:nvSpPr>
        <p:spPr bwMode="auto">
          <a:xfrm>
            <a:off x="3657600" y="36195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sil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59" name="Rectangle 11"/>
          <p:cNvSpPr>
            <a:spLocks/>
          </p:cNvSpPr>
          <p:nvPr/>
        </p:nvSpPr>
        <p:spPr bwMode="auto">
          <a:xfrm>
            <a:off x="3657600" y="42291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dil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60" name="Rectangle 12"/>
          <p:cNvSpPr>
            <a:spLocks/>
          </p:cNvSpPr>
          <p:nvPr/>
        </p:nvSpPr>
        <p:spPr bwMode="auto">
          <a:xfrm>
            <a:off x="3649650" y="4838700"/>
            <a:ext cx="655649" cy="444500"/>
          </a:xfrm>
          <a:prstGeom prst="rect">
            <a:avLst/>
          </a:prstGeom>
          <a:solidFill>
            <a:srgbClr val="FF99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spl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61" name="Rectangle 13"/>
          <p:cNvSpPr>
            <a:spLocks/>
          </p:cNvSpPr>
          <p:nvPr/>
        </p:nvSpPr>
        <p:spPr bwMode="auto">
          <a:xfrm>
            <a:off x="3657600" y="54356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bpl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62" name="Rectangle 14"/>
          <p:cNvSpPr>
            <a:spLocks/>
          </p:cNvSpPr>
          <p:nvPr/>
        </p:nvSpPr>
        <p:spPr bwMode="auto">
          <a:xfrm>
            <a:off x="7620000" y="11811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%r8b</a:t>
            </a:r>
          </a:p>
        </p:txBody>
      </p:sp>
      <p:sp>
        <p:nvSpPr>
          <p:cNvPr id="27663" name="Rectangle 15"/>
          <p:cNvSpPr>
            <a:spLocks/>
          </p:cNvSpPr>
          <p:nvPr/>
        </p:nvSpPr>
        <p:spPr bwMode="auto">
          <a:xfrm>
            <a:off x="7620000" y="17907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%r9b</a:t>
            </a:r>
          </a:p>
        </p:txBody>
      </p:sp>
      <p:sp>
        <p:nvSpPr>
          <p:cNvPr id="27664" name="Rectangle 16"/>
          <p:cNvSpPr>
            <a:spLocks/>
          </p:cNvSpPr>
          <p:nvPr/>
        </p:nvSpPr>
        <p:spPr bwMode="auto">
          <a:xfrm>
            <a:off x="7620000" y="24003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%r10b</a:t>
            </a:r>
          </a:p>
        </p:txBody>
      </p:sp>
      <p:sp>
        <p:nvSpPr>
          <p:cNvPr id="27665" name="Rectangle 17"/>
          <p:cNvSpPr>
            <a:spLocks/>
          </p:cNvSpPr>
          <p:nvPr/>
        </p:nvSpPr>
        <p:spPr bwMode="auto">
          <a:xfrm>
            <a:off x="7620000" y="30099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%r11b</a:t>
            </a:r>
          </a:p>
        </p:txBody>
      </p:sp>
      <p:sp>
        <p:nvSpPr>
          <p:cNvPr id="27666" name="Rectangle 18"/>
          <p:cNvSpPr>
            <a:spLocks/>
          </p:cNvSpPr>
          <p:nvPr/>
        </p:nvSpPr>
        <p:spPr bwMode="auto">
          <a:xfrm>
            <a:off x="7620000" y="36195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%r12b</a:t>
            </a:r>
          </a:p>
        </p:txBody>
      </p:sp>
      <p:sp>
        <p:nvSpPr>
          <p:cNvPr id="27667" name="Rectangle 19"/>
          <p:cNvSpPr>
            <a:spLocks/>
          </p:cNvSpPr>
          <p:nvPr/>
        </p:nvSpPr>
        <p:spPr bwMode="auto">
          <a:xfrm>
            <a:off x="7620000" y="42291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%r13b</a:t>
            </a:r>
          </a:p>
        </p:txBody>
      </p:sp>
      <p:sp>
        <p:nvSpPr>
          <p:cNvPr id="27668" name="Rectangle 20"/>
          <p:cNvSpPr>
            <a:spLocks/>
          </p:cNvSpPr>
          <p:nvPr/>
        </p:nvSpPr>
        <p:spPr bwMode="auto">
          <a:xfrm>
            <a:off x="7620000" y="48387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%r14b</a:t>
            </a:r>
          </a:p>
        </p:txBody>
      </p:sp>
      <p:sp>
        <p:nvSpPr>
          <p:cNvPr id="27669" name="Rectangle 21"/>
          <p:cNvSpPr>
            <a:spLocks/>
          </p:cNvSpPr>
          <p:nvPr/>
        </p:nvSpPr>
        <p:spPr bwMode="auto">
          <a:xfrm>
            <a:off x="7620000" y="54483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%r15b</a:t>
            </a:r>
          </a:p>
        </p:txBody>
      </p:sp>
      <p:sp>
        <p:nvSpPr>
          <p:cNvPr id="27670" name="Rectangle 22"/>
          <p:cNvSpPr>
            <a:spLocks/>
          </p:cNvSpPr>
          <p:nvPr/>
        </p:nvSpPr>
        <p:spPr bwMode="auto">
          <a:xfrm>
            <a:off x="4724400" y="1143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</a:t>
            </a:r>
          </a:p>
        </p:txBody>
      </p:sp>
      <p:sp>
        <p:nvSpPr>
          <p:cNvPr id="27671" name="Rectangle 23"/>
          <p:cNvSpPr>
            <a:spLocks/>
          </p:cNvSpPr>
          <p:nvPr/>
        </p:nvSpPr>
        <p:spPr bwMode="auto">
          <a:xfrm>
            <a:off x="4724400" y="1752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</a:t>
            </a:r>
          </a:p>
        </p:txBody>
      </p:sp>
      <p:sp>
        <p:nvSpPr>
          <p:cNvPr id="27672" name="Rectangle 24"/>
          <p:cNvSpPr>
            <a:spLocks/>
          </p:cNvSpPr>
          <p:nvPr/>
        </p:nvSpPr>
        <p:spPr bwMode="auto">
          <a:xfrm>
            <a:off x="4724400" y="2362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</a:t>
            </a:r>
          </a:p>
        </p:txBody>
      </p:sp>
      <p:sp>
        <p:nvSpPr>
          <p:cNvPr id="27673" name="Rectangle 25"/>
          <p:cNvSpPr>
            <a:spLocks/>
          </p:cNvSpPr>
          <p:nvPr/>
        </p:nvSpPr>
        <p:spPr bwMode="auto">
          <a:xfrm>
            <a:off x="4724400" y="29718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</a:t>
            </a:r>
          </a:p>
        </p:txBody>
      </p:sp>
      <p:sp>
        <p:nvSpPr>
          <p:cNvPr id="27674" name="Rectangle 26"/>
          <p:cNvSpPr>
            <a:spLocks/>
          </p:cNvSpPr>
          <p:nvPr/>
        </p:nvSpPr>
        <p:spPr bwMode="auto">
          <a:xfrm>
            <a:off x="4724400" y="35814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</a:t>
            </a:r>
          </a:p>
        </p:txBody>
      </p:sp>
      <p:sp>
        <p:nvSpPr>
          <p:cNvPr id="27675" name="Rectangle 27"/>
          <p:cNvSpPr>
            <a:spLocks/>
          </p:cNvSpPr>
          <p:nvPr/>
        </p:nvSpPr>
        <p:spPr bwMode="auto">
          <a:xfrm>
            <a:off x="4724400" y="4191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</a:t>
            </a:r>
          </a:p>
        </p:txBody>
      </p:sp>
      <p:sp>
        <p:nvSpPr>
          <p:cNvPr id="27676" name="Rectangle 28"/>
          <p:cNvSpPr>
            <a:spLocks/>
          </p:cNvSpPr>
          <p:nvPr/>
        </p:nvSpPr>
        <p:spPr bwMode="auto">
          <a:xfrm>
            <a:off x="4724400" y="4800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</a:t>
            </a:r>
          </a:p>
        </p:txBody>
      </p:sp>
      <p:sp>
        <p:nvSpPr>
          <p:cNvPr id="27677" name="Rectangle 29"/>
          <p:cNvSpPr>
            <a:spLocks/>
          </p:cNvSpPr>
          <p:nvPr/>
        </p:nvSpPr>
        <p:spPr bwMode="auto">
          <a:xfrm>
            <a:off x="4724400" y="5410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</a:t>
            </a:r>
          </a:p>
        </p:txBody>
      </p:sp>
      <p:sp>
        <p:nvSpPr>
          <p:cNvPr id="27678" name="Rectangle 30"/>
          <p:cNvSpPr>
            <a:spLocks/>
          </p:cNvSpPr>
          <p:nvPr/>
        </p:nvSpPr>
        <p:spPr bwMode="auto">
          <a:xfrm>
            <a:off x="762000" y="1143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79" name="Rectangle 31"/>
          <p:cNvSpPr>
            <a:spLocks/>
          </p:cNvSpPr>
          <p:nvPr/>
        </p:nvSpPr>
        <p:spPr bwMode="auto">
          <a:xfrm>
            <a:off x="762000" y="1752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80" name="Rectangle 32"/>
          <p:cNvSpPr>
            <a:spLocks/>
          </p:cNvSpPr>
          <p:nvPr/>
        </p:nvSpPr>
        <p:spPr bwMode="auto">
          <a:xfrm>
            <a:off x="762000" y="2362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%rcx</a:t>
            </a:r>
          </a:p>
        </p:txBody>
      </p:sp>
      <p:sp>
        <p:nvSpPr>
          <p:cNvPr id="27681" name="Rectangle 33"/>
          <p:cNvSpPr>
            <a:spLocks/>
          </p:cNvSpPr>
          <p:nvPr/>
        </p:nvSpPr>
        <p:spPr bwMode="auto">
          <a:xfrm>
            <a:off x="762000" y="29718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%rdx</a:t>
            </a:r>
          </a:p>
        </p:txBody>
      </p:sp>
      <p:sp>
        <p:nvSpPr>
          <p:cNvPr id="27682" name="Rectangle 34"/>
          <p:cNvSpPr>
            <a:spLocks/>
          </p:cNvSpPr>
          <p:nvPr/>
        </p:nvSpPr>
        <p:spPr bwMode="auto">
          <a:xfrm>
            <a:off x="762000" y="35814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%rsi</a:t>
            </a:r>
          </a:p>
        </p:txBody>
      </p:sp>
      <p:sp>
        <p:nvSpPr>
          <p:cNvPr id="27683" name="Rectangle 35"/>
          <p:cNvSpPr>
            <a:spLocks/>
          </p:cNvSpPr>
          <p:nvPr/>
        </p:nvSpPr>
        <p:spPr bwMode="auto">
          <a:xfrm>
            <a:off x="762000" y="4191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%rdi</a:t>
            </a:r>
          </a:p>
        </p:txBody>
      </p:sp>
      <p:sp>
        <p:nvSpPr>
          <p:cNvPr id="27684" name="Rectangle 36"/>
          <p:cNvSpPr>
            <a:spLocks/>
          </p:cNvSpPr>
          <p:nvPr/>
        </p:nvSpPr>
        <p:spPr bwMode="auto">
          <a:xfrm>
            <a:off x="762000" y="5410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%rbp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5109C8-FE51-E99F-FA65-2FB0F540BA0C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57F7A5-CB7E-F927-0340-A75F8836501D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5255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/>
          </p:cNvSpPr>
          <p:nvPr/>
        </p:nvSpPr>
        <p:spPr bwMode="auto">
          <a:xfrm>
            <a:off x="304800" y="5410200"/>
            <a:ext cx="6629400" cy="11176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%rdi  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Compare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x:y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lvl="1" algn="l"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setg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%al          # Set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when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&gt;</a:t>
            </a:r>
          </a:p>
          <a:p>
            <a:pPr lvl="1" algn="l"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movzbl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%al,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Zero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rest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of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38914" name="Rectangle 2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8915" name="Rectangle 3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8920" name="Rectangle 8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Reading Condition Codes (Cont.)</a:t>
            </a:r>
          </a:p>
        </p:txBody>
      </p:sp>
      <p:sp>
        <p:nvSpPr>
          <p:cNvPr id="3892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81000" y="1155700"/>
            <a:ext cx="5880100" cy="3327400"/>
          </a:xfrm>
          <a:ln/>
        </p:spPr>
        <p:txBody>
          <a:bodyPr/>
          <a:lstStyle/>
          <a:p>
            <a:r>
              <a:rPr lang="en-US" dirty="0" err="1"/>
              <a:t>SetX</a:t>
            </a:r>
            <a:r>
              <a:rPr lang="en-US" dirty="0"/>
              <a:t> Instructions: </a:t>
            </a:r>
          </a:p>
          <a:p>
            <a:pPr marL="552450" lvl="1"/>
            <a:r>
              <a:rPr lang="en-US" dirty="0"/>
              <a:t>Set single byte based on combination of condition codes</a:t>
            </a:r>
          </a:p>
          <a:p>
            <a:r>
              <a:rPr lang="en-US" dirty="0"/>
              <a:t>One of addressable byte registers</a:t>
            </a:r>
          </a:p>
          <a:p>
            <a:pPr marL="552450" lvl="1"/>
            <a:r>
              <a:rPr lang="en-US" dirty="0"/>
              <a:t>Does not alter remaining bytes</a:t>
            </a:r>
          </a:p>
          <a:p>
            <a:pPr marL="552450" lvl="1"/>
            <a:r>
              <a:rPr lang="en-US" dirty="0"/>
              <a:t>Typically use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movzbl</a:t>
            </a:r>
            <a:r>
              <a:rPr lang="en-US" dirty="0"/>
              <a:t> to finish job</a:t>
            </a:r>
          </a:p>
          <a:p>
            <a:pPr marL="838200" lvl="2"/>
            <a:r>
              <a:rPr lang="en-US" dirty="0"/>
              <a:t>32-bit instructions also set upper 32 bits to 0</a:t>
            </a:r>
          </a:p>
        </p:txBody>
      </p:sp>
      <p:sp>
        <p:nvSpPr>
          <p:cNvPr id="38922" name="Rectangle 10"/>
          <p:cNvSpPr>
            <a:spLocks/>
          </p:cNvSpPr>
          <p:nvPr/>
        </p:nvSpPr>
        <p:spPr bwMode="auto">
          <a:xfrm>
            <a:off x="1143000" y="3886200"/>
            <a:ext cx="3429000" cy="1295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x &gt; 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75258"/>
              </p:ext>
            </p:extLst>
          </p:nvPr>
        </p:nvGraphicFramePr>
        <p:xfrm>
          <a:off x="5638800" y="37338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FB27B478-B05A-7A1C-24B4-E63F300999B8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461D30-94C0-7604-11CA-BCB7F36D63CD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433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Control: Condition codes</a:t>
            </a:r>
          </a:p>
          <a:p>
            <a:r>
              <a:rPr lang="en-US" dirty="0">
                <a:solidFill>
                  <a:srgbClr val="000000"/>
                </a:solidFill>
              </a:rPr>
              <a:t>Conditional branches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Loops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Switch Statements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805A7F-7155-661E-3F69-1789AE46EFB6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2D9422-5EF6-6050-1DA7-22CCDAAAC984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2321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096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Jumping</a:t>
            </a:r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8382000" cy="863600"/>
          </a:xfrm>
          <a:ln/>
        </p:spPr>
        <p:txBody>
          <a:bodyPr/>
          <a:lstStyle/>
          <a:p>
            <a:r>
              <a:rPr lang="en-US"/>
              <a:t>jX Instructions</a:t>
            </a:r>
          </a:p>
          <a:p>
            <a:pPr marL="552450" lvl="1"/>
            <a:r>
              <a:rPr lang="en-US"/>
              <a:t>Jump to different part of code depending on condition codes</a:t>
            </a:r>
          </a:p>
        </p:txBody>
      </p:sp>
      <p:graphicFrame>
        <p:nvGraphicFramePr>
          <p:cNvPr id="40965" name="Group 5"/>
          <p:cNvGraphicFramePr>
            <a:graphicFrameLocks noGrp="1"/>
          </p:cNvGraphicFramePr>
          <p:nvPr/>
        </p:nvGraphicFramePr>
        <p:xfrm>
          <a:off x="1511300" y="2433638"/>
          <a:ext cx="6096000" cy="3901440"/>
        </p:xfrm>
        <a:graphic>
          <a:graphicData uri="http://schemas.openxmlformats.org/drawingml/2006/table">
            <a:tbl>
              <a:tblPr/>
              <a:tblGrid>
                <a:gridCol w="1109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jX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Condition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Description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jmp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Unconditional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Equal / Zero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Not Equal / Not Zero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js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Negative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jns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~SF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Nonnegative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jg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~(SF^OF)&amp;~ZF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jge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or Equal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jl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jle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(SF^OF)|ZF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or Equal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ja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~CF&amp;~ZF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Above (unsigned)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jb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CF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Below (unsigned)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FD89A083-0EC7-6E65-7421-5871C4AF4914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5426F1-CA71-4ACF-7C1D-56D0F6471AA4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30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Conditional Branch Example (Old Style)</a:t>
            </a:r>
          </a:p>
        </p:txBody>
      </p:sp>
      <p:sp>
        <p:nvSpPr>
          <p:cNvPr id="43012" name="Rectangle 4"/>
          <p:cNvSpPr>
            <a:spLocks/>
          </p:cNvSpPr>
          <p:nvPr/>
        </p:nvSpPr>
        <p:spPr bwMode="auto">
          <a:xfrm>
            <a:off x="508000" y="2235200"/>
            <a:ext cx="36703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&gt;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43013" name="Rectangle 5"/>
          <p:cNvSpPr>
            <a:spLocks/>
          </p:cNvSpPr>
          <p:nvPr/>
        </p:nvSpPr>
        <p:spPr bwMode="auto">
          <a:xfrm>
            <a:off x="4445000" y="1968500"/>
            <a:ext cx="4394200" cy="48133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absdiff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cmpq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x:y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jle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.L4</a:t>
            </a: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0000FF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0000FF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ret</a:t>
            </a: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.L4:       # x &lt;= y</a:t>
            </a: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CC0000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CC0000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ret</a:t>
            </a:r>
          </a:p>
        </p:txBody>
      </p:sp>
      <p:sp>
        <p:nvSpPr>
          <p:cNvPr id="17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1041400"/>
          </a:xfrm>
        </p:spPr>
        <p:txBody>
          <a:bodyPr/>
          <a:lstStyle/>
          <a:p>
            <a:r>
              <a:rPr lang="en-US" dirty="0"/>
              <a:t>Generation</a:t>
            </a:r>
          </a:p>
          <a:p>
            <a:pPr marL="279400" lvl="1" indent="0">
              <a:buNone/>
            </a:pP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shark&gt; 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gcc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 –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Og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 -S –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fno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-if-conversion 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control.c</a:t>
            </a:r>
            <a:endParaRPr lang="en-US" b="1" dirty="0">
              <a:solidFill>
                <a:srgbClr val="800000"/>
              </a:solidFill>
              <a:latin typeface="Courier New"/>
              <a:cs typeface="Courier New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254207"/>
              </p:ext>
            </p:extLst>
          </p:nvPr>
        </p:nvGraphicFramePr>
        <p:xfrm>
          <a:off x="4800600" y="50292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C8B0F74-0FC6-1D65-61FC-D92C44BCAAD8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2AA296-DDE1-7107-1E07-064FD1C1EDA6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30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Expressing with </a:t>
            </a:r>
            <a:r>
              <a:rPr lang="en-US" dirty="0" err="1"/>
              <a:t>Goto</a:t>
            </a:r>
            <a:r>
              <a:rPr lang="en-US" dirty="0"/>
              <a:t> Code</a:t>
            </a:r>
          </a:p>
        </p:txBody>
      </p:sp>
      <p:sp>
        <p:nvSpPr>
          <p:cNvPr id="43012" name="Rectangle 4"/>
          <p:cNvSpPr>
            <a:spLocks/>
          </p:cNvSpPr>
          <p:nvPr/>
        </p:nvSpPr>
        <p:spPr bwMode="auto">
          <a:xfrm>
            <a:off x="508000" y="2235200"/>
            <a:ext cx="36703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if (x &gt;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7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1041400"/>
          </a:xfrm>
        </p:spPr>
        <p:txBody>
          <a:bodyPr/>
          <a:lstStyle/>
          <a:p>
            <a:r>
              <a:rPr lang="en-US" dirty="0"/>
              <a:t>C allows </a:t>
            </a:r>
            <a:r>
              <a:rPr lang="en-US" b="1" dirty="0" err="1">
                <a:latin typeface="Courier New"/>
                <a:cs typeface="Courier New"/>
              </a:rPr>
              <a:t>goto</a:t>
            </a:r>
            <a:r>
              <a:rPr lang="en-US" dirty="0"/>
              <a:t> statement</a:t>
            </a:r>
          </a:p>
          <a:p>
            <a:r>
              <a:rPr lang="en-US" dirty="0"/>
              <a:t>Jump to position designated by label</a:t>
            </a:r>
          </a:p>
          <a:p>
            <a:endParaRPr lang="en-US" dirty="0"/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4495800" y="2209800"/>
            <a:ext cx="3657600" cy="3733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absdiff_j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x &lt;= 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Else;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Else: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C629CF-2FAA-AEA0-889B-466BDD6B4035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693F8A-C48D-7638-BEC7-3DD06E47D754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4523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91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9155" name="Rectangle 3"/>
          <p:cNvSpPr>
            <a:spLocks/>
          </p:cNvSpPr>
          <p:nvPr/>
        </p:nvSpPr>
        <p:spPr bwMode="auto">
          <a:xfrm>
            <a:off x="366713" y="1416050"/>
            <a:ext cx="29337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49156" name="Rectangle 4"/>
          <p:cNvSpPr>
            <a:spLocks/>
          </p:cNvSpPr>
          <p:nvPr/>
        </p:nvSpPr>
        <p:spPr bwMode="auto">
          <a:xfrm>
            <a:off x="457200" y="1887538"/>
            <a:ext cx="5715000" cy="4191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2000" b="1" i="1" dirty="0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Test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Then_Expr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Else_Expr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</p:txBody>
      </p:sp>
      <p:sp>
        <p:nvSpPr>
          <p:cNvPr id="49157" name="Rectangle 5"/>
          <p:cNvSpPr>
            <a:spLocks/>
          </p:cNvSpPr>
          <p:nvPr/>
        </p:nvSpPr>
        <p:spPr bwMode="auto">
          <a:xfrm>
            <a:off x="381000" y="339725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49158" name="Rectangle 6"/>
          <p:cNvSpPr>
            <a:spLocks/>
          </p:cNvSpPr>
          <p:nvPr/>
        </p:nvSpPr>
        <p:spPr bwMode="auto">
          <a:xfrm>
            <a:off x="457200" y="3816350"/>
            <a:ext cx="3746500" cy="235585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!</a:t>
            </a:r>
            <a:r>
              <a:rPr lang="en-US" sz="1800" b="1" i="1" dirty="0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Else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Then_Expr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Done;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Else: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Else_Expr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General Conditional Expression Translation (Using Branches)</a:t>
            </a:r>
          </a:p>
        </p:txBody>
      </p:sp>
      <p:sp>
        <p:nvSpPr>
          <p:cNvPr id="4916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330700" y="3886200"/>
            <a:ext cx="4432300" cy="2946400"/>
          </a:xfrm>
          <a:ln/>
        </p:spPr>
        <p:txBody>
          <a:bodyPr/>
          <a:lstStyle/>
          <a:p>
            <a:pPr marL="552450" lvl="1"/>
            <a:r>
              <a:rPr lang="en-US" dirty="0"/>
              <a:t>Create separate code regions for then &amp; else expressions</a:t>
            </a:r>
          </a:p>
          <a:p>
            <a:pPr marL="552450" lvl="1"/>
            <a:r>
              <a:rPr lang="en-US" dirty="0"/>
              <a:t>Execute appropriate one</a:t>
            </a:r>
          </a:p>
        </p:txBody>
      </p:sp>
      <p:sp>
        <p:nvSpPr>
          <p:cNvPr id="49161" name="Rectangle 9"/>
          <p:cNvSpPr>
            <a:spLocks/>
          </p:cNvSpPr>
          <p:nvPr/>
        </p:nvSpPr>
        <p:spPr bwMode="auto">
          <a:xfrm>
            <a:off x="1193800" y="2540000"/>
            <a:ext cx="3149600" cy="355600"/>
          </a:xfrm>
          <a:prstGeom prst="rect">
            <a:avLst/>
          </a:prstGeom>
          <a:solidFill>
            <a:srgbClr val="99CCF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794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x&gt;y ? x-y : y-x;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7A74F9-5249-2AE5-3648-368E5FE61DF2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3118AA-B435-8DEE-0C29-93C1CCDD4439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91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9155" name="Rectangle 3"/>
          <p:cNvSpPr>
            <a:spLocks/>
          </p:cNvSpPr>
          <p:nvPr/>
        </p:nvSpPr>
        <p:spPr bwMode="auto">
          <a:xfrm>
            <a:off x="5181600" y="2362200"/>
            <a:ext cx="29337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49156" name="Rectangle 4"/>
          <p:cNvSpPr>
            <a:spLocks/>
          </p:cNvSpPr>
          <p:nvPr/>
        </p:nvSpPr>
        <p:spPr bwMode="auto">
          <a:xfrm>
            <a:off x="5181600" y="2819400"/>
            <a:ext cx="2514600" cy="1160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2000" b="1" i="1" dirty="0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Test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?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Then_Expr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: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Else_Expr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</p:txBody>
      </p:sp>
      <p:sp>
        <p:nvSpPr>
          <p:cNvPr id="49157" name="Rectangle 5"/>
          <p:cNvSpPr>
            <a:spLocks/>
          </p:cNvSpPr>
          <p:nvPr/>
        </p:nvSpPr>
        <p:spPr bwMode="auto">
          <a:xfrm>
            <a:off x="5105400" y="40386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Version</a:t>
            </a:r>
          </a:p>
        </p:txBody>
      </p:sp>
      <p:sp>
        <p:nvSpPr>
          <p:cNvPr id="49158" name="Rectangle 6"/>
          <p:cNvSpPr>
            <a:spLocks/>
          </p:cNvSpPr>
          <p:nvPr/>
        </p:nvSpPr>
        <p:spPr bwMode="auto">
          <a:xfrm>
            <a:off x="5105400" y="4495800"/>
            <a:ext cx="3746500" cy="159385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result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 Bold" charset="0"/>
              </a:rPr>
              <a:t>Then_Expr</a:t>
            </a:r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Arial Narrow Bold" charset="0"/>
              </a:rPr>
              <a:t>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eval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 Bold" charset="0"/>
              </a:rPr>
              <a:t>Else_Expr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!</a:t>
            </a:r>
            <a:r>
              <a:rPr lang="en-US" sz="1800" b="1" i="1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 Bold" charset="0"/>
              </a:rPr>
              <a:t>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if (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) result = 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eval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return result;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Using Conditional Moves</a:t>
            </a:r>
          </a:p>
        </p:txBody>
      </p:sp>
      <p:sp>
        <p:nvSpPr>
          <p:cNvPr id="4916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3500" y="1219200"/>
            <a:ext cx="4889500" cy="4038600"/>
          </a:xfrm>
          <a:ln/>
        </p:spPr>
        <p:txBody>
          <a:bodyPr/>
          <a:lstStyle/>
          <a:p>
            <a:pPr marL="292100"/>
            <a:r>
              <a:rPr lang="en-US" dirty="0"/>
              <a:t>Conditional Move Instructions</a:t>
            </a:r>
          </a:p>
          <a:p>
            <a:pPr marL="552450" lvl="1"/>
            <a:r>
              <a:rPr lang="en-US" dirty="0"/>
              <a:t>Instruction supports:</a:t>
            </a:r>
          </a:p>
          <a:p>
            <a:pPr marL="838200" lvl="2">
              <a:buNone/>
            </a:pPr>
            <a:r>
              <a:rPr lang="en-US" dirty="0"/>
              <a:t>if (Test) </a:t>
            </a:r>
          </a:p>
          <a:p>
            <a:pPr marL="838200" lvl="2">
              <a:buNone/>
            </a:pP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 </a:t>
            </a:r>
            <a:r>
              <a:rPr lang="en-US" dirty="0" err="1">
                <a:sym typeface="Wingdings" pitchFamily="2" charset="2"/>
              </a:rPr>
              <a:t>Src</a:t>
            </a:r>
            <a:endParaRPr lang="en-US" dirty="0"/>
          </a:p>
          <a:p>
            <a:pPr marL="552450" lvl="1"/>
            <a:r>
              <a:rPr lang="en-US" dirty="0"/>
              <a:t>Supported in post-1995 x86 processors</a:t>
            </a:r>
          </a:p>
          <a:p>
            <a:pPr marL="552450" lvl="1"/>
            <a:r>
              <a:rPr lang="en-US" dirty="0"/>
              <a:t>GCC tries to use them</a:t>
            </a:r>
          </a:p>
          <a:p>
            <a:pPr marL="838200" lvl="2"/>
            <a:r>
              <a:rPr lang="en-US" dirty="0"/>
              <a:t>But, only when known to be safe</a:t>
            </a:r>
          </a:p>
          <a:p>
            <a:pPr marL="292100"/>
            <a:r>
              <a:rPr lang="en-US" dirty="0"/>
              <a:t>Why?</a:t>
            </a:r>
          </a:p>
          <a:p>
            <a:pPr marL="552450" lvl="1"/>
            <a:r>
              <a:rPr lang="en-US" dirty="0"/>
              <a:t>Branches are very disruptive to instruction flow through pipelines</a:t>
            </a:r>
          </a:p>
          <a:p>
            <a:pPr marL="552450" lvl="1"/>
            <a:r>
              <a:rPr lang="en-US" dirty="0"/>
              <a:t>Conditional moves do not require control transfer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A29F57-3040-E533-89BA-F2E48C38ECE9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737FC4-3DAC-8E31-6CAC-BFB31C5FD774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017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Conditional Move Example</a:t>
            </a:r>
          </a:p>
        </p:txBody>
      </p:sp>
      <p:sp>
        <p:nvSpPr>
          <p:cNvPr id="50186" name="Rectangle 10"/>
          <p:cNvSpPr>
            <a:spLocks/>
          </p:cNvSpPr>
          <p:nvPr/>
        </p:nvSpPr>
        <p:spPr bwMode="auto">
          <a:xfrm>
            <a:off x="6616700" y="1752600"/>
            <a:ext cx="2286000" cy="19812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" name="Rectangle 8"/>
          <p:cNvSpPr>
            <a:spLocks/>
          </p:cNvSpPr>
          <p:nvPr/>
        </p:nvSpPr>
        <p:spPr bwMode="auto">
          <a:xfrm>
            <a:off x="2286000" y="4267200"/>
            <a:ext cx="6642100" cy="2590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absdiff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x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x-y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endParaRPr lang="tr-TR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eval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y-x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cmpq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x:y</a:t>
            </a:r>
            <a:endParaRPr lang="tr-TR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cmovle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if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&lt;=,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eval</a:t>
            </a:r>
            <a:endParaRPr lang="tr-TR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457200" y="1295400"/>
            <a:ext cx="36703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if (x &gt;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982559"/>
              </p:ext>
            </p:extLst>
          </p:nvPr>
        </p:nvGraphicFramePr>
        <p:xfrm>
          <a:off x="4724400" y="19050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22F36B5-7693-7D67-8942-CCCEC170BFC4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7746D6-6543-0421-FB0F-57AE709DAC1F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222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2227" name="Rectangle 3"/>
          <p:cNvSpPr>
            <a:spLocks/>
          </p:cNvSpPr>
          <p:nvPr/>
        </p:nvSpPr>
        <p:spPr bwMode="auto">
          <a:xfrm>
            <a:off x="457200" y="1143000"/>
            <a:ext cx="4724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Expensive Computations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Bad Cases for Conditional Move</a:t>
            </a:r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5800" y="2151062"/>
            <a:ext cx="4724400" cy="609600"/>
          </a:xfrm>
          <a:ln/>
        </p:spPr>
        <p:txBody>
          <a:bodyPr/>
          <a:lstStyle/>
          <a:p>
            <a:r>
              <a:rPr lang="en-US" sz="2000" dirty="0"/>
              <a:t>Both values get computed</a:t>
            </a:r>
          </a:p>
          <a:p>
            <a:r>
              <a:rPr lang="en-US" sz="2000" dirty="0"/>
              <a:t>Only makes sense when computations are very simple</a:t>
            </a:r>
          </a:p>
        </p:txBody>
      </p:sp>
      <p:sp>
        <p:nvSpPr>
          <p:cNvPr id="52232" name="Rectangle 8"/>
          <p:cNvSpPr>
            <a:spLocks/>
          </p:cNvSpPr>
          <p:nvPr/>
        </p:nvSpPr>
        <p:spPr bwMode="auto">
          <a:xfrm>
            <a:off x="533400" y="1617662"/>
            <a:ext cx="5410200" cy="398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Test(x)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Hard1(x)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Hard2(x);</a:t>
            </a:r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457200" y="3276600"/>
            <a:ext cx="4724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Risky Computations</a:t>
            </a:r>
          </a:p>
        </p:txBody>
      </p:sp>
      <p:sp>
        <p:nvSpPr>
          <p:cNvPr id="11" name="Rectangle 7"/>
          <p:cNvSpPr txBox="1">
            <a:spLocks noChangeArrowheads="1"/>
          </p:cNvSpPr>
          <p:nvPr/>
        </p:nvSpPr>
        <p:spPr bwMode="auto">
          <a:xfrm>
            <a:off x="685800" y="4284662"/>
            <a:ext cx="4724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marL="254000" marR="0" lvl="0" indent="-2540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 Bold" charset="0"/>
              </a:rPr>
              <a:t>Both values get computed</a:t>
            </a:r>
          </a:p>
          <a:p>
            <a:pPr marL="254000" marR="0" lvl="0" indent="-2540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tabLst/>
              <a:defRPr/>
            </a:pPr>
            <a:r>
              <a:rPr lang="en-US" sz="2000" kern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rPr>
              <a:t>May have undesirable effects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Calibri Bold" charset="0"/>
            </a:endParaRPr>
          </a:p>
        </p:txBody>
      </p:sp>
      <p:sp>
        <p:nvSpPr>
          <p:cNvPr id="12" name="Rectangle 8"/>
          <p:cNvSpPr>
            <a:spLocks/>
          </p:cNvSpPr>
          <p:nvPr/>
        </p:nvSpPr>
        <p:spPr bwMode="auto">
          <a:xfrm>
            <a:off x="533400" y="3751262"/>
            <a:ext cx="5410200" cy="398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*p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0;</a:t>
            </a:r>
          </a:p>
        </p:txBody>
      </p:sp>
      <p:sp>
        <p:nvSpPr>
          <p:cNvPr id="13" name="Rectangle 3"/>
          <p:cNvSpPr>
            <a:spLocks/>
          </p:cNvSpPr>
          <p:nvPr/>
        </p:nvSpPr>
        <p:spPr bwMode="auto">
          <a:xfrm>
            <a:off x="457200" y="5029200"/>
            <a:ext cx="4724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Computations with side effects</a:t>
            </a:r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 bwMode="auto">
          <a:xfrm>
            <a:off x="685800" y="6037262"/>
            <a:ext cx="4724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marL="254000" marR="0" lvl="0" indent="-2540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 Bold" charset="0"/>
              </a:rPr>
              <a:t>Both values get computed</a:t>
            </a:r>
          </a:p>
          <a:p>
            <a:pPr marL="254000" marR="0" lvl="0" indent="-2540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tabLst/>
              <a:defRPr/>
            </a:pPr>
            <a:r>
              <a:rPr lang="en-US" sz="2000" kern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rPr>
              <a:t>Must be side-effect free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Calibri Bold" charset="0"/>
            </a:endParaRPr>
          </a:p>
        </p:txBody>
      </p:sp>
      <p:sp>
        <p:nvSpPr>
          <p:cNvPr id="15" name="Rectangle 8"/>
          <p:cNvSpPr>
            <a:spLocks/>
          </p:cNvSpPr>
          <p:nvPr/>
        </p:nvSpPr>
        <p:spPr bwMode="auto">
          <a:xfrm>
            <a:off x="533400" y="5503862"/>
            <a:ext cx="5410200" cy="398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x &gt; 0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x*=7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x+=3;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0A12-AB13-34E3-7371-1A1EB2253215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A6A598-3DDE-B779-6104-B99E20427F30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433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Control: Condition codes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Conditional branches</a:t>
            </a:r>
          </a:p>
          <a:p>
            <a:r>
              <a:rPr lang="en-US" dirty="0"/>
              <a:t>Loops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Switch Statements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0D431A-3B73-1098-9862-03DFE73458EE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67B6AA-500D-452A-819B-825252BBD86C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2321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4275" name="Rectangle 3"/>
          <p:cNvSpPr>
            <a:spLocks/>
          </p:cNvSpPr>
          <p:nvPr/>
        </p:nvSpPr>
        <p:spPr bwMode="auto">
          <a:xfrm>
            <a:off x="457200" y="14478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530225" y="1863724"/>
            <a:ext cx="3736976" cy="2632076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pcount_do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 while (x);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4724400" y="1447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4797424" y="1863724"/>
            <a:ext cx="4041775" cy="2936875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“Do-While” Loop Example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4953000"/>
            <a:ext cx="8382000" cy="1282700"/>
          </a:xfrm>
          <a:ln/>
        </p:spPr>
        <p:txBody>
          <a:bodyPr/>
          <a:lstStyle/>
          <a:p>
            <a:r>
              <a:rPr lang="en-US" dirty="0"/>
              <a:t>Count number of 1’s in argument </a:t>
            </a:r>
            <a:r>
              <a:rPr lang="en-US" dirty="0">
                <a:latin typeface="Courier New"/>
                <a:cs typeface="Courier New"/>
              </a:rPr>
              <a:t>x</a:t>
            </a:r>
            <a:r>
              <a:rPr lang="en-US" dirty="0"/>
              <a:t> (“</a:t>
            </a:r>
            <a:r>
              <a:rPr lang="en-US" dirty="0" err="1"/>
              <a:t>popcount</a:t>
            </a:r>
            <a:r>
              <a:rPr lang="en-US" dirty="0"/>
              <a:t>”)</a:t>
            </a:r>
          </a:p>
          <a:p>
            <a:r>
              <a:rPr lang="en-US" dirty="0"/>
              <a:t>Use conditional branch to either continue looping or to exit loop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0F2E75-6E22-36B2-8333-37209AC5ABA2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17008C-6270-C821-8FE1-22270B945FFF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529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5303" name="Rectangle 7"/>
          <p:cNvSpPr>
            <a:spLocks/>
          </p:cNvSpPr>
          <p:nvPr/>
        </p:nvSpPr>
        <p:spPr bwMode="auto">
          <a:xfrm>
            <a:off x="290513" y="1066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5305" name="Rectangle 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“Do-While” Loop Compilation</a:t>
            </a:r>
          </a:p>
        </p:txBody>
      </p:sp>
      <p:sp>
        <p:nvSpPr>
          <p:cNvPr id="55307" name="Rectangle 11"/>
          <p:cNvSpPr>
            <a:spLocks/>
          </p:cNvSpPr>
          <p:nvPr/>
        </p:nvSpPr>
        <p:spPr bwMode="auto">
          <a:xfrm>
            <a:off x="2133600" y="4343400"/>
            <a:ext cx="5791200" cy="20574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$0,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	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0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.L2:			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loop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%rdi,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andl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$1,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	#  t =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&amp; 0x1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addq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+= t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shrq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%rdi		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&gt;&gt;= 1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jne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.L2		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if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(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)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goto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loop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</p:txBody>
      </p:sp>
      <p:sp>
        <p:nvSpPr>
          <p:cNvPr id="9" name="Rectangle 6"/>
          <p:cNvSpPr>
            <a:spLocks/>
          </p:cNvSpPr>
          <p:nvPr/>
        </p:nvSpPr>
        <p:spPr bwMode="auto">
          <a:xfrm>
            <a:off x="381000" y="1524001"/>
            <a:ext cx="4041775" cy="25908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437412"/>
              </p:ext>
            </p:extLst>
          </p:nvPr>
        </p:nvGraphicFramePr>
        <p:xfrm>
          <a:off x="4724400" y="1905000"/>
          <a:ext cx="33528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CEE8868-D2F9-6072-0E5B-FC1FFB13D64D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C23B4D-F6F7-7EDD-419C-0FD0635C639E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632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6323" name="Rectangle 3"/>
          <p:cNvSpPr>
            <a:spLocks/>
          </p:cNvSpPr>
          <p:nvPr/>
        </p:nvSpPr>
        <p:spPr bwMode="auto">
          <a:xfrm>
            <a:off x="444500" y="1228725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6324" name="Rectangle 4"/>
          <p:cNvSpPr>
            <a:spLocks/>
          </p:cNvSpPr>
          <p:nvPr/>
        </p:nvSpPr>
        <p:spPr bwMode="auto">
          <a:xfrm>
            <a:off x="533400" y="1641475"/>
            <a:ext cx="2895600" cy="1219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 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);</a:t>
            </a:r>
          </a:p>
        </p:txBody>
      </p:sp>
      <p:sp>
        <p:nvSpPr>
          <p:cNvPr id="56325" name="Rectangle 5"/>
          <p:cNvSpPr>
            <a:spLocks/>
          </p:cNvSpPr>
          <p:nvPr/>
        </p:nvSpPr>
        <p:spPr bwMode="auto">
          <a:xfrm>
            <a:off x="3810000" y="12192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6326" name="Rectangle 6"/>
          <p:cNvSpPr>
            <a:spLocks/>
          </p:cNvSpPr>
          <p:nvPr/>
        </p:nvSpPr>
        <p:spPr bwMode="auto">
          <a:xfrm>
            <a:off x="3886200" y="1631949"/>
            <a:ext cx="2743200" cy="1685925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loop: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</a:t>
            </a:r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General “Do-While” Translation</a:t>
            </a:r>
          </a:p>
        </p:txBody>
      </p:sp>
      <p:sp>
        <p:nvSpPr>
          <p:cNvPr id="5632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3035300"/>
            <a:ext cx="8382000" cy="3797300"/>
          </a:xfrm>
          <a:ln/>
        </p:spPr>
        <p:txBody>
          <a:bodyPr/>
          <a:lstStyle/>
          <a:p>
            <a:r>
              <a:rPr lang="en-US" dirty="0"/>
              <a:t>Body:</a:t>
            </a:r>
          </a:p>
          <a:p>
            <a:pPr marL="234950" lvl="1"/>
            <a:endParaRPr lang="en-US" dirty="0"/>
          </a:p>
          <a:p>
            <a:pPr marL="234950" lvl="1"/>
            <a:endParaRPr lang="en-US" dirty="0"/>
          </a:p>
          <a:p>
            <a:pPr marL="234950" lvl="1"/>
            <a:endParaRPr lang="en-US" dirty="0"/>
          </a:p>
          <a:p>
            <a:pPr marL="234950" lvl="1"/>
            <a:endParaRPr lang="en-US" dirty="0"/>
          </a:p>
          <a:p>
            <a:endParaRPr lang="en-US" dirty="0"/>
          </a:p>
        </p:txBody>
      </p:sp>
      <p:sp>
        <p:nvSpPr>
          <p:cNvPr id="56329" name="Rectangle 9"/>
          <p:cNvSpPr>
            <a:spLocks/>
          </p:cNvSpPr>
          <p:nvPr/>
        </p:nvSpPr>
        <p:spPr bwMode="auto">
          <a:xfrm>
            <a:off x="1625600" y="3146425"/>
            <a:ext cx="2222500" cy="2260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Statement</a:t>
            </a:r>
            <a:r>
              <a:rPr lang="en-US" sz="2000" b="1" baseline="-25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Statement</a:t>
            </a:r>
            <a:r>
              <a:rPr lang="en-US" sz="2000" b="1" baseline="-25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…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Statement</a:t>
            </a:r>
            <a:r>
              <a:rPr lang="en-US" sz="2000" b="1" baseline="-25000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n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ED0ECD-1AA6-79D4-CF6A-675A6891310F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5C18DD-8D6F-EA63-D500-2D023F597351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5" name="Rectangle 3"/>
          <p:cNvSpPr>
            <a:spLocks/>
          </p:cNvSpPr>
          <p:nvPr/>
        </p:nvSpPr>
        <p:spPr bwMode="auto">
          <a:xfrm>
            <a:off x="304800" y="30861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While version</a:t>
            </a:r>
          </a:p>
        </p:txBody>
      </p:sp>
      <p:sp>
        <p:nvSpPr>
          <p:cNvPr id="59396" name="Rectangle 4"/>
          <p:cNvSpPr>
            <a:spLocks/>
          </p:cNvSpPr>
          <p:nvPr/>
        </p:nvSpPr>
        <p:spPr bwMode="auto">
          <a:xfrm>
            <a:off x="381000" y="3505200"/>
            <a:ext cx="2514600" cy="8001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while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cs typeface="Courier New" pitchFamily="49" charset="0"/>
                <a:sym typeface="Courier New Bold" charset="0"/>
              </a:rPr>
              <a:t>Body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General “While” Translation #1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“Jump-to-middle” translation</a:t>
            </a:r>
          </a:p>
          <a:p>
            <a:r>
              <a:rPr lang="en-US" dirty="0"/>
              <a:t>Used with </a:t>
            </a:r>
            <a:r>
              <a:rPr lang="en-US" b="1" dirty="0">
                <a:latin typeface="Courier New"/>
                <a:cs typeface="Courier New"/>
              </a:rPr>
              <a:t>-</a:t>
            </a:r>
            <a:r>
              <a:rPr lang="en-US" b="1" dirty="0" err="1">
                <a:latin typeface="Courier New"/>
                <a:cs typeface="Courier New"/>
              </a:rPr>
              <a:t>Og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59400" name="Rectangle 8"/>
          <p:cNvSpPr>
            <a:spLocks/>
          </p:cNvSpPr>
          <p:nvPr/>
        </p:nvSpPr>
        <p:spPr bwMode="auto">
          <a:xfrm>
            <a:off x="5181600" y="2095501"/>
            <a:ext cx="2908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Version</a:t>
            </a:r>
          </a:p>
        </p:txBody>
      </p:sp>
      <p:sp>
        <p:nvSpPr>
          <p:cNvPr id="59401" name="Rectangle 9"/>
          <p:cNvSpPr>
            <a:spLocks/>
          </p:cNvSpPr>
          <p:nvPr/>
        </p:nvSpPr>
        <p:spPr bwMode="auto">
          <a:xfrm>
            <a:off x="5257800" y="2514600"/>
            <a:ext cx="3429000" cy="2624138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loop: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test: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done:</a:t>
            </a:r>
          </a:p>
        </p:txBody>
      </p:sp>
      <p:sp>
        <p:nvSpPr>
          <p:cNvPr id="59403" name="AutoShape 11"/>
          <p:cNvSpPr>
            <a:spLocks/>
          </p:cNvSpPr>
          <p:nvPr/>
        </p:nvSpPr>
        <p:spPr bwMode="auto">
          <a:xfrm rot="16200000">
            <a:off x="3657600" y="3048000"/>
            <a:ext cx="762000" cy="1524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6200"/>
                </a:moveTo>
                <a:lnTo>
                  <a:pt x="5400" y="162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00"/>
                </a:lnTo>
                <a:lnTo>
                  <a:pt x="21600" y="16200"/>
                </a:lnTo>
                <a:lnTo>
                  <a:pt x="10800" y="21600"/>
                </a:lnTo>
                <a:close/>
                <a:moveTo>
                  <a:pt x="0" y="162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ECE3272-06C7-2270-FD92-01E7483D4347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C54B9C-9714-983F-D894-A14F03392325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4275" name="Rectangle 3"/>
          <p:cNvSpPr>
            <a:spLocks/>
          </p:cNvSpPr>
          <p:nvPr/>
        </p:nvSpPr>
        <p:spPr bwMode="auto">
          <a:xfrm>
            <a:off x="457200" y="14478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530225" y="1863724"/>
            <a:ext cx="3736976" cy="2632076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pcount_while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4724400" y="1447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to Middle Version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4797424" y="1863724"/>
            <a:ext cx="4041775" cy="3165476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pcount_goto_jtm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While Loop Example #1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5118100"/>
            <a:ext cx="8382000" cy="1282700"/>
          </a:xfrm>
          <a:ln/>
        </p:spPr>
        <p:txBody>
          <a:bodyPr/>
          <a:lstStyle/>
          <a:p>
            <a:r>
              <a:rPr lang="en-US" dirty="0"/>
              <a:t>Compare to do-while version of function</a:t>
            </a:r>
          </a:p>
          <a:p>
            <a:r>
              <a:rPr lang="en-US" dirty="0"/>
              <a:t>Initial </a:t>
            </a:r>
            <a:r>
              <a:rPr lang="en-US" dirty="0" err="1"/>
              <a:t>goto</a:t>
            </a:r>
            <a:r>
              <a:rPr lang="en-US" dirty="0"/>
              <a:t> starts loop at test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E2120D-160E-AF9C-00C9-C861E5FC3FFE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25D832-032B-5062-2D2B-50CB4823FF75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1061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5" name="Rectangle 3"/>
          <p:cNvSpPr>
            <a:spLocks/>
          </p:cNvSpPr>
          <p:nvPr/>
        </p:nvSpPr>
        <p:spPr bwMode="auto">
          <a:xfrm>
            <a:off x="533400" y="15240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While version</a:t>
            </a:r>
          </a:p>
        </p:txBody>
      </p:sp>
      <p:sp>
        <p:nvSpPr>
          <p:cNvPr id="59396" name="Rectangle 4"/>
          <p:cNvSpPr>
            <a:spLocks/>
          </p:cNvSpPr>
          <p:nvPr/>
        </p:nvSpPr>
        <p:spPr bwMode="auto">
          <a:xfrm>
            <a:off x="609600" y="2006601"/>
            <a:ext cx="2514600" cy="8001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while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cs typeface="Courier New" pitchFamily="49" charset="0"/>
                <a:sym typeface="Courier New Bold" charset="0"/>
              </a:rPr>
              <a:t>Body</a:t>
            </a:r>
          </a:p>
        </p:txBody>
      </p:sp>
      <p:sp>
        <p:nvSpPr>
          <p:cNvPr id="59397" name="Rectangle 5"/>
          <p:cNvSpPr>
            <a:spLocks/>
          </p:cNvSpPr>
          <p:nvPr/>
        </p:nvSpPr>
        <p:spPr bwMode="auto">
          <a:xfrm>
            <a:off x="533400" y="3687764"/>
            <a:ext cx="2908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Do-While Version</a:t>
            </a:r>
          </a:p>
        </p:txBody>
      </p:sp>
      <p:sp>
        <p:nvSpPr>
          <p:cNvPr id="59398" name="Rectangle 6"/>
          <p:cNvSpPr>
            <a:spLocks/>
          </p:cNvSpPr>
          <p:nvPr/>
        </p:nvSpPr>
        <p:spPr bwMode="auto">
          <a:xfrm>
            <a:off x="457200" y="4106863"/>
            <a:ext cx="3048000" cy="22050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while(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done: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General “While” Translation #2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67200" y="1752600"/>
            <a:ext cx="4419600" cy="3992563"/>
          </a:xfrm>
        </p:spPr>
        <p:txBody>
          <a:bodyPr/>
          <a:lstStyle/>
          <a:p>
            <a:r>
              <a:rPr lang="en-US" dirty="0"/>
              <a:t>“Do-while” conversion</a:t>
            </a:r>
          </a:p>
          <a:p>
            <a:r>
              <a:rPr lang="en-US" dirty="0"/>
              <a:t>Used with </a:t>
            </a:r>
            <a:r>
              <a:rPr lang="en-US" b="1" dirty="0">
                <a:latin typeface="Courier New"/>
                <a:cs typeface="Courier New"/>
              </a:rPr>
              <a:t>–O1</a:t>
            </a:r>
          </a:p>
        </p:txBody>
      </p:sp>
      <p:sp>
        <p:nvSpPr>
          <p:cNvPr id="59400" name="Rectangle 8"/>
          <p:cNvSpPr>
            <a:spLocks/>
          </p:cNvSpPr>
          <p:nvPr/>
        </p:nvSpPr>
        <p:spPr bwMode="auto">
          <a:xfrm>
            <a:off x="5257800" y="3352800"/>
            <a:ext cx="2908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9401" name="Rectangle 9"/>
          <p:cNvSpPr>
            <a:spLocks/>
          </p:cNvSpPr>
          <p:nvPr/>
        </p:nvSpPr>
        <p:spPr bwMode="auto">
          <a:xfrm>
            <a:off x="5334000" y="3771899"/>
            <a:ext cx="3429000" cy="2624138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loop: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done:</a:t>
            </a:r>
          </a:p>
        </p:txBody>
      </p:sp>
      <p:sp>
        <p:nvSpPr>
          <p:cNvPr id="59402" name="AutoShape 10"/>
          <p:cNvSpPr>
            <a:spLocks/>
          </p:cNvSpPr>
          <p:nvPr/>
        </p:nvSpPr>
        <p:spPr bwMode="auto">
          <a:xfrm>
            <a:off x="1371600" y="2878138"/>
            <a:ext cx="762000" cy="842963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1842"/>
                </a:moveTo>
                <a:lnTo>
                  <a:pt x="5400" y="11842"/>
                </a:lnTo>
                <a:lnTo>
                  <a:pt x="5400" y="0"/>
                </a:lnTo>
                <a:lnTo>
                  <a:pt x="16200" y="0"/>
                </a:lnTo>
                <a:lnTo>
                  <a:pt x="16200" y="11842"/>
                </a:lnTo>
                <a:lnTo>
                  <a:pt x="21600" y="11842"/>
                </a:lnTo>
                <a:lnTo>
                  <a:pt x="10800" y="21600"/>
                </a:lnTo>
                <a:close/>
                <a:moveTo>
                  <a:pt x="0" y="11842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3" name="AutoShape 11"/>
          <p:cNvSpPr>
            <a:spLocks/>
          </p:cNvSpPr>
          <p:nvPr/>
        </p:nvSpPr>
        <p:spPr bwMode="auto">
          <a:xfrm rot="16200000">
            <a:off x="4038600" y="4178301"/>
            <a:ext cx="762000" cy="1524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6200"/>
                </a:moveTo>
                <a:lnTo>
                  <a:pt x="5400" y="162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00"/>
                </a:lnTo>
                <a:lnTo>
                  <a:pt x="21600" y="16200"/>
                </a:lnTo>
                <a:lnTo>
                  <a:pt x="10800" y="21600"/>
                </a:lnTo>
                <a:close/>
                <a:moveTo>
                  <a:pt x="0" y="162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DAA4133-E28A-CB78-F3E6-7974C68927E0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12FF0E-0C8F-0225-2914-CFB97C86AA38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2030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4275" name="Rectangle 3"/>
          <p:cNvSpPr>
            <a:spLocks/>
          </p:cNvSpPr>
          <p:nvPr/>
        </p:nvSpPr>
        <p:spPr bwMode="auto">
          <a:xfrm>
            <a:off x="457200" y="14478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530225" y="1863724"/>
            <a:ext cx="3736976" cy="2632076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pcount_while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4724400" y="1447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Version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4797424" y="1863724"/>
            <a:ext cx="4041775" cy="3165476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pcount_goto_dw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done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done: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While Loop Example #2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5118100"/>
            <a:ext cx="8382000" cy="1282700"/>
          </a:xfrm>
          <a:ln/>
        </p:spPr>
        <p:txBody>
          <a:bodyPr/>
          <a:lstStyle/>
          <a:p>
            <a:r>
              <a:rPr lang="en-US" dirty="0"/>
              <a:t>Compare to do-while version of function</a:t>
            </a:r>
          </a:p>
          <a:p>
            <a:r>
              <a:rPr lang="en-US" dirty="0"/>
              <a:t>Initial conditional guards entrance to loop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3DEC40-2631-04F5-9382-09229E0F604B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1D864A-3D3F-2A92-FBD4-CB5308F7F80E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958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“For” Loop Form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81000" y="1676400"/>
            <a:ext cx="4419600" cy="1013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Courier New" charset="0"/>
              </a:rPr>
              <a:t>for (</a:t>
            </a:r>
            <a:r>
              <a:rPr lang="en-US" sz="2400" i="1"/>
              <a:t>Init</a:t>
            </a:r>
            <a:r>
              <a:rPr lang="en-US" sz="2400">
                <a:latin typeface="Courier New" charset="0"/>
              </a:rPr>
              <a:t>; </a:t>
            </a:r>
            <a:r>
              <a:rPr lang="en-US" sz="2400" i="1"/>
              <a:t>Test</a:t>
            </a:r>
            <a:r>
              <a:rPr lang="en-US" sz="2400">
                <a:latin typeface="Courier New" charset="0"/>
              </a:rPr>
              <a:t>; </a:t>
            </a:r>
            <a:r>
              <a:rPr lang="en-US" sz="2400" i="1"/>
              <a:t>Update </a:t>
            </a:r>
            <a:r>
              <a:rPr lang="en-US" sz="2400">
                <a:latin typeface="Courier New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Courier New" charset="0"/>
              </a:rPr>
              <a:t>    </a:t>
            </a:r>
            <a:r>
              <a:rPr lang="en-US" sz="2400" i="1"/>
              <a:t>Body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81000" y="1143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ctr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General Form</a:t>
            </a:r>
          </a:p>
          <a:p>
            <a:pPr marL="223838" indent="-223838" algn="ctr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24" name="Rectangle 4"/>
          <p:cNvSpPr>
            <a:spLocks/>
          </p:cNvSpPr>
          <p:nvPr/>
        </p:nvSpPr>
        <p:spPr bwMode="auto">
          <a:xfrm>
            <a:off x="381000" y="2819400"/>
            <a:ext cx="4495800" cy="3962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#define WSIZE 8*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sizeof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unsigned bit =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5" name="Rectangle 4"/>
          <p:cNvSpPr>
            <a:spLocks/>
          </p:cNvSpPr>
          <p:nvPr/>
        </p:nvSpPr>
        <p:spPr bwMode="auto">
          <a:xfrm>
            <a:off x="5181600" y="12954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</a:t>
            </a:r>
          </a:p>
        </p:txBody>
      </p:sp>
      <p:sp>
        <p:nvSpPr>
          <p:cNvPr id="26" name="Rectangle 4"/>
          <p:cNvSpPr>
            <a:spLocks/>
          </p:cNvSpPr>
          <p:nvPr/>
        </p:nvSpPr>
        <p:spPr bwMode="auto">
          <a:xfrm>
            <a:off x="5181600" y="22098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</a:t>
            </a:r>
          </a:p>
        </p:txBody>
      </p:sp>
      <p:sp>
        <p:nvSpPr>
          <p:cNvPr id="27" name="Rectangle 4"/>
          <p:cNvSpPr>
            <a:spLocks/>
          </p:cNvSpPr>
          <p:nvPr/>
        </p:nvSpPr>
        <p:spPr bwMode="auto">
          <a:xfrm>
            <a:off x="5181600" y="32004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</a:t>
            </a:r>
          </a:p>
        </p:txBody>
      </p:sp>
      <p:sp>
        <p:nvSpPr>
          <p:cNvPr id="28" name="Rectangle 4"/>
          <p:cNvSpPr>
            <a:spLocks/>
          </p:cNvSpPr>
          <p:nvPr/>
        </p:nvSpPr>
        <p:spPr bwMode="auto">
          <a:xfrm>
            <a:off x="5029200" y="4191000"/>
            <a:ext cx="4114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unsigned bit =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5238750" y="8382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Init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5238750" y="17970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Test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5257800" y="27876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Update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5276850" y="37782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Body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9FE671-05E2-B9DC-EBB6-30F9F31AFE65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7AFAF2-F199-7710-6386-9FAAAFB01254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“For” Loop </a:t>
            </a:r>
            <a:r>
              <a:rPr lang="en-US" dirty="0">
                <a:sym typeface="Wingdings" pitchFamily="2" charset="2"/>
              </a:rPr>
              <a:t> While Loop</a:t>
            </a:r>
            <a:endParaRPr lang="en-US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81000" y="1676400"/>
            <a:ext cx="4419600" cy="1013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for (</a:t>
            </a:r>
            <a:r>
              <a:rPr lang="en-US" sz="2400" i="1" dirty="0">
                <a:latin typeface="+mj-lt"/>
              </a:rPr>
              <a:t>Init</a:t>
            </a:r>
            <a:r>
              <a:rPr lang="en-US" sz="2400" dirty="0">
                <a:latin typeface="Courier New" charset="0"/>
              </a:rPr>
              <a:t>; </a:t>
            </a:r>
            <a:r>
              <a:rPr lang="en-US" sz="2400" i="1" dirty="0">
                <a:latin typeface="+mj-lt"/>
              </a:rPr>
              <a:t>Test</a:t>
            </a:r>
            <a:r>
              <a:rPr lang="en-US" sz="2400" dirty="0">
                <a:latin typeface="Courier New" charset="0"/>
              </a:rPr>
              <a:t>; </a:t>
            </a:r>
            <a:r>
              <a:rPr lang="en-US" sz="2400" i="1" dirty="0">
                <a:latin typeface="+mj-lt"/>
              </a:rPr>
              <a:t>Update</a:t>
            </a:r>
            <a:r>
              <a:rPr lang="en-US" sz="2400" i="1" dirty="0"/>
              <a:t> </a:t>
            </a:r>
            <a:r>
              <a:rPr lang="en-US" sz="2400" dirty="0">
                <a:latin typeface="Courier New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    </a:t>
            </a:r>
            <a:r>
              <a:rPr lang="en-US" sz="2400" i="1" dirty="0">
                <a:latin typeface="+mj-lt"/>
              </a:rPr>
              <a:t>Body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514350" y="1143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</a:rPr>
              <a:t>For Version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1447800" y="3962400"/>
            <a:ext cx="2819400" cy="26750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 i="1" dirty="0">
                <a:latin typeface="+mj-lt"/>
              </a:rPr>
              <a:t>Init</a:t>
            </a:r>
            <a:r>
              <a:rPr lang="en-US" sz="2400" i="1" dirty="0">
                <a:latin typeface="Courier New" charset="0"/>
              </a:rPr>
              <a:t>;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while (</a:t>
            </a:r>
            <a:r>
              <a:rPr lang="en-US" sz="2400" i="1" dirty="0">
                <a:latin typeface="+mj-lt"/>
              </a:rPr>
              <a:t>Test </a:t>
            </a:r>
            <a:r>
              <a:rPr lang="en-US" sz="2400" dirty="0">
                <a:latin typeface="Courier New" charset="0"/>
              </a:rPr>
              <a:t>) {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    </a:t>
            </a:r>
            <a:r>
              <a:rPr lang="en-US" sz="2400" i="1" dirty="0">
                <a:latin typeface="+mj-lt"/>
              </a:rPr>
              <a:t>Body</a:t>
            </a:r>
            <a:endParaRPr lang="en-US" sz="2400" i="1" dirty="0"/>
          </a:p>
          <a:p>
            <a:pPr algn="l">
              <a:spcBef>
                <a:spcPct val="50000"/>
              </a:spcBef>
            </a:pPr>
            <a:r>
              <a:rPr lang="en-US" sz="2400" i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i="1" dirty="0">
                <a:latin typeface="+mj-lt"/>
              </a:rPr>
              <a:t>Update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>
              <a:spcBef>
                <a:spcPct val="50000"/>
              </a:spcBef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590550" y="3429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</a:rPr>
              <a:t>While Version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9" name="AutoShape 10"/>
          <p:cNvSpPr>
            <a:spLocks/>
          </p:cNvSpPr>
          <p:nvPr/>
        </p:nvSpPr>
        <p:spPr bwMode="auto">
          <a:xfrm>
            <a:off x="2438400" y="2895600"/>
            <a:ext cx="762000" cy="842963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1842"/>
                </a:moveTo>
                <a:lnTo>
                  <a:pt x="5400" y="11842"/>
                </a:lnTo>
                <a:lnTo>
                  <a:pt x="5400" y="0"/>
                </a:lnTo>
                <a:lnTo>
                  <a:pt x="16200" y="0"/>
                </a:lnTo>
                <a:lnTo>
                  <a:pt x="16200" y="11842"/>
                </a:lnTo>
                <a:lnTo>
                  <a:pt x="21600" y="11842"/>
                </a:lnTo>
                <a:lnTo>
                  <a:pt x="10800" y="21600"/>
                </a:lnTo>
                <a:close/>
                <a:moveTo>
                  <a:pt x="0" y="11842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AC699-FFEF-BF48-6338-70529B01B621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217D44-241F-FAE3-EFEE-CD39C98CD23F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For-While Conversion</a:t>
            </a:r>
          </a:p>
        </p:txBody>
      </p:sp>
      <p:sp>
        <p:nvSpPr>
          <p:cNvPr id="24" name="Rectangle 4"/>
          <p:cNvSpPr>
            <a:spLocks/>
          </p:cNvSpPr>
          <p:nvPr/>
        </p:nvSpPr>
        <p:spPr bwMode="auto">
          <a:xfrm>
            <a:off x="4419600" y="1143000"/>
            <a:ext cx="4495800" cy="4343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pcount_for_while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</a:t>
            </a:r>
            <a:r>
              <a:rPr lang="en-US" sz="1800" b="1" dirty="0" err="1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unsigned bit = 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5" name="Rectangle 4"/>
          <p:cNvSpPr>
            <a:spLocks/>
          </p:cNvSpPr>
          <p:nvPr/>
        </p:nvSpPr>
        <p:spPr bwMode="auto">
          <a:xfrm>
            <a:off x="381000" y="186055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</a:t>
            </a:r>
          </a:p>
        </p:txBody>
      </p:sp>
      <p:sp>
        <p:nvSpPr>
          <p:cNvPr id="26" name="Rectangle 4"/>
          <p:cNvSpPr>
            <a:spLocks/>
          </p:cNvSpPr>
          <p:nvPr/>
        </p:nvSpPr>
        <p:spPr bwMode="auto">
          <a:xfrm>
            <a:off x="381000" y="277495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</a:t>
            </a:r>
          </a:p>
        </p:txBody>
      </p:sp>
      <p:sp>
        <p:nvSpPr>
          <p:cNvPr id="27" name="Rectangle 4"/>
          <p:cNvSpPr>
            <a:spLocks/>
          </p:cNvSpPr>
          <p:nvPr/>
        </p:nvSpPr>
        <p:spPr bwMode="auto">
          <a:xfrm>
            <a:off x="381000" y="38100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</a:t>
            </a:r>
          </a:p>
        </p:txBody>
      </p:sp>
      <p:sp>
        <p:nvSpPr>
          <p:cNvPr id="28" name="Rectangle 4"/>
          <p:cNvSpPr>
            <a:spLocks/>
          </p:cNvSpPr>
          <p:nvPr/>
        </p:nvSpPr>
        <p:spPr bwMode="auto">
          <a:xfrm>
            <a:off x="228600" y="4756150"/>
            <a:ext cx="4114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unsigned bit =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(x &gt;&gt;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438150" y="14033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Init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438150" y="23622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Test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457200" y="33528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Update</a:t>
            </a: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476250" y="43434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Body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75D89A-8C51-F099-4E64-9F1359BF48CF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016A48-C7B3-07CD-78B8-A2F867D5F73E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0021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1" name="Rectangle 7"/>
          <p:cNvSpPr>
            <a:spLocks/>
          </p:cNvSpPr>
          <p:nvPr/>
        </p:nvSpPr>
        <p:spPr bwMode="auto">
          <a:xfrm>
            <a:off x="381000" y="1354138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“For” Loop</a:t>
            </a:r>
            <a:r>
              <a:rPr lang="en-US" dirty="0">
                <a:sym typeface="Wingdings"/>
              </a:rPr>
              <a:t> Do-While Conversion</a:t>
            </a:r>
            <a:endParaRPr lang="en-US" dirty="0"/>
          </a:p>
        </p:txBody>
      </p:sp>
      <p:sp>
        <p:nvSpPr>
          <p:cNvPr id="57356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381000" y="5676900"/>
            <a:ext cx="4191000" cy="876300"/>
          </a:xfrm>
          <a:ln/>
        </p:spPr>
        <p:txBody>
          <a:bodyPr/>
          <a:lstStyle/>
          <a:p>
            <a:r>
              <a:rPr lang="en-US" dirty="0"/>
              <a:t>Initial test can be optimized away</a:t>
            </a:r>
          </a:p>
        </p:txBody>
      </p:sp>
      <p:sp>
        <p:nvSpPr>
          <p:cNvPr id="15" name="Rectangle 4"/>
          <p:cNvSpPr>
            <a:spLocks/>
          </p:cNvSpPr>
          <p:nvPr/>
        </p:nvSpPr>
        <p:spPr bwMode="auto">
          <a:xfrm>
            <a:off x="228600" y="1905000"/>
            <a:ext cx="4191000" cy="3733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unsigned bit =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057400" y="11430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Version</a:t>
            </a: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4724400" y="1371600"/>
            <a:ext cx="4343400" cy="541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pcount_for_goto_dw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WSIZE))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unsigned bit =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14600"/>
            <a:ext cx="49244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Init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971800"/>
            <a:ext cx="75020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!</a:t>
            </a:r>
            <a:r>
              <a:rPr lang="en-US" sz="1800" i="1" dirty="0">
                <a:latin typeface="+mj-lt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6200" y="4038600"/>
            <a:ext cx="71045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8800" y="4876800"/>
            <a:ext cx="92845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5334000"/>
            <a:ext cx="61234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Test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029200" y="2819400"/>
            <a:ext cx="2209800" cy="533400"/>
            <a:chOff x="5029200" y="2743200"/>
            <a:chExt cx="2209800" cy="533400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5029200" y="2743200"/>
              <a:ext cx="2209800" cy="533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/>
            <p:nvPr/>
          </p:nvCxnSpPr>
          <p:spPr bwMode="auto">
            <a:xfrm flipH="1">
              <a:off x="5029200" y="2743200"/>
              <a:ext cx="2209800" cy="533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4CCFC40-B849-C2F9-0E9B-6F5E0044A9E8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6F25F5-2E62-B18A-465C-664A1D66FF1C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433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b="1" dirty="0">
                <a:solidFill>
                  <a:srgbClr val="7F7F7F"/>
                </a:solidFill>
              </a:rPr>
              <a:t>Control: Condition codes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Conditional branches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Loops</a:t>
            </a:r>
          </a:p>
          <a:p>
            <a:r>
              <a:rPr lang="en-US" b="1" dirty="0"/>
              <a:t>Switch Statements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F76539-3D38-2792-6D09-2E9B8E93CA8C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A0242D-30C6-1EF8-8E36-A7422B7EAB61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4495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150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4622800" y="254000"/>
            <a:ext cx="4140200" cy="1143000"/>
          </a:xfrm>
          <a:ln/>
        </p:spPr>
        <p:txBody>
          <a:bodyPr/>
          <a:lstStyle/>
          <a:p>
            <a:pPr marL="119063" indent="-119063"/>
            <a:r>
              <a:rPr lang="en-US"/>
              <a:t>Switch Statement Example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953000" y="1803400"/>
            <a:ext cx="3810000" cy="5029200"/>
          </a:xfrm>
          <a:ln/>
        </p:spPr>
        <p:txBody>
          <a:bodyPr/>
          <a:lstStyle/>
          <a:p>
            <a:r>
              <a:rPr lang="en-US" dirty="0"/>
              <a:t>Multiple case labels</a:t>
            </a:r>
          </a:p>
          <a:p>
            <a:pPr marL="552450" lvl="1"/>
            <a:r>
              <a:rPr lang="en-US" dirty="0"/>
              <a:t>Here: 5 &amp; 6</a:t>
            </a:r>
          </a:p>
          <a:p>
            <a:r>
              <a:rPr lang="en-US" dirty="0"/>
              <a:t>Fall through cases</a:t>
            </a:r>
          </a:p>
          <a:p>
            <a:pPr marL="552450" lvl="1"/>
            <a:r>
              <a:rPr lang="en-US" dirty="0"/>
              <a:t>Here: 2</a:t>
            </a:r>
          </a:p>
          <a:p>
            <a:r>
              <a:rPr lang="en-US" dirty="0"/>
              <a:t>Missing cases</a:t>
            </a:r>
          </a:p>
          <a:p>
            <a:pPr marL="552450" lvl="1"/>
            <a:r>
              <a:rPr lang="en-US" dirty="0"/>
              <a:t>Here: 4</a:t>
            </a:r>
          </a:p>
        </p:txBody>
      </p:sp>
      <p:sp>
        <p:nvSpPr>
          <p:cNvPr id="21509" name="Rectangle 5"/>
          <p:cNvSpPr>
            <a:spLocks/>
          </p:cNvSpPr>
          <p:nvPr/>
        </p:nvSpPr>
        <p:spPr bwMode="auto">
          <a:xfrm>
            <a:off x="254000" y="304800"/>
            <a:ext cx="4127500" cy="6400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(long x, long y, long z)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1: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y*z;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5: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6: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-=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default: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2;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w;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46BEB8-B795-161A-A85C-3DF95ED4B1B6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1306D4-9A24-069B-9948-691C64887218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34918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253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Jump Table Structure</a:t>
            </a:r>
          </a:p>
        </p:txBody>
      </p:sp>
      <p:sp>
        <p:nvSpPr>
          <p:cNvPr id="22532" name="Rectangle 4"/>
          <p:cNvSpPr>
            <a:spLocks/>
          </p:cNvSpPr>
          <p:nvPr/>
        </p:nvSpPr>
        <p:spPr bwMode="auto">
          <a:xfrm>
            <a:off x="7235825" y="15875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0</a:t>
            </a:r>
          </a:p>
        </p:txBody>
      </p:sp>
      <p:sp>
        <p:nvSpPr>
          <p:cNvPr id="22533" name="Rectangle 5"/>
          <p:cNvSpPr>
            <a:spLocks/>
          </p:cNvSpPr>
          <p:nvPr/>
        </p:nvSpPr>
        <p:spPr bwMode="auto">
          <a:xfrm>
            <a:off x="6030913" y="1587500"/>
            <a:ext cx="10048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Targ0:</a:t>
            </a:r>
          </a:p>
        </p:txBody>
      </p:sp>
      <p:sp>
        <p:nvSpPr>
          <p:cNvPr id="22534" name="Rectangle 6"/>
          <p:cNvSpPr>
            <a:spLocks/>
          </p:cNvSpPr>
          <p:nvPr/>
        </p:nvSpPr>
        <p:spPr bwMode="auto">
          <a:xfrm>
            <a:off x="7235825" y="25781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1</a:t>
            </a:r>
          </a:p>
        </p:txBody>
      </p:sp>
      <p:sp>
        <p:nvSpPr>
          <p:cNvPr id="22535" name="Rectangle 7"/>
          <p:cNvSpPr>
            <a:spLocks/>
          </p:cNvSpPr>
          <p:nvPr/>
        </p:nvSpPr>
        <p:spPr bwMode="auto">
          <a:xfrm>
            <a:off x="6030913" y="2578100"/>
            <a:ext cx="10048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Targ1:</a:t>
            </a:r>
          </a:p>
        </p:txBody>
      </p:sp>
      <p:sp>
        <p:nvSpPr>
          <p:cNvPr id="22536" name="Rectangle 8"/>
          <p:cNvSpPr>
            <a:spLocks/>
          </p:cNvSpPr>
          <p:nvPr/>
        </p:nvSpPr>
        <p:spPr bwMode="auto">
          <a:xfrm>
            <a:off x="7235825" y="35687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2</a:t>
            </a:r>
          </a:p>
        </p:txBody>
      </p:sp>
      <p:sp>
        <p:nvSpPr>
          <p:cNvPr id="22537" name="Rectangle 9"/>
          <p:cNvSpPr>
            <a:spLocks/>
          </p:cNvSpPr>
          <p:nvPr/>
        </p:nvSpPr>
        <p:spPr bwMode="auto">
          <a:xfrm>
            <a:off x="6030913" y="3568700"/>
            <a:ext cx="10048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Targ2:</a:t>
            </a:r>
          </a:p>
        </p:txBody>
      </p:sp>
      <p:sp>
        <p:nvSpPr>
          <p:cNvPr id="22538" name="Rectangle 10"/>
          <p:cNvSpPr>
            <a:spLocks/>
          </p:cNvSpPr>
          <p:nvPr/>
        </p:nvSpPr>
        <p:spPr bwMode="auto">
          <a:xfrm>
            <a:off x="7204075" y="57023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</a:t>
            </a: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–1</a:t>
            </a:r>
          </a:p>
        </p:txBody>
      </p:sp>
      <p:sp>
        <p:nvSpPr>
          <p:cNvPr id="22539" name="Rectangle 11"/>
          <p:cNvSpPr>
            <a:spLocks/>
          </p:cNvSpPr>
          <p:nvPr/>
        </p:nvSpPr>
        <p:spPr bwMode="auto">
          <a:xfrm>
            <a:off x="5694363" y="5702300"/>
            <a:ext cx="13096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</a:t>
            </a:r>
            <a:r>
              <a:rPr lang="en-US" sz="2000">
                <a:solidFill>
                  <a:schemeClr val="tx1"/>
                </a:solidFill>
                <a:latin typeface="Courier New Bold Italic" charset="0"/>
                <a:cs typeface="Courier New Bold Italic" charset="0"/>
                <a:sym typeface="Courier New Bold Italic" charset="0"/>
              </a:rPr>
              <a:t>n</a:t>
            </a: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-1:</a:t>
            </a:r>
          </a:p>
        </p:txBody>
      </p:sp>
      <p:sp>
        <p:nvSpPr>
          <p:cNvPr id="22540" name="Rectangle 12"/>
          <p:cNvSpPr>
            <a:spLocks/>
          </p:cNvSpPr>
          <p:nvPr/>
        </p:nvSpPr>
        <p:spPr bwMode="auto">
          <a:xfrm>
            <a:off x="7702550" y="4559300"/>
            <a:ext cx="227013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</a:p>
        </p:txBody>
      </p:sp>
      <p:sp>
        <p:nvSpPr>
          <p:cNvPr id="22541" name="Rectangle 13"/>
          <p:cNvSpPr>
            <a:spLocks/>
          </p:cNvSpPr>
          <p:nvPr/>
        </p:nvSpPr>
        <p:spPr bwMode="auto">
          <a:xfrm>
            <a:off x="3937000" y="17145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Targ0</a:t>
            </a:r>
          </a:p>
        </p:txBody>
      </p:sp>
      <p:sp>
        <p:nvSpPr>
          <p:cNvPr id="22542" name="Rectangle 14"/>
          <p:cNvSpPr>
            <a:spLocks/>
          </p:cNvSpPr>
          <p:nvPr/>
        </p:nvSpPr>
        <p:spPr bwMode="auto">
          <a:xfrm>
            <a:off x="3937000" y="20955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Targ1</a:t>
            </a:r>
          </a:p>
        </p:txBody>
      </p:sp>
      <p:sp>
        <p:nvSpPr>
          <p:cNvPr id="22543" name="Rectangle 15"/>
          <p:cNvSpPr>
            <a:spLocks/>
          </p:cNvSpPr>
          <p:nvPr/>
        </p:nvSpPr>
        <p:spPr bwMode="auto">
          <a:xfrm>
            <a:off x="3937000" y="24765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Targ2</a:t>
            </a:r>
          </a:p>
        </p:txBody>
      </p:sp>
      <p:sp>
        <p:nvSpPr>
          <p:cNvPr id="22544" name="Rectangle 16"/>
          <p:cNvSpPr>
            <a:spLocks/>
          </p:cNvSpPr>
          <p:nvPr/>
        </p:nvSpPr>
        <p:spPr bwMode="auto">
          <a:xfrm>
            <a:off x="3937000" y="37719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</a:t>
            </a:r>
            <a:r>
              <a:rPr lang="en-US" sz="1800">
                <a:solidFill>
                  <a:schemeClr val="tx1"/>
                </a:solidFill>
                <a:latin typeface="Courier New Bold Italic" charset="0"/>
                <a:cs typeface="Courier New Bold Italic" charset="0"/>
                <a:sym typeface="Courier New Bold Italic" charset="0"/>
              </a:rPr>
              <a:t>n</a:t>
            </a:r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-1</a:t>
            </a:r>
          </a:p>
        </p:txBody>
      </p:sp>
      <p:sp>
        <p:nvSpPr>
          <p:cNvPr id="22545" name="Rectangle 17"/>
          <p:cNvSpPr>
            <a:spLocks/>
          </p:cNvSpPr>
          <p:nvPr/>
        </p:nvSpPr>
        <p:spPr bwMode="auto">
          <a:xfrm>
            <a:off x="3937000" y="2857500"/>
            <a:ext cx="1270000" cy="9144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</a:p>
        </p:txBody>
      </p:sp>
      <p:sp>
        <p:nvSpPr>
          <p:cNvPr id="22546" name="Rectangle 18"/>
          <p:cNvSpPr>
            <a:spLocks/>
          </p:cNvSpPr>
          <p:nvPr/>
        </p:nvSpPr>
        <p:spPr bwMode="auto">
          <a:xfrm>
            <a:off x="3111500" y="1701800"/>
            <a:ext cx="852488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jtab:</a:t>
            </a:r>
          </a:p>
        </p:txBody>
      </p:sp>
      <p:sp>
        <p:nvSpPr>
          <p:cNvPr id="22547" name="Rectangle 19"/>
          <p:cNvSpPr>
            <a:spLocks/>
          </p:cNvSpPr>
          <p:nvPr/>
        </p:nvSpPr>
        <p:spPr bwMode="auto">
          <a:xfrm>
            <a:off x="304800" y="5092700"/>
            <a:ext cx="2667000" cy="3937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goto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*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JTab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[x];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</p:txBody>
      </p:sp>
      <p:sp>
        <p:nvSpPr>
          <p:cNvPr id="22548" name="Rectangle 20"/>
          <p:cNvSpPr>
            <a:spLocks/>
          </p:cNvSpPr>
          <p:nvPr/>
        </p:nvSpPr>
        <p:spPr bwMode="auto">
          <a:xfrm>
            <a:off x="304800" y="1663700"/>
            <a:ext cx="2298700" cy="26035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switch(x) {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case val_0: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Block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0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case val_1: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Block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1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• • •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case val_</a:t>
            </a:r>
            <a:r>
              <a:rPr lang="en-US" sz="1800" dirty="0">
                <a:solidFill>
                  <a:schemeClr val="tx1"/>
                </a:solidFill>
                <a:latin typeface="Courier New Bold Italic" charset="0"/>
                <a:cs typeface="Courier New Bold Italic" charset="0"/>
                <a:sym typeface="Courier New Bold Italic" charset="0"/>
              </a:rPr>
              <a:t>n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-1: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Block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–1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</a:p>
        </p:txBody>
      </p:sp>
      <p:sp>
        <p:nvSpPr>
          <p:cNvPr id="22549" name="Rectangle 21"/>
          <p:cNvSpPr>
            <a:spLocks/>
          </p:cNvSpPr>
          <p:nvPr/>
        </p:nvSpPr>
        <p:spPr bwMode="auto">
          <a:xfrm>
            <a:off x="285750" y="1295400"/>
            <a:ext cx="1390650" cy="381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Switch Form</a:t>
            </a:r>
          </a:p>
        </p:txBody>
      </p:sp>
      <p:sp>
        <p:nvSpPr>
          <p:cNvPr id="22550" name="Rectangle 22"/>
          <p:cNvSpPr>
            <a:spLocks/>
          </p:cNvSpPr>
          <p:nvPr/>
        </p:nvSpPr>
        <p:spPr bwMode="auto">
          <a:xfrm>
            <a:off x="271463" y="4724400"/>
            <a:ext cx="2633859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Translation (Extended C)</a:t>
            </a:r>
          </a:p>
        </p:txBody>
      </p:sp>
      <p:sp>
        <p:nvSpPr>
          <p:cNvPr id="22551" name="Rectangle 23"/>
          <p:cNvSpPr>
            <a:spLocks/>
          </p:cNvSpPr>
          <p:nvPr/>
        </p:nvSpPr>
        <p:spPr bwMode="auto">
          <a:xfrm>
            <a:off x="3725863" y="1282700"/>
            <a:ext cx="1268412" cy="381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22552" name="Rectangle 24"/>
          <p:cNvSpPr>
            <a:spLocks/>
          </p:cNvSpPr>
          <p:nvPr/>
        </p:nvSpPr>
        <p:spPr bwMode="auto">
          <a:xfrm>
            <a:off x="6923088" y="1219200"/>
            <a:ext cx="1462087" cy="381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Targets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BAE9C0-D9FF-F785-6A97-2AE3B0D7234B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9D1601-9A46-546D-354E-22BBF385B2CF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93611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3556" name="Rectangle 4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3561" name="Rectangle 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Switch Statement Example</a:t>
            </a:r>
          </a:p>
        </p:txBody>
      </p:sp>
      <p:sp>
        <p:nvSpPr>
          <p:cNvPr id="23562" name="Rectangle 10"/>
          <p:cNvSpPr>
            <a:spLocks/>
          </p:cNvSpPr>
          <p:nvPr/>
        </p:nvSpPr>
        <p:spPr bwMode="auto">
          <a:xfrm>
            <a:off x="393700" y="3816350"/>
            <a:ext cx="3454400" cy="381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638"/>
              </a:spcBef>
            </a:pP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Setup:</a:t>
            </a:r>
          </a:p>
        </p:txBody>
      </p:sp>
      <p:sp>
        <p:nvSpPr>
          <p:cNvPr id="23563" name="Rectangle 11"/>
          <p:cNvSpPr>
            <a:spLocks/>
          </p:cNvSpPr>
          <p:nvPr/>
        </p:nvSpPr>
        <p:spPr bwMode="auto">
          <a:xfrm>
            <a:off x="457200" y="1376362"/>
            <a:ext cx="5575300" cy="23066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(long x, long y, long z)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w;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8" name="Rectangle 1"/>
          <p:cNvSpPr>
            <a:spLocks/>
          </p:cNvSpPr>
          <p:nvPr/>
        </p:nvSpPr>
        <p:spPr bwMode="auto">
          <a:xfrm>
            <a:off x="304800" y="4267200"/>
            <a:ext cx="7620000" cy="2159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311275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$6, %rdi   # x:6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ja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.L8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*.L4(,%rdi,8)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 flipV="1">
            <a:off x="1295400" y="5334000"/>
            <a:ext cx="990600" cy="609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838200" y="5943600"/>
            <a:ext cx="289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What range of values takes default?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943600"/>
            <a:ext cx="220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Calibri" pitchFamily="34" charset="0"/>
              </a:rPr>
              <a:t>Note that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</a:t>
            </a:r>
            <a:r>
              <a:rPr lang="en-US" sz="2400" dirty="0">
                <a:solidFill>
                  <a:srgbClr val="C00000"/>
                </a:solidFill>
                <a:latin typeface="Calibri" pitchFamily="34" charset="0"/>
              </a:rPr>
              <a:t> not initialized here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888483"/>
              </p:ext>
            </p:extLst>
          </p:nvPr>
        </p:nvGraphicFramePr>
        <p:xfrm>
          <a:off x="5181600" y="41148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BFFC407-8B63-3411-BC97-DED91B3548B2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A33A7C-7AF9-5215-E683-3826F2B973D4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46390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457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Switch Statement Example</a:t>
            </a:r>
          </a:p>
        </p:txBody>
      </p:sp>
      <p:sp>
        <p:nvSpPr>
          <p:cNvPr id="24580" name="Rectangle 4"/>
          <p:cNvSpPr>
            <a:spLocks/>
          </p:cNvSpPr>
          <p:nvPr/>
        </p:nvSpPr>
        <p:spPr bwMode="auto">
          <a:xfrm>
            <a:off x="457200" y="1350962"/>
            <a:ext cx="5575300" cy="23066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switch_eg(long x, long y, long z)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 . .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w;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4581" name="Rectangle 5"/>
          <p:cNvSpPr>
            <a:spLocks/>
          </p:cNvSpPr>
          <p:nvPr/>
        </p:nvSpPr>
        <p:spPr bwMode="auto">
          <a:xfrm>
            <a:off x="76200" y="5334000"/>
            <a:ext cx="1004888" cy="6350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Indirect </a:t>
            </a:r>
            <a:br>
              <a:rPr lang="en-US" sz="18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</a:br>
            <a:r>
              <a:rPr lang="en-US" sz="18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jump</a:t>
            </a:r>
          </a:p>
        </p:txBody>
      </p:sp>
      <p:sp>
        <p:nvSpPr>
          <p:cNvPr id="24582" name="AutoShape 6"/>
          <p:cNvSpPr>
            <a:spLocks/>
          </p:cNvSpPr>
          <p:nvPr/>
        </p:nvSpPr>
        <p:spPr bwMode="auto">
          <a:xfrm>
            <a:off x="1066800" y="5410200"/>
            <a:ext cx="631825" cy="381000"/>
          </a:xfrm>
          <a:prstGeom prst="rightArrow">
            <a:avLst>
              <a:gd name="adj1" fmla="val 50000"/>
              <a:gd name="adj2" fmla="val 50019"/>
            </a:avLst>
          </a:prstGeom>
          <a:solidFill>
            <a:srgbClr val="C00000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83" name="Rectangle 7"/>
          <p:cNvSpPr>
            <a:spLocks/>
          </p:cNvSpPr>
          <p:nvPr/>
        </p:nvSpPr>
        <p:spPr bwMode="auto">
          <a:xfrm>
            <a:off x="6172200" y="2286000"/>
            <a:ext cx="1246188" cy="3810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24584" name="Rectangle 8"/>
          <p:cNvSpPr>
            <a:spLocks/>
          </p:cNvSpPr>
          <p:nvPr/>
        </p:nvSpPr>
        <p:spPr bwMode="auto">
          <a:xfrm>
            <a:off x="6248400" y="2667000"/>
            <a:ext cx="2832100" cy="2286000"/>
          </a:xfrm>
          <a:prstGeom prst="rect">
            <a:avLst/>
          </a:prstGeom>
          <a:solidFill>
            <a:srgbClr val="D6D6F4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.section	.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rodata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.align 8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.L4: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0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.L3	# x = 1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.L5	# x = 2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.L9	# x = 3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4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5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6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4586" name="Rectangle 10"/>
          <p:cNvSpPr>
            <a:spLocks/>
          </p:cNvSpPr>
          <p:nvPr/>
        </p:nvSpPr>
        <p:spPr bwMode="auto">
          <a:xfrm>
            <a:off x="393700" y="3816350"/>
            <a:ext cx="3454400" cy="381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223838" indent="-223838" algn="l">
              <a:spcBef>
                <a:spcPts val="638"/>
              </a:spcBef>
            </a:pP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Setup:</a:t>
            </a:r>
          </a:p>
        </p:txBody>
      </p:sp>
      <p:sp>
        <p:nvSpPr>
          <p:cNvPr id="12" name="Rectangle 1"/>
          <p:cNvSpPr>
            <a:spLocks/>
          </p:cNvSpPr>
          <p:nvPr/>
        </p:nvSpPr>
        <p:spPr bwMode="auto">
          <a:xfrm>
            <a:off x="1143000" y="4241800"/>
            <a:ext cx="5867400" cy="2082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311275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$6, %rdi      # x:6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ja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.L8           # Use default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*.L4(,%rdi,8)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JTab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[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]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B2F898-C735-9DEC-D180-36CB3198431B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A1D830-2BE9-1D3A-831A-141A5A50F24A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8364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560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Assembly Setup Explanation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5156200"/>
          </a:xfrm>
          <a:ln/>
        </p:spPr>
        <p:txBody>
          <a:bodyPr/>
          <a:lstStyle/>
          <a:p>
            <a:r>
              <a:rPr lang="en-US" dirty="0"/>
              <a:t>Table Structure</a:t>
            </a:r>
          </a:p>
          <a:p>
            <a:pPr marL="552450" lvl="1"/>
            <a:r>
              <a:rPr lang="en-US" dirty="0"/>
              <a:t>Each target requires 8 bytes</a:t>
            </a:r>
          </a:p>
          <a:p>
            <a:pPr marL="552450" lvl="1"/>
            <a:r>
              <a:rPr lang="en-US" dirty="0"/>
              <a:t>Base address at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.L4</a:t>
            </a:r>
            <a:endParaRPr lang="en-US" dirty="0"/>
          </a:p>
          <a:p>
            <a:endParaRPr lang="en-US" dirty="0"/>
          </a:p>
          <a:p>
            <a:r>
              <a:rPr lang="en-US" dirty="0"/>
              <a:t>Jumping</a:t>
            </a:r>
          </a:p>
          <a:p>
            <a:pPr marL="552450" lvl="1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Direct:</a:t>
            </a: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.L8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52450" lvl="1"/>
            <a:r>
              <a:rPr lang="en-US" dirty="0"/>
              <a:t>Jump target is denoted by label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.L8</a:t>
            </a:r>
            <a:endParaRPr lang="en-US" dirty="0"/>
          </a:p>
          <a:p>
            <a:pPr marL="552450" lvl="1"/>
            <a:endParaRPr lang="en-US" dirty="0"/>
          </a:p>
          <a:p>
            <a:pPr marL="552450" lvl="1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Indirect:</a:t>
            </a: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*.L4(,%rdi,8)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52450" lvl="1"/>
            <a:r>
              <a:rPr lang="en-US" dirty="0"/>
              <a:t>Start of jump table: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.L4</a:t>
            </a:r>
            <a:endParaRPr lang="en-US" dirty="0"/>
          </a:p>
          <a:p>
            <a:pPr marL="552450" lvl="1"/>
            <a:r>
              <a:rPr lang="en-US" dirty="0"/>
              <a:t>Must scale by factor of 8 (addresses are 8 bytes)</a:t>
            </a:r>
          </a:p>
          <a:p>
            <a:pPr marL="552450" lvl="1"/>
            <a:r>
              <a:rPr lang="en-US" dirty="0"/>
              <a:t>Fetch target from effective Address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.L4 + x*8</a:t>
            </a:r>
            <a:endParaRPr lang="en-US" dirty="0"/>
          </a:p>
          <a:p>
            <a:pPr marL="838200" lvl="2"/>
            <a:r>
              <a:rPr lang="en-US" dirty="0"/>
              <a:t>Only for  0 ≤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x</a:t>
            </a:r>
            <a:r>
              <a:rPr lang="en-US" dirty="0"/>
              <a:t> ≤ 6</a:t>
            </a:r>
          </a:p>
        </p:txBody>
      </p:sp>
      <p:sp>
        <p:nvSpPr>
          <p:cNvPr id="25606" name="Rectangle 6"/>
          <p:cNvSpPr>
            <a:spLocks/>
          </p:cNvSpPr>
          <p:nvPr/>
        </p:nvSpPr>
        <p:spPr bwMode="auto">
          <a:xfrm>
            <a:off x="5257800" y="1646238"/>
            <a:ext cx="1246188" cy="3810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5486400" y="2133600"/>
            <a:ext cx="2832100" cy="2286000"/>
          </a:xfrm>
          <a:prstGeom prst="rect">
            <a:avLst/>
          </a:prstGeom>
          <a:solidFill>
            <a:srgbClr val="D6D6F4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.section	.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rodata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.align 8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.L4: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0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.L3	# x = 1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.L5	# x = 2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.L9	# x = 3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4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5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6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AA2AB2-5B42-2827-FB4A-5A20AAE3E70A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85C6E8-9241-D979-1988-9A2A9D600FE7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9732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/>
          <p:cNvSpPr>
            <a:spLocks/>
          </p:cNvSpPr>
          <p:nvPr/>
        </p:nvSpPr>
        <p:spPr bwMode="auto">
          <a:xfrm>
            <a:off x="1130300" y="1981200"/>
            <a:ext cx="2832100" cy="2286000"/>
          </a:xfrm>
          <a:prstGeom prst="rect">
            <a:avLst/>
          </a:prstGeom>
          <a:solidFill>
            <a:srgbClr val="D6D6F4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.section	.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rodata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.align 8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.L4: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0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.L3	# x = 1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.L5	# x = 2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.L9	# x = 3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4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5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6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66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662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Jump Table</a:t>
            </a:r>
          </a:p>
        </p:txBody>
      </p:sp>
      <p:sp>
        <p:nvSpPr>
          <p:cNvPr id="26629" name="Rectangle 5"/>
          <p:cNvSpPr>
            <a:spLocks/>
          </p:cNvSpPr>
          <p:nvPr/>
        </p:nvSpPr>
        <p:spPr bwMode="auto">
          <a:xfrm>
            <a:off x="292100" y="1371600"/>
            <a:ext cx="3454400" cy="381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638"/>
              </a:spcBef>
            </a:pP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26630" name="Rectangle 6"/>
          <p:cNvSpPr>
            <a:spLocks/>
          </p:cNvSpPr>
          <p:nvPr/>
        </p:nvSpPr>
        <p:spPr bwMode="auto">
          <a:xfrm>
            <a:off x="4419600" y="1600200"/>
            <a:ext cx="4432300" cy="47704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1:      // .L3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y*z;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      // .L5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      // .L9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5: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6:      // .L7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-=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default:     // .L8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2;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>
            <a:off x="3581400" y="2743200"/>
            <a:ext cx="1371600" cy="27241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2" name="Line 8"/>
          <p:cNvSpPr>
            <a:spLocks noChangeShapeType="1"/>
          </p:cNvSpPr>
          <p:nvPr/>
        </p:nvSpPr>
        <p:spPr bwMode="auto">
          <a:xfrm rot="10800000" flipH="1">
            <a:off x="3568700" y="2146300"/>
            <a:ext cx="1390650" cy="73660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3" name="Line 9"/>
          <p:cNvSpPr>
            <a:spLocks noChangeShapeType="1"/>
          </p:cNvSpPr>
          <p:nvPr/>
        </p:nvSpPr>
        <p:spPr bwMode="auto">
          <a:xfrm rot="10800000" flipH="1">
            <a:off x="3570288" y="2906713"/>
            <a:ext cx="1392237" cy="236537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4" name="Line 10"/>
          <p:cNvSpPr>
            <a:spLocks noChangeShapeType="1"/>
          </p:cNvSpPr>
          <p:nvPr/>
        </p:nvSpPr>
        <p:spPr bwMode="auto">
          <a:xfrm>
            <a:off x="3575050" y="3403600"/>
            <a:ext cx="1390650" cy="271463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5" name="Line 11"/>
          <p:cNvSpPr>
            <a:spLocks noChangeShapeType="1"/>
          </p:cNvSpPr>
          <p:nvPr/>
        </p:nvSpPr>
        <p:spPr bwMode="auto">
          <a:xfrm>
            <a:off x="3581400" y="3670300"/>
            <a:ext cx="1373188" cy="17970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>
            <a:off x="3581400" y="3905250"/>
            <a:ext cx="1295400" cy="6667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>
            <a:off x="3581400" y="4159250"/>
            <a:ext cx="1295400" cy="6413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51235D-2376-8423-F53D-8D2E681926E9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41AADA-AC76-838C-9353-CF1C61223EFE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41759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765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Code Blocks (x == 1)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4267200" y="1295400"/>
            <a:ext cx="4737100" cy="13716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.L3: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</a:t>
            </a:r>
            <a:endParaRPr lang="pt-BR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imulq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*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z</a:t>
            </a:r>
            <a:endParaRPr lang="pt-BR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7653" name="Rectangle 5"/>
          <p:cNvSpPr>
            <a:spLocks/>
          </p:cNvSpPr>
          <p:nvPr/>
        </p:nvSpPr>
        <p:spPr bwMode="auto">
          <a:xfrm>
            <a:off x="228600" y="1295400"/>
            <a:ext cx="3898900" cy="1981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case 1:	  // .L3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y*z;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193612"/>
              </p:ext>
            </p:extLst>
          </p:nvPr>
        </p:nvGraphicFramePr>
        <p:xfrm>
          <a:off x="1752600" y="41148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E911244F-39C3-1B97-501C-641DE46582E1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64379A-DCCD-194D-62AD-C8B6E1ABD21E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05191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662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Handling Fall-Through</a:t>
            </a:r>
          </a:p>
        </p:txBody>
      </p:sp>
      <p:sp>
        <p:nvSpPr>
          <p:cNvPr id="26630" name="Rectangle 6"/>
          <p:cNvSpPr>
            <a:spLocks/>
          </p:cNvSpPr>
          <p:nvPr/>
        </p:nvSpPr>
        <p:spPr bwMode="auto">
          <a:xfrm>
            <a:off x="139700" y="1524000"/>
            <a:ext cx="36703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 . .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	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</a:p>
        </p:txBody>
      </p:sp>
      <p:sp>
        <p:nvSpPr>
          <p:cNvPr id="16" name="Rectangle 6"/>
          <p:cNvSpPr>
            <a:spLocks/>
          </p:cNvSpPr>
          <p:nvPr/>
        </p:nvSpPr>
        <p:spPr bwMode="auto">
          <a:xfrm>
            <a:off x="6172200" y="4419600"/>
            <a:ext cx="2743200" cy="762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case 3: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      w = 1;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17" name="Rectangle 6"/>
          <p:cNvSpPr>
            <a:spLocks/>
          </p:cNvSpPr>
          <p:nvPr/>
        </p:nvSpPr>
        <p:spPr bwMode="auto">
          <a:xfrm>
            <a:off x="4191000" y="2133600"/>
            <a:ext cx="2743200" cy="990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merge;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18" name="Rectangle 6"/>
          <p:cNvSpPr>
            <a:spLocks/>
          </p:cNvSpPr>
          <p:nvPr/>
        </p:nvSpPr>
        <p:spPr bwMode="auto">
          <a:xfrm>
            <a:off x="6172200" y="5181600"/>
            <a:ext cx="2743200" cy="685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merge: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cxnSp>
        <p:nvCxnSpPr>
          <p:cNvPr id="20" name="Straight Arrow Connector 19"/>
          <p:cNvCxnSpPr>
            <a:endCxn id="17" idx="1"/>
          </p:cNvCxnSpPr>
          <p:nvPr/>
        </p:nvCxnSpPr>
        <p:spPr bwMode="auto">
          <a:xfrm flipV="1">
            <a:off x="1752600" y="2628900"/>
            <a:ext cx="2438400" cy="190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/>
          <p:cNvCxnSpPr>
            <a:endCxn id="16" idx="1"/>
          </p:cNvCxnSpPr>
          <p:nvPr/>
        </p:nvCxnSpPr>
        <p:spPr bwMode="auto">
          <a:xfrm>
            <a:off x="1905000" y="3733800"/>
            <a:ext cx="4267200" cy="10668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Arrow Connector 12"/>
          <p:cNvCxnSpPr>
            <a:stCxn id="17" idx="2"/>
          </p:cNvCxnSpPr>
          <p:nvPr/>
        </p:nvCxnSpPr>
        <p:spPr bwMode="auto">
          <a:xfrm>
            <a:off x="5562600" y="3124200"/>
            <a:ext cx="609600" cy="2286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03A07F4-6B73-FC4E-3C89-43075C14BF36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EAF734-8746-C3FD-A722-9E05061E914B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16476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765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Code Blocks (x == 2, x == 3)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3962400" y="1295400"/>
            <a:ext cx="5041900" cy="3048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.L5:                  # Case 2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cqto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idivq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/z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.L6     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merge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.L9:                  # Case 3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1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                 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merge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+= z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ret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139700" y="1524000"/>
            <a:ext cx="36703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 . .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	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239769"/>
              </p:ext>
            </p:extLst>
          </p:nvPr>
        </p:nvGraphicFramePr>
        <p:xfrm>
          <a:off x="3810000" y="45720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5628F9E4-D59F-B20D-8809-D828924EBC6B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9558CA-77E7-8F66-4CA2-BA657D7C69AF}"/>
              </a:ext>
            </a:extLst>
          </p:cNvPr>
          <p:cNvSpPr>
            <a:spLocks/>
          </p:cNvSpPr>
          <p:nvPr/>
        </p:nvSpPr>
        <p:spPr bwMode="auto">
          <a:xfrm>
            <a:off x="0" y="1308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33227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765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Code Blocks (x == 5, x == 6, default)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4267200" y="1295400"/>
            <a:ext cx="4737100" cy="21336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.L7:               # Case 5,6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$1,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1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-= z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.L8:               # Default: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$2,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#  2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27653" name="Rectangle 5"/>
          <p:cNvSpPr>
            <a:spLocks/>
          </p:cNvSpPr>
          <p:nvPr/>
        </p:nvSpPr>
        <p:spPr bwMode="auto">
          <a:xfrm>
            <a:off x="228600" y="1295400"/>
            <a:ext cx="3898900" cy="2819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5:  // .L7</a:t>
            </a:r>
          </a:p>
          <a:p>
            <a:pPr algn="l"/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case 6:  // .L7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-=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default: // .L8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2;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038513"/>
              </p:ext>
            </p:extLst>
          </p:nvPr>
        </p:nvGraphicFramePr>
        <p:xfrm>
          <a:off x="3810000" y="45720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A425C77D-05E5-330F-B60E-FDDA91C00B1F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6601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9938" name="Rectangle 2"/>
          <p:cNvSpPr>
            <a:spLocks/>
          </p:cNvSpPr>
          <p:nvPr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20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Summarizing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435600"/>
          </a:xfrm>
          <a:ln/>
        </p:spPr>
        <p:txBody>
          <a:bodyPr/>
          <a:lstStyle/>
          <a:p>
            <a:r>
              <a:rPr lang="en-US" dirty="0"/>
              <a:t>C Control</a:t>
            </a:r>
          </a:p>
          <a:p>
            <a:pPr marL="546100" lvl="1"/>
            <a:r>
              <a:rPr lang="en-US" dirty="0"/>
              <a:t>if-then-else</a:t>
            </a:r>
          </a:p>
          <a:p>
            <a:pPr marL="546100" lvl="1"/>
            <a:r>
              <a:rPr lang="en-US" dirty="0"/>
              <a:t>do-while</a:t>
            </a:r>
          </a:p>
          <a:p>
            <a:pPr marL="546100" lvl="1"/>
            <a:r>
              <a:rPr lang="en-US" dirty="0"/>
              <a:t>while, for</a:t>
            </a:r>
          </a:p>
          <a:p>
            <a:pPr marL="546100" lvl="1"/>
            <a:r>
              <a:rPr lang="en-US" dirty="0"/>
              <a:t>switch</a:t>
            </a:r>
          </a:p>
          <a:p>
            <a:r>
              <a:rPr lang="en-US" dirty="0"/>
              <a:t>Assembler Control</a:t>
            </a:r>
          </a:p>
          <a:p>
            <a:pPr marL="546100" lvl="1"/>
            <a:r>
              <a:rPr lang="en-US" dirty="0"/>
              <a:t>Conditional jump</a:t>
            </a:r>
          </a:p>
          <a:p>
            <a:pPr marL="546100" lvl="1"/>
            <a:r>
              <a:rPr lang="en-US" dirty="0"/>
              <a:t>Conditional move</a:t>
            </a:r>
          </a:p>
          <a:p>
            <a:pPr marL="546100" lvl="1"/>
            <a:r>
              <a:rPr lang="en-US" dirty="0"/>
              <a:t>Indirect jump (via jump tables)</a:t>
            </a:r>
          </a:p>
          <a:p>
            <a:pPr marL="546100" lvl="1"/>
            <a:r>
              <a:rPr lang="en-US" dirty="0"/>
              <a:t>Compiler generates code sequence to implement more complex control</a:t>
            </a:r>
          </a:p>
          <a:p>
            <a:r>
              <a:rPr lang="en-US" dirty="0"/>
              <a:t>Standard Techniques</a:t>
            </a:r>
          </a:p>
          <a:p>
            <a:pPr marL="546100" lvl="1"/>
            <a:r>
              <a:rPr lang="en-US" dirty="0"/>
              <a:t>Loops converted to do-while or jump-to-middle form</a:t>
            </a:r>
          </a:p>
          <a:p>
            <a:pPr marL="546100" lvl="1"/>
            <a:r>
              <a:rPr lang="en-US" dirty="0"/>
              <a:t>Large switch statements use jump tables</a:t>
            </a:r>
          </a:p>
          <a:p>
            <a:pPr marL="546100" lvl="1"/>
            <a:r>
              <a:rPr lang="en-US" dirty="0"/>
              <a:t>Sparse switch statements may use decision trees (if-</a:t>
            </a:r>
            <a:r>
              <a:rPr lang="en-US" dirty="0" err="1"/>
              <a:t>elseif</a:t>
            </a:r>
            <a:r>
              <a:rPr lang="en-US" dirty="0"/>
              <a:t>-</a:t>
            </a:r>
            <a:r>
              <a:rPr lang="en-US" dirty="0" err="1"/>
              <a:t>elseif</a:t>
            </a:r>
            <a:r>
              <a:rPr lang="en-US" dirty="0"/>
              <a:t>-else)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6DC414-5D48-B37C-F2DD-1C08C5070F4F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517555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451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Summary</a:t>
            </a:r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Today</a:t>
            </a:r>
          </a:p>
          <a:p>
            <a:pPr marL="552450" lvl="1"/>
            <a:r>
              <a:rPr lang="en-US" dirty="0"/>
              <a:t>Control: Condition codes</a:t>
            </a:r>
          </a:p>
          <a:p>
            <a:pPr marL="552450" lvl="1"/>
            <a:r>
              <a:rPr lang="en-US" dirty="0"/>
              <a:t>Conditional branches &amp; conditional moves</a:t>
            </a:r>
          </a:p>
          <a:p>
            <a:pPr marL="552450" lvl="1"/>
            <a:r>
              <a:rPr lang="en-US" dirty="0"/>
              <a:t>Loops</a:t>
            </a:r>
          </a:p>
          <a:p>
            <a:pPr marL="552450" lvl="1"/>
            <a:r>
              <a:rPr lang="en-US" dirty="0"/>
              <a:t>Switch statements</a:t>
            </a:r>
          </a:p>
          <a:p>
            <a:r>
              <a:rPr lang="en-US" dirty="0"/>
              <a:t>Next Time</a:t>
            </a:r>
          </a:p>
          <a:p>
            <a:pPr marL="552450" lvl="1"/>
            <a:r>
              <a:rPr lang="en-US" dirty="0"/>
              <a:t>Stack</a:t>
            </a:r>
          </a:p>
          <a:p>
            <a:pPr marL="552450" lvl="1"/>
            <a:r>
              <a:rPr lang="en-US" dirty="0"/>
              <a:t>Call / return</a:t>
            </a:r>
          </a:p>
          <a:p>
            <a:pPr marL="552450" lvl="1"/>
            <a:r>
              <a:rPr lang="en-US" dirty="0"/>
              <a:t>Procedure call discipline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1A6B08-6A29-DC59-1001-6FFE7E9FB8E1}"/>
              </a:ext>
            </a:extLst>
          </p:cNvPr>
          <p:cNvSpPr>
            <a:spLocks/>
          </p:cNvSpPr>
          <p:nvPr/>
        </p:nvSpPr>
        <p:spPr bwMode="auto">
          <a:xfrm>
            <a:off x="0" y="6662039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Content: Build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: Build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: Buil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23161</TotalTime>
  <Pages>0</Pages>
  <Words>4071</Words>
  <Characters>0</Characters>
  <Application>Microsoft Macintosh PowerPoint</Application>
  <PresentationFormat>On-screen Show (4:3)</PresentationFormat>
  <Lines>0</Lines>
  <Paragraphs>960</Paragraphs>
  <Slides>42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42</vt:i4>
      </vt:variant>
    </vt:vector>
  </HeadingPairs>
  <TitlesOfParts>
    <vt:vector size="59" baseType="lpstr">
      <vt:lpstr>Arial Narrow</vt:lpstr>
      <vt:lpstr>Arial Narrow Bold</vt:lpstr>
      <vt:lpstr>Calibri</vt:lpstr>
      <vt:lpstr>Calibri Bold</vt:lpstr>
      <vt:lpstr>Calibri Bold Italic</vt:lpstr>
      <vt:lpstr>Calibri Italic</vt:lpstr>
      <vt:lpstr>Courier New</vt:lpstr>
      <vt:lpstr>Courier New Bold</vt:lpstr>
      <vt:lpstr>Courier New Bold Italic</vt:lpstr>
      <vt:lpstr>Gill Sans</vt:lpstr>
      <vt:lpstr>Times New Roman</vt:lpstr>
      <vt:lpstr>Wingdings</vt:lpstr>
      <vt:lpstr>Wingdings 2</vt:lpstr>
      <vt:lpstr>Title Slide</vt:lpstr>
      <vt:lpstr>Title and Content: Build</vt:lpstr>
      <vt:lpstr>Title and Content</vt:lpstr>
      <vt:lpstr>Title Only</vt:lpstr>
      <vt:lpstr>Machine-Level Programming II: Control  15-213: Introduction to Computer Systems 5th Lecture, Oct. 11, 2025</vt:lpstr>
      <vt:lpstr>Today</vt:lpstr>
      <vt:lpstr>Processor State (x86-64, Partial)</vt:lpstr>
      <vt:lpstr>Condition Codes (Implicit Setting)</vt:lpstr>
      <vt:lpstr>Condition Codes (Explicit Setting: Compare)</vt:lpstr>
      <vt:lpstr>Condition Codes (Explicit Setting: Test)</vt:lpstr>
      <vt:lpstr>Reading Condition Codes</vt:lpstr>
      <vt:lpstr>x86-64 Integer Registers</vt:lpstr>
      <vt:lpstr>Reading Condition Codes (Cont.)</vt:lpstr>
      <vt:lpstr>Today</vt:lpstr>
      <vt:lpstr>Jumping</vt:lpstr>
      <vt:lpstr>Conditional Branch Example (Old Style)</vt:lpstr>
      <vt:lpstr>Expressing with Goto Code</vt:lpstr>
      <vt:lpstr>General Conditional Expression Translation (Using Branches)</vt:lpstr>
      <vt:lpstr>Using Conditional Moves</vt:lpstr>
      <vt:lpstr>Conditional Move Example</vt:lpstr>
      <vt:lpstr>Bad Cases for Conditional Move</vt:lpstr>
      <vt:lpstr>Today</vt:lpstr>
      <vt:lpstr>“Do-While” Loop Example</vt:lpstr>
      <vt:lpstr>“Do-While” Loop Compilation</vt:lpstr>
      <vt:lpstr>General “Do-While” Translation</vt:lpstr>
      <vt:lpstr>General “While” Translation #1</vt:lpstr>
      <vt:lpstr>While Loop Example #1</vt:lpstr>
      <vt:lpstr>General “While” Translation #2</vt:lpstr>
      <vt:lpstr>While Loop Example #2</vt:lpstr>
      <vt:lpstr>“For” Loop Form</vt:lpstr>
      <vt:lpstr>“For” Loop  While Loop</vt:lpstr>
      <vt:lpstr>For-While Conversion</vt:lpstr>
      <vt:lpstr>“For” Loop Do-While Conversion</vt:lpstr>
      <vt:lpstr>Today</vt:lpstr>
      <vt:lpstr>Switch Statement Example</vt:lpstr>
      <vt:lpstr>Jump Table Structure</vt:lpstr>
      <vt:lpstr>Switch Statement Example</vt:lpstr>
      <vt:lpstr>Switch Statement Example</vt:lpstr>
      <vt:lpstr>Assembly Setup Explanation</vt:lpstr>
      <vt:lpstr>Jump Table</vt:lpstr>
      <vt:lpstr>Code Blocks (x == 1)</vt:lpstr>
      <vt:lpstr>Handling Fall-Through</vt:lpstr>
      <vt:lpstr>Code Blocks (x == 2, x == 3)</vt:lpstr>
      <vt:lpstr>Code Blocks (x == 5, x == 6, default)</vt:lpstr>
      <vt:lpstr>Summarizing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Đỗ Uyên</cp:lastModifiedBy>
  <cp:revision>1058</cp:revision>
  <cp:lastPrinted>2013-09-12T14:46:51Z</cp:lastPrinted>
  <dcterms:created xsi:type="dcterms:W3CDTF">2012-09-13T15:33:55Z</dcterms:created>
  <dcterms:modified xsi:type="dcterms:W3CDTF">2025-10-04T17:53:46Z</dcterms:modified>
</cp:coreProperties>
</file>