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1" r:id="rId3"/>
    <p:sldMasterId id="2147483732" r:id="rId4"/>
  </p:sldMasterIdLst>
  <p:notesMasterIdLst>
    <p:notesMasterId r:id="rId35"/>
  </p:notesMasterIdLst>
  <p:handoutMasterIdLst>
    <p:handoutMasterId r:id="rId36"/>
  </p:handoutMasterIdLst>
  <p:sldIdLst>
    <p:sldId id="29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9" r:id="rId16"/>
    <p:sldId id="269" r:id="rId17"/>
    <p:sldId id="270" r:id="rId18"/>
    <p:sldId id="271" r:id="rId19"/>
    <p:sldId id="272" r:id="rId20"/>
    <p:sldId id="273" r:id="rId21"/>
    <p:sldId id="275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9" r:id="rId32"/>
    <p:sldId id="290" r:id="rId33"/>
    <p:sldId id="292" r:id="rId34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48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34"/>
    <p:restoredTop sz="92713" autoAdjust="0"/>
  </p:normalViewPr>
  <p:slideViewPr>
    <p:cSldViewPr>
      <p:cViewPr varScale="1">
        <p:scale>
          <a:sx n="95" d="100"/>
          <a:sy n="95" d="100"/>
        </p:scale>
        <p:origin x="192" y="352"/>
      </p:cViewPr>
      <p:guideLst>
        <p:guide orient="horz" pos="3648"/>
        <p:guide pos="27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9C02A0-2CB8-F64C-87A7-A5563D28AA9B}" type="datetimeFigureOut">
              <a:rPr lang="en-US" smtClean="0"/>
              <a:pPr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85E4B-77DA-1E4C-9EDA-713D746B90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2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4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18722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79817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425"/>
              </a:spcBef>
            </a:pPr>
            <a:r>
              <a:rPr lang="en-US">
                <a:solidFill>
                  <a:srgbClr val="000000"/>
                </a:solidFill>
                <a:latin typeface="Times New Roman" charset="0"/>
                <a:cs typeface="Times New Roman" charset="0"/>
                <a:sym typeface="Times New Roman" charset="0"/>
              </a:rPr>
              <a:t>Latex source for equation: </a:t>
            </a:r>
            <a:r>
              <a:rPr lang="en-US">
                <a:latin typeface="Monaco" charset="0"/>
                <a:ea typeface="Monaco" charset="0"/>
                <a:cs typeface="Monaco" charset="0"/>
                <a:sym typeface="Monaco" charset="0"/>
              </a:rPr>
              <a:t>\sum_{k=-j}^i b_k \times 2^k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419851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637135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3288134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409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820862"/>
          </a:xfrm>
        </p:spPr>
        <p:txBody>
          <a:bodyPr/>
          <a:lstStyle/>
          <a:p>
            <a:pPr marL="0" indent="0"/>
            <a:r>
              <a:rPr lang="en-US" b="1" dirty="0">
                <a:latin typeface="+mn-lt"/>
              </a:rPr>
              <a:t>Floating Point</a:t>
            </a:r>
            <a:br>
              <a:rPr lang="en-US" dirty="0"/>
            </a:br>
            <a:br>
              <a:rPr lang="en-US" dirty="0"/>
            </a:br>
            <a:r>
              <a:rPr lang="en-US" sz="2000" b="0" dirty="0"/>
              <a:t>Introduction to Computer Systems</a:t>
            </a:r>
            <a:br>
              <a:rPr lang="en-US" b="0" dirty="0"/>
            </a:br>
            <a:endParaRPr lang="en-US" sz="2000" b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18BF1C-D25C-50A1-B714-6388D9C90FE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024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endParaRPr lang="en-US" sz="1200" dirty="0">
              <a:solidFill>
                <a:srgbClr val="FFFFFF"/>
              </a:solidFill>
              <a:ea typeface="Gill Sans" charset="0"/>
              <a:cs typeface="Gill Sans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Today: Floating Point</a:t>
            </a:r>
            <a:endParaRPr lang="en-US" dirty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Background: Fractional binary numbers</a:t>
            </a:r>
          </a:p>
          <a:p>
            <a:r>
              <a:rPr lang="en-US" dirty="0"/>
              <a:t>IEEE floating point standard: Definition</a:t>
            </a:r>
          </a:p>
          <a:p>
            <a:r>
              <a:rPr lang="en-US" dirty="0"/>
              <a:t>Example and properties</a:t>
            </a:r>
          </a:p>
          <a:p>
            <a:r>
              <a:rPr lang="en-US" dirty="0"/>
              <a:t>Rounding, addition, multiplication</a:t>
            </a:r>
          </a:p>
          <a:p>
            <a:r>
              <a:rPr lang="en-US" dirty="0"/>
              <a:t>Floating point in C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D3469F-DF8A-D120-B4C9-932C92812D4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Fractional binary numbers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What is 1011.101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A02C5-F189-54A6-D076-DB6E4B6FCCF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" name="Group 1"/>
          <p:cNvGraphicFramePr>
            <a:graphicFrameLocks noGrp="1"/>
          </p:cNvGraphicFramePr>
          <p:nvPr/>
        </p:nvGraphicFramePr>
        <p:xfrm>
          <a:off x="4114800" y="1079500"/>
          <a:ext cx="584200" cy="2129801"/>
        </p:xfrm>
        <a:graphic>
          <a:graphicData uri="http://schemas.openxmlformats.org/drawingml/2006/table">
            <a:tbl>
              <a:tblPr/>
              <a:tblGrid>
                <a:gridCol w="58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18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4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315" name="Group 27"/>
          <p:cNvGraphicFramePr>
            <a:graphicFrameLocks noGrp="1"/>
          </p:cNvGraphicFramePr>
          <p:nvPr/>
        </p:nvGraphicFramePr>
        <p:xfrm>
          <a:off x="3581400" y="3733800"/>
          <a:ext cx="660400" cy="1727200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1/4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1/8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980002"/>
                        </a:solidFill>
                        <a:effectLst/>
                        <a:latin typeface="Calibri" charset="0"/>
                        <a:ea typeface="ヒラギノ角ゴ ProN W3" charset="0"/>
                        <a:cs typeface="ヒラギノ角ゴ ProN W3" charset="0"/>
                        <a:sym typeface="Calibri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" charset="0"/>
                          <a:ea typeface="Calibri" charset="0"/>
                          <a:cs typeface="Calibri" charset="0"/>
                          <a:sym typeface="Calibri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32000">
                          <a:ln>
                            <a:noFill/>
                          </a:ln>
                          <a:solidFill>
                            <a:srgbClr val="980002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37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005844"/>
              </p:ext>
            </p:extLst>
          </p:nvPr>
        </p:nvGraphicFramePr>
        <p:xfrm>
          <a:off x="901700" y="3187700"/>
          <a:ext cx="6527800" cy="5461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i-1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-1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-2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-3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•••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6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Italic" charset="0"/>
                          <a:ea typeface="Calibri Italic" charset="0"/>
                          <a:cs typeface="Calibri Italic" charset="0"/>
                          <a:sym typeface="Calibri Italic" charset="0"/>
                        </a:rPr>
                        <a:t>-j</a:t>
                      </a:r>
                    </a:p>
                  </a:txBody>
                  <a:tcPr marL="50800" marR="50800" marT="50800" marB="50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83" name="Rectangle 95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385" name="Rectangle 97"/>
          <p:cNvSpPr>
            <a:spLocks/>
          </p:cNvSpPr>
          <p:nvPr/>
        </p:nvSpPr>
        <p:spPr bwMode="auto">
          <a:xfrm rot="10800000">
            <a:off x="6205538" y="4057650"/>
            <a:ext cx="561975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86" name="Rectangle 98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6870700" cy="1558925"/>
          </a:xfrm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Fractional Binary Numbers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12387" name="Rectangle 99"/>
          <p:cNvSpPr>
            <a:spLocks noGrp="1" noChangeArrowheads="1"/>
          </p:cNvSpPr>
          <p:nvPr>
            <p:ph type="body" idx="1"/>
          </p:nvPr>
        </p:nvSpPr>
        <p:spPr>
          <a:xfrm>
            <a:off x="442913" y="5008563"/>
            <a:ext cx="8472487" cy="1849437"/>
          </a:xfrm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ea typeface="Calibri" charset="0"/>
                <a:cs typeface="Calibri" charset="0"/>
              </a:rPr>
              <a:t>Representation</a:t>
            </a:r>
            <a:endParaRPr lang="en-US"/>
          </a:p>
          <a:p>
            <a:pPr lvl="1"/>
            <a:r>
              <a:rPr lang="en-US"/>
              <a:t>Bits to right of “binary point” represent fractional powers of 2</a:t>
            </a:r>
          </a:p>
          <a:p>
            <a:pPr lvl="1"/>
            <a:r>
              <a:rPr lang="en-US"/>
              <a:t>Represents rational number:</a:t>
            </a:r>
          </a:p>
        </p:txBody>
      </p:sp>
      <p:sp>
        <p:nvSpPr>
          <p:cNvPr id="12388" name="Freeform 100"/>
          <p:cNvSpPr>
            <a:spLocks/>
          </p:cNvSpPr>
          <p:nvPr/>
        </p:nvSpPr>
        <p:spPr bwMode="auto">
          <a:xfrm>
            <a:off x="4040188" y="3017838"/>
            <a:ext cx="1651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3600"/>
          </a:p>
        </p:txBody>
      </p:sp>
      <p:sp>
        <p:nvSpPr>
          <p:cNvPr id="12389" name="Freeform 101"/>
          <p:cNvSpPr>
            <a:spLocks/>
          </p:cNvSpPr>
          <p:nvPr/>
        </p:nvSpPr>
        <p:spPr bwMode="auto">
          <a:xfrm>
            <a:off x="3505200" y="2586038"/>
            <a:ext cx="698500" cy="53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0" name="Freeform 102"/>
          <p:cNvSpPr>
            <a:spLocks/>
          </p:cNvSpPr>
          <p:nvPr/>
        </p:nvSpPr>
        <p:spPr bwMode="auto">
          <a:xfrm>
            <a:off x="2955925" y="2344738"/>
            <a:ext cx="12446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1" name="Freeform 103"/>
          <p:cNvSpPr>
            <a:spLocks/>
          </p:cNvSpPr>
          <p:nvPr/>
        </p:nvSpPr>
        <p:spPr bwMode="auto">
          <a:xfrm>
            <a:off x="1778000" y="1671638"/>
            <a:ext cx="2425700" cy="14478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2" name="Freeform 104"/>
          <p:cNvSpPr>
            <a:spLocks/>
          </p:cNvSpPr>
          <p:nvPr/>
        </p:nvSpPr>
        <p:spPr bwMode="auto">
          <a:xfrm>
            <a:off x="1028700" y="1316038"/>
            <a:ext cx="3175000" cy="18034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3" name="Rectangle 105"/>
          <p:cNvSpPr>
            <a:spLocks/>
          </p:cNvSpPr>
          <p:nvPr/>
        </p:nvSpPr>
        <p:spPr bwMode="auto">
          <a:xfrm>
            <a:off x="2111375" y="2420938"/>
            <a:ext cx="560388" cy="533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Times" pitchFamily="18" charset="0"/>
                <a:ea typeface="Times" pitchFamily="18" charset="0"/>
                <a:cs typeface="Times" pitchFamily="18" charset="0"/>
                <a:sym typeface="Times" pitchFamily="18" charset="0"/>
              </a:rPr>
              <a:t>• • •</a:t>
            </a:r>
          </a:p>
        </p:txBody>
      </p:sp>
      <p:sp>
        <p:nvSpPr>
          <p:cNvPr id="12394" name="Freeform 106"/>
          <p:cNvSpPr>
            <a:spLocks/>
          </p:cNvSpPr>
          <p:nvPr/>
        </p:nvSpPr>
        <p:spPr bwMode="auto">
          <a:xfrm rot="10800000">
            <a:off x="4298950" y="3778250"/>
            <a:ext cx="342900" cy="10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5" name="Freeform 107"/>
          <p:cNvSpPr>
            <a:spLocks/>
          </p:cNvSpPr>
          <p:nvPr/>
        </p:nvSpPr>
        <p:spPr bwMode="auto">
          <a:xfrm rot="10800000">
            <a:off x="4286250" y="3778250"/>
            <a:ext cx="977900" cy="393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6" name="Freeform 108"/>
          <p:cNvSpPr>
            <a:spLocks/>
          </p:cNvSpPr>
          <p:nvPr/>
        </p:nvSpPr>
        <p:spPr bwMode="auto">
          <a:xfrm rot="10800000">
            <a:off x="4284663" y="3790950"/>
            <a:ext cx="1574800" cy="7747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7" name="Freeform 109"/>
          <p:cNvSpPr>
            <a:spLocks/>
          </p:cNvSpPr>
          <p:nvPr/>
        </p:nvSpPr>
        <p:spPr bwMode="auto">
          <a:xfrm rot="10800000">
            <a:off x="4275138" y="3752850"/>
            <a:ext cx="2717800" cy="1371600"/>
          </a:xfrm>
          <a:custGeom>
            <a:avLst/>
            <a:gdLst/>
            <a:ahLst/>
            <a:cxnLst>
              <a:cxn ang="0">
                <a:pos x="21600" y="0"/>
              </a:cxn>
              <a:cxn ang="0">
                <a:pos x="0" y="0"/>
              </a:cxn>
              <a:cxn ang="0">
                <a:pos x="0" y="21600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</a:path>
            </a:pathLst>
          </a:cu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2398" name="Oval 110"/>
          <p:cNvSpPr>
            <a:spLocks/>
          </p:cNvSpPr>
          <p:nvPr/>
        </p:nvSpPr>
        <p:spPr bwMode="auto">
          <a:xfrm>
            <a:off x="4341751" y="3629726"/>
            <a:ext cx="165100" cy="165100"/>
          </a:xfrm>
          <a:prstGeom prst="ellipse">
            <a:avLst/>
          </a:prstGeom>
          <a:solidFill>
            <a:srgbClr val="000000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pic>
        <p:nvPicPr>
          <p:cNvPr id="12399" name="Picture 1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40300" y="5810250"/>
            <a:ext cx="1320800" cy="781050"/>
          </a:xfrm>
          <a:prstGeom prst="rect">
            <a:avLst/>
          </a:prstGeom>
          <a:noFill/>
          <a:ln w="12700" cap="flat">
            <a:noFill/>
            <a:miter lim="800000"/>
            <a:headEnd/>
            <a:tailEnd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1F0422-6A96-5FA6-B33E-7520345182F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Fractional Binary Numbers: Examples</a:t>
            </a:r>
          </a:p>
        </p:txBody>
      </p:sp>
      <p:sp>
        <p:nvSpPr>
          <p:cNvPr id="15367" name="Rectangle 7"/>
          <p:cNvSpPr>
            <a:spLocks/>
          </p:cNvSpPr>
          <p:nvPr/>
        </p:nvSpPr>
        <p:spPr bwMode="auto">
          <a:xfrm>
            <a:off x="381000" y="1397000"/>
            <a:ext cx="8382000" cy="5232400"/>
          </a:xfrm>
          <a:prstGeom prst="rect">
            <a:avLst/>
          </a:prstGeom>
          <a:noFill/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marL="254000" indent="-254000" algn="l">
              <a:spcBef>
                <a:spcPts val="575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2398713" algn="l"/>
              </a:tabLst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Value	Representation</a:t>
            </a: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5 3/4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101.11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2 7/8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10.111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600"/>
              </a:spcBef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 	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Monaco" charset="0"/>
                <a:cs typeface="Calibri"/>
                <a:sym typeface="Monaco" charset="0"/>
              </a:rPr>
              <a:t>1 7/16</a:t>
            </a:r>
            <a:r>
              <a:rPr lang="en-US" sz="2000" dirty="0">
                <a:solidFill>
                  <a:schemeClr val="tx1"/>
                </a:solidFill>
                <a:latin typeface="Monaco" charset="0"/>
                <a:ea typeface="Monaco" charset="0"/>
                <a:cs typeface="Monaco" charset="0"/>
                <a:sym typeface="Monaco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00</a:t>
            </a:r>
            <a:r>
              <a:rPr lang="en-US" sz="20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1.0111</a:t>
            </a:r>
            <a:r>
              <a:rPr lang="en-US" sz="2000" b="1" baseline="-6000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sz="2000" b="1" dirty="0">
              <a:solidFill>
                <a:schemeClr val="tx1"/>
              </a:solidFill>
              <a:latin typeface="Courier New"/>
              <a:ea typeface="Calibri" charset="0"/>
              <a:cs typeface="Courier New"/>
              <a:sym typeface="Calibri" charset="0"/>
            </a:endParaRPr>
          </a:p>
          <a:p>
            <a:pPr marL="254000" indent="-254000" algn="l">
              <a:spcBef>
                <a:spcPts val="4100"/>
              </a:spcBef>
              <a:buClr>
                <a:srgbClr val="990000"/>
              </a:buClr>
              <a:buSzPct val="60000"/>
              <a:buFont typeface="Wingdings 2" charset="2"/>
              <a:buChar char="¢"/>
              <a:tabLst>
                <a:tab pos="2398713" algn="l"/>
              </a:tabLst>
            </a:pPr>
            <a:r>
              <a:rPr lang="en-US" sz="24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Observations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Divide by 2 by shifting right (unsigned)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Multiply by 2 by shifting left</a:t>
            </a:r>
          </a:p>
          <a:p>
            <a:pPr marL="711200" lvl="1" indent="-254000" algn="l">
              <a:spcBef>
                <a:spcPts val="475"/>
              </a:spcBef>
              <a:buClr>
                <a:srgbClr val="990000"/>
              </a:buClr>
              <a:buSzPct val="11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Numbers of form 0.111111…</a:t>
            </a:r>
            <a:r>
              <a:rPr lang="en-US" sz="2000" baseline="-6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are just below 1.0</a:t>
            </a: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1/2 + 1/4 + 1/8 + … + 1/2</a:t>
            </a:r>
            <a:r>
              <a:rPr lang="en-US" sz="2000" baseline="320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 + … ➙ 1.0</a:t>
            </a:r>
          </a:p>
          <a:p>
            <a:pPr marL="977900" lvl="2" indent="-203200" algn="l">
              <a:spcBef>
                <a:spcPts val="475"/>
              </a:spcBef>
              <a:buClr>
                <a:srgbClr val="000000"/>
              </a:buClr>
              <a:buSzPct val="80000"/>
              <a:buFont typeface="Wingdings" charset="2"/>
              <a:buChar char="§"/>
              <a:tabLst>
                <a:tab pos="2398713" algn="l"/>
              </a:tabLst>
            </a:pPr>
            <a:r>
              <a:rPr lang="en-US" sz="2000" dirty="0">
                <a:solidFill>
                  <a:schemeClr val="tx1"/>
                </a:solidFill>
                <a:latin typeface="Calibri" charset="0"/>
                <a:ea typeface="Zapf Dingbats" charset="0"/>
                <a:cs typeface="Zapf Dingbats" charset="0"/>
                <a:sym typeface="Calibri" charset="0"/>
              </a:rPr>
              <a:t>Use notation 1.0 – 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1DCB34-02E3-B391-2A8D-D27B09F75285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Representable Numbers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828800" algn="l"/>
              </a:tabLst>
            </a:pPr>
            <a:r>
              <a:rPr lang="en-US" dirty="0"/>
              <a:t>Limitation #1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Can only exactly represent numbers of the form x/2</a:t>
            </a:r>
            <a:r>
              <a:rPr lang="en-US" baseline="32000" dirty="0"/>
              <a:t>k</a:t>
            </a:r>
            <a:endParaRPr lang="en-US" dirty="0"/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Other rational numbers have repeating bit representations</a:t>
            </a:r>
          </a:p>
          <a:p>
            <a:pPr lvl="4">
              <a:tabLst>
                <a:tab pos="1828800" algn="l"/>
              </a:tabLst>
            </a:pPr>
            <a:endParaRPr lang="en-US" sz="200" dirty="0"/>
          </a:p>
          <a:p>
            <a:pPr lvl="1">
              <a:tabLst>
                <a:tab pos="1828800" algn="l"/>
              </a:tabLst>
            </a:pPr>
            <a:r>
              <a:rPr lang="en-US" dirty="0"/>
              <a:t>Value	Representation</a:t>
            </a: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1/3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0.0101010101[01]…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1/5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1/10	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0.0001100110011[0011]…</a:t>
            </a:r>
            <a:r>
              <a:rPr lang="en-US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baseline="-6000" dirty="0">
              <a:latin typeface="Courier New"/>
              <a:cs typeface="Courier New"/>
              <a:sym typeface="Monaco" charset="0"/>
            </a:endParaRPr>
          </a:p>
          <a:p>
            <a:pPr>
              <a:tabLst>
                <a:tab pos="1828800" algn="l"/>
              </a:tabLst>
            </a:pPr>
            <a:endParaRPr lang="en-US" dirty="0"/>
          </a:p>
          <a:p>
            <a:pPr>
              <a:tabLst>
                <a:tab pos="1828800" algn="l"/>
              </a:tabLst>
            </a:pPr>
            <a:r>
              <a:rPr lang="en-US" dirty="0"/>
              <a:t>Limitation #2</a:t>
            </a:r>
          </a:p>
          <a:p>
            <a:pPr marL="552450" lvl="1">
              <a:tabLst>
                <a:tab pos="1828800" algn="l"/>
              </a:tabLst>
            </a:pPr>
            <a:r>
              <a:rPr lang="en-US" dirty="0"/>
              <a:t>Just one setting of binary point within the </a:t>
            </a:r>
            <a:r>
              <a:rPr lang="en-US" i="1" dirty="0"/>
              <a:t>w </a:t>
            </a:r>
            <a:r>
              <a:rPr lang="en-US" dirty="0"/>
              <a:t>bits</a:t>
            </a:r>
            <a:endParaRPr lang="en-US" dirty="0">
              <a:latin typeface="Monaco" charset="0"/>
              <a:sym typeface="Monaco" charset="0"/>
            </a:endParaRPr>
          </a:p>
          <a:p>
            <a:pPr marL="838200" lvl="2">
              <a:tabLst>
                <a:tab pos="1828800" algn="l"/>
              </a:tabLst>
            </a:pPr>
            <a:r>
              <a:rPr lang="en-US" dirty="0"/>
              <a:t>Limited range of numbers (very small values?  very large?)</a:t>
            </a:r>
            <a:endParaRPr lang="en-US" dirty="0">
              <a:latin typeface="Monaco" charset="0"/>
              <a:sym typeface="Monaco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963728-F162-8575-7C21-F1358FA6469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/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99ED8-881E-1054-4FEA-577AB532C0E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IEEE Floating Point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IEEE Standard 754</a:t>
            </a:r>
          </a:p>
          <a:p>
            <a:pPr marL="552450" lvl="1"/>
            <a:r>
              <a:rPr lang="en-US"/>
              <a:t>Established in 1985 as uniform standard for floating point arithmetic</a:t>
            </a:r>
          </a:p>
          <a:p>
            <a:pPr marL="838200" lvl="2"/>
            <a:r>
              <a:rPr lang="en-US"/>
              <a:t>Before that, many idiosyncratic formats</a:t>
            </a:r>
          </a:p>
          <a:p>
            <a:pPr marL="552450" lvl="1"/>
            <a:r>
              <a:rPr lang="en-US"/>
              <a:t>Supported by all major CPUs</a:t>
            </a:r>
          </a:p>
          <a:p>
            <a:endParaRPr lang="en-US"/>
          </a:p>
          <a:p>
            <a:r>
              <a:rPr lang="en-US"/>
              <a:t>Driven by numerical concerns</a:t>
            </a:r>
          </a:p>
          <a:p>
            <a:pPr marL="552450" lvl="1"/>
            <a:r>
              <a:rPr lang="en-US"/>
              <a:t>Nice standards for rounding, overflow, underflow</a:t>
            </a:r>
          </a:p>
          <a:p>
            <a:pPr marL="552450" lvl="1"/>
            <a:r>
              <a:rPr lang="en-US"/>
              <a:t>Hard to make fast in hardware</a:t>
            </a:r>
          </a:p>
          <a:p>
            <a:pPr marL="838200" lvl="2"/>
            <a:r>
              <a:rPr lang="en-US"/>
              <a:t>Numerical analysts predominated over hardware designers in defining standard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76554D-46C4-11EB-ACAD-F1CEA57D693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Numerical Form: </a:t>
            </a:r>
            <a:br>
              <a:rPr lang="en-US" dirty="0"/>
            </a:br>
            <a:r>
              <a:rPr lang="en-US" dirty="0"/>
              <a:t>			(–1)</a:t>
            </a:r>
            <a:r>
              <a:rPr lang="en-US" baseline="32000" dirty="0"/>
              <a:t>s</a:t>
            </a:r>
            <a:r>
              <a:rPr lang="en-US" dirty="0"/>
              <a:t>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2</a:t>
            </a:r>
            <a:r>
              <a:rPr lang="en-US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 bit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dirty="0"/>
              <a:t> determines whether number is negative or positive</a:t>
            </a:r>
          </a:p>
          <a:p>
            <a:pPr marL="552450" lvl="1"/>
            <a:r>
              <a:rPr lang="en-US" dirty="0" err="1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Significand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normally a fractional value in range [1.0,2.0).</a:t>
            </a:r>
          </a:p>
          <a:p>
            <a:pPr marL="552450" lvl="1"/>
            <a:r>
              <a:rPr lang="en-US" dirty="0"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Exponent</a:t>
            </a:r>
            <a:r>
              <a:rPr lang="en-US" dirty="0"/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weights value by power of two</a:t>
            </a:r>
          </a:p>
          <a:p>
            <a:endParaRPr lang="en-US" dirty="0"/>
          </a:p>
          <a:p>
            <a:r>
              <a:rPr lang="en-US" dirty="0"/>
              <a:t>Encoding</a:t>
            </a:r>
          </a:p>
          <a:p>
            <a:pPr marL="552450" lvl="1"/>
            <a:r>
              <a:rPr lang="en-US" dirty="0"/>
              <a:t>MSB </a:t>
            </a:r>
            <a:r>
              <a:rPr lang="en-US" dirty="0">
                <a:latin typeface="Monaco" charset="0"/>
                <a:ea typeface="Monaco" charset="0"/>
                <a:cs typeface="Monaco" charset="0"/>
                <a:sym typeface="Monaco" charset="0"/>
              </a:rPr>
              <a:t>s</a:t>
            </a:r>
            <a:r>
              <a:rPr lang="en-US" dirty="0"/>
              <a:t> is sign bit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endParaRPr lang="en-US" dirty="0"/>
          </a:p>
          <a:p>
            <a:pPr marL="552450" lvl="1"/>
            <a:r>
              <a:rPr lang="en-US" dirty="0" err="1">
                <a:latin typeface="+mn-lt"/>
                <a:ea typeface="Monaco" charset="0"/>
                <a:cs typeface="Monaco" charset="0"/>
                <a:sym typeface="Monaco" charset="0"/>
              </a:rPr>
              <a:t>exp</a:t>
            </a:r>
            <a:r>
              <a:rPr lang="en-US" dirty="0">
                <a:latin typeface="+mn-lt"/>
              </a:rPr>
              <a:t> </a:t>
            </a:r>
            <a:r>
              <a:rPr lang="en-US" dirty="0"/>
              <a:t>field encodes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(but is not equal to E)</a:t>
            </a:r>
          </a:p>
          <a:p>
            <a:pPr marL="552450" lvl="1"/>
            <a:r>
              <a:rPr lang="en-US" dirty="0" err="1">
                <a:latin typeface="+mn-lt"/>
                <a:ea typeface="Monaco" charset="0"/>
                <a:cs typeface="Monaco" charset="0"/>
                <a:sym typeface="Monaco" charset="0"/>
              </a:rPr>
              <a:t>frac</a:t>
            </a:r>
            <a:r>
              <a:rPr lang="en-US" dirty="0"/>
              <a:t> field encodes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(but is not equal to M)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Representation</a:t>
            </a:r>
          </a:p>
        </p:txBody>
      </p:sp>
      <p:graphicFrame>
        <p:nvGraphicFramePr>
          <p:cNvPr id="1946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37174"/>
              </p:ext>
            </p:extLst>
          </p:nvPr>
        </p:nvGraphicFramePr>
        <p:xfrm>
          <a:off x="711200" y="5689600"/>
          <a:ext cx="7366000" cy="508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D9546DB-0F94-C8F2-FA6F-DC05427D37C7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Precision options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Single precision: 32 bits</a:t>
            </a:r>
          </a:p>
          <a:p>
            <a:pPr>
              <a:spcBef>
                <a:spcPts val="10000"/>
              </a:spcBef>
            </a:pPr>
            <a:r>
              <a:rPr lang="en-US" dirty="0"/>
              <a:t>Double precision: 64 bits</a:t>
            </a:r>
          </a:p>
          <a:p>
            <a:pPr>
              <a:spcBef>
                <a:spcPts val="10000"/>
              </a:spcBef>
            </a:pPr>
            <a:r>
              <a:rPr lang="en-US" dirty="0"/>
              <a:t>Extended precision: 80 bits (Intel only)</a:t>
            </a:r>
          </a:p>
        </p:txBody>
      </p:sp>
      <p:graphicFrame>
        <p:nvGraphicFramePr>
          <p:cNvPr id="20485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177565"/>
              </p:ext>
            </p:extLst>
          </p:nvPr>
        </p:nvGraphicFramePr>
        <p:xfrm>
          <a:off x="876300" y="19939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8-bits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23-bits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09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649278"/>
              </p:ext>
            </p:extLst>
          </p:nvPr>
        </p:nvGraphicFramePr>
        <p:xfrm>
          <a:off x="876300" y="37465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Monaco" charset="0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11-bits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52-bits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33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91200"/>
              </p:ext>
            </p:extLst>
          </p:nvPr>
        </p:nvGraphicFramePr>
        <p:xfrm>
          <a:off x="876300" y="5499100"/>
          <a:ext cx="7366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Monaco" charset="0"/>
                        <a:cs typeface="Calibri"/>
                        <a:sym typeface="Monaco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Monaco" charset="0"/>
                          <a:sym typeface="Monaco" charset="0"/>
                        </a:rPr>
                        <a:t>15-bits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Monaco" charset="0"/>
                          <a:cs typeface="Calibri"/>
                          <a:sym typeface="Monaco" charset="0"/>
                        </a:rPr>
                        <a:t>63 or 64-bits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8842924-713C-E248-7123-6ACFB71235C9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“Normalized” Values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When: exp ≠ 000…0 and exp ≠ 111…1</a:t>
            </a:r>
          </a:p>
          <a:p>
            <a:endParaRPr lang="en-US" dirty="0"/>
          </a:p>
          <a:p>
            <a:r>
              <a:rPr lang="en-US" dirty="0"/>
              <a:t>Exponent coded as a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biased</a:t>
            </a:r>
            <a:r>
              <a:rPr lang="en-US" dirty="0"/>
              <a:t>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 = 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dirty="0"/>
              <a:t>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dirty="0"/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Exp</a:t>
            </a:r>
            <a:r>
              <a:rPr lang="en-US" dirty="0"/>
              <a:t>: unsigned value of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exp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r>
              <a:rPr lang="en-US" dirty="0">
                <a:latin typeface="Calibri"/>
                <a:cs typeface="Calibri"/>
              </a:rPr>
              <a:t> </a:t>
            </a:r>
          </a:p>
          <a:p>
            <a:pPr marL="552450" lvl="1"/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Bias</a:t>
            </a:r>
            <a:r>
              <a:rPr lang="en-US" dirty="0"/>
              <a:t> = 2</a:t>
            </a:r>
            <a:r>
              <a:rPr lang="en-US" baseline="32000" dirty="0"/>
              <a:t>k-1</a:t>
            </a:r>
            <a:r>
              <a:rPr lang="en-US" dirty="0"/>
              <a:t> - 1, where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dirty="0"/>
              <a:t> is number of exponent bits</a:t>
            </a:r>
          </a:p>
          <a:p>
            <a:pPr marL="838200" lvl="2"/>
            <a:r>
              <a:rPr lang="en-US" dirty="0"/>
              <a:t>Single precision: 127 (Exp: 1…254, E: -126…127)</a:t>
            </a:r>
          </a:p>
          <a:p>
            <a:pPr marL="838200" lvl="2"/>
            <a:r>
              <a:rPr lang="en-US" dirty="0"/>
              <a:t>Double precision: 1023 (Exp: 1…2046, E: -1022…1023)</a:t>
            </a:r>
          </a:p>
          <a:p>
            <a:endParaRPr lang="en-US" dirty="0"/>
          </a:p>
          <a:p>
            <a:r>
              <a:rPr lang="en-US" dirty="0" err="1"/>
              <a:t>Significand</a:t>
            </a:r>
            <a:r>
              <a:rPr lang="en-US" dirty="0"/>
              <a:t> coded with implied leading 1: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 = 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1.xxx…x</a:t>
            </a:r>
            <a:r>
              <a:rPr lang="en-US" baseline="-6000" dirty="0">
                <a:latin typeface="Calibri"/>
                <a:ea typeface="Monaco" charset="0"/>
                <a:cs typeface="Calibri"/>
                <a:sym typeface="Monaco" charset="0"/>
              </a:rPr>
              <a:t>2</a:t>
            </a:r>
            <a:endParaRPr lang="en-US" dirty="0">
              <a:latin typeface="Calibri"/>
              <a:cs typeface="Calibri"/>
            </a:endParaRPr>
          </a:p>
          <a:p>
            <a:pPr marL="552450" lvl="1"/>
            <a:r>
              <a:rPr lang="en-US" dirty="0">
                <a:latin typeface="Calibri"/>
                <a:cs typeface="Calibri"/>
              </a:rPr>
              <a:t> 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xxx…x</a:t>
            </a:r>
            <a:r>
              <a:rPr lang="en-US" dirty="0">
                <a:latin typeface="Calibri"/>
                <a:cs typeface="Calibri"/>
              </a:rPr>
              <a:t>: bits of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 field</a:t>
            </a:r>
            <a:endParaRPr lang="en-US" dirty="0">
              <a:latin typeface="Calibri"/>
              <a:cs typeface="Calibri"/>
            </a:endParaRPr>
          </a:p>
          <a:p>
            <a:pPr marL="552450" lvl="1"/>
            <a:r>
              <a:rPr lang="en-US" dirty="0">
                <a:latin typeface="Calibri"/>
                <a:cs typeface="Calibri"/>
              </a:rPr>
              <a:t>Minimum when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=000…0</a:t>
            </a:r>
            <a:r>
              <a:rPr lang="en-US" dirty="0">
                <a:latin typeface="Calibri"/>
                <a:cs typeface="Calibri"/>
              </a:rPr>
              <a:t> (</a:t>
            </a:r>
            <a:r>
              <a:rPr lang="en-US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dirty="0">
                <a:latin typeface="Calibri"/>
                <a:cs typeface="Calibri"/>
              </a:rPr>
              <a:t> = 1.0)</a:t>
            </a:r>
          </a:p>
          <a:p>
            <a:pPr marL="552450" lvl="1"/>
            <a:r>
              <a:rPr lang="en-US" dirty="0">
                <a:latin typeface="Calibri"/>
                <a:cs typeface="Calibri"/>
              </a:rPr>
              <a:t>Maximum when </a:t>
            </a:r>
            <a:r>
              <a:rPr lang="en-US" dirty="0" err="1">
                <a:latin typeface="Calibri"/>
                <a:ea typeface="Monaco" charset="0"/>
                <a:cs typeface="Calibri"/>
                <a:sym typeface="Monaco" charset="0"/>
              </a:rPr>
              <a:t>frac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=111…1</a:t>
            </a:r>
            <a:r>
              <a:rPr lang="en-US" dirty="0">
                <a:latin typeface="Calibri"/>
                <a:cs typeface="Calibri"/>
              </a:rPr>
              <a:t> (</a:t>
            </a:r>
            <a:r>
              <a:rPr lang="en-US" dirty="0">
                <a:latin typeface="Calibri"/>
                <a:ea typeface="Calibri Italic" charset="0"/>
                <a:cs typeface="Calibri"/>
                <a:sym typeface="Calibri Italic" charset="0"/>
              </a:rPr>
              <a:t>M</a:t>
            </a:r>
            <a:r>
              <a:rPr lang="en-US" dirty="0">
                <a:latin typeface="Calibri"/>
                <a:cs typeface="Calibri"/>
              </a:rPr>
              <a:t> = 2.0 – ε)</a:t>
            </a:r>
          </a:p>
          <a:p>
            <a:pPr marL="552450" lvl="1"/>
            <a:r>
              <a:rPr lang="en-US" dirty="0"/>
              <a:t>Get extra leading bit for “free”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0" y="533400"/>
            <a:ext cx="1944162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D12A6E-FF0C-F28C-6558-E1E66A68411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93270" y="5816600"/>
            <a:ext cx="355600" cy="355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151965" y="5816600"/>
            <a:ext cx="1779495" cy="355600"/>
          </a:xfrm>
          <a:prstGeom prst="rect">
            <a:avLst/>
          </a:prstGeom>
          <a:solidFill>
            <a:srgbClr val="EFBFB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048000" y="5816600"/>
            <a:ext cx="5066555" cy="355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/>
          <a:lstStyle/>
          <a:p>
            <a:pPr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8733" y="552978"/>
            <a:ext cx="7366000" cy="573088"/>
          </a:xfrm>
        </p:spPr>
        <p:txBody>
          <a:bodyPr/>
          <a:lstStyle/>
          <a:p>
            <a:r>
              <a:rPr lang="en-US" dirty="0"/>
              <a:t>Normalized Encoding Example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55000" cy="5029200"/>
          </a:xfrm>
        </p:spPr>
        <p:txBody>
          <a:bodyPr/>
          <a:lstStyle/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Value: </a:t>
            </a:r>
            <a:r>
              <a:rPr lang="en-US" sz="1800" dirty="0">
                <a:latin typeface="Courier New"/>
                <a:cs typeface="Courier New"/>
              </a:rPr>
              <a:t>float F = 15213.0;</a:t>
            </a:r>
          </a:p>
          <a:p>
            <a:pPr marL="560388" lvl="1" indent="-222250" defTabSz="895350">
              <a:lnSpc>
                <a:spcPct val="90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dirty="0"/>
              <a:t>15213</a:t>
            </a:r>
            <a:r>
              <a:rPr lang="en-US" sz="1800" b="0" baseline="-25000" dirty="0"/>
              <a:t>10</a:t>
            </a:r>
            <a:r>
              <a:rPr lang="en-US" sz="1800" b="0" dirty="0"/>
              <a:t>  = 11101101101101</a:t>
            </a:r>
            <a:r>
              <a:rPr lang="en-US" sz="1800" b="0" baseline="-25000" dirty="0"/>
              <a:t>2  </a:t>
            </a:r>
            <a:r>
              <a:rPr lang="en-US" sz="1800" b="0" dirty="0"/>
              <a:t> </a:t>
            </a:r>
          </a:p>
          <a:p>
            <a:pPr marL="560388" lvl="1" indent="-222250" defTabSz="895350">
              <a:lnSpc>
                <a:spcPct val="90000"/>
              </a:lnSpc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dirty="0"/>
              <a:t>                     </a:t>
            </a:r>
            <a:r>
              <a:rPr lang="en-US" sz="1800" b="0" dirty="0"/>
              <a:t>= 1.1101101101101</a:t>
            </a:r>
            <a:r>
              <a:rPr lang="en-US" sz="1800" b="0" baseline="-25000" dirty="0"/>
              <a:t>2</a:t>
            </a:r>
            <a:r>
              <a:rPr lang="en-US" sz="1800" b="0" dirty="0"/>
              <a:t> x 2</a:t>
            </a:r>
            <a:r>
              <a:rPr lang="en-US" sz="1800" b="0" baseline="30000" dirty="0"/>
              <a:t>13</a:t>
            </a:r>
            <a:endParaRPr lang="en-US" sz="1800" b="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 err="1"/>
              <a:t>Significand</a:t>
            </a:r>
            <a:endParaRPr lang="en-US" sz="2000" dirty="0"/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M</a:t>
            </a:r>
            <a:r>
              <a:rPr lang="en-US" sz="1800" dirty="0"/>
              <a:t> 	= 	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1.</a:t>
            </a:r>
            <a:r>
              <a:rPr lang="en-US" sz="1800" b="1" u="sng" dirty="0">
                <a:latin typeface="Courier New" pitchFamily="49" charset="0"/>
                <a:cs typeface="Courier New" pitchFamily="49" charset="0"/>
              </a:rPr>
              <a:t>1101101101101</a:t>
            </a:r>
            <a:r>
              <a:rPr lang="en-US" sz="1800" b="1" baseline="-25000" dirty="0">
                <a:latin typeface="Courier New" pitchFamily="49" charset="0"/>
                <a:cs typeface="Courier New" pitchFamily="49" charset="0"/>
              </a:rPr>
              <a:t>2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1" dirty="0">
                <a:latin typeface="Courier New" pitchFamily="49" charset="0"/>
              </a:rPr>
              <a:t>frac	= 	  </a:t>
            </a:r>
            <a:r>
              <a:rPr lang="en-US" sz="1800" b="1" u="sng" dirty="0">
                <a:latin typeface="Courier New" pitchFamily="49" charset="0"/>
              </a:rPr>
              <a:t>1101101101101</a:t>
            </a:r>
            <a:r>
              <a:rPr lang="en-US" sz="1800" b="1" dirty="0">
                <a:latin typeface="Courier New" pitchFamily="49" charset="0"/>
              </a:rPr>
              <a:t>0000000000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  <a:endParaRPr lang="en-US" sz="1800" b="1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2000" dirty="0"/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Exponent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	</a:t>
            </a:r>
            <a:r>
              <a:rPr lang="en-US" sz="1800" dirty="0"/>
              <a:t> 	= 	13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Bias</a:t>
            </a:r>
            <a:r>
              <a:rPr lang="en-US" sz="1800" dirty="0"/>
              <a:t> 	= 	127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1800" b="0" i="1" dirty="0"/>
              <a:t>Exp</a:t>
            </a:r>
            <a:r>
              <a:rPr lang="en-US" sz="1800" dirty="0"/>
              <a:t> 	= 	140 	=	</a:t>
            </a:r>
            <a:r>
              <a:rPr lang="en-US" sz="1800" b="1" dirty="0">
                <a:latin typeface="Courier New" pitchFamily="49" charset="0"/>
              </a:rPr>
              <a:t>10001100</a:t>
            </a:r>
            <a:r>
              <a:rPr lang="en-US" sz="1800" b="1" baseline="-25000" dirty="0">
                <a:latin typeface="Courier New" pitchFamily="49" charset="0"/>
              </a:rPr>
              <a:t>2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b="1" baseline="-25000" dirty="0">
              <a:latin typeface="Courier New" pitchFamily="49" charset="0"/>
            </a:endParaRPr>
          </a:p>
          <a:p>
            <a:pPr marL="223838" indent="-223838" defTabSz="895350">
              <a:lnSpc>
                <a:spcPct val="85000"/>
              </a:lnSpc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r>
              <a:rPr lang="en-US" sz="2000" dirty="0"/>
              <a:t>Result:</a:t>
            </a:r>
            <a:br>
              <a:rPr lang="en-US" sz="2000" dirty="0"/>
            </a:br>
            <a:br>
              <a:rPr lang="en-US" sz="2000" dirty="0"/>
            </a:br>
            <a:r>
              <a:rPr lang="en-US" sz="2800" dirty="0">
                <a:latin typeface="Courier New" pitchFamily="49" charset="0"/>
              </a:rPr>
              <a:t>0 10001100 11011011011010000000000 </a:t>
            </a:r>
          </a:p>
          <a:p>
            <a:pPr marL="560388" lvl="1" indent="-222250" defTabSz="895350">
              <a:lnSpc>
                <a:spcPct val="90000"/>
              </a:lnSpc>
              <a:buFont typeface="Wingdings" pitchFamily="2" charset="2"/>
              <a:buNone/>
              <a:tabLst>
                <a:tab pos="914400" algn="l"/>
                <a:tab pos="1828800" algn="l"/>
                <a:tab pos="2400300" algn="l"/>
                <a:tab pos="2971800" algn="l"/>
              </a:tabLst>
            </a:pP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685625" y="61722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3971" y="6172200"/>
            <a:ext cx="73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exp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8452" y="6172200"/>
            <a:ext cx="92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frac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8000" y="540603"/>
            <a:ext cx="213276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Exp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ACC64E-375E-D9F8-ADBB-B21C31E410E2}"/>
              </a:ext>
            </a:extLst>
          </p:cNvPr>
          <p:cNvSpPr>
            <a:spLocks/>
          </p:cNvSpPr>
          <p:nvPr/>
        </p:nvSpPr>
        <p:spPr bwMode="auto">
          <a:xfrm>
            <a:off x="0" y="3416"/>
            <a:ext cx="9156700" cy="27628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671C99-33E1-88A1-67DD-FFBC4F619DD2}"/>
              </a:ext>
            </a:extLst>
          </p:cNvPr>
          <p:cNvSpPr>
            <a:spLocks/>
          </p:cNvSpPr>
          <p:nvPr/>
        </p:nvSpPr>
        <p:spPr bwMode="auto">
          <a:xfrm>
            <a:off x="-12700" y="6582996"/>
            <a:ext cx="9156700" cy="276280"/>
          </a:xfrm>
          <a:prstGeom prst="rect">
            <a:avLst/>
          </a:prstGeom>
          <a:solidFill>
            <a:srgbClr val="990000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 dirty="0">
              <a:highlight>
                <a:srgbClr val="800000"/>
              </a:highligh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Denormalized</a:t>
            </a:r>
            <a:r>
              <a:rPr lang="en-US" dirty="0"/>
              <a:t> Values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exp = 000…0</a:t>
            </a:r>
            <a:endParaRPr lang="en-US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Exponent value: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1 – Bias (instead of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dirty="0"/>
              <a:t> = 0 –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r>
              <a:rPr lang="en-US" dirty="0"/>
              <a:t>)</a:t>
            </a:r>
          </a:p>
          <a:p>
            <a:r>
              <a:rPr lang="en-US" dirty="0" err="1"/>
              <a:t>Significand</a:t>
            </a:r>
            <a:r>
              <a:rPr lang="en-US" dirty="0"/>
              <a:t> coded with implied leading 0: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/>
              <a:t> = 0.xxx…x</a:t>
            </a:r>
            <a:r>
              <a:rPr lang="en-US" baseline="-6000" dirty="0"/>
              <a:t>2</a:t>
            </a:r>
            <a:endParaRPr lang="en-US" dirty="0"/>
          </a:p>
          <a:p>
            <a:pPr marL="552450" lvl="1"/>
            <a:r>
              <a:rPr lang="en-US" sz="1800" dirty="0">
                <a:latin typeface="Courier New Bold" charset="0"/>
                <a:cs typeface="Courier New Bold" charset="0"/>
                <a:sym typeface="Courier New Bold" charset="0"/>
              </a:rPr>
              <a:t>xxx…</a:t>
            </a:r>
            <a:r>
              <a:rPr lang="en-US" sz="1800" dirty="0" err="1">
                <a:latin typeface="Courier New Bold" charset="0"/>
                <a:cs typeface="Courier New Bold" charset="0"/>
                <a:sym typeface="Courier New Bold" charset="0"/>
              </a:rPr>
              <a:t>x</a:t>
            </a:r>
            <a:r>
              <a:rPr lang="en-US" dirty="0"/>
              <a:t>: bits of </a:t>
            </a:r>
            <a:r>
              <a:rPr lang="en-US" sz="1800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/>
          </a:p>
          <a:p>
            <a:r>
              <a:rPr lang="en-US" dirty="0"/>
              <a:t>Cases</a:t>
            </a:r>
          </a:p>
          <a:p>
            <a:pPr marL="552450" lvl="1"/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838200" lvl="2"/>
            <a:r>
              <a:rPr lang="en-US" dirty="0"/>
              <a:t>Represents zero value</a:t>
            </a:r>
          </a:p>
          <a:p>
            <a:pPr marL="838200" lvl="2"/>
            <a:r>
              <a:rPr lang="en-US" dirty="0"/>
              <a:t>Note distinct values: +0 and –0 (why?)</a:t>
            </a:r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≠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838200" lvl="2"/>
            <a:r>
              <a:rPr lang="en-US" dirty="0"/>
              <a:t>Numbers closest to 0.0</a:t>
            </a:r>
          </a:p>
        </p:txBody>
      </p:sp>
      <p:sp>
        <p:nvSpPr>
          <p:cNvPr id="6" name="Rectangle 5"/>
          <p:cNvSpPr/>
          <p:nvPr/>
        </p:nvSpPr>
        <p:spPr>
          <a:xfrm>
            <a:off x="6938851" y="540603"/>
            <a:ext cx="1971062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dirty="0"/>
              <a:t>v = (–1)</a:t>
            </a:r>
            <a:r>
              <a:rPr lang="en-US" sz="2400" baseline="32000" dirty="0"/>
              <a:t>s</a:t>
            </a:r>
            <a:r>
              <a:rPr lang="en-US" sz="2400" dirty="0"/>
              <a:t>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sz="2400" dirty="0"/>
              <a:t> 2</a:t>
            </a:r>
            <a:r>
              <a:rPr lang="en-US" sz="2400" baseline="320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</a:p>
          <a:p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r>
              <a:rPr lang="en-US" sz="2400" dirty="0"/>
              <a:t>  = 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1</a:t>
            </a:r>
            <a:r>
              <a:rPr lang="en-US" sz="2400" dirty="0"/>
              <a:t> – </a:t>
            </a:r>
            <a:r>
              <a:rPr lang="en-US" sz="2400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Bias</a:t>
            </a:r>
            <a:endParaRPr lang="en-US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6809B2-6B44-8E75-F863-F3E74659CB5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Values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Condition: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endParaRPr lang="en-US" b="1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552450" lvl="1"/>
            <a:r>
              <a:rPr lang="en-US" dirty="0"/>
              <a:t>Represents value </a:t>
            </a:r>
            <a:r>
              <a:rPr lang="en-US" sz="2400" dirty="0">
                <a:sym typeface="Symbol"/>
              </a:rPr>
              <a:t></a:t>
            </a:r>
            <a:r>
              <a:rPr lang="en-US" dirty="0"/>
              <a:t> (infinity)</a:t>
            </a:r>
          </a:p>
          <a:p>
            <a:pPr marL="552450" lvl="1"/>
            <a:r>
              <a:rPr lang="en-US" dirty="0"/>
              <a:t>Operation that overflows</a:t>
            </a:r>
          </a:p>
          <a:p>
            <a:pPr marL="552450" lvl="1"/>
            <a:r>
              <a:rPr lang="en-US" dirty="0"/>
              <a:t>Both positive and negative</a:t>
            </a:r>
          </a:p>
          <a:p>
            <a:pPr marL="552450" lvl="1"/>
            <a:r>
              <a:rPr lang="en-US" dirty="0"/>
              <a:t>E.g., 1.0/0.0 = −1.0/−0.0 = +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,  1.0/−0.0 = −</a:t>
            </a:r>
            <a:r>
              <a:rPr lang="en-US" dirty="0">
                <a:sym typeface="Symbol"/>
              </a:rPr>
              <a:t></a:t>
            </a:r>
            <a:endParaRPr lang="en-US" dirty="0"/>
          </a:p>
          <a:p>
            <a:endParaRPr lang="en-US" dirty="0"/>
          </a:p>
          <a:p>
            <a:r>
              <a:rPr lang="en-US" dirty="0"/>
              <a:t>Case: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exp</a:t>
            </a:r>
            <a:r>
              <a:rPr lang="en-US" dirty="0"/>
              <a:t> =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111…1</a:t>
            </a:r>
            <a:r>
              <a:rPr lang="en-US" dirty="0"/>
              <a:t>,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≠ </a:t>
            </a:r>
            <a:r>
              <a:rPr lang="en-US" b="1" dirty="0">
                <a:latin typeface="Courier New"/>
                <a:ea typeface="Monaco" charset="0"/>
                <a:cs typeface="Courier New"/>
                <a:sym typeface="Monaco" charset="0"/>
              </a:rPr>
              <a:t>000…0</a:t>
            </a:r>
            <a:endParaRPr lang="en-US" b="1" dirty="0">
              <a:latin typeface="Courier New"/>
              <a:cs typeface="Courier New"/>
            </a:endParaRPr>
          </a:p>
          <a:p>
            <a:pPr marL="552450" lvl="1"/>
            <a:r>
              <a:rPr lang="en-US" dirty="0"/>
              <a:t>Not-a-Number (</a:t>
            </a:r>
            <a:r>
              <a:rPr lang="en-US" dirty="0" err="1"/>
              <a:t>NaN</a:t>
            </a:r>
            <a:r>
              <a:rPr lang="en-US" dirty="0"/>
              <a:t>)</a:t>
            </a:r>
          </a:p>
          <a:p>
            <a:pPr marL="552450" lvl="1"/>
            <a:r>
              <a:rPr lang="en-US" dirty="0"/>
              <a:t>Represents case when no numeric value can be determined</a:t>
            </a:r>
          </a:p>
          <a:p>
            <a:pPr marL="552450" lvl="1"/>
            <a:r>
              <a:rPr lang="en-US" dirty="0">
                <a:ea typeface="Apple Symbols" charset="0"/>
                <a:cs typeface="Apple Symbols" charset="0"/>
              </a:rPr>
              <a:t>E.g., </a:t>
            </a:r>
            <a:r>
              <a:rPr lang="en-US" dirty="0" err="1">
                <a:ea typeface="Apple Symbols" charset="0"/>
                <a:cs typeface="Apple Symbols" charset="0"/>
              </a:rPr>
              <a:t>sqrt</a:t>
            </a:r>
            <a:r>
              <a:rPr lang="en-US" dirty="0">
                <a:ea typeface="Apple Symbols" charset="0"/>
                <a:cs typeface="Apple Symbols" charset="0"/>
              </a:rPr>
              <a:t>(–1), </a:t>
            </a:r>
            <a:r>
              <a:rPr lang="en-US" dirty="0">
                <a:sym typeface="Symbol"/>
              </a:rPr>
              <a:t></a:t>
            </a:r>
            <a:r>
              <a:rPr lang="en-US" dirty="0">
                <a:ea typeface="Apple Symbols" charset="0"/>
                <a:cs typeface="Apple Symbols" charset="0"/>
              </a:rPr>
              <a:t> − </a:t>
            </a:r>
            <a:r>
              <a:rPr lang="en-US" dirty="0">
                <a:sym typeface="Symbol"/>
              </a:rPr>
              <a:t></a:t>
            </a:r>
            <a:r>
              <a:rPr lang="en-US" dirty="0">
                <a:ea typeface="Apple Symbols" charset="0"/>
                <a:cs typeface="Apple Symbols" charset="0"/>
              </a:rPr>
              <a:t>, </a:t>
            </a:r>
            <a:r>
              <a:rPr lang="en-US" dirty="0">
                <a:sym typeface="Symbol"/>
              </a:rPr>
              <a:t></a:t>
            </a:r>
            <a:r>
              <a:rPr lang="en-US" dirty="0">
                <a:ea typeface="Apple Symbols" charset="0"/>
                <a:cs typeface="Apple Symbols" charset="0"/>
              </a:rPr>
              <a:t> </a:t>
            </a:r>
            <a:r>
              <a:rPr lang="en-US" dirty="0">
                <a:ea typeface="Apple Symbols" charset="0"/>
                <a:cs typeface="Apple Symbols" charset="0"/>
                <a:sym typeface="Symbol"/>
              </a:rPr>
              <a:t></a:t>
            </a:r>
            <a:r>
              <a:rPr lang="en-US" dirty="0">
                <a:ea typeface="Apple Symbols" charset="0"/>
                <a:cs typeface="Apple Symbols" charset="0"/>
              </a:rPr>
              <a:t> 0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802E62-FB2E-B6DD-355E-216D3D9D741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83550" cy="1095375"/>
          </a:xfrm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Visualization: Floating Point Encodings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838200" y="2960688"/>
            <a:ext cx="7315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838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6" name="Line 6"/>
          <p:cNvSpPr>
            <a:spLocks noChangeShapeType="1"/>
          </p:cNvSpPr>
          <p:nvPr/>
        </p:nvSpPr>
        <p:spPr bwMode="auto">
          <a:xfrm>
            <a:off x="81534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8153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8" name="Line 8"/>
          <p:cNvSpPr>
            <a:spLocks noChangeShapeType="1"/>
          </p:cNvSpPr>
          <p:nvPr/>
        </p:nvSpPr>
        <p:spPr bwMode="auto">
          <a:xfrm>
            <a:off x="42672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8153400" y="3570288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8686800" y="3417888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1" name="Line 11"/>
          <p:cNvSpPr>
            <a:spLocks noChangeShapeType="1"/>
          </p:cNvSpPr>
          <p:nvPr/>
        </p:nvSpPr>
        <p:spPr bwMode="auto">
          <a:xfrm>
            <a:off x="3048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304800" y="3636963"/>
            <a:ext cx="533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>
            <a:off x="838200" y="3484563"/>
            <a:ext cx="0" cy="2286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4" name="Rectangle 14"/>
          <p:cNvSpPr>
            <a:spLocks/>
          </p:cNvSpPr>
          <p:nvPr/>
        </p:nvSpPr>
        <p:spPr bwMode="auto">
          <a:xfrm>
            <a:off x="7772400" y="2451100"/>
            <a:ext cx="37670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+</a:t>
            </a:r>
            <a:r>
              <a:rPr lang="en-US" sz="1800" dirty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5" name="Rectangle 15"/>
          <p:cNvSpPr>
            <a:spLocks/>
          </p:cNvSpPr>
          <p:nvPr/>
        </p:nvSpPr>
        <p:spPr bwMode="auto">
          <a:xfrm>
            <a:off x="715963" y="2427288"/>
            <a:ext cx="37670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>
                <a:latin typeface="+mn-lt"/>
                <a:sym typeface="Symbol"/>
              </a:rPr>
              <a:t></a:t>
            </a:r>
            <a:endParaRPr lang="en-US" sz="1800" dirty="0">
              <a:solidFill>
                <a:schemeClr val="tx1"/>
              </a:solidFill>
              <a:latin typeface="+mn-lt"/>
              <a:ea typeface="Symbol" pitchFamily="18" charset="2"/>
              <a:cs typeface="Symbol" pitchFamily="18" charset="2"/>
              <a:sym typeface="Symbol" pitchFamily="18" charset="2"/>
            </a:endParaRPr>
          </a:p>
        </p:txBody>
      </p:sp>
      <p:sp>
        <p:nvSpPr>
          <p:cNvPr id="25616" name="Rectangle 16"/>
          <p:cNvSpPr>
            <a:spLocks/>
          </p:cNvSpPr>
          <p:nvPr/>
        </p:nvSpPr>
        <p:spPr bwMode="auto">
          <a:xfrm>
            <a:off x="3886200" y="3405188"/>
            <a:ext cx="331822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+mn-lt"/>
                <a:ea typeface="Symbol" pitchFamily="18" charset="2"/>
                <a:cs typeface="Symbol" pitchFamily="18" charset="2"/>
                <a:sym typeface="Symbol"/>
              </a:rPr>
              <a:t>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0</a:t>
            </a:r>
          </a:p>
        </p:txBody>
      </p:sp>
      <p:sp>
        <p:nvSpPr>
          <p:cNvPr id="25617" name="Line 17"/>
          <p:cNvSpPr>
            <a:spLocks noChangeShapeType="1"/>
          </p:cNvSpPr>
          <p:nvPr/>
        </p:nvSpPr>
        <p:spPr bwMode="auto">
          <a:xfrm>
            <a:off x="5867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18" name="Rectangle 18"/>
          <p:cNvSpPr>
            <a:spLocks/>
          </p:cNvSpPr>
          <p:nvPr/>
        </p:nvSpPr>
        <p:spPr bwMode="auto">
          <a:xfrm>
            <a:off x="4737100" y="2579688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+Denorm</a:t>
            </a:r>
          </a:p>
        </p:txBody>
      </p:sp>
      <p:sp>
        <p:nvSpPr>
          <p:cNvPr id="25619" name="Rectangle 19"/>
          <p:cNvSpPr>
            <a:spLocks/>
          </p:cNvSpPr>
          <p:nvPr/>
        </p:nvSpPr>
        <p:spPr bwMode="auto">
          <a:xfrm>
            <a:off x="609600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+Normalized</a:t>
            </a:r>
          </a:p>
        </p:txBody>
      </p:sp>
      <p:sp>
        <p:nvSpPr>
          <p:cNvPr id="25620" name="Rectangle 20"/>
          <p:cNvSpPr>
            <a:spLocks/>
          </p:cNvSpPr>
          <p:nvPr/>
        </p:nvSpPr>
        <p:spPr bwMode="auto">
          <a:xfrm>
            <a:off x="3048000" y="2593975"/>
            <a:ext cx="1032334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 err="1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Denorm</a:t>
            </a:r>
            <a:endParaRPr lang="en-US" sz="1800" dirty="0">
              <a:solidFill>
                <a:schemeClr val="tx1"/>
              </a:solidFill>
              <a:latin typeface="+mn-lt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25621" name="Line 21"/>
          <p:cNvSpPr>
            <a:spLocks noChangeShapeType="1"/>
          </p:cNvSpPr>
          <p:nvPr/>
        </p:nvSpPr>
        <p:spPr bwMode="auto">
          <a:xfrm>
            <a:off x="3048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2" name="Rectangle 22"/>
          <p:cNvSpPr>
            <a:spLocks/>
          </p:cNvSpPr>
          <p:nvPr/>
        </p:nvSpPr>
        <p:spPr bwMode="auto">
          <a:xfrm>
            <a:off x="1403350" y="2579688"/>
            <a:ext cx="1378583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−</a:t>
            </a:r>
            <a:r>
              <a:rPr lang="en-US" sz="1800" dirty="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Normalized</a:t>
            </a:r>
          </a:p>
        </p:txBody>
      </p:sp>
      <p:sp>
        <p:nvSpPr>
          <p:cNvPr id="25623" name="Line 23"/>
          <p:cNvSpPr>
            <a:spLocks noChangeShapeType="1"/>
          </p:cNvSpPr>
          <p:nvPr/>
        </p:nvSpPr>
        <p:spPr bwMode="auto">
          <a:xfrm>
            <a:off x="47244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4" name="Line 24"/>
          <p:cNvSpPr>
            <a:spLocks noChangeShapeType="1"/>
          </p:cNvSpPr>
          <p:nvPr/>
        </p:nvSpPr>
        <p:spPr bwMode="auto">
          <a:xfrm>
            <a:off x="4495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5" name="Line 25"/>
          <p:cNvSpPr>
            <a:spLocks noChangeShapeType="1"/>
          </p:cNvSpPr>
          <p:nvPr/>
        </p:nvSpPr>
        <p:spPr bwMode="auto">
          <a:xfrm>
            <a:off x="79248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6" name="Line 26"/>
          <p:cNvSpPr>
            <a:spLocks noChangeShapeType="1"/>
          </p:cNvSpPr>
          <p:nvPr/>
        </p:nvSpPr>
        <p:spPr bwMode="auto">
          <a:xfrm>
            <a:off x="1143000" y="2808288"/>
            <a:ext cx="0" cy="304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7" name="Line 27"/>
          <p:cNvSpPr>
            <a:spLocks noChangeShapeType="1"/>
          </p:cNvSpPr>
          <p:nvPr/>
        </p:nvSpPr>
        <p:spPr bwMode="auto">
          <a:xfrm rot="10800000" flipH="1">
            <a:off x="4191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8" name="Line 28"/>
          <p:cNvSpPr>
            <a:spLocks noChangeShapeType="1"/>
          </p:cNvSpPr>
          <p:nvPr/>
        </p:nvSpPr>
        <p:spPr bwMode="auto">
          <a:xfrm rot="10800000">
            <a:off x="4572000" y="3027363"/>
            <a:ext cx="228600" cy="3810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>
              <a:latin typeface="+mn-lt"/>
            </a:endParaRPr>
          </a:p>
        </p:txBody>
      </p:sp>
      <p:sp>
        <p:nvSpPr>
          <p:cNvPr id="25629" name="Rectangle 29"/>
          <p:cNvSpPr>
            <a:spLocks/>
          </p:cNvSpPr>
          <p:nvPr/>
        </p:nvSpPr>
        <p:spPr bwMode="auto">
          <a:xfrm>
            <a:off x="4572000" y="3408363"/>
            <a:ext cx="339837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+0</a:t>
            </a:r>
          </a:p>
        </p:txBody>
      </p:sp>
      <p:sp>
        <p:nvSpPr>
          <p:cNvPr id="25630" name="Rectangle 30"/>
          <p:cNvSpPr>
            <a:spLocks/>
          </p:cNvSpPr>
          <p:nvPr/>
        </p:nvSpPr>
        <p:spPr bwMode="auto">
          <a:xfrm>
            <a:off x="320675" y="32559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25631" name="Rectangle 31"/>
          <p:cNvSpPr>
            <a:spLocks/>
          </p:cNvSpPr>
          <p:nvPr/>
        </p:nvSpPr>
        <p:spPr bwMode="auto">
          <a:xfrm>
            <a:off x="8161338" y="3179763"/>
            <a:ext cx="538609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+mn-lt"/>
                <a:ea typeface="Calibri" charset="0"/>
                <a:cs typeface="Calibri" charset="0"/>
                <a:sym typeface="Calibri" charset="0"/>
              </a:rPr>
              <a:t>NaN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A7A9E-6080-7431-769D-3EBE3A994433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>
                <a:latin typeface="Calibri" charset="0"/>
                <a:ea typeface="Calibri" charset="0"/>
                <a:cs typeface="Calibri" charset="0"/>
                <a:sym typeface="Calibri" charset="0"/>
              </a:rPr>
              <a:t>Today: Floating Point</a:t>
            </a:r>
            <a:endParaRPr lang="en-US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15900" indent="-215900">
              <a:spcBef>
                <a:spcPct val="0"/>
              </a:spcBef>
            </a:pP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Background: Fractional binary numbers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IEEE floating point standard: Definition</a:t>
            </a:r>
            <a:endParaRPr lang="en-US"/>
          </a:p>
          <a:p>
            <a:pPr marL="215900" indent="-215900"/>
            <a:r>
              <a:rPr lang="en-US">
                <a:ea typeface="Calibri" charset="0"/>
                <a:cs typeface="Calibri" charset="0"/>
              </a:rPr>
              <a:t>Example and properties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Rounding, addition, multiplication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Floating point in C</a:t>
            </a:r>
            <a:endParaRPr lang="en-US"/>
          </a:p>
          <a:p>
            <a:pPr marL="215900" indent="-215900"/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Sum</a:t>
            </a:r>
            <a:r>
              <a:rPr lang="en-US">
                <a:solidFill>
                  <a:srgbClr val="B3B3B3"/>
                </a:solidFill>
                <a:ea typeface="Calibri" charset="0"/>
                <a:cs typeface="Calibri" charset="0"/>
              </a:rPr>
              <a:t>m</a:t>
            </a:r>
            <a:r>
              <a:rPr lang="en-US">
                <a:solidFill>
                  <a:srgbClr val="A5A5A5"/>
                </a:solidFill>
                <a:ea typeface="Calibri" charset="0"/>
                <a:cs typeface="Calibri" charset="0"/>
              </a:rPr>
              <a:t>ary</a:t>
            </a:r>
            <a:endParaRPr lang="en-US">
              <a:solidFill>
                <a:srgbClr val="A5A5A5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8E6A2-931D-0710-3754-883EE16B674B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Tiny Floating Point Example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755900"/>
            <a:ext cx="8382000" cy="4076700"/>
          </a:xfrm>
          <a:ln/>
        </p:spPr>
        <p:txBody>
          <a:bodyPr/>
          <a:lstStyle/>
          <a:p>
            <a:r>
              <a:rPr lang="en-US"/>
              <a:t>8-bit Floating Point Representation</a:t>
            </a:r>
          </a:p>
          <a:p>
            <a:pPr marL="552450" lvl="1"/>
            <a:r>
              <a:rPr lang="en-US"/>
              <a:t>the sign bit is in the most significant bit</a:t>
            </a:r>
          </a:p>
          <a:p>
            <a:pPr marL="552450" lvl="1"/>
            <a:r>
              <a:rPr lang="en-US"/>
              <a:t>the next four bits are the exponent, with a bias of 7</a:t>
            </a:r>
          </a:p>
          <a:p>
            <a:pPr marL="552450" lvl="1"/>
            <a:r>
              <a:rPr lang="en-US"/>
              <a:t>the last three bits are the </a:t>
            </a:r>
            <a:r>
              <a:rPr lang="en-US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/>
          </a:p>
          <a:p>
            <a:endParaRPr lang="en-US"/>
          </a:p>
          <a:p>
            <a:r>
              <a:rPr lang="en-US"/>
              <a:t>Same general form as IEEE Format</a:t>
            </a:r>
          </a:p>
          <a:p>
            <a:pPr marL="552450" lvl="1"/>
            <a:r>
              <a:rPr lang="en-US"/>
              <a:t>normalized, denormalized</a:t>
            </a:r>
          </a:p>
          <a:p>
            <a:pPr marL="552450" lvl="1"/>
            <a:r>
              <a:rPr lang="en-US"/>
              <a:t>representation of 0, NaN, infinity</a:t>
            </a:r>
          </a:p>
        </p:txBody>
      </p:sp>
      <p:graphicFrame>
        <p:nvGraphicFramePr>
          <p:cNvPr id="27653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753814"/>
              </p:ext>
            </p:extLst>
          </p:nvPr>
        </p:nvGraphicFramePr>
        <p:xfrm>
          <a:off x="1955800" y="15748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4-bits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75764BA-3231-8EFD-7243-E30A6EF1533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30" name="Object 1024"/>
          <p:cNvGraphicFramePr>
            <a:graphicFrameLocks noChangeAspect="1"/>
          </p:cNvGraphicFramePr>
          <p:nvPr/>
        </p:nvGraphicFramePr>
        <p:xfrm>
          <a:off x="381000" y="4419600"/>
          <a:ext cx="8326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848600" imgH="952500" progId="Excel.Sheet.8">
                  <p:embed/>
                </p:oleObj>
              </mc:Choice>
              <mc:Fallback>
                <p:oleObj name="Worksheet" r:id="rId2" imgW="7848600" imgH="952500" progId="Excel.Sheet.8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19600"/>
                        <a:ext cx="8326438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254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Distribution of Values</a:t>
            </a:r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6-bit IEEE-like format</a:t>
            </a:r>
          </a:p>
          <a:p>
            <a:pPr marL="552450" lvl="1"/>
            <a:r>
              <a:rPr lang="en-US" dirty="0"/>
              <a:t>e = 3 exponent bits</a:t>
            </a:r>
          </a:p>
          <a:p>
            <a:pPr marL="552450" lvl="1"/>
            <a:r>
              <a:rPr lang="en-US" dirty="0"/>
              <a:t>f = 2 fraction bits</a:t>
            </a:r>
          </a:p>
          <a:p>
            <a:pPr marL="552450" lvl="1"/>
            <a:r>
              <a:rPr lang="en-US" dirty="0"/>
              <a:t>Bias is 2</a:t>
            </a:r>
            <a:r>
              <a:rPr lang="en-US" baseline="30000" dirty="0"/>
              <a:t>3-1</a:t>
            </a:r>
            <a:r>
              <a:rPr lang="en-US" dirty="0"/>
              <a:t>-1 = 3</a:t>
            </a:r>
          </a:p>
          <a:p>
            <a:pPr marL="552450" lvl="1"/>
            <a:endParaRPr lang="en-US" dirty="0"/>
          </a:p>
          <a:p>
            <a:r>
              <a:rPr lang="en-US" dirty="0"/>
              <a:t>Notice how the distribution gets denser toward zero. </a:t>
            </a:r>
          </a:p>
        </p:txBody>
      </p:sp>
      <p:sp>
        <p:nvSpPr>
          <p:cNvPr id="29703" name="Rectangle 7"/>
          <p:cNvSpPr>
            <a:spLocks/>
          </p:cNvSpPr>
          <p:nvPr/>
        </p:nvSpPr>
        <p:spPr bwMode="auto">
          <a:xfrm>
            <a:off x="5486400" y="3810000"/>
            <a:ext cx="1082349" cy="369332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8 values</a:t>
            </a:r>
          </a:p>
        </p:txBody>
      </p:sp>
      <p:graphicFrame>
        <p:nvGraphicFramePr>
          <p:cNvPr id="2970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6717"/>
              </p:ext>
            </p:extLst>
          </p:nvPr>
        </p:nvGraphicFramePr>
        <p:xfrm>
          <a:off x="4191000" y="2032000"/>
          <a:ext cx="4064000" cy="101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s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exp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frac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3-bits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  <a:ea typeface="Monaco" charset="0"/>
                          <a:cs typeface="Calibri"/>
                          <a:sym typeface="Monaco" charset="0"/>
                        </a:rPr>
                        <a:t>2-bits</a:t>
                      </a: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6" name="Straight Arrow Connector 35"/>
          <p:cNvCxnSpPr>
            <a:stCxn id="29703" idx="1"/>
          </p:cNvCxnSpPr>
          <p:nvPr/>
        </p:nvCxnSpPr>
        <p:spPr bwMode="auto">
          <a:xfrm rot="10800000" flipV="1">
            <a:off x="4572000" y="3994666"/>
            <a:ext cx="914400" cy="42493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61C5781-CCB3-49E6-EFF5-22C18E0DBE88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Special Properties of the IEEE Encoding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FP Zero Same as Integer Zero</a:t>
            </a:r>
          </a:p>
          <a:p>
            <a:pPr marL="552450" lvl="1"/>
            <a:r>
              <a:rPr lang="en-US" dirty="0"/>
              <a:t>All bits = 0</a:t>
            </a:r>
          </a:p>
          <a:p>
            <a:endParaRPr lang="en-US" dirty="0"/>
          </a:p>
          <a:p>
            <a:r>
              <a:rPr lang="en-US" dirty="0"/>
              <a:t>Can (Almost) Use Unsigned Integer Comparison</a:t>
            </a:r>
          </a:p>
          <a:p>
            <a:pPr marL="552450" lvl="1"/>
            <a:r>
              <a:rPr lang="en-US" dirty="0"/>
              <a:t>Must first compare sign bits</a:t>
            </a:r>
          </a:p>
          <a:p>
            <a:pPr marL="552450" lvl="1"/>
            <a:r>
              <a:rPr lang="en-US" dirty="0"/>
              <a:t>Must consider −0 = +0</a:t>
            </a:r>
          </a:p>
          <a:p>
            <a:pPr marL="552450" lvl="1"/>
            <a:r>
              <a:rPr lang="en-US" dirty="0" err="1"/>
              <a:t>NaNs</a:t>
            </a:r>
            <a:r>
              <a:rPr lang="en-US" dirty="0"/>
              <a:t> problematic</a:t>
            </a:r>
          </a:p>
          <a:p>
            <a:pPr marL="838200" lvl="2"/>
            <a:r>
              <a:rPr lang="en-US" dirty="0"/>
              <a:t>Will be greater than any other values</a:t>
            </a:r>
          </a:p>
          <a:p>
            <a:pPr marL="838200" lvl="2"/>
            <a:r>
              <a:rPr lang="en-US" dirty="0"/>
              <a:t>What should comparison yield?</a:t>
            </a:r>
          </a:p>
          <a:p>
            <a:pPr marL="552450" lvl="1"/>
            <a:r>
              <a:rPr lang="en-US" dirty="0"/>
              <a:t> Otherwise OK</a:t>
            </a:r>
          </a:p>
          <a:p>
            <a:pPr marL="838200" lvl="2"/>
            <a:r>
              <a:rPr lang="en-US" dirty="0" err="1"/>
              <a:t>Denorm</a:t>
            </a:r>
            <a:r>
              <a:rPr lang="en-US" dirty="0"/>
              <a:t> vs. normalized</a:t>
            </a:r>
          </a:p>
          <a:p>
            <a:pPr marL="838200" lvl="2"/>
            <a:r>
              <a:rPr lang="en-US" dirty="0"/>
              <a:t>Normalized vs. infinity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E362C2-F942-DF87-A949-BB79BEEC1974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/>
              <a:t>Rounding, addition, multiplication</a:t>
            </a:r>
          </a:p>
          <a:p>
            <a:r>
              <a:rPr lang="en-US">
                <a:solidFill>
                  <a:srgbClr val="B3B3B3"/>
                </a:solidFill>
              </a:rPr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7813D6-97AB-2823-FC1B-638A00C5FA67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Operations: Basic Idea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+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+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>
              <a:latin typeface="Courier New Bold" charset="0"/>
              <a:sym typeface="Courier New Bold" charset="0"/>
            </a:endParaRPr>
          </a:p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x </a:t>
            </a:r>
            <a:r>
              <a:rPr lang="en-US" dirty="0">
                <a:latin typeface="Courier New Bold" charset="0"/>
                <a:cs typeface="Courier New Bold" charset="0"/>
                <a:sym typeface="Symbol"/>
              </a:rPr>
              <a:t></a:t>
            </a:r>
            <a:r>
              <a:rPr lang="en-US" baseline="-6000" dirty="0"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 = Round(x </a:t>
            </a:r>
            <a:r>
              <a:rPr lang="en-US" dirty="0">
                <a:latin typeface="Courier New Bold" charset="0"/>
                <a:cs typeface="Courier New Bold" charset="0"/>
                <a:sym typeface="Symbol"/>
              </a:rPr>
              <a:t>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y)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endParaRPr lang="en-US" dirty="0"/>
          </a:p>
          <a:p>
            <a:r>
              <a:rPr lang="en-US" dirty="0"/>
              <a:t>Basic idea</a:t>
            </a:r>
          </a:p>
          <a:p>
            <a:pPr marL="552450" lvl="1"/>
            <a:r>
              <a:rPr lang="en-US" dirty="0"/>
              <a:t>First </a:t>
            </a:r>
            <a:r>
              <a:rPr lang="en-US" dirty="0">
                <a:solidFill>
                  <a:srgbClr val="980002"/>
                </a:solidFill>
              </a:rPr>
              <a:t>compute exact result</a:t>
            </a:r>
            <a:endParaRPr lang="en-US" dirty="0"/>
          </a:p>
          <a:p>
            <a:pPr marL="552450" lvl="1"/>
            <a:r>
              <a:rPr lang="en-US" dirty="0"/>
              <a:t>Make it fit into desired precision</a:t>
            </a:r>
          </a:p>
          <a:p>
            <a:pPr marL="838200" lvl="2"/>
            <a:r>
              <a:rPr lang="en-US" dirty="0"/>
              <a:t>Possibly overflow if exponent too large</a:t>
            </a:r>
          </a:p>
          <a:p>
            <a:pPr marL="838200" lvl="2"/>
            <a:r>
              <a:rPr lang="en-US" dirty="0"/>
              <a:t>Possibly </a:t>
            </a:r>
            <a:r>
              <a:rPr lang="en-US" dirty="0">
                <a:solidFill>
                  <a:srgbClr val="980002"/>
                </a:solidFill>
              </a:rPr>
              <a:t>round to fit into</a:t>
            </a:r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636DC-946E-1BC3-921F-BEDB1E16F5EC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Rounding Modes (illustrate with $ rounding)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	$1.40	$1.60	$1.50	$2.50	–$1.50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Towards zero	$1	$1	$1	$2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 down (−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	$1	$1	$1	$2	–$2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Round up (+</a:t>
            </a:r>
            <a:r>
              <a:rPr lang="en-US" dirty="0">
                <a:sym typeface="Symbol"/>
              </a:rPr>
              <a:t></a:t>
            </a:r>
            <a:r>
              <a:rPr lang="en-US" dirty="0"/>
              <a:t>) 	$2	$2	$2	$3	–$1</a:t>
            </a:r>
          </a:p>
          <a:p>
            <a:pPr marL="552450" lvl="1"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r>
              <a:rPr lang="en-US" dirty="0"/>
              <a:t>Nearest Even (default)	$1	$2	$2	$2	–$2</a:t>
            </a:r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  <a:p>
            <a:pPr>
              <a:tabLst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  <a:tab pos="3146425" algn="l"/>
                <a:tab pos="4152900" algn="l"/>
                <a:tab pos="5157788" algn="l"/>
                <a:tab pos="6164263" algn="l"/>
                <a:tab pos="7169150" algn="l"/>
              </a:tabLst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7B33D1-05F6-50DB-03DB-A67332AACC8A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Closer Look at Round-To-Even</a:t>
            </a:r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Default Rounding Mode</a:t>
            </a:r>
          </a:p>
          <a:p>
            <a:pPr marL="552450" lvl="1"/>
            <a:r>
              <a:rPr lang="en-US" dirty="0"/>
              <a:t>Hard to get any other kind without dropping into assembly</a:t>
            </a:r>
          </a:p>
          <a:p>
            <a:pPr marL="552450" lvl="1"/>
            <a:r>
              <a:rPr lang="en-US" dirty="0"/>
              <a:t>All others are statistically biased</a:t>
            </a:r>
          </a:p>
          <a:p>
            <a:pPr marL="838200" lvl="2"/>
            <a:r>
              <a:rPr lang="en-US" dirty="0"/>
              <a:t>Sum of set of positive numbers will consistently be over- or under- estimated</a:t>
            </a:r>
          </a:p>
          <a:p>
            <a:endParaRPr lang="en-US" dirty="0"/>
          </a:p>
          <a:p>
            <a:r>
              <a:rPr lang="en-US" dirty="0"/>
              <a:t>Applying to Other Decimal Places / Bit Positions</a:t>
            </a:r>
          </a:p>
          <a:p>
            <a:pPr marL="552450" lvl="1"/>
            <a:r>
              <a:rPr lang="en-US" dirty="0"/>
              <a:t>When exactly halfway between two possible values</a:t>
            </a:r>
          </a:p>
          <a:p>
            <a:pPr marL="838200" lvl="2"/>
            <a:r>
              <a:rPr lang="en-US" dirty="0"/>
              <a:t>Round so that least significant digit is even</a:t>
            </a:r>
          </a:p>
          <a:p>
            <a:pPr marL="552450" lvl="1"/>
            <a:r>
              <a:rPr lang="en-US" dirty="0"/>
              <a:t>E.g., round to nearest hundredth</a:t>
            </a:r>
          </a:p>
          <a:p>
            <a:pPr marL="838200" lvl="2">
              <a:buNone/>
            </a:pPr>
            <a:r>
              <a:rPr lang="en-US" dirty="0"/>
              <a:t>	7.8949999	7.89	(Less than half way)</a:t>
            </a:r>
          </a:p>
          <a:p>
            <a:pPr marL="838200" lvl="2">
              <a:buNone/>
            </a:pPr>
            <a:r>
              <a:rPr lang="en-US" dirty="0"/>
              <a:t>	7.8950001	7.90	(Greater than half way)</a:t>
            </a:r>
          </a:p>
          <a:p>
            <a:pPr marL="838200" lvl="2">
              <a:buNone/>
            </a:pPr>
            <a:r>
              <a:rPr lang="en-US" dirty="0"/>
              <a:t>	7.8950000	7.90	(Half way—round up)</a:t>
            </a:r>
          </a:p>
          <a:p>
            <a:pPr marL="838200" lvl="2">
              <a:buNone/>
            </a:pPr>
            <a:r>
              <a:rPr lang="en-US" dirty="0"/>
              <a:t>	7.8850000	7.88	(Half way—round down)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0262BA-06E8-E0B4-416F-9FE8393C25C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Rounding Binary Numbers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Binary Fractional Numbers</a:t>
            </a: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“Even” when least significant bit is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0</a:t>
            </a:r>
            <a:endParaRPr lang="en-US" b="1" dirty="0">
              <a:latin typeface="Courier New"/>
              <a:cs typeface="Courier New"/>
            </a:endParaRP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“Half way” when bits to right of rounding position = </a:t>
            </a:r>
            <a:r>
              <a:rPr lang="en-US" sz="1800" b="1" dirty="0">
                <a:latin typeface="Courier New"/>
                <a:ea typeface="Monaco" charset="0"/>
                <a:cs typeface="Courier New"/>
                <a:sym typeface="Monaco" charset="0"/>
              </a:rPr>
              <a:t>100…</a:t>
            </a:r>
            <a:r>
              <a:rPr lang="en-US" sz="1800" b="1" baseline="-6000" dirty="0">
                <a:latin typeface="Courier New"/>
                <a:ea typeface="Monaco" charset="0"/>
                <a:cs typeface="Courier New"/>
                <a:sym typeface="Monaco" charset="0"/>
              </a:rPr>
              <a:t>2</a:t>
            </a:r>
            <a:endParaRPr lang="en-US" b="1" dirty="0">
              <a:latin typeface="Courier New"/>
              <a:cs typeface="Courier New"/>
            </a:endParaRPr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endParaRPr lang="en-US" dirty="0"/>
          </a:p>
          <a:p>
            <a:pPr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Examples</a:t>
            </a:r>
          </a:p>
          <a:p>
            <a:pPr marL="552450" lvl="1"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Round to nearest 1/4 (2 bits right of binary point)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Value	Binary	Rounded	Action	Rounded Value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3/32	10.00</a:t>
            </a:r>
            <a:r>
              <a:rPr lang="en-US" dirty="0">
                <a:solidFill>
                  <a:srgbClr val="980002"/>
                </a:solidFill>
              </a:rPr>
              <a:t>011</a:t>
            </a:r>
            <a:r>
              <a:rPr lang="en-US" baseline="-6000" dirty="0"/>
              <a:t>2</a:t>
            </a:r>
            <a:r>
              <a:rPr lang="en-US" dirty="0"/>
              <a:t>	10.00</a:t>
            </a:r>
            <a:r>
              <a:rPr lang="en-US" baseline="-6000" dirty="0"/>
              <a:t>2</a:t>
            </a:r>
            <a:r>
              <a:rPr lang="en-US" dirty="0"/>
              <a:t>	(&lt;1/2—down)	2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3/16	10.00</a:t>
            </a:r>
            <a:r>
              <a:rPr lang="en-US" dirty="0">
                <a:solidFill>
                  <a:srgbClr val="980002"/>
                </a:solidFill>
              </a:rPr>
              <a:t>110</a:t>
            </a:r>
            <a:r>
              <a:rPr lang="en-US" baseline="-6000" dirty="0"/>
              <a:t>2</a:t>
            </a:r>
            <a:r>
              <a:rPr lang="en-US" dirty="0"/>
              <a:t>	10.01</a:t>
            </a:r>
            <a:r>
              <a:rPr lang="en-US" baseline="-6000" dirty="0"/>
              <a:t>2</a:t>
            </a:r>
            <a:r>
              <a:rPr lang="en-US" dirty="0"/>
              <a:t>	(&gt;1/2—up)	2 1/4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7/8	10.11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11.00</a:t>
            </a:r>
            <a:r>
              <a:rPr lang="en-US" baseline="-6000" dirty="0"/>
              <a:t>2</a:t>
            </a:r>
            <a:r>
              <a:rPr lang="en-US" dirty="0"/>
              <a:t>	(  1/2—up)	3</a:t>
            </a:r>
          </a:p>
          <a:p>
            <a:pPr marL="552450" lvl="1">
              <a:buNone/>
              <a:tabLst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  <a:tab pos="1682750" algn="l"/>
                <a:tab pos="3238500" algn="l"/>
                <a:tab pos="4700588" algn="l"/>
                <a:tab pos="6621463" algn="l"/>
              </a:tabLst>
            </a:pPr>
            <a:r>
              <a:rPr lang="en-US" dirty="0"/>
              <a:t>2 5/8	10.10</a:t>
            </a:r>
            <a:r>
              <a:rPr lang="en-US" dirty="0">
                <a:solidFill>
                  <a:srgbClr val="980002"/>
                </a:solidFill>
              </a:rPr>
              <a:t>100</a:t>
            </a:r>
            <a:r>
              <a:rPr lang="en-US" baseline="-6000" dirty="0"/>
              <a:t>2</a:t>
            </a:r>
            <a:r>
              <a:rPr lang="en-US" dirty="0"/>
              <a:t>	10.10</a:t>
            </a:r>
            <a:r>
              <a:rPr lang="en-US" baseline="-6000" dirty="0"/>
              <a:t>2</a:t>
            </a:r>
            <a:r>
              <a:rPr lang="en-US" dirty="0"/>
              <a:t>	(  1/2—down)	2 1/2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D5B0E4-180B-912A-53BD-99FD3B4EE84F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FP Multiplication</a:t>
            </a:r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s1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dirty="0">
                <a:solidFill>
                  <a:srgbClr val="980002"/>
                </a:solidFill>
              </a:rPr>
              <a:t>   x   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dirty="0">
              <a:solidFill>
                <a:srgbClr val="980002"/>
              </a:solidFill>
            </a:endParaRPr>
          </a:p>
          <a:p>
            <a:r>
              <a:rPr lang="en-US" dirty="0"/>
              <a:t>Exact Result: </a:t>
            </a: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</a:rPr>
              <a:t>s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/>
              <a:t>Sign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dirty="0"/>
              <a:t>: 	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s1</a:t>
            </a:r>
            <a:r>
              <a:rPr lang="en-US" dirty="0"/>
              <a:t> ^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s2</a:t>
            </a:r>
            <a:endParaRPr lang="en-US" dirty="0"/>
          </a:p>
          <a:p>
            <a:pPr marL="552450" lvl="1"/>
            <a:r>
              <a:rPr lang="en-US" dirty="0" err="1"/>
              <a:t>Significand</a:t>
            </a:r>
            <a:r>
              <a:rPr lang="en-US" dirty="0"/>
              <a:t>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M1</a:t>
            </a:r>
            <a:r>
              <a:rPr lang="en-US" dirty="0"/>
              <a:t> x 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M2</a:t>
            </a:r>
            <a:endParaRPr lang="en-US" dirty="0"/>
          </a:p>
          <a:p>
            <a:pPr marL="552450" lvl="1"/>
            <a:r>
              <a:rPr lang="en-US" dirty="0"/>
              <a:t>Exponent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dirty="0"/>
              <a:t> + 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 dirty="0"/>
          </a:p>
          <a:p>
            <a:endParaRPr lang="en-US" dirty="0"/>
          </a:p>
          <a:p>
            <a:r>
              <a:rPr lang="en-US" dirty="0"/>
              <a:t>Fixing</a:t>
            </a:r>
          </a:p>
          <a:p>
            <a:pPr marL="552450" lvl="1"/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≥ 2, shift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right, increment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endParaRPr lang="en-US" dirty="0"/>
          </a:p>
          <a:p>
            <a:pPr marL="552450" lvl="1"/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out of range, overflow </a:t>
            </a:r>
          </a:p>
          <a:p>
            <a:pPr marL="552450" lvl="1"/>
            <a:r>
              <a:rPr lang="en-US" dirty="0"/>
              <a:t>Round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to fit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precision</a:t>
            </a:r>
          </a:p>
          <a:p>
            <a:endParaRPr lang="en-US" dirty="0"/>
          </a:p>
          <a:p>
            <a:r>
              <a:rPr lang="en-US" dirty="0"/>
              <a:t>Implementation</a:t>
            </a:r>
          </a:p>
          <a:p>
            <a:pPr marL="552450" lvl="1"/>
            <a:r>
              <a:rPr lang="en-US" dirty="0"/>
              <a:t>Biggest chore is multiplying </a:t>
            </a:r>
            <a:r>
              <a:rPr lang="en-US" dirty="0" err="1"/>
              <a:t>significands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FF5772-0C2C-B9E9-7AB2-494F58ACDA00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Addition</a:t>
            </a:r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2049463" algn="l"/>
              </a:tabLst>
            </a:pP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E1</a:t>
            </a:r>
            <a:r>
              <a:rPr lang="en-US" dirty="0">
                <a:solidFill>
                  <a:srgbClr val="980002"/>
                </a:solidFill>
              </a:rPr>
              <a:t>   +   (-1)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E2</a:t>
            </a:r>
            <a:endParaRPr lang="en-US" dirty="0">
              <a:solidFill>
                <a:srgbClr val="980002"/>
              </a:solidFill>
            </a:endParaRP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Assume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r>
              <a:rPr lang="en-US" dirty="0"/>
              <a:t> &gt;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E2</a:t>
            </a:r>
            <a:endParaRPr lang="en-US" dirty="0"/>
          </a:p>
          <a:p>
            <a:pPr>
              <a:tabLst>
                <a:tab pos="2049463" algn="l"/>
              </a:tabLst>
            </a:pPr>
            <a:endParaRPr lang="en-US" dirty="0"/>
          </a:p>
          <a:p>
            <a:pPr>
              <a:tabLst>
                <a:tab pos="2049463" algn="l"/>
              </a:tabLst>
            </a:pPr>
            <a:r>
              <a:rPr lang="en-US" dirty="0"/>
              <a:t>Exact Result: </a:t>
            </a:r>
            <a:r>
              <a:rPr lang="en-US" dirty="0">
                <a:solidFill>
                  <a:srgbClr val="980002"/>
                </a:solidFill>
              </a:rPr>
              <a:t>(–1)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dirty="0">
                <a:solidFill>
                  <a:srgbClr val="980002"/>
                </a:solidFill>
              </a:rPr>
              <a:t>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  <a:r>
              <a:rPr lang="en-US" dirty="0">
                <a:solidFill>
                  <a:srgbClr val="980002"/>
                </a:solidFill>
              </a:rPr>
              <a:t>  2</a:t>
            </a:r>
            <a:r>
              <a:rPr lang="en-US" baseline="32000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E</a:t>
            </a:r>
            <a:endParaRPr lang="en-US" dirty="0"/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Sign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</a:t>
            </a:r>
            <a:r>
              <a:rPr lang="en-US" dirty="0"/>
              <a:t>, significand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: </a:t>
            </a:r>
          </a:p>
          <a:p>
            <a:pPr marL="838200" lvl="2">
              <a:tabLst>
                <a:tab pos="2049463" algn="l"/>
              </a:tabLst>
            </a:pPr>
            <a:r>
              <a:rPr lang="en-US" dirty="0"/>
              <a:t>Result of signed align &amp; add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Exponent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: 	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E1</a:t>
            </a:r>
            <a:endParaRPr lang="en-US" dirty="0"/>
          </a:p>
          <a:p>
            <a:pPr>
              <a:tabLst>
                <a:tab pos="2049463" algn="l"/>
              </a:tabLst>
            </a:pPr>
            <a:endParaRPr lang="en-US" dirty="0"/>
          </a:p>
          <a:p>
            <a:pPr>
              <a:tabLst>
                <a:tab pos="2049463" algn="l"/>
              </a:tabLst>
            </a:pPr>
            <a:r>
              <a:rPr lang="en-US" dirty="0"/>
              <a:t>Fixing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≥ 2, shift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right, increment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&lt; 1, shift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left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r>
              <a:rPr lang="en-US" dirty="0"/>
              <a:t> positions, decrement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by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k</a:t>
            </a:r>
            <a:endParaRPr lang="en-US" dirty="0"/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Overflow if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E</a:t>
            </a:r>
            <a:r>
              <a:rPr lang="en-US" dirty="0"/>
              <a:t> out of range</a:t>
            </a:r>
          </a:p>
          <a:p>
            <a:pPr marL="317500" lvl="1" indent="0">
              <a:tabLst>
                <a:tab pos="2049463" algn="l"/>
              </a:tabLst>
            </a:pPr>
            <a:r>
              <a:rPr lang="en-US" dirty="0"/>
              <a:t>Round 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M</a:t>
            </a:r>
            <a:r>
              <a:rPr lang="en-US" dirty="0"/>
              <a:t> to fit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frac</a:t>
            </a:r>
            <a:r>
              <a:rPr lang="en-US" dirty="0"/>
              <a:t> precision</a:t>
            </a:r>
          </a:p>
        </p:txBody>
      </p:sp>
      <p:sp>
        <p:nvSpPr>
          <p:cNvPr id="39941" name="Rectangle 5"/>
          <p:cNvSpPr>
            <a:spLocks/>
          </p:cNvSpPr>
          <p:nvPr/>
        </p:nvSpPr>
        <p:spPr bwMode="auto">
          <a:xfrm>
            <a:off x="5067300" y="2540000"/>
            <a:ext cx="17907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M1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2" name="Rectangle 6"/>
          <p:cNvSpPr>
            <a:spLocks/>
          </p:cNvSpPr>
          <p:nvPr/>
        </p:nvSpPr>
        <p:spPr bwMode="auto">
          <a:xfrm>
            <a:off x="6645275" y="3086100"/>
            <a:ext cx="22225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M2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auto">
          <a:xfrm>
            <a:off x="68580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4" name="Line 8"/>
          <p:cNvSpPr>
            <a:spLocks noChangeShapeType="1"/>
          </p:cNvSpPr>
          <p:nvPr/>
        </p:nvSpPr>
        <p:spPr bwMode="auto">
          <a:xfrm>
            <a:off x="8851900" y="2222500"/>
            <a:ext cx="0" cy="2540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5" name="Line 9"/>
          <p:cNvSpPr>
            <a:spLocks noChangeShapeType="1"/>
          </p:cNvSpPr>
          <p:nvPr/>
        </p:nvSpPr>
        <p:spPr bwMode="auto">
          <a:xfrm>
            <a:off x="6870700" y="2349500"/>
            <a:ext cx="19685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triangle" w="med" len="med"/>
            <a:tailEnd type="triangl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6" name="Rectangle 10"/>
          <p:cNvSpPr>
            <a:spLocks/>
          </p:cNvSpPr>
          <p:nvPr/>
        </p:nvSpPr>
        <p:spPr bwMode="auto">
          <a:xfrm>
            <a:off x="7567613" y="2119313"/>
            <a:ext cx="771045" cy="307777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E1</a:t>
            </a:r>
            <a:r>
              <a:rPr lang="en-US" sz="2000">
                <a:solidFill>
                  <a:schemeClr val="tx1"/>
                </a:solidFill>
                <a:latin typeface="Arial Narrow Bold" charset="0"/>
                <a:ea typeface="Arial Narrow Bold" charset="0"/>
                <a:cs typeface="Arial Narrow Bold" charset="0"/>
                <a:sym typeface="Arial Narrow Bold" charset="0"/>
              </a:rPr>
              <a:t>–</a:t>
            </a:r>
            <a:r>
              <a:rPr lang="en-US" sz="2000">
                <a:solidFill>
                  <a:schemeClr val="tx1"/>
                </a:solidFill>
                <a:latin typeface="Arial Narrow Bold Italic" charset="0"/>
                <a:ea typeface="Arial Narrow Bold Italic" charset="0"/>
                <a:cs typeface="Arial Narrow Bold Italic" charset="0"/>
                <a:sym typeface="Arial Narrow Bold Italic" charset="0"/>
              </a:rPr>
              <a:t>E2</a:t>
            </a:r>
          </a:p>
        </p:txBody>
      </p:sp>
      <p:sp>
        <p:nvSpPr>
          <p:cNvPr id="39947" name="Rectangle 11"/>
          <p:cNvSpPr>
            <a:spLocks/>
          </p:cNvSpPr>
          <p:nvPr/>
        </p:nvSpPr>
        <p:spPr bwMode="auto">
          <a:xfrm>
            <a:off x="4697413" y="2949575"/>
            <a:ext cx="254877" cy="615553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4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+</a:t>
            </a:r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4826000" y="3683000"/>
            <a:ext cx="4089400" cy="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sz="4000"/>
          </a:p>
        </p:txBody>
      </p:sp>
      <p:sp>
        <p:nvSpPr>
          <p:cNvPr id="39949" name="Rectangle 13"/>
          <p:cNvSpPr>
            <a:spLocks/>
          </p:cNvSpPr>
          <p:nvPr/>
        </p:nvSpPr>
        <p:spPr bwMode="auto">
          <a:xfrm>
            <a:off x="5067300" y="3835400"/>
            <a:ext cx="3784600" cy="4191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(–1)</a:t>
            </a:r>
            <a:r>
              <a:rPr lang="en-US" sz="2000" baseline="3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</a:t>
            </a:r>
            <a:r>
              <a:rPr 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>
                <a:solidFill>
                  <a:schemeClr val="tx1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57800" y="1524000"/>
            <a:ext cx="3443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Get binary points lined 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C12AA-9D20-A098-D012-0A31A97D21D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Today: Floating Point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B3B3B3"/>
                </a:solidFill>
              </a:rPr>
              <a:t>Background: Fractional binary numbers</a:t>
            </a:r>
          </a:p>
          <a:p>
            <a:r>
              <a:rPr lang="en-US">
                <a:solidFill>
                  <a:srgbClr val="B3B3B3"/>
                </a:solidFill>
              </a:rPr>
              <a:t>IEEE floating point standard: Definition</a:t>
            </a:r>
          </a:p>
          <a:p>
            <a:r>
              <a:rPr lang="en-US">
                <a:solidFill>
                  <a:srgbClr val="B3B3B3"/>
                </a:solidFill>
              </a:rPr>
              <a:t>Example and properties</a:t>
            </a:r>
          </a:p>
          <a:p>
            <a:r>
              <a:rPr lang="en-US">
                <a:solidFill>
                  <a:srgbClr val="B3B3B3"/>
                </a:solidFill>
              </a:rPr>
              <a:t>Rounding, addition, multiplication</a:t>
            </a:r>
          </a:p>
          <a:p>
            <a:r>
              <a:rPr lang="en-US"/>
              <a:t>Floating point in C</a:t>
            </a:r>
          </a:p>
          <a:p>
            <a:r>
              <a:rPr lang="en-US">
                <a:solidFill>
                  <a:srgbClr val="B3B3B3"/>
                </a:solidFill>
              </a:rPr>
              <a:t>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A69790-E6C2-98BD-EA03-5F2C74DB4E0E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Floating Point in C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C Guarantees Two Levels</a:t>
            </a:r>
          </a:p>
          <a:p>
            <a:pPr marL="317500" lvl="1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	single precision</a:t>
            </a:r>
          </a:p>
          <a:p>
            <a:pPr marL="317500" lvl="1" indent="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	double precision</a:t>
            </a:r>
          </a:p>
          <a:p>
            <a:pPr>
              <a:spcBef>
                <a:spcPts val="1600"/>
              </a:spcBef>
            </a:pPr>
            <a:r>
              <a:rPr lang="en-US" dirty="0"/>
              <a:t>Conversions/Casting</a:t>
            </a:r>
          </a:p>
          <a:p>
            <a:pPr marL="317500" lvl="1" indent="0"/>
            <a:r>
              <a:rPr lang="en-US" dirty="0"/>
              <a:t> Casting between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, and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 changes bit representation</a:t>
            </a:r>
          </a:p>
          <a:p>
            <a:pPr marL="317500" lvl="1" indent="0"/>
            <a:r>
              <a:rPr lang="en-US" dirty="0"/>
              <a:t>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r>
              <a:rPr lang="en-US" dirty="0"/>
              <a:t>/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r>
              <a:rPr lang="en-US" dirty="0"/>
              <a:t> →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endParaRPr lang="en-US" dirty="0"/>
          </a:p>
          <a:p>
            <a:pPr marL="838200" lvl="2"/>
            <a:r>
              <a:rPr lang="en-US" dirty="0"/>
              <a:t>Truncates fractional part</a:t>
            </a:r>
          </a:p>
          <a:p>
            <a:pPr marL="838200" lvl="2"/>
            <a:r>
              <a:rPr lang="en-US" dirty="0"/>
              <a:t>Like rounding toward zero</a:t>
            </a:r>
          </a:p>
          <a:p>
            <a:pPr marL="838200" lvl="2"/>
            <a:r>
              <a:rPr lang="en-US" dirty="0"/>
              <a:t>Not defined when out of range or </a:t>
            </a:r>
            <a:r>
              <a:rPr lang="en-US" dirty="0" err="1"/>
              <a:t>NaN</a:t>
            </a:r>
            <a:r>
              <a:rPr lang="en-US" dirty="0"/>
              <a:t>: Generally sets to </a:t>
            </a:r>
            <a:r>
              <a:rPr lang="en-US" dirty="0" err="1"/>
              <a:t>TMin</a:t>
            </a:r>
            <a:endParaRPr lang="en-US" dirty="0"/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→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double</a:t>
            </a:r>
            <a:endParaRPr lang="en-US" dirty="0"/>
          </a:p>
          <a:p>
            <a:pPr marL="838200" lvl="2"/>
            <a:r>
              <a:rPr lang="en-US" dirty="0"/>
              <a:t>Exact conversion, as long as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has ≤ 53 bit word size</a:t>
            </a:r>
          </a:p>
          <a:p>
            <a:pPr marL="317500" lvl="1" indent="0"/>
            <a:r>
              <a:rPr lang="en-US" dirty="0"/>
              <a:t>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int</a:t>
            </a:r>
            <a:r>
              <a:rPr lang="en-US" dirty="0"/>
              <a:t> →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float</a:t>
            </a:r>
            <a:endParaRPr lang="en-US" dirty="0"/>
          </a:p>
          <a:p>
            <a:pPr marL="838200" lvl="2"/>
            <a:r>
              <a:rPr lang="en-US" dirty="0"/>
              <a:t>Will round according to rounding mode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09C1D-88E5-F811-00A1-FCAE2BCB23D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Floating Point Puzzles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8382000" cy="1270000"/>
          </a:xfrm>
          <a:ln/>
        </p:spPr>
        <p:txBody>
          <a:bodyPr/>
          <a:lstStyle/>
          <a:p>
            <a:r>
              <a:rPr lang="en-US"/>
              <a:t>For each of the following C expressions, either:</a:t>
            </a:r>
          </a:p>
          <a:p>
            <a:pPr marL="552450" lvl="1"/>
            <a:r>
              <a:rPr lang="en-US"/>
              <a:t>Argue that it is true for all argument values</a:t>
            </a:r>
          </a:p>
          <a:p>
            <a:pPr marL="552450" lvl="1"/>
            <a:r>
              <a:rPr lang="en-US"/>
              <a:t>Explain why not true</a:t>
            </a:r>
          </a:p>
        </p:txBody>
      </p:sp>
      <p:sp>
        <p:nvSpPr>
          <p:cNvPr id="45061" name="Rectangle 5"/>
          <p:cNvSpPr>
            <a:spLocks/>
          </p:cNvSpPr>
          <p:nvPr/>
        </p:nvSpPr>
        <p:spPr bwMode="auto">
          <a:xfrm>
            <a:off x="3736975" y="2446338"/>
            <a:ext cx="4889500" cy="40767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)(float) x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x == 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)(double) x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 == (float)(double) f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== (double)(float) d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 == -(-f);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2/3 == 2/3.0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&lt; 0.0	 ⇒ 	((d*2) &lt; 0.0)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&gt; f	 ⇒ 	-f &gt; -d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 * d &gt;= 0.0</a:t>
            </a:r>
            <a:endParaRPr lang="en-US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marL="254000" indent="-254000" algn="l">
              <a:spcBef>
                <a:spcPts val="575"/>
              </a:spcBef>
              <a:buClr>
                <a:srgbClr val="000000"/>
              </a:buClr>
              <a:buSzPct val="100000"/>
              <a:buFont typeface="Helvetica" pitchFamily="34" charset="0"/>
              <a:buChar char="•"/>
              <a:tabLst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  <a:tab pos="1828800" algn="l"/>
                <a:tab pos="2463800" algn="l"/>
                <a:tab pos="30861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(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d+f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)-d == f</a:t>
            </a:r>
          </a:p>
        </p:txBody>
      </p:sp>
      <p:sp>
        <p:nvSpPr>
          <p:cNvPr id="45062" name="Rectangle 6"/>
          <p:cNvSpPr>
            <a:spLocks/>
          </p:cNvSpPr>
          <p:nvPr/>
        </p:nvSpPr>
        <p:spPr bwMode="auto">
          <a:xfrm>
            <a:off x="522288" y="3271838"/>
            <a:ext cx="2628900" cy="1155700"/>
          </a:xfrm>
          <a:prstGeom prst="rect">
            <a:avLst/>
          </a:prstGeom>
          <a:solidFill>
            <a:srgbClr val="D6D6F4"/>
          </a:solidFill>
          <a:ln w="25400" cap="flat">
            <a:solidFill>
              <a:srgbClr val="ADADEA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 x = …;</a:t>
            </a:r>
            <a:endParaRPr lang="en-US" sz="24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float f = …;</a:t>
            </a:r>
            <a:endParaRPr lang="en-US" sz="2400" b="1" dirty="0">
              <a:solidFill>
                <a:schemeClr val="tx1"/>
              </a:solidFill>
              <a:latin typeface="Courier New"/>
              <a:ea typeface="Monaco" charset="0"/>
              <a:cs typeface="Courier New"/>
              <a:sym typeface="Monaco" charset="0"/>
            </a:endParaRPr>
          </a:p>
          <a:p>
            <a:pPr algn="l">
              <a:spcBef>
                <a:spcPts val="475"/>
              </a:spcBef>
              <a:tabLst>
                <a:tab pos="1371600" algn="l"/>
                <a:tab pos="2286000" algn="l"/>
                <a:tab pos="1371600" algn="l"/>
                <a:tab pos="2286000" algn="l"/>
                <a:tab pos="1371600" algn="l"/>
                <a:tab pos="22860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/>
                <a:ea typeface="Monaco" charset="0"/>
                <a:cs typeface="Courier New"/>
                <a:sym typeface="Monaco" charset="0"/>
              </a:rPr>
              <a:t>double d = …;</a:t>
            </a:r>
          </a:p>
        </p:txBody>
      </p:sp>
      <p:sp>
        <p:nvSpPr>
          <p:cNvPr id="45063" name="Rectangle 7"/>
          <p:cNvSpPr>
            <a:spLocks/>
          </p:cNvSpPr>
          <p:nvPr/>
        </p:nvSpPr>
        <p:spPr bwMode="auto">
          <a:xfrm>
            <a:off x="457200" y="4581525"/>
            <a:ext cx="1704975" cy="698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Assume neither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d</a:t>
            </a:r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nor </a:t>
            </a:r>
            <a:r>
              <a:rPr lang="en-US" sz="20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f</a:t>
            </a:r>
            <a:r>
              <a:rPr lang="en-US" sz="20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 is NaN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2E5394-B8A6-5FD4-1060-F9078DF588E7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Summary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IEEE Floating Point has clear mathematical  properties</a:t>
            </a:r>
          </a:p>
          <a:p>
            <a:r>
              <a:rPr lang="en-US"/>
              <a:t>Represents numbers of form M x 2</a:t>
            </a:r>
            <a:r>
              <a:rPr lang="en-US" baseline="32000"/>
              <a:t>E</a:t>
            </a:r>
            <a:endParaRPr lang="en-US"/>
          </a:p>
          <a:p>
            <a:r>
              <a:rPr lang="en-US"/>
              <a:t>One can reason about operations independent of implementation</a:t>
            </a:r>
          </a:p>
          <a:p>
            <a:pPr marL="552450" lvl="1"/>
            <a:r>
              <a:rPr lang="en-US"/>
              <a:t>As if computed with perfect precision and then rounded</a:t>
            </a:r>
          </a:p>
          <a:p>
            <a:r>
              <a:rPr lang="en-US"/>
              <a:t>Not the same as real arithmetic</a:t>
            </a:r>
          </a:p>
          <a:p>
            <a:pPr marL="552450" lvl="1"/>
            <a:r>
              <a:rPr lang="en-US"/>
              <a:t>Violates associativity/distributivity</a:t>
            </a:r>
          </a:p>
          <a:p>
            <a:pPr marL="552450" lvl="1"/>
            <a:r>
              <a:rPr lang="en-US"/>
              <a:t>Makes life difficult for compilers &amp; serious numerical applications programmers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338083-510A-0A6F-7594-66A93C81CE6D}"/>
              </a:ext>
            </a:extLst>
          </p:cNvPr>
          <p:cNvSpPr>
            <a:spLocks/>
          </p:cNvSpPr>
          <p:nvPr/>
        </p:nvSpPr>
        <p:spPr bwMode="auto">
          <a:xfrm>
            <a:off x="-12700" y="662940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4794</TotalTime>
  <Pages>0</Pages>
  <Words>1922</Words>
  <Characters>0</Characters>
  <Application>Microsoft Macintosh PowerPoint</Application>
  <PresentationFormat>On-screen Show (4:3)</PresentationFormat>
  <Lines>0</Lines>
  <Paragraphs>368</Paragraphs>
  <Slides>30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52" baseType="lpstr">
      <vt:lpstr>Arial</vt:lpstr>
      <vt:lpstr>Arial Narrow</vt:lpstr>
      <vt:lpstr>Arial Narrow Bold</vt:lpstr>
      <vt:lpstr>Arial Narrow Bold Italic</vt:lpstr>
      <vt:lpstr>Calibri</vt:lpstr>
      <vt:lpstr>Calibri Bold</vt:lpstr>
      <vt:lpstr>Calibri Bold Italic</vt:lpstr>
      <vt:lpstr>Calibri Italic</vt:lpstr>
      <vt:lpstr>Courier New</vt:lpstr>
      <vt:lpstr>Courier New Bold</vt:lpstr>
      <vt:lpstr>Gill Sans</vt:lpstr>
      <vt:lpstr>Helvetica</vt:lpstr>
      <vt:lpstr>Monaco</vt:lpstr>
      <vt:lpstr>Times</vt:lpstr>
      <vt:lpstr>Times New Roman</vt:lpstr>
      <vt:lpstr>Wingdings</vt:lpstr>
      <vt:lpstr>Wingdings 2</vt:lpstr>
      <vt:lpstr>Title Slide</vt:lpstr>
      <vt:lpstr>Title and Content</vt:lpstr>
      <vt:lpstr>Title Only</vt:lpstr>
      <vt:lpstr>template2007</vt:lpstr>
      <vt:lpstr>Worksheet</vt:lpstr>
      <vt:lpstr>Floating Point  Introduction to Computer Systems </vt:lpstr>
      <vt:lpstr>Today: Floating Point</vt:lpstr>
      <vt:lpstr>Fractional binary numbers</vt:lpstr>
      <vt:lpstr>Fractional Binary Numbers</vt:lpstr>
      <vt:lpstr>Fractional Binary Numbers: Examples</vt:lpstr>
      <vt:lpstr>Representable Numbers</vt:lpstr>
      <vt:lpstr>Today: Floating Point</vt:lpstr>
      <vt:lpstr>IEEE Floating Point</vt:lpstr>
      <vt:lpstr>Floating Point Representation</vt:lpstr>
      <vt:lpstr>Precision options</vt:lpstr>
      <vt:lpstr>“Normalized” Values</vt:lpstr>
      <vt:lpstr>Normalized Encoding Example</vt:lpstr>
      <vt:lpstr>Denormalized Values</vt:lpstr>
      <vt:lpstr>Special Values</vt:lpstr>
      <vt:lpstr>Visualization: Floating Point Encodings</vt:lpstr>
      <vt:lpstr>Today: Floating Point</vt:lpstr>
      <vt:lpstr>Tiny Floating Point Example</vt:lpstr>
      <vt:lpstr>Distribution of Values</vt:lpstr>
      <vt:lpstr>Special Properties of the IEEE Encoding</vt:lpstr>
      <vt:lpstr>Today: Floating Point</vt:lpstr>
      <vt:lpstr>Floating Point Operations: Basic Idea</vt:lpstr>
      <vt:lpstr>Rounding</vt:lpstr>
      <vt:lpstr>Closer Look at Round-To-Even</vt:lpstr>
      <vt:lpstr>Rounding Binary Numbers</vt:lpstr>
      <vt:lpstr>FP Multiplication</vt:lpstr>
      <vt:lpstr>Floating Point Addition</vt:lpstr>
      <vt:lpstr>Today: Floating Point</vt:lpstr>
      <vt:lpstr>Floating Point in C</vt:lpstr>
      <vt:lpstr>Floating Point Puzzles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cp:lastModifiedBy>Đỗ Uyên</cp:lastModifiedBy>
  <cp:revision>60</cp:revision>
  <cp:lastPrinted>2012-09-05T04:08:39Z</cp:lastPrinted>
  <dcterms:created xsi:type="dcterms:W3CDTF">2012-09-06T15:16:51Z</dcterms:created>
  <dcterms:modified xsi:type="dcterms:W3CDTF">2025-09-29T08:58:19Z</dcterms:modified>
</cp:coreProperties>
</file>