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542" r:id="rId2"/>
    <p:sldId id="619" r:id="rId3"/>
    <p:sldId id="620" r:id="rId4"/>
    <p:sldId id="621" r:id="rId5"/>
    <p:sldId id="622" r:id="rId6"/>
    <p:sldId id="623" r:id="rId7"/>
    <p:sldId id="624" r:id="rId8"/>
    <p:sldId id="625" r:id="rId9"/>
    <p:sldId id="626" r:id="rId10"/>
    <p:sldId id="627" r:id="rId11"/>
    <p:sldId id="628" r:id="rId12"/>
    <p:sldId id="552" r:id="rId13"/>
    <p:sldId id="553" r:id="rId14"/>
    <p:sldId id="554" r:id="rId15"/>
    <p:sldId id="602" r:id="rId16"/>
    <p:sldId id="555" r:id="rId17"/>
    <p:sldId id="556" r:id="rId18"/>
    <p:sldId id="618" r:id="rId19"/>
    <p:sldId id="557" r:id="rId20"/>
    <p:sldId id="558" r:id="rId21"/>
    <p:sldId id="559" r:id="rId22"/>
    <p:sldId id="560" r:id="rId23"/>
    <p:sldId id="561" r:id="rId24"/>
    <p:sldId id="562" r:id="rId25"/>
    <p:sldId id="563" r:id="rId26"/>
    <p:sldId id="564" r:id="rId27"/>
    <p:sldId id="571" r:id="rId28"/>
    <p:sldId id="566" r:id="rId29"/>
    <p:sldId id="605" r:id="rId30"/>
    <p:sldId id="607" r:id="rId31"/>
    <p:sldId id="617" r:id="rId32"/>
    <p:sldId id="608" r:id="rId33"/>
    <p:sldId id="567" r:id="rId34"/>
    <p:sldId id="568" r:id="rId35"/>
    <p:sldId id="611" r:id="rId36"/>
  </p:sldIdLst>
  <p:sldSz cx="9144000" cy="6858000" type="screen4x3"/>
  <p:notesSz cx="7302500" cy="9586913"/>
  <p:custDataLst>
    <p:tags r:id="rId39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2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AC0000"/>
    <a:srgbClr val="F7F5CD"/>
    <a:srgbClr val="000000"/>
    <a:srgbClr val="9D3E40"/>
    <a:srgbClr val="990000"/>
    <a:srgbClr val="D5F1CF"/>
    <a:srgbClr val="F1C7C7"/>
    <a:srgbClr val="F6F5BD"/>
    <a:srgbClr val="EBAFAF"/>
    <a:srgbClr val="DB6F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5854" autoAdjust="0"/>
    <p:restoredTop sz="94626" autoAdjust="0"/>
  </p:normalViewPr>
  <p:slideViewPr>
    <p:cSldViewPr snapToGrid="0" snapToObjects="1">
      <p:cViewPr>
        <p:scale>
          <a:sx n="104" d="100"/>
          <a:sy n="104" d="100"/>
        </p:scale>
        <p:origin x="-96" y="360"/>
      </p:cViewPr>
      <p:guideLst>
        <p:guide orient="horz" pos="172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gs" Target="tags/tag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71950" y="0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t" anchorCtr="0" compatLnSpc="1">
            <a:prstTxWarp prst="textNoShape">
              <a:avLst/>
            </a:prstTxWarp>
          </a:bodyPr>
          <a:lstStyle>
            <a:lvl1pPr algn="r"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29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71950" y="9091613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83587096-7852-44F5-9A71-D621B1FF24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1173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14800" y="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8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0600" y="4572000"/>
            <a:ext cx="5334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08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440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14800" y="91440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40F64717-A5A5-4C4E-9291-2F18B7410B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32709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803353-72E2-470C-8E67-87750F01FAF1}" type="slidenum">
              <a:rPr lang="en-US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803353-72E2-470C-8E67-87750F01FAF1}" type="slidenum">
              <a:rPr lang="en-US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5910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803353-72E2-470C-8E67-87750F01FAF1}" type="slidenum">
              <a:rPr lang="en-US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6238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803353-72E2-470C-8E67-87750F01FAF1}" type="slidenum">
              <a:rPr lang="en-US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7212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803353-72E2-470C-8E67-87750F01FAF1}" type="slidenum">
              <a:rPr lang="en-US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5322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803353-72E2-470C-8E67-87750F01FAF1}" type="slidenum">
              <a:rPr lang="en-US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6145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803353-72E2-470C-8E67-87750F01FAF1}" type="slidenum">
              <a:rPr lang="en-US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8852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803353-72E2-470C-8E67-87750F01FAF1}" type="slidenum">
              <a:rPr lang="en-US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870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803353-72E2-470C-8E67-87750F01FAF1}" type="slidenum">
              <a:rPr lang="en-US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2429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803353-72E2-470C-8E67-87750F01FAF1}" type="slidenum">
              <a:rPr lang="en-US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6118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803353-72E2-470C-8E67-87750F01FAF1}" type="slidenum">
              <a:rPr lang="en-US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3924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6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667" y="4553434"/>
            <a:ext cx="5355167" cy="431341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8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667" y="4553434"/>
            <a:ext cx="5355167" cy="431341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0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667" y="4553434"/>
            <a:ext cx="5355167" cy="431341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2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667" y="4553434"/>
            <a:ext cx="5355167" cy="431341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4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667" y="4553434"/>
            <a:ext cx="5355167" cy="431341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6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667" y="4553434"/>
            <a:ext cx="5355167" cy="431341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9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667" y="4553434"/>
            <a:ext cx="5355167" cy="431341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1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667" y="4553434"/>
            <a:ext cx="5355167" cy="431341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3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667" y="4553434"/>
            <a:ext cx="5355167" cy="431341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5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667" y="4553434"/>
            <a:ext cx="5355167" cy="431341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7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667" y="4553434"/>
            <a:ext cx="5355167" cy="431341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9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667" y="4553434"/>
            <a:ext cx="5355167" cy="431341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1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667" y="4553434"/>
            <a:ext cx="5355167" cy="431341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1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667" y="4553434"/>
            <a:ext cx="5355167" cy="431341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5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667" y="4553434"/>
            <a:ext cx="5355167" cy="431341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5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667" y="4553434"/>
            <a:ext cx="5355167" cy="431341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6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667" y="4553434"/>
            <a:ext cx="5355167" cy="431341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7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667" y="4553434"/>
            <a:ext cx="5355167" cy="431341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9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667" y="4553434"/>
            <a:ext cx="5355167" cy="431341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6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08012"/>
            <a:ext cx="7772400" cy="14700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7677492" cy="1752600"/>
          </a:xfrm>
        </p:spPr>
        <p:txBody>
          <a:bodyPr/>
          <a:lstStyle>
            <a:lvl1pPr marL="0" indent="0" algn="l">
              <a:buNone/>
              <a:defRPr sz="2000" b="0">
                <a:latin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7592093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latin typeface="Calibri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762" y="445070"/>
            <a:ext cx="7591425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Calibri" pitchFamily="34" charset="0"/>
              </a:defRPr>
            </a:lvl1pPr>
            <a:lvl2pPr>
              <a:defRPr sz="2800">
                <a:latin typeface="Calibri" pitchFamily="34" charset="0"/>
              </a:defRPr>
            </a:lvl2pPr>
            <a:lvl3pPr>
              <a:defRPr sz="2400">
                <a:latin typeface="Calibri" pitchFamily="34" charset="0"/>
              </a:defRPr>
            </a:lvl3pPr>
            <a:lvl4pPr>
              <a:defRPr sz="2000">
                <a:latin typeface="Calibri" pitchFamily="34" charset="0"/>
              </a:defRPr>
            </a:lvl4pPr>
            <a:lvl5pPr>
              <a:defRPr sz="2000">
                <a:latin typeface="Calibri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Calibri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58013" y="228600"/>
            <a:ext cx="2185987" cy="6105525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6875" y="228600"/>
            <a:ext cx="6408738" cy="6105525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62488" y="1362075"/>
            <a:ext cx="3871912" cy="24098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62488" y="3924300"/>
            <a:ext cx="3871912" cy="24098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4090" y="371182"/>
            <a:ext cx="759142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6875" y="1362075"/>
            <a:ext cx="7896225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9144000" cy="228600"/>
          </a:xfrm>
          <a:prstGeom prst="rect">
            <a:avLst/>
          </a:prstGeom>
          <a:solidFill>
            <a:srgbClr val="99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b="0">
              <a:latin typeface="Times New Roman" pitchFamily="18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7897813" y="-26988"/>
            <a:ext cx="1309687" cy="2778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chemeClr val="bg1"/>
                </a:solidFill>
                <a:latin typeface="Times New Roman" pitchFamily="18" charset="0"/>
              </a:rPr>
              <a:t>Carnegie Mellon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8830843" y="6611779"/>
            <a:ext cx="3131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0" r:id="rId2"/>
    <p:sldLayoutId id="2147483659" r:id="rId3"/>
    <p:sldLayoutId id="2147483658" r:id="rId4"/>
    <p:sldLayoutId id="2147483657" r:id="rId5"/>
    <p:sldLayoutId id="2147483656" r:id="rId6"/>
    <p:sldLayoutId id="2147483655" r:id="rId7"/>
    <p:sldLayoutId id="2147483654" r:id="rId8"/>
    <p:sldLayoutId id="2147483653" r:id="rId9"/>
    <p:sldLayoutId id="2147483652" r:id="rId10"/>
    <p:sldLayoutId id="2147483651" r:id="rId11"/>
    <p:sldLayoutId id="2147483650" r:id="rId12"/>
    <p:sldLayoutId id="2147483649" r:id="rId13"/>
  </p:sldLayoutIdLst>
  <p:txStyles>
    <p:titleStyle>
      <a:lvl1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+mj-ea"/>
          <a:cs typeface="+mj-cs"/>
        </a:defRPr>
      </a:lvl1pPr>
      <a:lvl2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2pPr>
      <a:lvl3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3pPr>
      <a:lvl4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4pPr>
      <a:lvl5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5pPr>
      <a:lvl6pPr marL="5762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6pPr>
      <a:lvl7pPr marL="10334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7pPr>
      <a:lvl8pPr marL="14906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8pPr>
      <a:lvl9pPr marL="19478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60000"/>
        <a:buFont typeface="Wingdings 2" pitchFamily="18" charset="2"/>
        <a:buChar char="¢"/>
        <a:defRPr sz="2400" b="1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11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SzPct val="8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ctrTitle"/>
          </p:nvPr>
        </p:nvSpPr>
        <p:spPr>
          <a:xfrm>
            <a:off x="685800" y="1708150"/>
            <a:ext cx="7772400" cy="1873250"/>
          </a:xfrm>
        </p:spPr>
        <p:txBody>
          <a:bodyPr/>
          <a:lstStyle/>
          <a:p>
            <a:pPr marL="0" indent="0"/>
            <a:r>
              <a:rPr lang="en-US" dirty="0"/>
              <a:t>Synchronization: Basics</a:t>
            </a:r>
            <a:br>
              <a:rPr lang="en-US" dirty="0"/>
            </a:br>
            <a:br>
              <a:rPr lang="en-US" dirty="0"/>
            </a:br>
            <a:r>
              <a:rPr lang="en-US" sz="2000" b="0" dirty="0"/>
              <a:t>Introduction to Computer Systems</a:t>
            </a:r>
            <a:br>
              <a:rPr lang="en-US" b="0" dirty="0"/>
            </a:br>
            <a:r>
              <a:rPr lang="en-US" sz="2000" b="0" dirty="0"/>
              <a:t>10</a:t>
            </a:r>
            <a:r>
              <a:rPr lang="en-US" sz="2000" b="0" baseline="30000" dirty="0"/>
              <a:t>th</a:t>
            </a:r>
            <a:r>
              <a:rPr lang="en-US" sz="2000" b="0" dirty="0"/>
              <a:t> Lecture, Nov. 17, 2025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D7B2F4-ED32-6F79-66F2-5FA734296DA0}"/>
              </a:ext>
            </a:extLst>
          </p:cNvPr>
          <p:cNvSpPr>
            <a:spLocks/>
          </p:cNvSpPr>
          <p:nvPr/>
        </p:nvSpPr>
        <p:spPr bwMode="auto">
          <a:xfrm>
            <a:off x="0" y="6636634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252DA7-3BEB-9F8E-D754-D3C1033FB666}"/>
              </a:ext>
            </a:extLst>
          </p:cNvPr>
          <p:cNvSpPr>
            <a:spLocks/>
          </p:cNvSpPr>
          <p:nvPr/>
        </p:nvSpPr>
        <p:spPr bwMode="auto">
          <a:xfrm>
            <a:off x="-6350" y="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22">
            <a:extLst>
              <a:ext uri="{FF2B5EF4-FFF2-40B4-BE49-F238E27FC236}">
                <a16:creationId xmlns:a16="http://schemas.microsoft.com/office/drawing/2014/main" id="{8AB360E9-A239-A41C-7DDF-70BA7A2DD0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018" y="435678"/>
            <a:ext cx="7592093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2pPr>
            <a:lvl3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3pPr>
            <a:lvl4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4pPr>
            <a:lvl5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5pPr>
            <a:lvl6pPr marL="5762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6pPr>
            <a:lvl7pPr marL="10334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7pPr>
            <a:lvl8pPr marL="14906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8pPr>
            <a:lvl9pPr marL="19478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r>
              <a:rPr lang="en-US" kern="0" dirty="0"/>
              <a:t>Traditional View of a Process</a:t>
            </a:r>
          </a:p>
        </p:txBody>
      </p:sp>
      <p:sp>
        <p:nvSpPr>
          <p:cNvPr id="47" name="Rectangle 23">
            <a:extLst>
              <a:ext uri="{FF2B5EF4-FFF2-40B4-BE49-F238E27FC236}">
                <a16:creationId xmlns:a16="http://schemas.microsoft.com/office/drawing/2014/main" id="{0E4BD8C4-E562-DCE6-1C07-6E5FE7A4C8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5" y="1371600"/>
            <a:ext cx="7896225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None/>
              <a:defRPr sz="2000" b="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2" charset="2"/>
              <a:buNone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None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Arial" charset="0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Arial" charset="0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Arial" charset="0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>
              <a:buFont typeface="Wingdings 2" pitchFamily="18" charset="2"/>
              <a:buChar char="¢"/>
            </a:pPr>
            <a:r>
              <a:rPr lang="en-US" sz="2600" b="1" dirty="0"/>
              <a:t>Process = process context + code, data, and stack</a:t>
            </a:r>
          </a:p>
        </p:txBody>
      </p:sp>
      <p:sp>
        <p:nvSpPr>
          <p:cNvPr id="48" name="Rectangle 3">
            <a:extLst>
              <a:ext uri="{FF2B5EF4-FFF2-40B4-BE49-F238E27FC236}">
                <a16:creationId xmlns:a16="http://schemas.microsoft.com/office/drawing/2014/main" id="{450BE1CE-A2C7-D74E-EA4B-C18BABD5EDD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95875" y="3287713"/>
            <a:ext cx="2230438" cy="3190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 dirty="0"/>
              <a:t>Shared libraries</a:t>
            </a:r>
          </a:p>
        </p:txBody>
      </p:sp>
      <p:sp>
        <p:nvSpPr>
          <p:cNvPr id="49" name="Rectangle 4">
            <a:extLst>
              <a:ext uri="{FF2B5EF4-FFF2-40B4-BE49-F238E27FC236}">
                <a16:creationId xmlns:a16="http://schemas.microsoft.com/office/drawing/2014/main" id="{58EA0D5C-8F32-D351-0E43-0143385219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95875" y="3606800"/>
            <a:ext cx="2230438" cy="254000"/>
          </a:xfrm>
          <a:prstGeom prst="rect">
            <a:avLst/>
          </a:prstGeom>
          <a:solidFill>
            <a:srgbClr val="C0C0C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800"/>
          </a:p>
        </p:txBody>
      </p:sp>
      <p:sp>
        <p:nvSpPr>
          <p:cNvPr id="50" name="Rectangle 5">
            <a:extLst>
              <a:ext uri="{FF2B5EF4-FFF2-40B4-BE49-F238E27FC236}">
                <a16:creationId xmlns:a16="http://schemas.microsoft.com/office/drawing/2014/main" id="{EB863B44-8336-BE1A-1BC6-FBAFDB4060E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95875" y="3860800"/>
            <a:ext cx="2230438" cy="2889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 dirty="0"/>
              <a:t>Run-time heap</a:t>
            </a:r>
          </a:p>
        </p:txBody>
      </p:sp>
      <p:sp>
        <p:nvSpPr>
          <p:cNvPr id="51" name="Text Box 6">
            <a:extLst>
              <a:ext uri="{FF2B5EF4-FFF2-40B4-BE49-F238E27FC236}">
                <a16:creationId xmlns:a16="http://schemas.microsoft.com/office/drawing/2014/main" id="{3FC81C7D-A4DE-2827-8A75-82FAD244E76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67275" y="4927600"/>
            <a:ext cx="248786" cy="2616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100"/>
              <a:t>0</a:t>
            </a:r>
            <a:endParaRPr lang="en-US" sz="1200"/>
          </a:p>
        </p:txBody>
      </p:sp>
      <p:sp>
        <p:nvSpPr>
          <p:cNvPr id="52" name="Rectangle 7">
            <a:extLst>
              <a:ext uri="{FF2B5EF4-FFF2-40B4-BE49-F238E27FC236}">
                <a16:creationId xmlns:a16="http://schemas.microsoft.com/office/drawing/2014/main" id="{3EC7B1A2-AE83-FB1B-A397-250CDB26220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95875" y="4149725"/>
            <a:ext cx="2232025" cy="3206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 dirty="0"/>
              <a:t>Read/write data</a:t>
            </a:r>
          </a:p>
        </p:txBody>
      </p:sp>
      <p:sp>
        <p:nvSpPr>
          <p:cNvPr id="53" name="Text Box 9">
            <a:extLst>
              <a:ext uri="{FF2B5EF4-FFF2-40B4-BE49-F238E27FC236}">
                <a16:creationId xmlns:a16="http://schemas.microsoft.com/office/drawing/2014/main" id="{49A75B5A-3699-6829-5394-7796E8C421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9675" y="2667000"/>
            <a:ext cx="2361682" cy="1477328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800" dirty="0"/>
              <a:t>Program context:</a:t>
            </a:r>
          </a:p>
          <a:p>
            <a:r>
              <a:rPr lang="en-US" sz="1800" dirty="0"/>
              <a:t>    Data registers</a:t>
            </a:r>
          </a:p>
          <a:p>
            <a:r>
              <a:rPr lang="en-US" sz="1800" dirty="0"/>
              <a:t>    Condition codes</a:t>
            </a:r>
          </a:p>
          <a:p>
            <a:r>
              <a:rPr lang="en-US" sz="1800" dirty="0"/>
              <a:t>    Stack pointer (SP)</a:t>
            </a:r>
          </a:p>
          <a:p>
            <a:r>
              <a:rPr lang="en-US" sz="1800" dirty="0"/>
              <a:t>    Program counter (PC)</a:t>
            </a:r>
          </a:p>
        </p:txBody>
      </p:sp>
      <p:sp>
        <p:nvSpPr>
          <p:cNvPr id="54" name="Text Box 10">
            <a:extLst>
              <a:ext uri="{FF2B5EF4-FFF2-40B4-BE49-F238E27FC236}">
                <a16:creationId xmlns:a16="http://schemas.microsoft.com/office/drawing/2014/main" id="{8FE17B8E-FD2D-CEA8-B9EA-07744A522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2179022"/>
            <a:ext cx="2351926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Code, data, and stack</a:t>
            </a:r>
          </a:p>
        </p:txBody>
      </p:sp>
      <p:sp>
        <p:nvSpPr>
          <p:cNvPr id="55" name="Rectangle 11">
            <a:extLst>
              <a:ext uri="{FF2B5EF4-FFF2-40B4-BE49-F238E27FC236}">
                <a16:creationId xmlns:a16="http://schemas.microsoft.com/office/drawing/2014/main" id="{7A79C783-DFBA-CA3C-6AAB-0394B81DD57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95875" y="4470400"/>
            <a:ext cx="2232025" cy="3206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 dirty="0"/>
              <a:t>Read-only code/data</a:t>
            </a:r>
          </a:p>
        </p:txBody>
      </p:sp>
      <p:sp>
        <p:nvSpPr>
          <p:cNvPr id="56" name="Rectangle 12">
            <a:extLst>
              <a:ext uri="{FF2B5EF4-FFF2-40B4-BE49-F238E27FC236}">
                <a16:creationId xmlns:a16="http://schemas.microsoft.com/office/drawing/2014/main" id="{AF8DACFB-22EC-BD99-9E85-CA05B4B10D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95875" y="4775200"/>
            <a:ext cx="2232025" cy="320675"/>
          </a:xfrm>
          <a:prstGeom prst="rect">
            <a:avLst/>
          </a:prstGeom>
          <a:solidFill>
            <a:srgbClr val="C0C0C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800"/>
          </a:p>
        </p:txBody>
      </p:sp>
      <p:sp>
        <p:nvSpPr>
          <p:cNvPr id="57" name="Rectangle 13">
            <a:extLst>
              <a:ext uri="{FF2B5EF4-FFF2-40B4-BE49-F238E27FC236}">
                <a16:creationId xmlns:a16="http://schemas.microsoft.com/office/drawing/2014/main" id="{D617BCB9-5FAD-5790-8CBB-F5AA55195C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95875" y="2973388"/>
            <a:ext cx="2230438" cy="319087"/>
          </a:xfrm>
          <a:prstGeom prst="rect">
            <a:avLst/>
          </a:prstGeom>
          <a:solidFill>
            <a:srgbClr val="C0C0C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800"/>
          </a:p>
        </p:txBody>
      </p:sp>
      <p:sp>
        <p:nvSpPr>
          <p:cNvPr id="58" name="Rectangle 14">
            <a:extLst>
              <a:ext uri="{FF2B5EF4-FFF2-40B4-BE49-F238E27FC236}">
                <a16:creationId xmlns:a16="http://schemas.microsoft.com/office/drawing/2014/main" id="{62509D42-6A42-195F-002B-36886C5040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95875" y="2667000"/>
            <a:ext cx="2230438" cy="319087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 dirty="0"/>
              <a:t>Stack</a:t>
            </a:r>
          </a:p>
        </p:txBody>
      </p:sp>
      <p:sp>
        <p:nvSpPr>
          <p:cNvPr id="59" name="Text Box 15">
            <a:extLst>
              <a:ext uri="{FF2B5EF4-FFF2-40B4-BE49-F238E27FC236}">
                <a16:creationId xmlns:a16="http://schemas.microsoft.com/office/drawing/2014/main" id="{907B29E0-E26A-4845-1106-9F0536CADA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5775" y="2803525"/>
            <a:ext cx="437940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/>
              <a:t>SP</a:t>
            </a:r>
          </a:p>
        </p:txBody>
      </p:sp>
      <p:sp>
        <p:nvSpPr>
          <p:cNvPr id="60" name="Line 16">
            <a:extLst>
              <a:ext uri="{FF2B5EF4-FFF2-40B4-BE49-F238E27FC236}">
                <a16:creationId xmlns:a16="http://schemas.microsoft.com/office/drawing/2014/main" id="{3EE7C238-31C2-4C95-034E-95F323342423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7100" y="29845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61" name="Text Box 17">
            <a:extLst>
              <a:ext uri="{FF2B5EF4-FFF2-40B4-BE49-F238E27FC236}">
                <a16:creationId xmlns:a16="http://schemas.microsoft.com/office/drawing/2014/main" id="{8EA45159-E510-9754-BA72-ECA3F681E6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6725" y="4441825"/>
            <a:ext cx="447558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/>
              <a:t>PC</a:t>
            </a:r>
          </a:p>
        </p:txBody>
      </p:sp>
      <p:sp>
        <p:nvSpPr>
          <p:cNvPr id="62" name="Line 18">
            <a:extLst>
              <a:ext uri="{FF2B5EF4-FFF2-40B4-BE49-F238E27FC236}">
                <a16:creationId xmlns:a16="http://schemas.microsoft.com/office/drawing/2014/main" id="{F853D86E-12AA-7900-3C2D-9C5997665528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46228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63" name="Text Box 19">
            <a:extLst>
              <a:ext uri="{FF2B5EF4-FFF2-40B4-BE49-F238E27FC236}">
                <a16:creationId xmlns:a16="http://schemas.microsoft.com/office/drawing/2014/main" id="{52584E84-8603-EE52-ED18-1245D1EAD7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9263" y="3692525"/>
            <a:ext cx="479618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/>
              <a:t>brk</a:t>
            </a:r>
          </a:p>
        </p:txBody>
      </p:sp>
      <p:sp>
        <p:nvSpPr>
          <p:cNvPr id="9216" name="Line 20">
            <a:extLst>
              <a:ext uri="{FF2B5EF4-FFF2-40B4-BE49-F238E27FC236}">
                <a16:creationId xmlns:a16="http://schemas.microsoft.com/office/drawing/2014/main" id="{E87E9D57-4C0E-21C6-B9CD-9DE3A99C2AD3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7100" y="38608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9217" name="Text Box 21">
            <a:extLst>
              <a:ext uri="{FF2B5EF4-FFF2-40B4-BE49-F238E27FC236}">
                <a16:creationId xmlns:a16="http://schemas.microsoft.com/office/drawing/2014/main" id="{5D9CCE38-5D0E-0B16-BF91-21BA7544BB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2229" y="2179022"/>
            <a:ext cx="1809460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Process context</a:t>
            </a:r>
          </a:p>
        </p:txBody>
      </p:sp>
      <p:sp>
        <p:nvSpPr>
          <p:cNvPr id="9219" name="Text Box 9">
            <a:extLst>
              <a:ext uri="{FF2B5EF4-FFF2-40B4-BE49-F238E27FC236}">
                <a16:creationId xmlns:a16="http://schemas.microsoft.com/office/drawing/2014/main" id="{60E1AB96-3B57-FA97-8FD7-66E3B0FA8B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9675" y="4126259"/>
            <a:ext cx="2361682" cy="1200329"/>
          </a:xfrm>
          <a:prstGeom prst="rect">
            <a:avLst/>
          </a:prstGeom>
          <a:solidFill>
            <a:srgbClr val="D5F1CF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noAutofit/>
          </a:bodyPr>
          <a:lstStyle/>
          <a:p>
            <a:r>
              <a:rPr lang="en-US" sz="1800" dirty="0"/>
              <a:t>Kernel context:</a:t>
            </a:r>
          </a:p>
          <a:p>
            <a:r>
              <a:rPr lang="en-US" sz="1600" dirty="0"/>
              <a:t>    </a:t>
            </a:r>
            <a:r>
              <a:rPr lang="en-US" sz="1800" dirty="0"/>
              <a:t>VM structures</a:t>
            </a:r>
          </a:p>
          <a:p>
            <a:r>
              <a:rPr lang="en-US" sz="1800" dirty="0"/>
              <a:t>    Descriptor table</a:t>
            </a:r>
          </a:p>
          <a:p>
            <a:r>
              <a:rPr lang="en-US" sz="1800" dirty="0"/>
              <a:t>    </a:t>
            </a:r>
            <a:r>
              <a:rPr lang="en-US" sz="1800" dirty="0" err="1"/>
              <a:t>brk</a:t>
            </a:r>
            <a:r>
              <a:rPr lang="en-US" sz="1800" dirty="0"/>
              <a:t> pointer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7638CE-8C78-644C-F40A-503469D4B427}"/>
              </a:ext>
            </a:extLst>
          </p:cNvPr>
          <p:cNvSpPr>
            <a:spLocks/>
          </p:cNvSpPr>
          <p:nvPr/>
        </p:nvSpPr>
        <p:spPr bwMode="auto">
          <a:xfrm>
            <a:off x="0" y="6648064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D8F24D-9E0F-759F-06EF-CDDF6FD74308}"/>
              </a:ext>
            </a:extLst>
          </p:cNvPr>
          <p:cNvSpPr>
            <a:spLocks/>
          </p:cNvSpPr>
          <p:nvPr/>
        </p:nvSpPr>
        <p:spPr bwMode="auto">
          <a:xfrm>
            <a:off x="-6350" y="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8478600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3">
            <a:extLst>
              <a:ext uri="{FF2B5EF4-FFF2-40B4-BE49-F238E27FC236}">
                <a16:creationId xmlns:a16="http://schemas.microsoft.com/office/drawing/2014/main" id="{5D79A71E-8157-E378-16EE-2D18FC3B33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018" y="435678"/>
            <a:ext cx="7592093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2pPr>
            <a:lvl3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3pPr>
            <a:lvl4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4pPr>
            <a:lvl5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5pPr>
            <a:lvl6pPr marL="5762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6pPr>
            <a:lvl7pPr marL="10334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7pPr>
            <a:lvl8pPr marL="14906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8pPr>
            <a:lvl9pPr marL="19478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r>
              <a:rPr lang="en-US" kern="0" dirty="0"/>
              <a:t>Alternate View of a Process</a:t>
            </a:r>
          </a:p>
        </p:txBody>
      </p:sp>
      <p:sp>
        <p:nvSpPr>
          <p:cNvPr id="3" name="Rectangle 24">
            <a:extLst>
              <a:ext uri="{FF2B5EF4-FFF2-40B4-BE49-F238E27FC236}">
                <a16:creationId xmlns:a16="http://schemas.microsoft.com/office/drawing/2014/main" id="{D8D76A06-2CBF-98F8-33DD-919F63A2FD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5" y="1362075"/>
            <a:ext cx="7896225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None/>
              <a:defRPr sz="2000" b="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2" charset="2"/>
              <a:buNone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None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Arial" charset="0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Arial" charset="0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Arial" charset="0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>
              <a:buFont typeface="Wingdings 2" pitchFamily="18" charset="2"/>
              <a:buChar char="¢"/>
            </a:pPr>
            <a:r>
              <a:rPr lang="en-US" sz="2600" b="1" dirty="0"/>
              <a:t>Process = thread + code, data, and kernel context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43E130-17D3-9CB0-5EB7-0EA0B2F0B5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40375" y="2667000"/>
            <a:ext cx="2230438" cy="319088"/>
          </a:xfrm>
          <a:prstGeom prst="rect">
            <a:avLst/>
          </a:prstGeom>
          <a:solidFill>
            <a:srgbClr val="D2D2F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 dirty="0"/>
              <a:t>Shared libraries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2A1272-1AB2-961F-CCBE-E98659966C4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40375" y="2986088"/>
            <a:ext cx="2230438" cy="254000"/>
          </a:xfrm>
          <a:prstGeom prst="rect">
            <a:avLst/>
          </a:prstGeom>
          <a:solidFill>
            <a:srgbClr val="C0C0C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E979D7-F37F-989C-5488-8CD5B71131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40375" y="3240088"/>
            <a:ext cx="2230438" cy="288925"/>
          </a:xfrm>
          <a:prstGeom prst="rect">
            <a:avLst/>
          </a:prstGeom>
          <a:solidFill>
            <a:srgbClr val="D2D2F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 dirty="0"/>
              <a:t>Run-time heap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6CA9ABCD-685C-801B-6AA3-BD31D21C315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311775" y="4306888"/>
            <a:ext cx="248786" cy="2616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100"/>
              <a:t>0</a:t>
            </a:r>
            <a:endParaRPr lang="en-US" sz="12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D909B4-62FA-06C6-7265-69ACD70073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40375" y="3529013"/>
            <a:ext cx="2232025" cy="320675"/>
          </a:xfrm>
          <a:prstGeom prst="rect">
            <a:avLst/>
          </a:prstGeom>
          <a:solidFill>
            <a:srgbClr val="D2D2F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 dirty="0"/>
              <a:t>Read/write data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D7070DC5-2EC0-B80C-CB87-BAB090B044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8775" y="3567600"/>
            <a:ext cx="2361682" cy="1508105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800" dirty="0"/>
              <a:t>Thread context:</a:t>
            </a:r>
          </a:p>
          <a:p>
            <a:r>
              <a:rPr lang="en-US" sz="2000" dirty="0"/>
              <a:t>    </a:t>
            </a:r>
            <a:r>
              <a:rPr lang="en-US" sz="1800" dirty="0"/>
              <a:t>Data registers</a:t>
            </a:r>
          </a:p>
          <a:p>
            <a:r>
              <a:rPr lang="en-US" sz="1800" dirty="0"/>
              <a:t>    Condition codes</a:t>
            </a:r>
          </a:p>
          <a:p>
            <a:r>
              <a:rPr lang="en-US" sz="1800" dirty="0"/>
              <a:t>    Stack pointer (SP)</a:t>
            </a:r>
          </a:p>
          <a:p>
            <a:r>
              <a:rPr lang="en-US" sz="1800" dirty="0"/>
              <a:t>    Program counter (PC)</a:t>
            </a:r>
            <a:endParaRPr lang="en-US" sz="2000" dirty="0"/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83E4DFA8-87F6-C2D6-A73C-2BE134CCAC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8544" y="2116902"/>
            <a:ext cx="3288080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rgbClr val="FF0000"/>
                </a:solidFill>
              </a:rPr>
              <a:t>Code, data, and kernel context</a:t>
            </a: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21E759D6-AD04-D027-1EC4-8950424E8A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40375" y="3849688"/>
            <a:ext cx="2232025" cy="320675"/>
          </a:xfrm>
          <a:prstGeom prst="rect">
            <a:avLst/>
          </a:prstGeom>
          <a:solidFill>
            <a:srgbClr val="D2D2F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 dirty="0"/>
              <a:t>Read-only code/data</a:t>
            </a: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E2E6C058-A7E9-CF76-72A4-06B440FB12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40375" y="4154488"/>
            <a:ext cx="2232025" cy="320675"/>
          </a:xfrm>
          <a:prstGeom prst="rect">
            <a:avLst/>
          </a:prstGeom>
          <a:solidFill>
            <a:srgbClr val="C0C0C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800"/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FBF7F002-B781-0FCC-1B66-CCE5AADBA35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5763" y="2971800"/>
            <a:ext cx="2230437" cy="319088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 dirty="0"/>
              <a:t>Stack</a:t>
            </a:r>
          </a:p>
        </p:txBody>
      </p:sp>
      <p:sp>
        <p:nvSpPr>
          <p:cNvPr id="14" name="Text Box 14">
            <a:extLst>
              <a:ext uri="{FF2B5EF4-FFF2-40B4-BE49-F238E27FC236}">
                <a16:creationId xmlns:a16="http://schemas.microsoft.com/office/drawing/2014/main" id="{4B3921E6-36B6-F58C-5F81-51DECAAE5F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5363" y="3092450"/>
            <a:ext cx="437940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/>
              <a:t>SP</a:t>
            </a:r>
          </a:p>
        </p:txBody>
      </p:sp>
      <p:sp>
        <p:nvSpPr>
          <p:cNvPr id="15" name="Line 15">
            <a:extLst>
              <a:ext uri="{FF2B5EF4-FFF2-40B4-BE49-F238E27FC236}">
                <a16:creationId xmlns:a16="http://schemas.microsoft.com/office/drawing/2014/main" id="{A250CE60-85B5-EAAB-7EE5-D8B510C050C2}"/>
              </a:ext>
            </a:extLst>
          </p:cNvPr>
          <p:cNvSpPr>
            <a:spLocks noChangeShapeType="1"/>
          </p:cNvSpPr>
          <p:nvPr/>
        </p:nvSpPr>
        <p:spPr bwMode="auto">
          <a:xfrm>
            <a:off x="1436688" y="3276600"/>
            <a:ext cx="17145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6" name="Text Box 16">
            <a:extLst>
              <a:ext uri="{FF2B5EF4-FFF2-40B4-BE49-F238E27FC236}">
                <a16:creationId xmlns:a16="http://schemas.microsoft.com/office/drawing/2014/main" id="{2805A7B9-D10E-D223-B840-CCF20C86CF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1225" y="3821113"/>
            <a:ext cx="447558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/>
              <a:t>PC</a:t>
            </a:r>
          </a:p>
        </p:txBody>
      </p:sp>
      <p:sp>
        <p:nvSpPr>
          <p:cNvPr id="17" name="Line 17">
            <a:extLst>
              <a:ext uri="{FF2B5EF4-FFF2-40B4-BE49-F238E27FC236}">
                <a16:creationId xmlns:a16="http://schemas.microsoft.com/office/drawing/2014/main" id="{8CBF9CEC-DF50-E3EC-B05F-05EF8A366122}"/>
              </a:ext>
            </a:extLst>
          </p:cNvPr>
          <p:cNvSpPr>
            <a:spLocks noChangeShapeType="1"/>
          </p:cNvSpPr>
          <p:nvPr/>
        </p:nvSpPr>
        <p:spPr bwMode="auto">
          <a:xfrm>
            <a:off x="5168900" y="4002088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8" name="Text Box 18">
            <a:extLst>
              <a:ext uri="{FF2B5EF4-FFF2-40B4-BE49-F238E27FC236}">
                <a16:creationId xmlns:a16="http://schemas.microsoft.com/office/drawing/2014/main" id="{9472AA8D-7C13-DBAE-5807-D3BC02D8D3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3763" y="3071813"/>
            <a:ext cx="479618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/>
              <a:t>brk</a:t>
            </a:r>
          </a:p>
        </p:txBody>
      </p:sp>
      <p:sp>
        <p:nvSpPr>
          <p:cNvPr id="19" name="Line 19">
            <a:extLst>
              <a:ext uri="{FF2B5EF4-FFF2-40B4-BE49-F238E27FC236}">
                <a16:creationId xmlns:a16="http://schemas.microsoft.com/office/drawing/2014/main" id="{46EEE105-04EA-25E4-9C83-1422737AACD2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3240088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20" name="Text Box 20">
            <a:extLst>
              <a:ext uri="{FF2B5EF4-FFF2-40B4-BE49-F238E27FC236}">
                <a16:creationId xmlns:a16="http://schemas.microsoft.com/office/drawing/2014/main" id="{A08D93D4-ADFB-13B1-ECBC-105E172F20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8145" y="2116901"/>
            <a:ext cx="2276460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Thread (main thread)</a:t>
            </a:r>
          </a:p>
        </p:txBody>
      </p:sp>
      <p:sp>
        <p:nvSpPr>
          <p:cNvPr id="21" name="Rectangle 22">
            <a:extLst>
              <a:ext uri="{FF2B5EF4-FFF2-40B4-BE49-F238E27FC236}">
                <a16:creationId xmlns:a16="http://schemas.microsoft.com/office/drawing/2014/main" id="{B0700FB3-2E34-CEA5-0970-86B222138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7900" y="2667000"/>
            <a:ext cx="3581400" cy="2743200"/>
          </a:xfrm>
          <a:prstGeom prst="rect">
            <a:avLst/>
          </a:prstGeom>
          <a:noFill/>
          <a:ln w="25400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22" name="Text Box 9">
            <a:extLst>
              <a:ext uri="{FF2B5EF4-FFF2-40B4-BE49-F238E27FC236}">
                <a16:creationId xmlns:a16="http://schemas.microsoft.com/office/drawing/2014/main" id="{36737CF8-6ED9-E8EA-5A05-EC86A87B19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0375" y="4726423"/>
            <a:ext cx="2361682" cy="1200329"/>
          </a:xfrm>
          <a:prstGeom prst="rect">
            <a:avLst/>
          </a:prstGeom>
          <a:solidFill>
            <a:srgbClr val="D5F1CF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noAutofit/>
          </a:bodyPr>
          <a:lstStyle/>
          <a:p>
            <a:r>
              <a:rPr lang="en-US" sz="1800" dirty="0"/>
              <a:t>Kernel context:</a:t>
            </a:r>
          </a:p>
          <a:p>
            <a:r>
              <a:rPr lang="en-US" sz="1600" dirty="0"/>
              <a:t>    </a:t>
            </a:r>
            <a:r>
              <a:rPr lang="en-US" sz="1800" dirty="0"/>
              <a:t>VM structures</a:t>
            </a:r>
          </a:p>
          <a:p>
            <a:r>
              <a:rPr lang="en-US" sz="1800" dirty="0"/>
              <a:t>    Descriptor table</a:t>
            </a:r>
          </a:p>
          <a:p>
            <a:r>
              <a:rPr lang="en-US" sz="1800" dirty="0"/>
              <a:t>    </a:t>
            </a:r>
            <a:r>
              <a:rPr lang="en-US" sz="1800" dirty="0" err="1"/>
              <a:t>brk</a:t>
            </a:r>
            <a:r>
              <a:rPr lang="en-US" sz="1800" dirty="0"/>
              <a:t> pointer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AE14425-484A-4C36-52E6-D2AE8704B704}"/>
              </a:ext>
            </a:extLst>
          </p:cNvPr>
          <p:cNvSpPr>
            <a:spLocks/>
          </p:cNvSpPr>
          <p:nvPr/>
        </p:nvSpPr>
        <p:spPr bwMode="auto">
          <a:xfrm>
            <a:off x="0" y="6636634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8E72CEB-05D0-8194-08B9-F7D7151A9463}"/>
              </a:ext>
            </a:extLst>
          </p:cNvPr>
          <p:cNvSpPr>
            <a:spLocks/>
          </p:cNvSpPr>
          <p:nvPr/>
        </p:nvSpPr>
        <p:spPr bwMode="auto">
          <a:xfrm>
            <a:off x="-6350" y="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474466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>
            <a:extLst>
              <a:ext uri="{FF2B5EF4-FFF2-40B4-BE49-F238E27FC236}">
                <a16:creationId xmlns:a16="http://schemas.microsoft.com/office/drawing/2014/main" id="{244DB512-3272-CBD4-917C-C6AF1746F9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018" y="435678"/>
            <a:ext cx="7592093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2pPr>
            <a:lvl3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3pPr>
            <a:lvl4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4pPr>
            <a:lvl5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5pPr>
            <a:lvl6pPr marL="5762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6pPr>
            <a:lvl7pPr marL="10334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7pPr>
            <a:lvl8pPr marL="14906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8pPr>
            <a:lvl9pPr marL="19478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r>
              <a:rPr lang="en-US" kern="0" dirty="0"/>
              <a:t>A Process With Multiple Threads</a:t>
            </a:r>
          </a:p>
        </p:txBody>
      </p:sp>
      <p:sp>
        <p:nvSpPr>
          <p:cNvPr id="3" name="Rectangle 20">
            <a:extLst>
              <a:ext uri="{FF2B5EF4-FFF2-40B4-BE49-F238E27FC236}">
                <a16:creationId xmlns:a16="http://schemas.microsoft.com/office/drawing/2014/main" id="{E5C054CF-271D-D60C-6692-2A9E6739D4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818" y="1116013"/>
            <a:ext cx="8307387" cy="185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70000" lnSpcReduction="20000"/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None/>
              <a:defRPr sz="2000" b="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2" charset="2"/>
              <a:buNone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None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Arial" charset="0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Arial" charset="0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Arial" charset="0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>
              <a:buFont typeface="Wingdings 2" pitchFamily="18" charset="2"/>
              <a:buChar char="¢"/>
            </a:pPr>
            <a:r>
              <a:rPr lang="en-US" sz="3100" b="1" dirty="0"/>
              <a:t>Multiple threads can be associated with a process</a:t>
            </a:r>
          </a:p>
          <a:p>
            <a:pPr marL="742950" lvl="1" indent="-285750" algn="l">
              <a:buFont typeface="Wingdings" pitchFamily="2" charset="2"/>
              <a:buChar char="§"/>
            </a:pPr>
            <a:r>
              <a:rPr lang="en-US" sz="2700" b="0" dirty="0"/>
              <a:t>Each thread has its own logical control flow </a:t>
            </a:r>
          </a:p>
          <a:p>
            <a:pPr marL="742950" lvl="1" indent="-285750" algn="l">
              <a:buFont typeface="Wingdings" pitchFamily="2" charset="2"/>
              <a:buChar char="§"/>
            </a:pPr>
            <a:r>
              <a:rPr lang="en-US" sz="2700" b="0" dirty="0"/>
              <a:t>Each thread shares the same code, data, and kernel context</a:t>
            </a:r>
          </a:p>
          <a:p>
            <a:pPr marL="742950" lvl="1" indent="-285750" algn="l">
              <a:buFont typeface="Wingdings" pitchFamily="2" charset="2"/>
              <a:buChar char="§"/>
            </a:pPr>
            <a:r>
              <a:rPr lang="en-US" sz="2700" b="0" dirty="0"/>
              <a:t>Each thread has its own stack for local variables </a:t>
            </a:r>
          </a:p>
          <a:p>
            <a:pPr marL="1200150" lvl="2" indent="-285750" algn="l">
              <a:buFont typeface="Wingdings" pitchFamily="2" charset="2"/>
              <a:buChar char="§"/>
            </a:pPr>
            <a:r>
              <a:rPr lang="en-US" sz="2700" b="0" dirty="0"/>
              <a:t>but not protected from other threads</a:t>
            </a:r>
          </a:p>
          <a:p>
            <a:pPr marL="742950" lvl="1" indent="-285750" algn="l">
              <a:buFont typeface="Wingdings" pitchFamily="2" charset="2"/>
              <a:buChar char="§"/>
            </a:pPr>
            <a:r>
              <a:rPr lang="en-US" sz="2700" b="0" dirty="0"/>
              <a:t>Each thread has its own thread id (TID)</a:t>
            </a:r>
          </a:p>
        </p:txBody>
      </p:sp>
      <p:sp>
        <p:nvSpPr>
          <p:cNvPr id="4" name="Text Box 8">
            <a:extLst>
              <a:ext uri="{FF2B5EF4-FFF2-40B4-BE49-F238E27FC236}">
                <a16:creationId xmlns:a16="http://schemas.microsoft.com/office/drawing/2014/main" id="{AB9E4E04-DBA5-6196-6790-5FE4971CEC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175" y="4542274"/>
            <a:ext cx="1879041" cy="1446550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600" dirty="0"/>
              <a:t>Thread 1 context:</a:t>
            </a:r>
          </a:p>
          <a:p>
            <a:r>
              <a:rPr lang="en-US" sz="1800" dirty="0"/>
              <a:t>    Data registers</a:t>
            </a:r>
          </a:p>
          <a:p>
            <a:r>
              <a:rPr lang="en-US" sz="1800" dirty="0"/>
              <a:t>    Condition codes</a:t>
            </a:r>
          </a:p>
          <a:p>
            <a:r>
              <a:rPr lang="en-US" sz="1800" dirty="0"/>
              <a:t>    SP1</a:t>
            </a:r>
          </a:p>
          <a:p>
            <a:r>
              <a:rPr lang="en-US" sz="1800" dirty="0"/>
              <a:t>    PC1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4217BB67-10B3-9B9B-AF11-D4ECD1BFA5D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1000" y="3931087"/>
            <a:ext cx="1885950" cy="319087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/>
              <a:t>stack 1</a:t>
            </a:r>
          </a:p>
        </p:txBody>
      </p:sp>
      <p:sp>
        <p:nvSpPr>
          <p:cNvPr id="6" name="Text Box 13">
            <a:extLst>
              <a:ext uri="{FF2B5EF4-FFF2-40B4-BE49-F238E27FC236}">
                <a16:creationId xmlns:a16="http://schemas.microsoft.com/office/drawing/2014/main" id="{4B6DFF69-7930-4FC3-0246-EDB3FE49A7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818" y="3181290"/>
            <a:ext cx="2451913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Thread 1 (main thread)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DBF9365-D60B-7159-E40E-5C28DEA6C09E}"/>
              </a:ext>
            </a:extLst>
          </p:cNvPr>
          <p:cNvGrpSpPr/>
          <p:nvPr/>
        </p:nvGrpSpPr>
        <p:grpSpPr>
          <a:xfrm>
            <a:off x="5715000" y="2731770"/>
            <a:ext cx="2663190" cy="3497580"/>
            <a:chOff x="3200400" y="3181290"/>
            <a:chExt cx="2538410" cy="3524310"/>
          </a:xfrm>
        </p:grpSpPr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A89EFAFB-4BF2-7700-7C67-C9299500857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32175" y="3748088"/>
              <a:ext cx="2230438" cy="319087"/>
            </a:xfrm>
            <a:prstGeom prst="rect">
              <a:avLst/>
            </a:prstGeom>
            <a:solidFill>
              <a:srgbClr val="D2D2F4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800" dirty="0"/>
                <a:t>shared libraries</a:t>
              </a:r>
            </a:p>
          </p:txBody>
        </p:sp>
        <p:sp>
          <p:nvSpPr>
            <p:cNvPr id="9" name="Rectangle 4">
              <a:extLst>
                <a:ext uri="{FF2B5EF4-FFF2-40B4-BE49-F238E27FC236}">
                  <a16:creationId xmlns:a16="http://schemas.microsoft.com/office/drawing/2014/main" id="{F1B2B908-00A8-CB61-1CCE-77BB44D0596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32175" y="4013200"/>
              <a:ext cx="2230438" cy="254000"/>
            </a:xfrm>
            <a:prstGeom prst="rect">
              <a:avLst/>
            </a:prstGeom>
            <a:solidFill>
              <a:srgbClr val="C0C0C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1800"/>
            </a:p>
          </p:txBody>
        </p:sp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9D9A8D45-5C03-7A01-30DC-A60A1C03FF5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32175" y="4253349"/>
              <a:ext cx="2230438" cy="288925"/>
            </a:xfrm>
            <a:prstGeom prst="rect">
              <a:avLst/>
            </a:prstGeom>
            <a:solidFill>
              <a:srgbClr val="D2D2F4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800"/>
                <a:t>run-time heap</a:t>
              </a:r>
            </a:p>
          </p:txBody>
        </p:sp>
        <p:sp>
          <p:nvSpPr>
            <p:cNvPr id="11" name="Text Box 6">
              <a:extLst>
                <a:ext uri="{FF2B5EF4-FFF2-40B4-BE49-F238E27FC236}">
                  <a16:creationId xmlns:a16="http://schemas.microsoft.com/office/drawing/2014/main" id="{EC97998A-1627-ACF0-F3B6-9FCD4302114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200400" y="5266174"/>
              <a:ext cx="248786" cy="26161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050"/>
                <a:t>0</a:t>
              </a:r>
              <a:endParaRPr lang="en-US" sz="1100"/>
            </a:p>
          </p:txBody>
        </p:sp>
        <p:sp>
          <p:nvSpPr>
            <p:cNvPr id="12" name="Rectangle 7">
              <a:extLst>
                <a:ext uri="{FF2B5EF4-FFF2-40B4-BE49-F238E27FC236}">
                  <a16:creationId xmlns:a16="http://schemas.microsoft.com/office/drawing/2014/main" id="{F09FADDD-F0CC-1C79-196E-06CBE6DA39A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32175" y="4488299"/>
              <a:ext cx="2232025" cy="320675"/>
            </a:xfrm>
            <a:prstGeom prst="rect">
              <a:avLst/>
            </a:prstGeom>
            <a:solidFill>
              <a:srgbClr val="D2D2F4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800" dirty="0"/>
                <a:t>read/write data</a:t>
              </a:r>
            </a:p>
          </p:txBody>
        </p:sp>
        <p:sp>
          <p:nvSpPr>
            <p:cNvPr id="13" name="Text Box 9">
              <a:extLst>
                <a:ext uri="{FF2B5EF4-FFF2-40B4-BE49-F238E27FC236}">
                  <a16:creationId xmlns:a16="http://schemas.microsoft.com/office/drawing/2014/main" id="{7F01EAA0-97D3-C818-D1A9-4B72312927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9940" y="3181290"/>
              <a:ext cx="2428870" cy="40011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2000" dirty="0">
                  <a:solidFill>
                    <a:srgbClr val="FF0000"/>
                  </a:solidFill>
                </a:rPr>
                <a:t> Shared code and data</a:t>
              </a:r>
            </a:p>
          </p:txBody>
        </p:sp>
        <p:sp>
          <p:nvSpPr>
            <p:cNvPr id="14" name="Rectangle 10">
              <a:extLst>
                <a:ext uri="{FF2B5EF4-FFF2-40B4-BE49-F238E27FC236}">
                  <a16:creationId xmlns:a16="http://schemas.microsoft.com/office/drawing/2014/main" id="{1B1E3798-A779-FA4E-7095-E2013F6F5AE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32175" y="4808974"/>
              <a:ext cx="2232025" cy="320675"/>
            </a:xfrm>
            <a:prstGeom prst="rect">
              <a:avLst/>
            </a:prstGeom>
            <a:solidFill>
              <a:srgbClr val="D2D2F4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800"/>
                <a:t>read-only code/data</a:t>
              </a:r>
            </a:p>
          </p:txBody>
        </p:sp>
        <p:sp>
          <p:nvSpPr>
            <p:cNvPr id="15" name="Rectangle 11">
              <a:extLst>
                <a:ext uri="{FF2B5EF4-FFF2-40B4-BE49-F238E27FC236}">
                  <a16:creationId xmlns:a16="http://schemas.microsoft.com/office/drawing/2014/main" id="{5303AA78-B519-79C7-8267-40C3B27F4A6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32175" y="5113774"/>
              <a:ext cx="2232025" cy="320675"/>
            </a:xfrm>
            <a:prstGeom prst="rect">
              <a:avLst/>
            </a:prstGeom>
            <a:solidFill>
              <a:srgbClr val="C0C0C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1800"/>
            </a:p>
          </p:txBody>
        </p:sp>
        <p:sp>
          <p:nvSpPr>
            <p:cNvPr id="16" name="Text Box 14">
              <a:extLst>
                <a:ext uri="{FF2B5EF4-FFF2-40B4-BE49-F238E27FC236}">
                  <a16:creationId xmlns:a16="http://schemas.microsoft.com/office/drawing/2014/main" id="{09673C25-3AE3-0446-FCC1-9FA1E65286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4100" y="5536049"/>
              <a:ext cx="1786066" cy="1169551"/>
            </a:xfrm>
            <a:prstGeom prst="rect">
              <a:avLst/>
            </a:prstGeom>
            <a:solidFill>
              <a:srgbClr val="D5F1C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1600" dirty="0"/>
                <a:t>Kernel context:</a:t>
              </a:r>
            </a:p>
            <a:p>
              <a:r>
                <a:rPr lang="en-US" sz="1400" dirty="0"/>
                <a:t>   </a:t>
              </a:r>
              <a:r>
                <a:rPr lang="en-US" sz="1800" dirty="0"/>
                <a:t>VM structures</a:t>
              </a:r>
            </a:p>
            <a:p>
              <a:r>
                <a:rPr lang="en-US" sz="1800" dirty="0"/>
                <a:t>   Descriptor table</a:t>
              </a:r>
            </a:p>
            <a:p>
              <a:r>
                <a:rPr lang="en-US" sz="1800" dirty="0"/>
                <a:t>   </a:t>
              </a:r>
              <a:r>
                <a:rPr lang="en-US" sz="1800" dirty="0" err="1"/>
                <a:t>brk</a:t>
              </a:r>
              <a:r>
                <a:rPr lang="en-US" sz="1800" dirty="0"/>
                <a:t> pointer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7CCEB36-5749-B22C-8F20-3086035A13AA}"/>
              </a:ext>
            </a:extLst>
          </p:cNvPr>
          <p:cNvGrpSpPr/>
          <p:nvPr/>
        </p:nvGrpSpPr>
        <p:grpSpPr>
          <a:xfrm>
            <a:off x="2819400" y="3200400"/>
            <a:ext cx="2405201" cy="2807534"/>
            <a:chOff x="6248400" y="3181290"/>
            <a:chExt cx="2405201" cy="2807534"/>
          </a:xfrm>
        </p:grpSpPr>
        <p:sp>
          <p:nvSpPr>
            <p:cNvPr id="18" name="Text Box 16">
              <a:extLst>
                <a:ext uri="{FF2B5EF4-FFF2-40B4-BE49-F238E27FC236}">
                  <a16:creationId xmlns:a16="http://schemas.microsoft.com/office/drawing/2014/main" id="{4BA4B396-B377-BD11-1298-B45D7738D0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5425" y="4542274"/>
              <a:ext cx="1879041" cy="1446550"/>
            </a:xfrm>
            <a:prstGeom prst="rect">
              <a:avLst/>
            </a:prstGeom>
            <a:solidFill>
              <a:srgbClr val="F1C7C7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1600" dirty="0"/>
                <a:t>Thread 2 context:</a:t>
              </a:r>
            </a:p>
            <a:p>
              <a:r>
                <a:rPr lang="en-US" sz="1800" dirty="0"/>
                <a:t>    Data registers</a:t>
              </a:r>
            </a:p>
            <a:p>
              <a:r>
                <a:rPr lang="en-US" sz="1800" dirty="0"/>
                <a:t>    Condition codes</a:t>
              </a:r>
            </a:p>
            <a:p>
              <a:r>
                <a:rPr lang="en-US" sz="1800" dirty="0"/>
                <a:t>    SP2</a:t>
              </a:r>
            </a:p>
            <a:p>
              <a:r>
                <a:rPr lang="en-US" sz="1800" dirty="0"/>
                <a:t>    PC2</a:t>
              </a:r>
            </a:p>
          </p:txBody>
        </p:sp>
        <p:sp>
          <p:nvSpPr>
            <p:cNvPr id="19" name="Rectangle 17">
              <a:extLst>
                <a:ext uri="{FF2B5EF4-FFF2-40B4-BE49-F238E27FC236}">
                  <a16:creationId xmlns:a16="http://schemas.microsoft.com/office/drawing/2014/main" id="{67CDE7C3-42CF-3414-A5FD-B0B95D510E5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553200" y="3926324"/>
              <a:ext cx="1885950" cy="319087"/>
            </a:xfrm>
            <a:prstGeom prst="rect">
              <a:avLst/>
            </a:prstGeom>
            <a:solidFill>
              <a:srgbClr val="F6F5BD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800"/>
                <a:t>stack 2</a:t>
              </a:r>
            </a:p>
          </p:txBody>
        </p:sp>
        <p:sp>
          <p:nvSpPr>
            <p:cNvPr id="20" name="Text Box 18">
              <a:extLst>
                <a:ext uri="{FF2B5EF4-FFF2-40B4-BE49-F238E27FC236}">
                  <a16:creationId xmlns:a16="http://schemas.microsoft.com/office/drawing/2014/main" id="{8642B5E3-8F19-3B08-D87C-80F3FB47E1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8400" y="3181290"/>
              <a:ext cx="2405201" cy="40011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2000" dirty="0">
                  <a:solidFill>
                    <a:srgbClr val="FF0000"/>
                  </a:solidFill>
                </a:rPr>
                <a:t>Thread 2 (peer thread)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7A1F116A-46F0-666E-5FCB-780BD1828D5B}"/>
              </a:ext>
            </a:extLst>
          </p:cNvPr>
          <p:cNvSpPr>
            <a:spLocks/>
          </p:cNvSpPr>
          <p:nvPr/>
        </p:nvSpPr>
        <p:spPr bwMode="auto">
          <a:xfrm>
            <a:off x="0" y="6636634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1DF4C5D-FB5E-FE86-6F10-D9A75D8DD325}"/>
              </a:ext>
            </a:extLst>
          </p:cNvPr>
          <p:cNvSpPr>
            <a:spLocks/>
          </p:cNvSpPr>
          <p:nvPr/>
        </p:nvSpPr>
        <p:spPr bwMode="auto">
          <a:xfrm>
            <a:off x="-6350" y="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290170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1">
            <a:extLst>
              <a:ext uri="{FF2B5EF4-FFF2-40B4-BE49-F238E27FC236}">
                <a16:creationId xmlns:a16="http://schemas.microsoft.com/office/drawing/2014/main" id="{10585890-1A88-F239-0626-5BAA117FC3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018" y="435678"/>
            <a:ext cx="7592093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2pPr>
            <a:lvl3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3pPr>
            <a:lvl4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4pPr>
            <a:lvl5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5pPr>
            <a:lvl6pPr marL="5762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6pPr>
            <a:lvl7pPr marL="10334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7pPr>
            <a:lvl8pPr marL="14906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8pPr>
            <a:lvl9pPr marL="19478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r>
              <a:rPr lang="en-US" kern="0" dirty="0"/>
              <a:t>Logical View of Threads</a:t>
            </a:r>
          </a:p>
        </p:txBody>
      </p:sp>
      <p:sp>
        <p:nvSpPr>
          <p:cNvPr id="3" name="Rectangle 32">
            <a:extLst>
              <a:ext uri="{FF2B5EF4-FFF2-40B4-BE49-F238E27FC236}">
                <a16:creationId xmlns:a16="http://schemas.microsoft.com/office/drawing/2014/main" id="{F6CCA7F9-1F8E-8627-3579-70E438FD23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5" y="1362075"/>
            <a:ext cx="7896225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None/>
              <a:defRPr sz="2000" b="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2" charset="2"/>
              <a:buNone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None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Arial" charset="0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Arial" charset="0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Arial" charset="0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>
              <a:buFont typeface="Wingdings 2" pitchFamily="18" charset="2"/>
              <a:buChar char="¢"/>
            </a:pPr>
            <a:r>
              <a:rPr lang="en-US" sz="2600" b="1" dirty="0"/>
              <a:t>Threads associated with process form a pool of peers</a:t>
            </a:r>
          </a:p>
          <a:p>
            <a:pPr marL="742950" lvl="1" indent="-285750" algn="l">
              <a:buFont typeface="Wingdings" pitchFamily="2" charset="2"/>
              <a:buChar char="§"/>
            </a:pPr>
            <a:r>
              <a:rPr lang="en-US" sz="2200" b="0" dirty="0"/>
              <a:t>Unlike processes which form a tree hierarchy</a:t>
            </a:r>
          </a:p>
        </p:txBody>
      </p:sp>
      <p:sp>
        <p:nvSpPr>
          <p:cNvPr id="4" name="Oval 4">
            <a:extLst>
              <a:ext uri="{FF2B5EF4-FFF2-40B4-BE49-F238E27FC236}">
                <a16:creationId xmlns:a16="http://schemas.microsoft.com/office/drawing/2014/main" id="{606D8F37-14F9-BD5B-F8A4-C31343FF15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3033713"/>
            <a:ext cx="457200" cy="457200"/>
          </a:xfrm>
          <a:prstGeom prst="ellipse">
            <a:avLst/>
          </a:prstGeom>
          <a:solidFill>
            <a:srgbClr val="F1C7C7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 dirty="0"/>
              <a:t>P0</a:t>
            </a:r>
          </a:p>
        </p:txBody>
      </p:sp>
      <p:sp>
        <p:nvSpPr>
          <p:cNvPr id="5" name="Oval 5">
            <a:extLst>
              <a:ext uri="{FF2B5EF4-FFF2-40B4-BE49-F238E27FC236}">
                <a16:creationId xmlns:a16="http://schemas.microsoft.com/office/drawing/2014/main" id="{1FA5147E-D06C-D865-2866-34AE0861A4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3871913"/>
            <a:ext cx="457200" cy="457200"/>
          </a:xfrm>
          <a:prstGeom prst="ellipse">
            <a:avLst/>
          </a:prstGeom>
          <a:solidFill>
            <a:srgbClr val="F1C7C7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/>
              <a:t>P1</a:t>
            </a:r>
          </a:p>
        </p:txBody>
      </p:sp>
      <p:sp>
        <p:nvSpPr>
          <p:cNvPr id="6" name="Oval 6">
            <a:extLst>
              <a:ext uri="{FF2B5EF4-FFF2-40B4-BE49-F238E27FC236}">
                <a16:creationId xmlns:a16="http://schemas.microsoft.com/office/drawing/2014/main" id="{9BEE0D5A-026B-CCD9-3A1F-8EE887A67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633913"/>
            <a:ext cx="457200" cy="457200"/>
          </a:xfrm>
          <a:prstGeom prst="ellipse">
            <a:avLst/>
          </a:prstGeom>
          <a:solidFill>
            <a:srgbClr val="F1C7C7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/>
              <a:t>sh</a:t>
            </a:r>
          </a:p>
        </p:txBody>
      </p:sp>
      <p:sp>
        <p:nvSpPr>
          <p:cNvPr id="7" name="Line 7">
            <a:extLst>
              <a:ext uri="{FF2B5EF4-FFF2-40B4-BE49-F238E27FC236}">
                <a16:creationId xmlns:a16="http://schemas.microsoft.com/office/drawing/2014/main" id="{A1C9FD38-6E7E-A9FF-8B52-2F0374BC4849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3490913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8" name="Line 8">
            <a:extLst>
              <a:ext uri="{FF2B5EF4-FFF2-40B4-BE49-F238E27FC236}">
                <a16:creationId xmlns:a16="http://schemas.microsoft.com/office/drawing/2014/main" id="{234995C7-C3BD-5F15-0278-622BD419B87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96000" y="4252913"/>
            <a:ext cx="38100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9" name="Oval 9">
            <a:extLst>
              <a:ext uri="{FF2B5EF4-FFF2-40B4-BE49-F238E27FC236}">
                <a16:creationId xmlns:a16="http://schemas.microsoft.com/office/drawing/2014/main" id="{0D080352-17B0-7F96-B4A6-506E34BEB1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4633913"/>
            <a:ext cx="457200" cy="457200"/>
          </a:xfrm>
          <a:prstGeom prst="ellipse">
            <a:avLst/>
          </a:prstGeom>
          <a:solidFill>
            <a:srgbClr val="F1C7C7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/>
              <a:t>sh</a:t>
            </a:r>
          </a:p>
        </p:txBody>
      </p:sp>
      <p:sp>
        <p:nvSpPr>
          <p:cNvPr id="10" name="Oval 10">
            <a:extLst>
              <a:ext uri="{FF2B5EF4-FFF2-40B4-BE49-F238E27FC236}">
                <a16:creationId xmlns:a16="http://schemas.microsoft.com/office/drawing/2014/main" id="{962E4AB0-DCE8-C8AB-3E41-1DE73A5E1B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4633913"/>
            <a:ext cx="457200" cy="457200"/>
          </a:xfrm>
          <a:prstGeom prst="ellipse">
            <a:avLst/>
          </a:prstGeom>
          <a:solidFill>
            <a:srgbClr val="F1C7C7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/>
              <a:t>sh</a:t>
            </a:r>
          </a:p>
        </p:txBody>
      </p:sp>
      <p:sp>
        <p:nvSpPr>
          <p:cNvPr id="11" name="Line 11">
            <a:extLst>
              <a:ext uri="{FF2B5EF4-FFF2-40B4-BE49-F238E27FC236}">
                <a16:creationId xmlns:a16="http://schemas.microsoft.com/office/drawing/2014/main" id="{69F122D6-494D-70E3-C657-EBD6D91D5605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4329113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2" name="Line 12">
            <a:extLst>
              <a:ext uri="{FF2B5EF4-FFF2-40B4-BE49-F238E27FC236}">
                <a16:creationId xmlns:a16="http://schemas.microsoft.com/office/drawing/2014/main" id="{9A8339C3-07F6-FA92-63AC-0E85F7B56AC6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4252913"/>
            <a:ext cx="38100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3" name="Oval 13">
            <a:extLst>
              <a:ext uri="{FF2B5EF4-FFF2-40B4-BE49-F238E27FC236}">
                <a16:creationId xmlns:a16="http://schemas.microsoft.com/office/drawing/2014/main" id="{5A83D0AC-E6B0-CD1E-9FF2-6CA493BE05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5395913"/>
            <a:ext cx="457200" cy="457200"/>
          </a:xfrm>
          <a:prstGeom prst="ellipse">
            <a:avLst/>
          </a:prstGeom>
          <a:solidFill>
            <a:srgbClr val="F1C7C7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/>
              <a:t>foo</a:t>
            </a:r>
          </a:p>
        </p:txBody>
      </p:sp>
      <p:sp>
        <p:nvSpPr>
          <p:cNvPr id="14" name="Line 14">
            <a:extLst>
              <a:ext uri="{FF2B5EF4-FFF2-40B4-BE49-F238E27FC236}">
                <a16:creationId xmlns:a16="http://schemas.microsoft.com/office/drawing/2014/main" id="{A67B9388-FA58-2BFE-B9F9-90406809E1B4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5091113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5" name="Oval 15">
            <a:extLst>
              <a:ext uri="{FF2B5EF4-FFF2-40B4-BE49-F238E27FC236}">
                <a16:creationId xmlns:a16="http://schemas.microsoft.com/office/drawing/2014/main" id="{AA51DC90-EAB3-AF01-891F-BBDEA5E53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6157913"/>
            <a:ext cx="457200" cy="457200"/>
          </a:xfrm>
          <a:prstGeom prst="ellipse">
            <a:avLst/>
          </a:prstGeom>
          <a:solidFill>
            <a:srgbClr val="F1C7C7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/>
              <a:t>bar</a:t>
            </a:r>
          </a:p>
        </p:txBody>
      </p:sp>
      <p:sp>
        <p:nvSpPr>
          <p:cNvPr id="16" name="Line 16">
            <a:extLst>
              <a:ext uri="{FF2B5EF4-FFF2-40B4-BE49-F238E27FC236}">
                <a16:creationId xmlns:a16="http://schemas.microsoft.com/office/drawing/2014/main" id="{7E641DA6-FAC0-5A5B-E65C-473CFD98A25F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5853113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7" name="Oval 17">
            <a:extLst>
              <a:ext uri="{FF2B5EF4-FFF2-40B4-BE49-F238E27FC236}">
                <a16:creationId xmlns:a16="http://schemas.microsoft.com/office/drawing/2014/main" id="{B708E1DC-232F-D6D8-2923-0E8593502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3643313"/>
            <a:ext cx="457200" cy="457200"/>
          </a:xfrm>
          <a:prstGeom prst="ellipse">
            <a:avLst/>
          </a:prstGeom>
          <a:solidFill>
            <a:srgbClr val="F1C7C7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/>
              <a:t>T1</a:t>
            </a:r>
          </a:p>
        </p:txBody>
      </p:sp>
      <p:sp>
        <p:nvSpPr>
          <p:cNvPr id="18" name="Text Box 18">
            <a:extLst>
              <a:ext uri="{FF2B5EF4-FFF2-40B4-BE49-F238E27FC236}">
                <a16:creationId xmlns:a16="http://schemas.microsoft.com/office/drawing/2014/main" id="{E435A50E-C47B-1EBF-CD1A-90B159A845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0375" y="2606675"/>
            <a:ext cx="21653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 dirty="0"/>
              <a:t>Process hierarchy</a:t>
            </a:r>
          </a:p>
        </p:txBody>
      </p:sp>
      <p:sp>
        <p:nvSpPr>
          <p:cNvPr id="19" name="Rectangle 19">
            <a:extLst>
              <a:ext uri="{FF2B5EF4-FFF2-40B4-BE49-F238E27FC236}">
                <a16:creationId xmlns:a16="http://schemas.microsoft.com/office/drawing/2014/main" id="{E65F2450-59FC-D7AC-E9F3-1CE8B035C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3033713"/>
            <a:ext cx="3810000" cy="2819400"/>
          </a:xfrm>
          <a:prstGeom prst="rect">
            <a:avLst/>
          </a:prstGeom>
          <a:noFill/>
          <a:ln w="25400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20" name="Text Box 20">
            <a:extLst>
              <a:ext uri="{FF2B5EF4-FFF2-40B4-BE49-F238E27FC236}">
                <a16:creationId xmlns:a16="http://schemas.microsoft.com/office/drawing/2014/main" id="{2887B6F5-F65E-0CC5-2174-D7C4D81998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563" y="2562225"/>
            <a:ext cx="4202112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/>
              <a:t>Threads associated with process foo</a:t>
            </a:r>
          </a:p>
        </p:txBody>
      </p:sp>
      <p:sp>
        <p:nvSpPr>
          <p:cNvPr id="21" name="Oval 21">
            <a:extLst>
              <a:ext uri="{FF2B5EF4-FFF2-40B4-BE49-F238E27FC236}">
                <a16:creationId xmlns:a16="http://schemas.microsoft.com/office/drawing/2014/main" id="{0F4A939C-A2CF-2DC5-871A-D2387D0D0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109913"/>
            <a:ext cx="457200" cy="457200"/>
          </a:xfrm>
          <a:prstGeom prst="ellipse">
            <a:avLst/>
          </a:prstGeom>
          <a:solidFill>
            <a:srgbClr val="F1C7C7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/>
              <a:t>T2</a:t>
            </a:r>
          </a:p>
        </p:txBody>
      </p:sp>
      <p:sp>
        <p:nvSpPr>
          <p:cNvPr id="22" name="Oval 22">
            <a:extLst>
              <a:ext uri="{FF2B5EF4-FFF2-40B4-BE49-F238E27FC236}">
                <a16:creationId xmlns:a16="http://schemas.microsoft.com/office/drawing/2014/main" id="{9CDA1BEA-C856-60BA-DFFF-6956BD8C0C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3338513"/>
            <a:ext cx="457200" cy="457200"/>
          </a:xfrm>
          <a:prstGeom prst="ellipse">
            <a:avLst/>
          </a:prstGeom>
          <a:solidFill>
            <a:srgbClr val="F1C7C7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/>
              <a:t>T4</a:t>
            </a:r>
          </a:p>
        </p:txBody>
      </p:sp>
      <p:sp>
        <p:nvSpPr>
          <p:cNvPr id="23" name="Oval 23">
            <a:extLst>
              <a:ext uri="{FF2B5EF4-FFF2-40B4-BE49-F238E27FC236}">
                <a16:creationId xmlns:a16="http://schemas.microsoft.com/office/drawing/2014/main" id="{25BABC43-9269-FF72-E9B3-DFD53C375E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5243513"/>
            <a:ext cx="457200" cy="457200"/>
          </a:xfrm>
          <a:prstGeom prst="ellipse">
            <a:avLst/>
          </a:prstGeom>
          <a:solidFill>
            <a:srgbClr val="F1C7C7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 dirty="0"/>
              <a:t>T5</a:t>
            </a:r>
          </a:p>
        </p:txBody>
      </p:sp>
      <p:sp>
        <p:nvSpPr>
          <p:cNvPr id="24" name="Oval 24">
            <a:extLst>
              <a:ext uri="{FF2B5EF4-FFF2-40B4-BE49-F238E27FC236}">
                <a16:creationId xmlns:a16="http://schemas.microsoft.com/office/drawing/2014/main" id="{1BFFC9F3-8853-E59D-AAD5-145077B546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5167313"/>
            <a:ext cx="457200" cy="457200"/>
          </a:xfrm>
          <a:prstGeom prst="ellipse">
            <a:avLst/>
          </a:prstGeom>
          <a:solidFill>
            <a:srgbClr val="F1C7C7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 dirty="0"/>
              <a:t>T3</a:t>
            </a:r>
          </a:p>
        </p:txBody>
      </p:sp>
      <p:sp>
        <p:nvSpPr>
          <p:cNvPr id="25" name="Rectangle 25">
            <a:extLst>
              <a:ext uri="{FF2B5EF4-FFF2-40B4-BE49-F238E27FC236}">
                <a16:creationId xmlns:a16="http://schemas.microsoft.com/office/drawing/2014/main" id="{678FF7E3-3F38-FDE1-72C0-3F4220A8C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4100513"/>
            <a:ext cx="1905000" cy="609600"/>
          </a:xfrm>
          <a:prstGeom prst="rect">
            <a:avLst/>
          </a:prstGeom>
          <a:solidFill>
            <a:srgbClr val="E6E6E6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/>
              <a:t>shared code, data</a:t>
            </a:r>
          </a:p>
          <a:p>
            <a:pPr algn="ctr"/>
            <a:r>
              <a:rPr lang="en-US" sz="1800"/>
              <a:t>and kernel context</a:t>
            </a:r>
          </a:p>
        </p:txBody>
      </p:sp>
      <p:sp>
        <p:nvSpPr>
          <p:cNvPr id="26" name="Line 26">
            <a:extLst>
              <a:ext uri="{FF2B5EF4-FFF2-40B4-BE49-F238E27FC236}">
                <a16:creationId xmlns:a16="http://schemas.microsoft.com/office/drawing/2014/main" id="{15EC10D8-C058-CA20-784F-1A27B4BD12B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4710113"/>
            <a:ext cx="304800" cy="533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27" name="Line 27">
            <a:extLst>
              <a:ext uri="{FF2B5EF4-FFF2-40B4-BE49-F238E27FC236}">
                <a16:creationId xmlns:a16="http://schemas.microsoft.com/office/drawing/2014/main" id="{5D4033A4-4824-EA44-DA00-6E8DCF755ED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352800" y="4710113"/>
            <a:ext cx="228600" cy="457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28" name="Line 28">
            <a:extLst>
              <a:ext uri="{FF2B5EF4-FFF2-40B4-BE49-F238E27FC236}">
                <a16:creationId xmlns:a16="http://schemas.microsoft.com/office/drawing/2014/main" id="{BEBDE564-097E-BE05-FAB8-616208D6883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524000" y="4024313"/>
            <a:ext cx="381000" cy="3048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29" name="Line 29">
            <a:extLst>
              <a:ext uri="{FF2B5EF4-FFF2-40B4-BE49-F238E27FC236}">
                <a16:creationId xmlns:a16="http://schemas.microsoft.com/office/drawing/2014/main" id="{DB2E9338-FD8D-8CB3-F9B0-3C459FAD6B2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438400" y="3567113"/>
            <a:ext cx="0" cy="533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0" name="Line 30">
            <a:extLst>
              <a:ext uri="{FF2B5EF4-FFF2-40B4-BE49-F238E27FC236}">
                <a16:creationId xmlns:a16="http://schemas.microsoft.com/office/drawing/2014/main" id="{D080BC8E-3CBD-A5F6-E64A-3D033C265F0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57600" y="3719513"/>
            <a:ext cx="457200" cy="381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3B97C51-A810-6EBA-DC0A-62B864656B21}"/>
              </a:ext>
            </a:extLst>
          </p:cNvPr>
          <p:cNvSpPr>
            <a:spLocks/>
          </p:cNvSpPr>
          <p:nvPr/>
        </p:nvSpPr>
        <p:spPr bwMode="auto">
          <a:xfrm>
            <a:off x="0" y="6636634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0A096DC-FAD0-6DAD-3073-CAF95C15702F}"/>
              </a:ext>
            </a:extLst>
          </p:cNvPr>
          <p:cNvSpPr>
            <a:spLocks/>
          </p:cNvSpPr>
          <p:nvPr/>
        </p:nvSpPr>
        <p:spPr bwMode="auto">
          <a:xfrm>
            <a:off x="-6350" y="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010833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">
            <a:extLst>
              <a:ext uri="{FF2B5EF4-FFF2-40B4-BE49-F238E27FC236}">
                <a16:creationId xmlns:a16="http://schemas.microsoft.com/office/drawing/2014/main" id="{3498A8A1-0F6B-98C9-84E0-626B0D1CAC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018" y="435678"/>
            <a:ext cx="7592093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2pPr>
            <a:lvl3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3pPr>
            <a:lvl4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4pPr>
            <a:lvl5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5pPr>
            <a:lvl6pPr marL="5762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6pPr>
            <a:lvl7pPr marL="10334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7pPr>
            <a:lvl8pPr marL="14906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8pPr>
            <a:lvl9pPr marL="19478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r>
              <a:rPr lang="en-US" kern="0" dirty="0"/>
              <a:t>Concurrent Threads</a:t>
            </a:r>
          </a:p>
        </p:txBody>
      </p:sp>
      <p:sp>
        <p:nvSpPr>
          <p:cNvPr id="3" name="Rectangle 21">
            <a:extLst>
              <a:ext uri="{FF2B5EF4-FFF2-40B4-BE49-F238E27FC236}">
                <a16:creationId xmlns:a16="http://schemas.microsoft.com/office/drawing/2014/main" id="{EC73D0E5-A944-86A3-E9F8-B351223ABB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5" y="1362075"/>
            <a:ext cx="7896225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None/>
              <a:defRPr sz="2000" b="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2" charset="2"/>
              <a:buNone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None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Arial" charset="0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Arial" charset="0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Arial" charset="0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>
              <a:buFont typeface="Wingdings 2" pitchFamily="18" charset="2"/>
              <a:buChar char="¢"/>
            </a:pPr>
            <a:r>
              <a:rPr lang="en-US" sz="2600" b="1" dirty="0"/>
              <a:t>Two threads are concurrent if their flows overlap in time</a:t>
            </a:r>
          </a:p>
          <a:p>
            <a:pPr marL="342900" indent="-342900">
              <a:buFont typeface="Wingdings 2" pitchFamily="18" charset="2"/>
              <a:buChar char="¢"/>
            </a:pPr>
            <a:r>
              <a:rPr lang="en-US" sz="2600" b="1" dirty="0"/>
              <a:t>Otherwise, they are sequential</a:t>
            </a:r>
          </a:p>
          <a:p>
            <a:pPr marL="342900" indent="-342900">
              <a:buFont typeface="Wingdings 2" pitchFamily="18" charset="2"/>
              <a:buChar char="¢"/>
            </a:pPr>
            <a:endParaRPr lang="en-US" sz="2600" b="1" dirty="0"/>
          </a:p>
          <a:p>
            <a:pPr marL="342900" indent="-342900">
              <a:buFont typeface="Wingdings 2" pitchFamily="18" charset="2"/>
              <a:buChar char="¢"/>
            </a:pPr>
            <a:r>
              <a:rPr lang="en-US" sz="2600" b="1" dirty="0"/>
              <a:t>Examples: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200" b="0" dirty="0"/>
              <a:t>Concurrent: A &amp; B, A&amp;C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200" b="0" dirty="0"/>
              <a:t>Sequential: B &amp; C</a:t>
            </a:r>
          </a:p>
          <a:p>
            <a:endParaRPr lang="en-US" kern="0" dirty="0"/>
          </a:p>
          <a:p>
            <a:endParaRPr lang="en-US" kern="0" dirty="0"/>
          </a:p>
        </p:txBody>
      </p:sp>
      <p:sp>
        <p:nvSpPr>
          <p:cNvPr id="4" name="Line 4">
            <a:extLst>
              <a:ext uri="{FF2B5EF4-FFF2-40B4-BE49-F238E27FC236}">
                <a16:creationId xmlns:a16="http://schemas.microsoft.com/office/drawing/2014/main" id="{F6151C7B-D2B7-8919-6701-E656571CD17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94175" y="3448050"/>
            <a:ext cx="0" cy="2743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A22004C2-8E32-525D-5ADF-F640BF2C8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2175" y="4513263"/>
            <a:ext cx="623825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Time</a:t>
            </a:r>
          </a:p>
        </p:txBody>
      </p:sp>
      <p:sp>
        <p:nvSpPr>
          <p:cNvPr id="6" name="Line 6">
            <a:extLst>
              <a:ext uri="{FF2B5EF4-FFF2-40B4-BE49-F238E27FC236}">
                <a16:creationId xmlns:a16="http://schemas.microsoft.com/office/drawing/2014/main" id="{95DCE412-C624-EDE1-8934-0FEC7158C2E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00650" y="3598863"/>
            <a:ext cx="0" cy="3048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48F00816-FE8C-3268-FCA8-CED24B38A6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3913" y="3065463"/>
            <a:ext cx="998543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Thread A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56AAFDF6-AE85-99A7-1C84-4BAA63871C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7913" y="3065463"/>
            <a:ext cx="1005403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Thread B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8744828C-2A12-EE9B-94C8-97B508EE0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1913" y="3065463"/>
            <a:ext cx="1005403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Thread C</a:t>
            </a:r>
          </a:p>
        </p:txBody>
      </p:sp>
      <p:sp>
        <p:nvSpPr>
          <p:cNvPr id="10" name="Line 10">
            <a:extLst>
              <a:ext uri="{FF2B5EF4-FFF2-40B4-BE49-F238E27FC236}">
                <a16:creationId xmlns:a16="http://schemas.microsoft.com/office/drawing/2014/main" id="{342A394A-10AA-17D8-DA4C-1245BC3003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08775" y="3905250"/>
            <a:ext cx="0" cy="609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1" name="Line 11">
            <a:extLst>
              <a:ext uri="{FF2B5EF4-FFF2-40B4-BE49-F238E27FC236}">
                <a16:creationId xmlns:a16="http://schemas.microsoft.com/office/drawing/2014/main" id="{E35D2073-37C2-4711-8358-75E8C240E1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32775" y="4514850"/>
            <a:ext cx="0" cy="381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2" name="Line 12">
            <a:extLst>
              <a:ext uri="{FF2B5EF4-FFF2-40B4-BE49-F238E27FC236}">
                <a16:creationId xmlns:a16="http://schemas.microsoft.com/office/drawing/2014/main" id="{7ED09738-3FDF-551D-736E-50182BAA1A18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4775" y="4895850"/>
            <a:ext cx="0" cy="609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3" name="Line 13">
            <a:extLst>
              <a:ext uri="{FF2B5EF4-FFF2-40B4-BE49-F238E27FC236}">
                <a16:creationId xmlns:a16="http://schemas.microsoft.com/office/drawing/2014/main" id="{8EB71C4E-04B0-CC2B-FD31-53488218FF9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32775" y="5505450"/>
            <a:ext cx="0" cy="609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4" name="Line 14">
            <a:extLst>
              <a:ext uri="{FF2B5EF4-FFF2-40B4-BE49-F238E27FC236}">
                <a16:creationId xmlns:a16="http://schemas.microsoft.com/office/drawing/2014/main" id="{0AB48E96-9A80-6D63-8727-A29015BC5013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3450" y="3903663"/>
            <a:ext cx="4038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5" name="Line 15">
            <a:extLst>
              <a:ext uri="{FF2B5EF4-FFF2-40B4-BE49-F238E27FC236}">
                <a16:creationId xmlns:a16="http://schemas.microsoft.com/office/drawing/2014/main" id="{90C8AE5E-8A25-7F3C-3337-A12A9B181DCE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7575" y="4895850"/>
            <a:ext cx="4038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6" name="Line 16">
            <a:extLst>
              <a:ext uri="{FF2B5EF4-FFF2-40B4-BE49-F238E27FC236}">
                <a16:creationId xmlns:a16="http://schemas.microsoft.com/office/drawing/2014/main" id="{F489B888-5DA5-57A9-8045-CF4DEFA3BE0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7575" y="5505450"/>
            <a:ext cx="4038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7" name="Line 17">
            <a:extLst>
              <a:ext uri="{FF2B5EF4-FFF2-40B4-BE49-F238E27FC236}">
                <a16:creationId xmlns:a16="http://schemas.microsoft.com/office/drawing/2014/main" id="{5DA7DFAE-CC4E-7D51-6EB6-BB078EA38B63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7575" y="6115050"/>
            <a:ext cx="4038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8" name="Line 18">
            <a:extLst>
              <a:ext uri="{FF2B5EF4-FFF2-40B4-BE49-F238E27FC236}">
                <a16:creationId xmlns:a16="http://schemas.microsoft.com/office/drawing/2014/main" id="{02D8A171-B786-8960-5225-2AD55770034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7575" y="4514850"/>
            <a:ext cx="4038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9" name="Line 19">
            <a:extLst>
              <a:ext uri="{FF2B5EF4-FFF2-40B4-BE49-F238E27FC236}">
                <a16:creationId xmlns:a16="http://schemas.microsoft.com/office/drawing/2014/main" id="{25096475-B18F-D432-F816-B9137C0B66DD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7575" y="3600450"/>
            <a:ext cx="4038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856E74-A314-B477-DD0F-A756D40D88A4}"/>
              </a:ext>
            </a:extLst>
          </p:cNvPr>
          <p:cNvSpPr>
            <a:spLocks/>
          </p:cNvSpPr>
          <p:nvPr/>
        </p:nvSpPr>
        <p:spPr bwMode="auto">
          <a:xfrm>
            <a:off x="-12700" y="6649243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83F4450-6FD0-956F-03F6-5066CB831D0D}"/>
              </a:ext>
            </a:extLst>
          </p:cNvPr>
          <p:cNvSpPr>
            <a:spLocks/>
          </p:cNvSpPr>
          <p:nvPr/>
        </p:nvSpPr>
        <p:spPr bwMode="auto">
          <a:xfrm>
            <a:off x="-6350" y="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123597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">
            <a:extLst>
              <a:ext uri="{FF2B5EF4-FFF2-40B4-BE49-F238E27FC236}">
                <a16:creationId xmlns:a16="http://schemas.microsoft.com/office/drawing/2014/main" id="{A09412B2-1EE0-9D7C-BEC1-2F7B3405AF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090" y="371182"/>
            <a:ext cx="759142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2pPr>
            <a:lvl3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3pPr>
            <a:lvl4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4pPr>
            <a:lvl5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5pPr>
            <a:lvl6pPr marL="5762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6pPr>
            <a:lvl7pPr marL="10334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7pPr>
            <a:lvl8pPr marL="14906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8pPr>
            <a:lvl9pPr marL="19478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r>
              <a:rPr lang="en-US" kern="0" dirty="0"/>
              <a:t>Concurrent Thread Execution</a:t>
            </a:r>
          </a:p>
        </p:txBody>
      </p:sp>
      <p:sp>
        <p:nvSpPr>
          <p:cNvPr id="3" name="Rectangle 21">
            <a:extLst>
              <a:ext uri="{FF2B5EF4-FFF2-40B4-BE49-F238E27FC236}">
                <a16:creationId xmlns:a16="http://schemas.microsoft.com/office/drawing/2014/main" id="{05C33D84-E279-153F-0742-9E20E7F63D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175" y="1362075"/>
            <a:ext cx="3871913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None/>
              <a:defRPr sz="2000" b="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2" charset="2"/>
              <a:buNone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None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Arial" charset="0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Arial" charset="0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Arial" charset="0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>
              <a:buFont typeface="Wingdings 2" pitchFamily="18" charset="2"/>
              <a:buChar char="¢"/>
            </a:pPr>
            <a:r>
              <a:rPr lang="en-US" sz="2800" b="1" dirty="0"/>
              <a:t>Single Core Processor</a:t>
            </a:r>
          </a:p>
          <a:p>
            <a:pPr marL="742950" lvl="1" indent="-285750" algn="l">
              <a:buFont typeface="Wingdings" pitchFamily="2" charset="2"/>
              <a:buChar char="§"/>
            </a:pPr>
            <a:r>
              <a:rPr lang="en-US" sz="2400" b="0" dirty="0"/>
              <a:t>Simulate parallelism by time slicing</a:t>
            </a:r>
          </a:p>
          <a:p>
            <a:endParaRPr lang="en-US" kern="0" dirty="0"/>
          </a:p>
          <a:p>
            <a:endParaRPr lang="en-US" kern="0" dirty="0"/>
          </a:p>
        </p:txBody>
      </p:sp>
      <p:sp>
        <p:nvSpPr>
          <p:cNvPr id="4" name="Content Placeholder 19">
            <a:extLst>
              <a:ext uri="{FF2B5EF4-FFF2-40B4-BE49-F238E27FC236}">
                <a16:creationId xmlns:a16="http://schemas.microsoft.com/office/drawing/2014/main" id="{6229820D-ED7D-04AD-B470-9A7BF1CAF039}"/>
              </a:ext>
            </a:extLst>
          </p:cNvPr>
          <p:cNvSpPr txBox="1">
            <a:spLocks/>
          </p:cNvSpPr>
          <p:nvPr/>
        </p:nvSpPr>
        <p:spPr>
          <a:xfrm>
            <a:off x="4662488" y="1362075"/>
            <a:ext cx="3871912" cy="497205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defRPr sz="2400" b="1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800" dirty="0"/>
              <a:t>Multi-Core Processor</a:t>
            </a:r>
          </a:p>
          <a:p>
            <a:pPr lvl="1"/>
            <a:r>
              <a:rPr lang="en-US" sz="2800" b="0" dirty="0"/>
              <a:t>Can have true parallelism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D49661C-B4D1-689A-912C-D4082CF00BBF}"/>
              </a:ext>
            </a:extLst>
          </p:cNvPr>
          <p:cNvGrpSpPr/>
          <p:nvPr/>
        </p:nvGrpSpPr>
        <p:grpSpPr>
          <a:xfrm>
            <a:off x="4252975" y="3429000"/>
            <a:ext cx="623825" cy="2743200"/>
            <a:chOff x="5548375" y="3429000"/>
            <a:chExt cx="623825" cy="2743200"/>
          </a:xfrm>
        </p:grpSpPr>
        <p:sp>
          <p:nvSpPr>
            <p:cNvPr id="6" name="Line 4">
              <a:extLst>
                <a:ext uri="{FF2B5EF4-FFF2-40B4-BE49-F238E27FC236}">
                  <a16:creationId xmlns:a16="http://schemas.microsoft.com/office/drawing/2014/main" id="{FBE31987-8F93-B1E2-B1C4-0911800DF4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867400" y="3429000"/>
              <a:ext cx="0" cy="2743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" name="Text Box 5">
              <a:extLst>
                <a:ext uri="{FF2B5EF4-FFF2-40B4-BE49-F238E27FC236}">
                  <a16:creationId xmlns:a16="http://schemas.microsoft.com/office/drawing/2014/main" id="{40FC28F5-79DC-B2D4-B453-EF9EFA2F72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48375" y="4494213"/>
              <a:ext cx="623825" cy="36933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1800" dirty="0"/>
                <a:t>Time</a:t>
              </a:r>
            </a:p>
          </p:txBody>
        </p:sp>
      </p:grpSp>
      <p:sp>
        <p:nvSpPr>
          <p:cNvPr id="8" name="Text Box 7">
            <a:extLst>
              <a:ext uri="{FF2B5EF4-FFF2-40B4-BE49-F238E27FC236}">
                <a16:creationId xmlns:a16="http://schemas.microsoft.com/office/drawing/2014/main" id="{83C78377-0CA8-17F9-5A8A-D74454EA5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065463"/>
            <a:ext cx="998543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Thread A</a:t>
            </a: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BC4CA7D1-66E1-C1CA-BBB0-2C4CD566D1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065463"/>
            <a:ext cx="1005403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Thread B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75202CA5-AD5E-087B-BA17-7943F00FD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3065463"/>
            <a:ext cx="1005403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/>
              <a:t>Thread C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19D4BCE-E703-91B1-2996-5E7EF0BFB1C4}"/>
              </a:ext>
            </a:extLst>
          </p:cNvPr>
          <p:cNvGrpSpPr/>
          <p:nvPr/>
        </p:nvGrpSpPr>
        <p:grpSpPr>
          <a:xfrm>
            <a:off x="322263" y="3598863"/>
            <a:ext cx="3505200" cy="2516187"/>
            <a:chOff x="322262" y="3598863"/>
            <a:chExt cx="4054475" cy="2516187"/>
          </a:xfrm>
        </p:grpSpPr>
        <p:sp>
          <p:nvSpPr>
            <p:cNvPr id="12" name="Line 6">
              <a:extLst>
                <a:ext uri="{FF2B5EF4-FFF2-40B4-BE49-F238E27FC236}">
                  <a16:creationId xmlns:a16="http://schemas.microsoft.com/office/drawing/2014/main" id="{5FDECB61-FAC2-0261-44A0-1768957535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5337" y="3598863"/>
              <a:ext cx="0" cy="30480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3" name="Line 10">
              <a:extLst>
                <a:ext uri="{FF2B5EF4-FFF2-40B4-BE49-F238E27FC236}">
                  <a16:creationId xmlns:a16="http://schemas.microsoft.com/office/drawing/2014/main" id="{53D03860-20B2-A2D4-73D4-9969B45CEC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03462" y="3905250"/>
              <a:ext cx="0" cy="60960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D185F30B-CD9E-CA60-CFB5-50C1DE6A4E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27462" y="4514850"/>
              <a:ext cx="0" cy="38100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5" name="Line 12">
              <a:extLst>
                <a:ext uri="{FF2B5EF4-FFF2-40B4-BE49-F238E27FC236}">
                  <a16:creationId xmlns:a16="http://schemas.microsoft.com/office/drawing/2014/main" id="{B784D367-1C00-E961-D1F4-B51E0539E4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9462" y="4895850"/>
              <a:ext cx="0" cy="60960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6" name="Line 13">
              <a:extLst>
                <a:ext uri="{FF2B5EF4-FFF2-40B4-BE49-F238E27FC236}">
                  <a16:creationId xmlns:a16="http://schemas.microsoft.com/office/drawing/2014/main" id="{74CEFA91-F346-E19F-A1E5-AD92D53BFF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27462" y="5505450"/>
              <a:ext cx="0" cy="60960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7" name="Line 14">
              <a:extLst>
                <a:ext uri="{FF2B5EF4-FFF2-40B4-BE49-F238E27FC236}">
                  <a16:creationId xmlns:a16="http://schemas.microsoft.com/office/drawing/2014/main" id="{D38FE40B-780D-2E66-A2DB-C6710A3867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8137" y="3903663"/>
              <a:ext cx="4038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8" name="Line 15">
              <a:extLst>
                <a:ext uri="{FF2B5EF4-FFF2-40B4-BE49-F238E27FC236}">
                  <a16:creationId xmlns:a16="http://schemas.microsoft.com/office/drawing/2014/main" id="{3329ABD6-B8D1-907C-9258-2952CA623B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262" y="4895850"/>
              <a:ext cx="4038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9" name="Line 16">
              <a:extLst>
                <a:ext uri="{FF2B5EF4-FFF2-40B4-BE49-F238E27FC236}">
                  <a16:creationId xmlns:a16="http://schemas.microsoft.com/office/drawing/2014/main" id="{28865A0C-E311-DC45-F6E5-978F97276F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262" y="5505450"/>
              <a:ext cx="4038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0" name="Line 17">
              <a:extLst>
                <a:ext uri="{FF2B5EF4-FFF2-40B4-BE49-F238E27FC236}">
                  <a16:creationId xmlns:a16="http://schemas.microsoft.com/office/drawing/2014/main" id="{92D0B0E8-3001-ABCB-7F75-C18D40B16A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262" y="6115050"/>
              <a:ext cx="4038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1" name="Line 18">
              <a:extLst>
                <a:ext uri="{FF2B5EF4-FFF2-40B4-BE49-F238E27FC236}">
                  <a16:creationId xmlns:a16="http://schemas.microsoft.com/office/drawing/2014/main" id="{A492284E-012C-9057-D360-65551D40D9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262" y="4514850"/>
              <a:ext cx="4038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2" name="Line 19">
              <a:extLst>
                <a:ext uri="{FF2B5EF4-FFF2-40B4-BE49-F238E27FC236}">
                  <a16:creationId xmlns:a16="http://schemas.microsoft.com/office/drawing/2014/main" id="{09536F36-C2BE-BFA3-E9A7-5F131F309F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262" y="3600450"/>
              <a:ext cx="4038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800"/>
            </a:p>
          </p:txBody>
        </p:sp>
      </p:grpSp>
      <p:sp>
        <p:nvSpPr>
          <p:cNvPr id="23" name="Text Box 7">
            <a:extLst>
              <a:ext uri="{FF2B5EF4-FFF2-40B4-BE49-F238E27FC236}">
                <a16:creationId xmlns:a16="http://schemas.microsoft.com/office/drawing/2014/main" id="{F67ACBA0-EE83-13D3-8237-BCFD1EB96A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4397" y="3048000"/>
            <a:ext cx="998543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Thread A</a:t>
            </a:r>
          </a:p>
        </p:txBody>
      </p:sp>
      <p:sp>
        <p:nvSpPr>
          <p:cNvPr id="24" name="Text Box 8">
            <a:extLst>
              <a:ext uri="{FF2B5EF4-FFF2-40B4-BE49-F238E27FC236}">
                <a16:creationId xmlns:a16="http://schemas.microsoft.com/office/drawing/2014/main" id="{5E4F415B-3BDE-A5A4-5B5B-5561C393FD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9797" y="3048000"/>
            <a:ext cx="1005403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Thread B</a:t>
            </a:r>
          </a:p>
        </p:txBody>
      </p:sp>
      <p:sp>
        <p:nvSpPr>
          <p:cNvPr id="25" name="Text Box 9">
            <a:extLst>
              <a:ext uri="{FF2B5EF4-FFF2-40B4-BE49-F238E27FC236}">
                <a16:creationId xmlns:a16="http://schemas.microsoft.com/office/drawing/2014/main" id="{4B23F534-CADB-E68C-FC2F-7D9155B9F6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1397" y="3048000"/>
            <a:ext cx="1005403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/>
              <a:t>Thread C</a:t>
            </a:r>
          </a:p>
        </p:txBody>
      </p:sp>
      <p:sp>
        <p:nvSpPr>
          <p:cNvPr id="26" name="Line 6">
            <a:extLst>
              <a:ext uri="{FF2B5EF4-FFF2-40B4-BE49-F238E27FC236}">
                <a16:creationId xmlns:a16="http://schemas.microsoft.com/office/drawing/2014/main" id="{0CDBD175-211F-5BDA-3677-F4FEBF993612}"/>
              </a:ext>
            </a:extLst>
          </p:cNvPr>
          <p:cNvSpPr>
            <a:spLocks noChangeShapeType="1"/>
          </p:cNvSpPr>
          <p:nvPr/>
        </p:nvSpPr>
        <p:spPr bwMode="auto">
          <a:xfrm>
            <a:off x="5517045" y="3581399"/>
            <a:ext cx="0" cy="912813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27" name="Line 10">
            <a:extLst>
              <a:ext uri="{FF2B5EF4-FFF2-40B4-BE49-F238E27FC236}">
                <a16:creationId xmlns:a16="http://schemas.microsoft.com/office/drawing/2014/main" id="{E7A23CC5-8B43-90DD-F9B6-9DB6B49C3F1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8000" y="3887787"/>
            <a:ext cx="0" cy="975758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28" name="Line 11">
            <a:extLst>
              <a:ext uri="{FF2B5EF4-FFF2-40B4-BE49-F238E27FC236}">
                <a16:creationId xmlns:a16="http://schemas.microsoft.com/office/drawing/2014/main" id="{70BF83E1-8B99-1BCF-E545-A5E2305B62D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53400" y="4497387"/>
            <a:ext cx="0" cy="1600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29" name="Line 12">
            <a:extLst>
              <a:ext uri="{FF2B5EF4-FFF2-40B4-BE49-F238E27FC236}">
                <a16:creationId xmlns:a16="http://schemas.microsoft.com/office/drawing/2014/main" id="{8952A1D0-BE78-70C4-841A-CA04555FAC05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3321" y="4878387"/>
            <a:ext cx="0" cy="609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0" name="Line 13">
            <a:extLst>
              <a:ext uri="{FF2B5EF4-FFF2-40B4-BE49-F238E27FC236}">
                <a16:creationId xmlns:a16="http://schemas.microsoft.com/office/drawing/2014/main" id="{388C1AEE-2B02-D103-659D-2F26B3A84D1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8000" y="5487987"/>
            <a:ext cx="0" cy="609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1" name="Line 14">
            <a:extLst>
              <a:ext uri="{FF2B5EF4-FFF2-40B4-BE49-F238E27FC236}">
                <a16:creationId xmlns:a16="http://schemas.microsoft.com/office/drawing/2014/main" id="{50C1B6AA-11F6-9959-7F05-35EBAB80CE79}"/>
              </a:ext>
            </a:extLst>
          </p:cNvPr>
          <p:cNvSpPr>
            <a:spLocks noChangeShapeType="1"/>
          </p:cNvSpPr>
          <p:nvPr/>
        </p:nvSpPr>
        <p:spPr bwMode="auto">
          <a:xfrm>
            <a:off x="5121784" y="3886200"/>
            <a:ext cx="3491476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2" name="Line 15">
            <a:extLst>
              <a:ext uri="{FF2B5EF4-FFF2-40B4-BE49-F238E27FC236}">
                <a16:creationId xmlns:a16="http://schemas.microsoft.com/office/drawing/2014/main" id="{C21C52A0-57B8-9079-BF57-DEB63DB06A15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8060" y="4878387"/>
            <a:ext cx="3491476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3" name="Line 16">
            <a:extLst>
              <a:ext uri="{FF2B5EF4-FFF2-40B4-BE49-F238E27FC236}">
                <a16:creationId xmlns:a16="http://schemas.microsoft.com/office/drawing/2014/main" id="{74F8E63D-DD83-39D1-E2E8-52C4F5FD3E11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8060" y="5487987"/>
            <a:ext cx="3491476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4" name="Line 17">
            <a:extLst>
              <a:ext uri="{FF2B5EF4-FFF2-40B4-BE49-F238E27FC236}">
                <a16:creationId xmlns:a16="http://schemas.microsoft.com/office/drawing/2014/main" id="{F2A7B2C8-A5C4-3CEE-D89D-A916461532DC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8060" y="6097587"/>
            <a:ext cx="3491476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5" name="Line 18">
            <a:extLst>
              <a:ext uri="{FF2B5EF4-FFF2-40B4-BE49-F238E27FC236}">
                <a16:creationId xmlns:a16="http://schemas.microsoft.com/office/drawing/2014/main" id="{68B55FD3-BE8E-2F8E-9622-35906E9F461A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8060" y="4497387"/>
            <a:ext cx="3491476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6" name="Line 19">
            <a:extLst>
              <a:ext uri="{FF2B5EF4-FFF2-40B4-BE49-F238E27FC236}">
                <a16:creationId xmlns:a16="http://schemas.microsoft.com/office/drawing/2014/main" id="{12380225-7D39-C93D-E341-20664002587A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8060" y="3582987"/>
            <a:ext cx="3491476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ECD8679-478C-B9FA-D22D-AD5DEF5CCB4F}"/>
              </a:ext>
            </a:extLst>
          </p:cNvPr>
          <p:cNvSpPr txBox="1"/>
          <p:nvPr/>
        </p:nvSpPr>
        <p:spPr>
          <a:xfrm>
            <a:off x="5588999" y="6183868"/>
            <a:ext cx="253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Run 3 threads on 2 cores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581F5AF-E2B7-06B2-5922-E7F74B601807}"/>
              </a:ext>
            </a:extLst>
          </p:cNvPr>
          <p:cNvSpPr>
            <a:spLocks/>
          </p:cNvSpPr>
          <p:nvPr/>
        </p:nvSpPr>
        <p:spPr bwMode="auto">
          <a:xfrm>
            <a:off x="0" y="6636634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7955625-E808-4217-34F8-D9D0DB7DEE59}"/>
              </a:ext>
            </a:extLst>
          </p:cNvPr>
          <p:cNvSpPr>
            <a:spLocks/>
          </p:cNvSpPr>
          <p:nvPr/>
        </p:nvSpPr>
        <p:spPr bwMode="auto">
          <a:xfrm>
            <a:off x="-6350" y="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54049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4">
            <a:extLst>
              <a:ext uri="{FF2B5EF4-FFF2-40B4-BE49-F238E27FC236}">
                <a16:creationId xmlns:a16="http://schemas.microsoft.com/office/drawing/2014/main" id="{1F7210CB-4424-7A0B-BC4A-1AED4094E1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018" y="435678"/>
            <a:ext cx="7592093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2pPr>
            <a:lvl3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3pPr>
            <a:lvl4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4pPr>
            <a:lvl5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5pPr>
            <a:lvl6pPr marL="5762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6pPr>
            <a:lvl7pPr marL="10334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7pPr>
            <a:lvl8pPr marL="14906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8pPr>
            <a:lvl9pPr marL="19478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r>
              <a:rPr lang="en-US" kern="0" dirty="0"/>
              <a:t>Threads vs. Processes</a:t>
            </a: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98ACEF87-B71E-C730-0EB3-FE60C0B460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513" y="1220788"/>
            <a:ext cx="8624887" cy="5351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None/>
              <a:defRPr sz="2000" b="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2" charset="2"/>
              <a:buNone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None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Arial" charset="0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Arial" charset="0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Arial" charset="0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>
              <a:buFont typeface="Wingdings 2" pitchFamily="18" charset="2"/>
              <a:buChar char="¢"/>
            </a:pPr>
            <a:r>
              <a:rPr lang="en-US" sz="2600" b="1" dirty="0"/>
              <a:t>How threads and processes are similar</a:t>
            </a:r>
          </a:p>
          <a:p>
            <a:pPr marL="742950" lvl="1" indent="-285750" algn="l">
              <a:buFont typeface="Wingdings" pitchFamily="2" charset="2"/>
              <a:buChar char="§"/>
            </a:pPr>
            <a:r>
              <a:rPr lang="en-US" sz="2200" b="0" dirty="0"/>
              <a:t>Each has its own logical control flow</a:t>
            </a:r>
          </a:p>
          <a:p>
            <a:pPr marL="742950" lvl="1" indent="-285750" algn="l">
              <a:buFont typeface="Wingdings" pitchFamily="2" charset="2"/>
              <a:buChar char="§"/>
            </a:pPr>
            <a:r>
              <a:rPr lang="en-US" sz="2200" b="0" dirty="0"/>
              <a:t>Each can run concurrently with others (possibly on different cores)</a:t>
            </a:r>
          </a:p>
          <a:p>
            <a:pPr marL="742950" lvl="1" indent="-285750" algn="l">
              <a:buFont typeface="Wingdings" pitchFamily="2" charset="2"/>
              <a:buChar char="§"/>
            </a:pPr>
            <a:r>
              <a:rPr lang="en-US" sz="2200" b="0" dirty="0"/>
              <a:t>Each is context switched</a:t>
            </a:r>
          </a:p>
          <a:p>
            <a:pPr marL="342900" indent="-342900">
              <a:buFont typeface="Wingdings 2" pitchFamily="18" charset="2"/>
              <a:buChar char="¢"/>
            </a:pPr>
            <a:r>
              <a:rPr lang="en-US" sz="2600" b="1" dirty="0"/>
              <a:t>How threads and processes are different</a:t>
            </a:r>
          </a:p>
          <a:p>
            <a:pPr marL="742950" lvl="1" indent="-285750" algn="l">
              <a:buFont typeface="Wingdings" pitchFamily="2" charset="2"/>
              <a:buChar char="§"/>
            </a:pPr>
            <a:r>
              <a:rPr lang="en-US" sz="2200" b="0" dirty="0"/>
              <a:t>Threads share all code and data (except local stacks)</a:t>
            </a:r>
          </a:p>
          <a:p>
            <a:pPr marL="1200150" lvl="2" indent="-285750" algn="l">
              <a:buFont typeface="Wingdings" pitchFamily="2" charset="2"/>
              <a:buChar char="§"/>
            </a:pPr>
            <a:r>
              <a:rPr lang="en-US" sz="2200" b="0" dirty="0"/>
              <a:t>Processes (typically) do not</a:t>
            </a:r>
          </a:p>
          <a:p>
            <a:pPr marL="742950" lvl="1" indent="-285750" algn="l">
              <a:buFont typeface="Wingdings" pitchFamily="2" charset="2"/>
              <a:buChar char="§"/>
            </a:pPr>
            <a:r>
              <a:rPr lang="en-US" sz="2200" b="0" dirty="0"/>
              <a:t>Threads are somewhat less expensive than processes</a:t>
            </a:r>
          </a:p>
          <a:p>
            <a:pPr marL="1200150" lvl="2" indent="-285750" algn="l">
              <a:buFont typeface="Wingdings" pitchFamily="2" charset="2"/>
              <a:buChar char="§"/>
            </a:pPr>
            <a:r>
              <a:rPr lang="en-US" sz="2200" b="0" dirty="0"/>
              <a:t>Process control (creating and reaping) twice as expensive as thread control</a:t>
            </a:r>
          </a:p>
          <a:p>
            <a:pPr marL="1200150" lvl="2" indent="-285750" algn="l">
              <a:buFont typeface="Wingdings" pitchFamily="2" charset="2"/>
              <a:buChar char="§"/>
            </a:pPr>
            <a:r>
              <a:rPr lang="en-US" sz="2200" b="0" dirty="0"/>
              <a:t>Linux numbers:</a:t>
            </a:r>
          </a:p>
          <a:p>
            <a:pPr marL="1657350" lvl="3" indent="-285750" algn="l">
              <a:buFont typeface="Wingdings" pitchFamily="2" charset="2"/>
              <a:buChar char="§"/>
            </a:pPr>
            <a:r>
              <a:rPr lang="en-US" sz="2200" b="0" dirty="0"/>
              <a:t>~20K cycles to create and reap a process</a:t>
            </a:r>
          </a:p>
          <a:p>
            <a:pPr marL="1657350" lvl="3" indent="-285750" algn="l">
              <a:buFont typeface="Wingdings" pitchFamily="2" charset="2"/>
              <a:buChar char="§"/>
            </a:pPr>
            <a:r>
              <a:rPr lang="en-US" sz="2200" b="0" dirty="0"/>
              <a:t>~10K cycles (or less) to create and reap a thread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2F5CC6-2B45-9A95-B5A7-C347DAA1BE3D}"/>
              </a:ext>
            </a:extLst>
          </p:cNvPr>
          <p:cNvSpPr>
            <a:spLocks/>
          </p:cNvSpPr>
          <p:nvPr/>
        </p:nvSpPr>
        <p:spPr bwMode="auto">
          <a:xfrm>
            <a:off x="0" y="6636634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18B408-2DA3-9D7D-CC56-4AFCADF1B978}"/>
              </a:ext>
            </a:extLst>
          </p:cNvPr>
          <p:cNvSpPr>
            <a:spLocks/>
          </p:cNvSpPr>
          <p:nvPr/>
        </p:nvSpPr>
        <p:spPr bwMode="auto">
          <a:xfrm>
            <a:off x="-6350" y="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02484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88F6760-CA3D-70A8-D9ED-6807701E1D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33375"/>
            <a:ext cx="7962900" cy="573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2pPr>
            <a:lvl3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3pPr>
            <a:lvl4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4pPr>
            <a:lvl5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5pPr>
            <a:lvl6pPr marL="5762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6pPr>
            <a:lvl7pPr marL="10334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7pPr>
            <a:lvl8pPr marL="14906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8pPr>
            <a:lvl9pPr marL="19478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r>
              <a:rPr lang="en-US" kern="0" dirty="0" err="1"/>
              <a:t>Posix</a:t>
            </a:r>
            <a:r>
              <a:rPr lang="en-US" kern="0" dirty="0"/>
              <a:t> Threads (</a:t>
            </a:r>
            <a:r>
              <a:rPr lang="en-US" kern="0" dirty="0" err="1"/>
              <a:t>Pthreads</a:t>
            </a:r>
            <a:r>
              <a:rPr lang="en-US" kern="0" dirty="0"/>
              <a:t>) Interface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FD9AE54-C3E1-F432-4E79-22121DB183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914400"/>
            <a:ext cx="8394700" cy="556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None/>
              <a:defRPr sz="2000" b="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2" charset="2"/>
              <a:buNone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None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Arial" charset="0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Arial" charset="0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Arial" charset="0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>
              <a:buFont typeface="Wingdings 2" pitchFamily="18" charset="2"/>
              <a:buChar char="¢"/>
            </a:pPr>
            <a:r>
              <a:rPr lang="en-US" sz="2400" b="1" i="1" dirty="0" err="1"/>
              <a:t>Pthreads</a:t>
            </a:r>
            <a:r>
              <a:rPr lang="en-US" sz="2400" b="1" i="1" dirty="0"/>
              <a:t>: Standard interface for ~60 functions that manipulate threads from C programs</a:t>
            </a:r>
          </a:p>
          <a:p>
            <a:pPr marL="742950" lvl="1" indent="-285750" algn="l">
              <a:buFont typeface="Wingdings" pitchFamily="2" charset="2"/>
              <a:buChar char="§"/>
            </a:pPr>
            <a:r>
              <a:rPr lang="en-US" b="0" dirty="0"/>
              <a:t>Creating and reaping threads</a:t>
            </a:r>
          </a:p>
          <a:p>
            <a:pPr marL="1200150" lvl="2" indent="-285750" algn="l">
              <a:buFont typeface="Wingdings" pitchFamily="2" charset="2"/>
              <a:buChar char="§"/>
            </a:pPr>
            <a:r>
              <a:rPr lang="en-US" b="0" i="1" dirty="0" err="1"/>
              <a:t>pthread_create</a:t>
            </a:r>
            <a:r>
              <a:rPr lang="en-US" b="0" i="1" dirty="0"/>
              <a:t>()</a:t>
            </a:r>
          </a:p>
          <a:p>
            <a:pPr marL="1200150" lvl="2" indent="-285750" algn="l">
              <a:buFont typeface="Wingdings" pitchFamily="2" charset="2"/>
              <a:buChar char="§"/>
            </a:pPr>
            <a:r>
              <a:rPr lang="en-US" b="0" i="1" dirty="0" err="1"/>
              <a:t>pthread_join</a:t>
            </a:r>
            <a:r>
              <a:rPr lang="en-US" b="0" i="1" dirty="0"/>
              <a:t>()</a:t>
            </a:r>
          </a:p>
          <a:p>
            <a:pPr marL="742950" lvl="1" indent="-285750" algn="l">
              <a:buFont typeface="Wingdings" pitchFamily="2" charset="2"/>
              <a:buChar char="§"/>
            </a:pPr>
            <a:r>
              <a:rPr lang="en-US" b="0" dirty="0"/>
              <a:t>Determining your thread ID</a:t>
            </a:r>
          </a:p>
          <a:p>
            <a:pPr marL="1200150" lvl="2" indent="-285750" algn="l">
              <a:buFont typeface="Wingdings" pitchFamily="2" charset="2"/>
              <a:buChar char="§"/>
            </a:pPr>
            <a:r>
              <a:rPr lang="en-US" b="0" i="1" dirty="0" err="1"/>
              <a:t>pthread_self</a:t>
            </a:r>
            <a:r>
              <a:rPr lang="en-US" b="0" i="1" dirty="0"/>
              <a:t>()</a:t>
            </a:r>
          </a:p>
          <a:p>
            <a:pPr marL="742950" lvl="1" indent="-285750" algn="l">
              <a:buFont typeface="Wingdings" pitchFamily="2" charset="2"/>
              <a:buChar char="§"/>
            </a:pPr>
            <a:r>
              <a:rPr lang="en-US" b="0" dirty="0"/>
              <a:t>Terminating threads</a:t>
            </a:r>
          </a:p>
          <a:p>
            <a:pPr marL="1200150" lvl="2" indent="-285750" algn="l">
              <a:buFont typeface="Wingdings" pitchFamily="2" charset="2"/>
              <a:buChar char="§"/>
            </a:pPr>
            <a:r>
              <a:rPr lang="en-US" b="0" i="1" dirty="0" err="1"/>
              <a:t>pthread_cancel</a:t>
            </a:r>
            <a:r>
              <a:rPr lang="en-US" b="0" i="1" dirty="0"/>
              <a:t>()</a:t>
            </a:r>
          </a:p>
          <a:p>
            <a:pPr marL="1200150" lvl="2" indent="-285750" algn="l">
              <a:buFont typeface="Wingdings" pitchFamily="2" charset="2"/>
              <a:buChar char="§"/>
            </a:pPr>
            <a:r>
              <a:rPr lang="en-US" b="0" i="1" dirty="0" err="1"/>
              <a:t>pthread_exit</a:t>
            </a:r>
            <a:r>
              <a:rPr lang="en-US" b="0" i="1" dirty="0"/>
              <a:t>()</a:t>
            </a:r>
          </a:p>
          <a:p>
            <a:pPr marL="1200150" lvl="2" indent="-285750" algn="l">
              <a:buFont typeface="Wingdings" pitchFamily="2" charset="2"/>
              <a:buChar char="§"/>
            </a:pPr>
            <a:r>
              <a:rPr lang="en-US" b="0" i="1" dirty="0"/>
              <a:t>exit() [terminates all threads] , RET [terminates current thread]</a:t>
            </a:r>
          </a:p>
          <a:p>
            <a:pPr marL="742950" lvl="1" indent="-285750" algn="l">
              <a:buFont typeface="Wingdings" pitchFamily="2" charset="2"/>
              <a:buChar char="§"/>
            </a:pPr>
            <a:r>
              <a:rPr lang="en-US" b="0" dirty="0"/>
              <a:t>Synchronizing access to shared variables</a:t>
            </a:r>
          </a:p>
          <a:p>
            <a:pPr marL="1200150" lvl="2" indent="-285750" algn="l">
              <a:buFont typeface="Wingdings" pitchFamily="2" charset="2"/>
              <a:buChar char="§"/>
            </a:pPr>
            <a:r>
              <a:rPr lang="en-US" b="0" i="1" dirty="0" err="1"/>
              <a:t>pthread_mutex_init</a:t>
            </a:r>
            <a:endParaRPr lang="en-US" b="0" i="1" dirty="0"/>
          </a:p>
          <a:p>
            <a:pPr marL="1200150" lvl="2" indent="-285750" algn="l">
              <a:buFont typeface="Wingdings" pitchFamily="2" charset="2"/>
              <a:buChar char="§"/>
            </a:pPr>
            <a:r>
              <a:rPr lang="en-US" b="0" i="1" dirty="0" err="1"/>
              <a:t>pthread_mutex</a:t>
            </a:r>
            <a:r>
              <a:rPr lang="en-US" b="0" i="1" dirty="0"/>
              <a:t>_[un]lock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4031BE-A898-B16C-00B4-0E2BF2628FA3}"/>
              </a:ext>
            </a:extLst>
          </p:cNvPr>
          <p:cNvSpPr>
            <a:spLocks/>
          </p:cNvSpPr>
          <p:nvPr/>
        </p:nvSpPr>
        <p:spPr bwMode="auto">
          <a:xfrm>
            <a:off x="0" y="6636634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9AF9AB-AE98-A8F9-4641-7AB0EF73514C}"/>
              </a:ext>
            </a:extLst>
          </p:cNvPr>
          <p:cNvSpPr>
            <a:spLocks/>
          </p:cNvSpPr>
          <p:nvPr/>
        </p:nvSpPr>
        <p:spPr bwMode="auto">
          <a:xfrm>
            <a:off x="-6350" y="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580402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FA17654C-2367-E28C-F3B0-DB7C1DE3BC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5228272"/>
            <a:ext cx="6388287" cy="1223512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noAutofit/>
          </a:bodyPr>
          <a:lstStyle/>
          <a:p>
            <a:r>
              <a:rPr lang="en-US" sz="1600" dirty="0">
                <a:solidFill>
                  <a:srgbClr val="2D961E"/>
                </a:solidFill>
                <a:latin typeface="Menlo-Regular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*</a:t>
            </a:r>
            <a:r>
              <a:rPr lang="en-US" sz="1600" dirty="0">
                <a:solidFill>
                  <a:srgbClr val="4A00FF"/>
                </a:solidFill>
                <a:latin typeface="Menlo-Regular"/>
              </a:rPr>
              <a:t>thread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(</a:t>
            </a:r>
            <a:r>
              <a:rPr lang="en-US" sz="1600" dirty="0">
                <a:solidFill>
                  <a:srgbClr val="2D961E"/>
                </a:solidFill>
                <a:latin typeface="Menlo-Regular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*</a:t>
            </a:r>
            <a:r>
              <a:rPr lang="en-US" sz="1600" dirty="0" err="1">
                <a:solidFill>
                  <a:srgbClr val="C1651C"/>
                </a:solidFill>
                <a:latin typeface="Menlo-Regular"/>
              </a:rPr>
              <a:t>vargp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) </a:t>
            </a:r>
            <a:r>
              <a:rPr lang="en-US" sz="1600" dirty="0">
                <a:solidFill>
                  <a:srgbClr val="CB2418"/>
                </a:solidFill>
                <a:latin typeface="Menlo-Regular"/>
              </a:rPr>
              <a:t>/* thread routine */</a:t>
            </a:r>
            <a:endParaRPr lang="en-US" sz="1600" dirty="0">
              <a:solidFill>
                <a:srgbClr val="000000"/>
              </a:solidFill>
              <a:latin typeface="Menlo-Regular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Menlo-Regular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(</a:t>
            </a:r>
            <a:r>
              <a:rPr lang="en-US" sz="1600" dirty="0">
                <a:solidFill>
                  <a:srgbClr val="9D206F"/>
                </a:solidFill>
                <a:latin typeface="Menlo-Regular"/>
              </a:rPr>
              <a:t>"Hello, world!\n"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);</a:t>
            </a:r>
          </a:p>
          <a:p>
            <a:r>
              <a:rPr lang="is-IS" sz="16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is-IS" sz="1600" dirty="0">
                <a:solidFill>
                  <a:srgbClr val="C200FF"/>
                </a:solidFill>
                <a:latin typeface="Menlo-Regular"/>
              </a:rPr>
              <a:t>return</a:t>
            </a:r>
            <a:r>
              <a:rPr lang="is-IS" sz="16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is-IS" sz="1600" dirty="0">
                <a:solidFill>
                  <a:srgbClr val="2C9290"/>
                </a:solidFill>
                <a:latin typeface="Menlo-Regular"/>
              </a:rPr>
              <a:t>NULL</a:t>
            </a:r>
            <a:r>
              <a:rPr lang="is-IS" sz="1600" dirty="0">
                <a:solidFill>
                  <a:srgbClr val="000000"/>
                </a:solidFill>
                <a:latin typeface="Menlo-Regular"/>
              </a:rPr>
              <a:t>;                 </a:t>
            </a:r>
          </a:p>
          <a:p>
            <a:r>
              <a:rPr lang="is-IS" sz="1600" dirty="0">
                <a:solidFill>
                  <a:srgbClr val="000000"/>
                </a:solidFill>
                <a:latin typeface="Menlo-Regular"/>
              </a:rPr>
              <a:t>} 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3" name="Rectangle 10">
            <a:extLst>
              <a:ext uri="{FF2B5EF4-FFF2-40B4-BE49-F238E27FC236}">
                <a16:creationId xmlns:a16="http://schemas.microsoft.com/office/drawing/2014/main" id="{0FA3B63D-04B5-F841-700F-E485F50A3F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018" y="435678"/>
            <a:ext cx="7592093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2pPr>
            <a:lvl3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3pPr>
            <a:lvl4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4pPr>
            <a:lvl5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5pPr>
            <a:lvl6pPr marL="5762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6pPr>
            <a:lvl7pPr marL="10334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7pPr>
            <a:lvl8pPr marL="14906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8pPr>
            <a:lvl9pPr marL="19478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r>
              <a:rPr lang="en-US" kern="0" dirty="0"/>
              <a:t>The </a:t>
            </a:r>
            <a:r>
              <a:rPr lang="en-US" kern="0" dirty="0" err="1"/>
              <a:t>Pthreads</a:t>
            </a:r>
            <a:r>
              <a:rPr lang="en-US" kern="0" dirty="0"/>
              <a:t> "hello, world" Program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DC9D08-F1D0-C254-1873-606CADBE8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823" y="1397436"/>
            <a:ext cx="5743580" cy="3293209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600" dirty="0">
                <a:solidFill>
                  <a:srgbClr val="CB2418"/>
                </a:solidFill>
                <a:latin typeface="Menlo-Regular"/>
              </a:rPr>
              <a:t>/*                                                                                                               </a:t>
            </a:r>
            <a:endParaRPr lang="en-US" sz="1600" dirty="0">
              <a:solidFill>
                <a:srgbClr val="000000"/>
              </a:solidFill>
              <a:latin typeface="Menlo-Regular"/>
            </a:endParaRPr>
          </a:p>
          <a:p>
            <a:r>
              <a:rPr lang="en-US" sz="1600" dirty="0">
                <a:solidFill>
                  <a:srgbClr val="CB2418"/>
                </a:solidFill>
                <a:latin typeface="Menlo-Regular"/>
              </a:rPr>
              <a:t> * </a:t>
            </a:r>
            <a:r>
              <a:rPr lang="en-US" sz="1600" dirty="0" err="1">
                <a:solidFill>
                  <a:srgbClr val="CB2418"/>
                </a:solidFill>
                <a:latin typeface="Menlo-Regular"/>
              </a:rPr>
              <a:t>hello.c</a:t>
            </a:r>
            <a:r>
              <a:rPr lang="en-US" sz="1600" dirty="0">
                <a:solidFill>
                  <a:srgbClr val="CB2418"/>
                </a:solidFill>
                <a:latin typeface="Menlo-Regular"/>
              </a:rPr>
              <a:t> - </a:t>
            </a:r>
            <a:r>
              <a:rPr lang="en-US" sz="1600" dirty="0" err="1">
                <a:solidFill>
                  <a:srgbClr val="CB2418"/>
                </a:solidFill>
                <a:latin typeface="Menlo-Regular"/>
              </a:rPr>
              <a:t>Pthreads</a:t>
            </a:r>
            <a:r>
              <a:rPr lang="en-US" sz="1600" dirty="0">
                <a:solidFill>
                  <a:srgbClr val="CB2418"/>
                </a:solidFill>
                <a:latin typeface="Menlo-Regular"/>
              </a:rPr>
              <a:t> "hello, world" program                                                                     </a:t>
            </a:r>
            <a:endParaRPr lang="en-US" sz="1600" dirty="0">
              <a:solidFill>
                <a:srgbClr val="000000"/>
              </a:solidFill>
              <a:latin typeface="Menlo-Regular"/>
            </a:endParaRPr>
          </a:p>
          <a:p>
            <a:r>
              <a:rPr lang="en-US" sz="1600" dirty="0">
                <a:solidFill>
                  <a:srgbClr val="CB2418"/>
                </a:solidFill>
                <a:latin typeface="Menlo-Regular"/>
              </a:rPr>
              <a:t> */</a:t>
            </a:r>
            <a:endParaRPr lang="en-US" sz="1600" dirty="0">
              <a:solidFill>
                <a:srgbClr val="000000"/>
              </a:solidFill>
              <a:latin typeface="Menlo-Regular"/>
            </a:endParaRPr>
          </a:p>
          <a:p>
            <a:r>
              <a:rPr lang="en-US" sz="1600" dirty="0">
                <a:solidFill>
                  <a:srgbClr val="926492"/>
                </a:solidFill>
                <a:latin typeface="Menlo-Regular"/>
              </a:rPr>
              <a:t>#include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600" dirty="0">
                <a:solidFill>
                  <a:srgbClr val="9D206F"/>
                </a:solidFill>
                <a:latin typeface="Menlo-Regular"/>
              </a:rPr>
              <a:t>"</a:t>
            </a:r>
            <a:r>
              <a:rPr lang="en-US" sz="1600" dirty="0" err="1">
                <a:solidFill>
                  <a:srgbClr val="9D206F"/>
                </a:solidFill>
                <a:latin typeface="Menlo-Regular"/>
              </a:rPr>
              <a:t>csapp.h</a:t>
            </a:r>
            <a:r>
              <a:rPr lang="en-US" sz="1600" dirty="0">
                <a:solidFill>
                  <a:srgbClr val="9D206F"/>
                </a:solidFill>
                <a:latin typeface="Menlo-Regular"/>
              </a:rPr>
              <a:t>"</a:t>
            </a:r>
            <a:endParaRPr lang="en-US" sz="1600" dirty="0">
              <a:solidFill>
                <a:srgbClr val="000000"/>
              </a:solidFill>
              <a:latin typeface="Menlo-Regular"/>
            </a:endParaRPr>
          </a:p>
          <a:p>
            <a:r>
              <a:rPr lang="en-US" sz="1600" dirty="0">
                <a:solidFill>
                  <a:srgbClr val="2D961E"/>
                </a:solidFill>
                <a:latin typeface="Menlo-Regular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*</a:t>
            </a:r>
            <a:r>
              <a:rPr lang="en-US" sz="1600" dirty="0">
                <a:solidFill>
                  <a:srgbClr val="4A00FF"/>
                </a:solidFill>
                <a:latin typeface="Menlo-Regular"/>
              </a:rPr>
              <a:t>thread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(</a:t>
            </a:r>
            <a:r>
              <a:rPr lang="en-US" sz="1600" dirty="0">
                <a:solidFill>
                  <a:srgbClr val="2D961E"/>
                </a:solidFill>
                <a:latin typeface="Menlo-Regular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*</a:t>
            </a:r>
            <a:r>
              <a:rPr lang="en-US" sz="1600" dirty="0" err="1">
                <a:solidFill>
                  <a:srgbClr val="C1651C"/>
                </a:solidFill>
                <a:latin typeface="Menlo-Regular"/>
              </a:rPr>
              <a:t>vargp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);                    </a:t>
            </a:r>
          </a:p>
          <a:p>
            <a:endParaRPr lang="en-US" sz="1600" dirty="0">
              <a:solidFill>
                <a:srgbClr val="000000"/>
              </a:solidFill>
              <a:latin typeface="Menlo-Regular"/>
            </a:endParaRPr>
          </a:p>
          <a:p>
            <a:r>
              <a:rPr lang="fr-FR" sz="1600" dirty="0" err="1">
                <a:solidFill>
                  <a:srgbClr val="2D961E"/>
                </a:solidFill>
                <a:latin typeface="Menlo-Regular"/>
              </a:rPr>
              <a:t>int</a:t>
            </a:r>
            <a:r>
              <a:rPr lang="fr-FR" sz="16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fr-FR" sz="1600" dirty="0">
                <a:solidFill>
                  <a:srgbClr val="4A00FF"/>
                </a:solidFill>
                <a:latin typeface="Menlo-Regular"/>
              </a:rPr>
              <a:t>main</a:t>
            </a:r>
            <a:r>
              <a:rPr lang="fr-FR" sz="1600" dirty="0">
                <a:solidFill>
                  <a:srgbClr val="000000"/>
                </a:solidFill>
                <a:latin typeface="Menlo-Regular"/>
              </a:rPr>
              <a:t>()</a:t>
            </a:r>
          </a:p>
          <a:p>
            <a:r>
              <a:rPr lang="fr-FR" sz="1600" dirty="0">
                <a:solidFill>
                  <a:srgbClr val="000000"/>
                </a:solidFill>
                <a:latin typeface="Menlo-Regular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en-US" sz="1600" dirty="0" err="1">
                <a:solidFill>
                  <a:srgbClr val="2D961E"/>
                </a:solidFill>
                <a:latin typeface="Menlo-Regular"/>
              </a:rPr>
              <a:t>pthread_t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Menlo-Regular"/>
              </a:rPr>
              <a:t>tid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;                            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Menlo-Regular"/>
              </a:rPr>
              <a:t>Pthread_create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(&amp;</a:t>
            </a:r>
            <a:r>
              <a:rPr lang="en-US" sz="1600" dirty="0" err="1">
                <a:solidFill>
                  <a:srgbClr val="000000"/>
                </a:solidFill>
                <a:latin typeface="Menlo-Regular"/>
              </a:rPr>
              <a:t>tid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, </a:t>
            </a:r>
            <a:r>
              <a:rPr lang="en-US" sz="1600" dirty="0">
                <a:solidFill>
                  <a:srgbClr val="2C9290"/>
                </a:solidFill>
                <a:latin typeface="Menlo-Regular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, thread, </a:t>
            </a:r>
            <a:r>
              <a:rPr lang="en-US" sz="1600" dirty="0">
                <a:solidFill>
                  <a:srgbClr val="2C9290"/>
                </a:solidFill>
                <a:latin typeface="Menlo-Regular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); 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Menlo-Regular"/>
              </a:rPr>
              <a:t>Pthread_join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Menlo-Regular"/>
              </a:rPr>
              <a:t>tid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, </a:t>
            </a:r>
            <a:r>
              <a:rPr lang="en-US" sz="1600" dirty="0">
                <a:solidFill>
                  <a:srgbClr val="2C9290"/>
                </a:solidFill>
                <a:latin typeface="Menlo-Regular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);                  </a:t>
            </a:r>
          </a:p>
          <a:p>
            <a:r>
              <a:rPr lang="it-IT" sz="1600" dirty="0">
                <a:solidFill>
                  <a:srgbClr val="000000"/>
                </a:solidFill>
                <a:latin typeface="Menlo-Regular"/>
              </a:rPr>
              <a:t>    exit(0);                                  </a:t>
            </a:r>
          </a:p>
          <a:p>
            <a:r>
              <a:rPr lang="it-IT" sz="1600" dirty="0">
                <a:solidFill>
                  <a:srgbClr val="000000"/>
                </a:solidFill>
                <a:latin typeface="Menlo-Regular"/>
              </a:rPr>
              <a:t>}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D5D606C-A101-7CDE-0BF1-72CEC553EDF6}"/>
              </a:ext>
            </a:extLst>
          </p:cNvPr>
          <p:cNvGrpSpPr/>
          <p:nvPr/>
        </p:nvGrpSpPr>
        <p:grpSpPr>
          <a:xfrm>
            <a:off x="4114798" y="1905000"/>
            <a:ext cx="4953002" cy="1752600"/>
            <a:chOff x="4114798" y="1905000"/>
            <a:chExt cx="4953002" cy="1752600"/>
          </a:xfrm>
        </p:grpSpPr>
        <p:sp>
          <p:nvSpPr>
            <p:cNvPr id="6" name="Text Box 4">
              <a:extLst>
                <a:ext uri="{FF2B5EF4-FFF2-40B4-BE49-F238E27FC236}">
                  <a16:creationId xmlns:a16="http://schemas.microsoft.com/office/drawing/2014/main" id="{397973CF-7147-BAFB-0A74-6A3B9653A2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08609" y="1905000"/>
              <a:ext cx="1959191" cy="707886"/>
            </a:xfrm>
            <a:prstGeom prst="rect">
              <a:avLst/>
            </a:prstGeom>
            <a:solidFill>
              <a:srgbClr val="CC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2000" i="1"/>
                <a:t>Thread attributes </a:t>
              </a:r>
            </a:p>
            <a:p>
              <a:pPr algn="ctr"/>
              <a:r>
                <a:rPr lang="en-US" sz="2000" i="1"/>
                <a:t>(usually NULL)</a:t>
              </a:r>
            </a:p>
          </p:txBody>
        </p:sp>
        <p:sp>
          <p:nvSpPr>
            <p:cNvPr id="7" name="Line 7">
              <a:extLst>
                <a:ext uri="{FF2B5EF4-FFF2-40B4-BE49-F238E27FC236}">
                  <a16:creationId xmlns:a16="http://schemas.microsoft.com/office/drawing/2014/main" id="{D4721D30-C6A9-C379-7DAC-95684A7EE8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14798" y="2286000"/>
              <a:ext cx="2993809" cy="1371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C297CF4-8496-3F77-2591-8FDA159671FD}"/>
              </a:ext>
            </a:extLst>
          </p:cNvPr>
          <p:cNvGrpSpPr/>
          <p:nvPr/>
        </p:nvGrpSpPr>
        <p:grpSpPr>
          <a:xfrm>
            <a:off x="6019799" y="3870558"/>
            <a:ext cx="2971801" cy="707886"/>
            <a:chOff x="6019799" y="3191014"/>
            <a:chExt cx="2971801" cy="707886"/>
          </a:xfrm>
        </p:grpSpPr>
        <p:sp>
          <p:nvSpPr>
            <p:cNvPr id="9" name="Text Box 5">
              <a:extLst>
                <a:ext uri="{FF2B5EF4-FFF2-40B4-BE49-F238E27FC236}">
                  <a16:creationId xmlns:a16="http://schemas.microsoft.com/office/drawing/2014/main" id="{5EA61C92-5B5C-CEB6-F451-37E22BA07C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73099" y="3191014"/>
              <a:ext cx="2018501" cy="707886"/>
            </a:xfrm>
            <a:prstGeom prst="rect">
              <a:avLst/>
            </a:prstGeom>
            <a:solidFill>
              <a:srgbClr val="CC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2000" i="1"/>
                <a:t>Thread arguments</a:t>
              </a:r>
            </a:p>
            <a:p>
              <a:pPr algn="ctr"/>
              <a:r>
                <a:rPr lang="en-US" sz="2000" i="1"/>
                <a:t>(void *p) </a:t>
              </a:r>
            </a:p>
          </p:txBody>
        </p:sp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C8AF86C8-4840-32F2-C2E0-0C369BCE8A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019799" y="3191014"/>
              <a:ext cx="953296" cy="304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8E29D42-B2C4-A225-9714-29E09F143A21}"/>
              </a:ext>
            </a:extLst>
          </p:cNvPr>
          <p:cNvGrpSpPr/>
          <p:nvPr/>
        </p:nvGrpSpPr>
        <p:grpSpPr>
          <a:xfrm>
            <a:off x="3800372" y="4114800"/>
            <a:ext cx="4648200" cy="1552714"/>
            <a:chOff x="3810000" y="3857486"/>
            <a:chExt cx="4648200" cy="1552714"/>
          </a:xfrm>
        </p:grpSpPr>
        <p:sp>
          <p:nvSpPr>
            <p:cNvPr id="12" name="Text Box 6">
              <a:extLst>
                <a:ext uri="{FF2B5EF4-FFF2-40B4-BE49-F238E27FC236}">
                  <a16:creationId xmlns:a16="http://schemas.microsoft.com/office/drawing/2014/main" id="{2E7F936F-5795-CFB1-07CF-8DD8062267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9228" y="4702314"/>
              <a:ext cx="1508972" cy="707886"/>
            </a:xfrm>
            <a:prstGeom prst="rect">
              <a:avLst/>
            </a:prstGeom>
            <a:solidFill>
              <a:srgbClr val="CC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2000" i="1" dirty="0"/>
                <a:t>Return value</a:t>
              </a:r>
            </a:p>
            <a:p>
              <a:pPr algn="ctr"/>
              <a:r>
                <a:rPr lang="en-US" sz="2000" i="1" dirty="0"/>
                <a:t>(void **p)</a:t>
              </a:r>
            </a:p>
          </p:txBody>
        </p:sp>
        <p:sp>
          <p:nvSpPr>
            <p:cNvPr id="13" name="Line 9">
              <a:extLst>
                <a:ext uri="{FF2B5EF4-FFF2-40B4-BE49-F238E27FC236}">
                  <a16:creationId xmlns:a16="http://schemas.microsoft.com/office/drawing/2014/main" id="{5F917FC7-1FC3-27B8-375A-093A615590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810000" y="3857486"/>
              <a:ext cx="3163098" cy="11623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CD549805-4F3B-0BAF-F31E-731C5FFB4C6B}"/>
              </a:ext>
            </a:extLst>
          </p:cNvPr>
          <p:cNvSpPr txBox="1"/>
          <p:nvPr/>
        </p:nvSpPr>
        <p:spPr>
          <a:xfrm>
            <a:off x="6347785" y="6082452"/>
            <a:ext cx="820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>
                <a:solidFill>
                  <a:srgbClr val="7F7F7F"/>
                </a:solidFill>
                <a:latin typeface="Calibri" pitchFamily="34" charset="0"/>
              </a:rPr>
              <a:t>hello.c</a:t>
            </a:r>
            <a:endParaRPr lang="en-US" sz="1800" dirty="0">
              <a:solidFill>
                <a:srgbClr val="7F7F7F"/>
              </a:solidFill>
              <a:latin typeface="Calibri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649672D-5488-E097-39AF-C1F338E7BE0E}"/>
              </a:ext>
            </a:extLst>
          </p:cNvPr>
          <p:cNvGrpSpPr/>
          <p:nvPr/>
        </p:nvGrpSpPr>
        <p:grpSpPr>
          <a:xfrm>
            <a:off x="3505198" y="2058888"/>
            <a:ext cx="2803172" cy="1598712"/>
            <a:chOff x="4114798" y="2058888"/>
            <a:chExt cx="5061281" cy="1598712"/>
          </a:xfrm>
        </p:grpSpPr>
        <p:sp>
          <p:nvSpPr>
            <p:cNvPr id="16" name="Text Box 4">
              <a:extLst>
                <a:ext uri="{FF2B5EF4-FFF2-40B4-BE49-F238E27FC236}">
                  <a16:creationId xmlns:a16="http://schemas.microsoft.com/office/drawing/2014/main" id="{E87F595E-7431-3940-2C7A-C1886852EC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00337" y="2058888"/>
              <a:ext cx="2175742" cy="400110"/>
            </a:xfrm>
            <a:prstGeom prst="rect">
              <a:avLst/>
            </a:prstGeom>
            <a:solidFill>
              <a:srgbClr val="CC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2000" i="1" dirty="0"/>
                <a:t>Thread ID</a:t>
              </a:r>
            </a:p>
          </p:txBody>
        </p:sp>
        <p:sp>
          <p:nvSpPr>
            <p:cNvPr id="17" name="Line 7">
              <a:extLst>
                <a:ext uri="{FF2B5EF4-FFF2-40B4-BE49-F238E27FC236}">
                  <a16:creationId xmlns:a16="http://schemas.microsoft.com/office/drawing/2014/main" id="{2526B7B7-DCD4-8D42-2440-1BAD535482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14798" y="2286000"/>
              <a:ext cx="2885539" cy="1371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17B0947-8354-6F57-2AFC-C4004D7DD51E}"/>
              </a:ext>
            </a:extLst>
          </p:cNvPr>
          <p:cNvGrpSpPr/>
          <p:nvPr/>
        </p:nvGrpSpPr>
        <p:grpSpPr>
          <a:xfrm>
            <a:off x="4952998" y="3087588"/>
            <a:ext cx="3988944" cy="570012"/>
            <a:chOff x="4952998" y="2058888"/>
            <a:chExt cx="3988944" cy="570012"/>
          </a:xfrm>
        </p:grpSpPr>
        <p:sp>
          <p:nvSpPr>
            <p:cNvPr id="19" name="Text Box 4">
              <a:extLst>
                <a:ext uri="{FF2B5EF4-FFF2-40B4-BE49-F238E27FC236}">
                  <a16:creationId xmlns:a16="http://schemas.microsoft.com/office/drawing/2014/main" id="{AE7A8296-DE74-1FEB-3A7B-80495563A1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34473" y="2058888"/>
              <a:ext cx="1707469" cy="400110"/>
            </a:xfrm>
            <a:prstGeom prst="rect">
              <a:avLst/>
            </a:prstGeom>
            <a:solidFill>
              <a:srgbClr val="CC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2000" i="1" dirty="0"/>
                <a:t>Thread routine</a:t>
              </a:r>
            </a:p>
          </p:txBody>
        </p:sp>
        <p:sp>
          <p:nvSpPr>
            <p:cNvPr id="20" name="Line 7">
              <a:extLst>
                <a:ext uri="{FF2B5EF4-FFF2-40B4-BE49-F238E27FC236}">
                  <a16:creationId xmlns:a16="http://schemas.microsoft.com/office/drawing/2014/main" id="{D35C3E83-60FF-5CAC-5775-0DA19A53B1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52998" y="2286000"/>
              <a:ext cx="2268270" cy="3429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801502E6-B75E-7D32-FDB3-8DD0BFBDA018}"/>
              </a:ext>
            </a:extLst>
          </p:cNvPr>
          <p:cNvSpPr txBox="1"/>
          <p:nvPr/>
        </p:nvSpPr>
        <p:spPr>
          <a:xfrm>
            <a:off x="5665695" y="4321313"/>
            <a:ext cx="820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solidFill>
                  <a:srgbClr val="7F7F7F"/>
                </a:solidFill>
                <a:latin typeface="Calibri" pitchFamily="34" charset="0"/>
              </a:rPr>
              <a:t>hello.c</a:t>
            </a:r>
            <a:endParaRPr lang="en-US" sz="1800" dirty="0">
              <a:solidFill>
                <a:srgbClr val="7F7F7F"/>
              </a:solidFill>
              <a:latin typeface="Calibri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94A4165-E95D-C983-5F74-CA5ED4F8B74C}"/>
              </a:ext>
            </a:extLst>
          </p:cNvPr>
          <p:cNvSpPr>
            <a:spLocks/>
          </p:cNvSpPr>
          <p:nvPr/>
        </p:nvSpPr>
        <p:spPr bwMode="auto">
          <a:xfrm>
            <a:off x="0" y="6636634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733CDFC-EA3A-E5A6-EB1E-1A2B66291965}"/>
              </a:ext>
            </a:extLst>
          </p:cNvPr>
          <p:cNvSpPr>
            <a:spLocks/>
          </p:cNvSpPr>
          <p:nvPr/>
        </p:nvSpPr>
        <p:spPr bwMode="auto">
          <a:xfrm>
            <a:off x="-6350" y="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665226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8">
            <a:extLst>
              <a:ext uri="{FF2B5EF4-FFF2-40B4-BE49-F238E27FC236}">
                <a16:creationId xmlns:a16="http://schemas.microsoft.com/office/drawing/2014/main" id="{E1298324-E220-C3E6-E85A-5548CFF4D8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018" y="435678"/>
            <a:ext cx="7592093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2pPr>
            <a:lvl3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3pPr>
            <a:lvl4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4pPr>
            <a:lvl5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5pPr>
            <a:lvl6pPr marL="5762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6pPr>
            <a:lvl7pPr marL="10334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7pPr>
            <a:lvl8pPr marL="14906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8pPr>
            <a:lvl9pPr marL="19478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r>
              <a:rPr lang="en-US" kern="0" dirty="0"/>
              <a:t>Execution of Threaded “hello, world”</a:t>
            </a:r>
          </a:p>
        </p:txBody>
      </p:sp>
      <p:sp>
        <p:nvSpPr>
          <p:cNvPr id="23" name="Text Box 3">
            <a:extLst>
              <a:ext uri="{FF2B5EF4-FFF2-40B4-BE49-F238E27FC236}">
                <a16:creationId xmlns:a16="http://schemas.microsoft.com/office/drawing/2014/main" id="{56EFE125-0053-D803-A9CF-438B99FA20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1166" y="1370290"/>
            <a:ext cx="1246968" cy="369332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 dirty="0"/>
              <a:t>Main thread</a:t>
            </a:r>
          </a:p>
        </p:txBody>
      </p:sp>
      <p:sp>
        <p:nvSpPr>
          <p:cNvPr id="24" name="Text Box 4">
            <a:extLst>
              <a:ext uri="{FF2B5EF4-FFF2-40B4-BE49-F238E27FC236}">
                <a16:creationId xmlns:a16="http://schemas.microsoft.com/office/drawing/2014/main" id="{70384F27-24B4-C0E4-978A-DBD7E4DF49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217" y="2602190"/>
            <a:ext cx="1226117" cy="369332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 dirty="0"/>
              <a:t>Peer thread</a:t>
            </a:r>
          </a:p>
        </p:txBody>
      </p:sp>
      <p:sp>
        <p:nvSpPr>
          <p:cNvPr id="25" name="Line 5">
            <a:extLst>
              <a:ext uri="{FF2B5EF4-FFF2-40B4-BE49-F238E27FC236}">
                <a16:creationId xmlns:a16="http://schemas.microsoft.com/office/drawing/2014/main" id="{DAB6D23D-88F2-E3F2-9A2E-3DE8ABC6DAC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2057400"/>
            <a:ext cx="19050" cy="34131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Line 6">
            <a:extLst>
              <a:ext uri="{FF2B5EF4-FFF2-40B4-BE49-F238E27FC236}">
                <a16:creationId xmlns:a16="http://schemas.microsoft.com/office/drawing/2014/main" id="{BB992732-A57C-918E-55AE-E27AE2B32FA4}"/>
              </a:ext>
            </a:extLst>
          </p:cNvPr>
          <p:cNvSpPr>
            <a:spLocks noChangeShapeType="1"/>
          </p:cNvSpPr>
          <p:nvPr/>
        </p:nvSpPr>
        <p:spPr bwMode="auto">
          <a:xfrm>
            <a:off x="6724650" y="3260725"/>
            <a:ext cx="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Text Box 7">
            <a:extLst>
              <a:ext uri="{FF2B5EF4-FFF2-40B4-BE49-F238E27FC236}">
                <a16:creationId xmlns:a16="http://schemas.microsoft.com/office/drawing/2014/main" id="{10E493EE-E99E-CF6A-654A-EC7724413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0850" y="3551238"/>
            <a:ext cx="1822450" cy="3667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800" dirty="0">
                <a:latin typeface="Courier New" pitchFamily="49" charset="0"/>
              </a:rPr>
              <a:t>return NULL;</a:t>
            </a:r>
            <a:endParaRPr lang="en-US" sz="1800" dirty="0"/>
          </a:p>
        </p:txBody>
      </p:sp>
      <p:sp>
        <p:nvSpPr>
          <p:cNvPr id="28" name="Line 8">
            <a:extLst>
              <a:ext uri="{FF2B5EF4-FFF2-40B4-BE49-F238E27FC236}">
                <a16:creationId xmlns:a16="http://schemas.microsoft.com/office/drawing/2014/main" id="{2DCB9164-E514-62A5-ED8D-A0B1A1E436F3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2438400"/>
            <a:ext cx="3829050" cy="822325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Text Box 9">
            <a:extLst>
              <a:ext uri="{FF2B5EF4-FFF2-40B4-BE49-F238E27FC236}">
                <a16:creationId xmlns:a16="http://schemas.microsoft.com/office/drawing/2014/main" id="{9D32C24B-956B-1A55-977E-67E7F7AAB7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789" y="3502710"/>
            <a:ext cx="2404061" cy="64633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r"/>
            <a:r>
              <a:rPr lang="en-US" sz="1800" dirty="0">
                <a:solidFill>
                  <a:srgbClr val="FF0000"/>
                </a:solidFill>
              </a:rPr>
              <a:t>Main thread waits for </a:t>
            </a:r>
          </a:p>
          <a:p>
            <a:pPr algn="r"/>
            <a:r>
              <a:rPr lang="en-US" sz="1800" dirty="0">
                <a:solidFill>
                  <a:srgbClr val="FF0000"/>
                </a:solidFill>
              </a:rPr>
              <a:t>peer  thread to terminate</a:t>
            </a:r>
          </a:p>
        </p:txBody>
      </p:sp>
      <p:sp>
        <p:nvSpPr>
          <p:cNvPr id="30" name="Line 10">
            <a:extLst>
              <a:ext uri="{FF2B5EF4-FFF2-40B4-BE49-F238E27FC236}">
                <a16:creationId xmlns:a16="http://schemas.microsoft.com/office/drawing/2014/main" id="{33581C48-334C-D4CE-BF14-76ED9853267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14650" y="3870325"/>
            <a:ext cx="3810000" cy="762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Text Box 11">
            <a:extLst>
              <a:ext uri="{FF2B5EF4-FFF2-40B4-BE49-F238E27FC236}">
                <a16:creationId xmlns:a16="http://schemas.microsoft.com/office/drawing/2014/main" id="{1D98C769-4305-46AF-2D1B-BD01ABCEB2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80612" y="5024348"/>
            <a:ext cx="3131762" cy="120032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r"/>
            <a:r>
              <a:rPr lang="en-US" sz="1800" b="0" dirty="0">
                <a:latin typeface="Courier New" pitchFamily="49" charset="0"/>
              </a:rPr>
              <a:t>exit()</a:t>
            </a:r>
            <a:r>
              <a:rPr lang="en-US" sz="1800" b="0" dirty="0"/>
              <a:t> </a:t>
            </a:r>
          </a:p>
          <a:p>
            <a:pPr algn="r"/>
            <a:r>
              <a:rPr lang="en-US" sz="1800" dirty="0">
                <a:solidFill>
                  <a:srgbClr val="FF0000"/>
                </a:solidFill>
              </a:rPr>
              <a:t>Terminates </a:t>
            </a:r>
          </a:p>
          <a:p>
            <a:pPr algn="r"/>
            <a:r>
              <a:rPr lang="en-US" sz="1800" dirty="0">
                <a:solidFill>
                  <a:srgbClr val="FF0000"/>
                </a:solidFill>
              </a:rPr>
              <a:t>main thread and </a:t>
            </a:r>
          </a:p>
          <a:p>
            <a:pPr algn="r"/>
            <a:r>
              <a:rPr lang="en-US" sz="1800" dirty="0">
                <a:solidFill>
                  <a:srgbClr val="FF0000"/>
                </a:solidFill>
              </a:rPr>
              <a:t>any peer threads</a:t>
            </a:r>
          </a:p>
        </p:txBody>
      </p:sp>
      <p:sp>
        <p:nvSpPr>
          <p:cNvPr id="32" name="Text Box 12">
            <a:extLst>
              <a:ext uri="{FF2B5EF4-FFF2-40B4-BE49-F238E27FC236}">
                <a16:creationId xmlns:a16="http://schemas.microsoft.com/office/drawing/2014/main" id="{6F1118C8-EFC3-06DA-9D54-B391BFE4C2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350" y="2209800"/>
            <a:ext cx="23050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sz="1800" b="0" dirty="0"/>
              <a:t>call </a:t>
            </a:r>
            <a:r>
              <a:rPr lang="en-US" sz="1800" b="0" dirty="0" err="1"/>
              <a:t>Pthread_create</a:t>
            </a:r>
            <a:r>
              <a:rPr lang="en-US" sz="1800" b="0" dirty="0"/>
              <a:t>()</a:t>
            </a:r>
          </a:p>
        </p:txBody>
      </p:sp>
      <p:sp>
        <p:nvSpPr>
          <p:cNvPr id="33" name="Text Box 13">
            <a:extLst>
              <a:ext uri="{FF2B5EF4-FFF2-40B4-BE49-F238E27FC236}">
                <a16:creationId xmlns:a16="http://schemas.microsoft.com/office/drawing/2014/main" id="{6DDA5B8E-66A1-4E55-1107-1CBBBDBA6F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750" y="2971800"/>
            <a:ext cx="20256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sz="1800" b="0" dirty="0"/>
              <a:t>call </a:t>
            </a:r>
            <a:r>
              <a:rPr lang="en-US" sz="1800" b="0" dirty="0" err="1"/>
              <a:t>Pthread_join</a:t>
            </a:r>
            <a:r>
              <a:rPr lang="en-US" sz="1800" b="0" dirty="0"/>
              <a:t>()</a:t>
            </a:r>
          </a:p>
        </p:txBody>
      </p:sp>
      <p:sp>
        <p:nvSpPr>
          <p:cNvPr id="34" name="Text Box 14">
            <a:extLst>
              <a:ext uri="{FF2B5EF4-FFF2-40B4-BE49-F238E27FC236}">
                <a16:creationId xmlns:a16="http://schemas.microsoft.com/office/drawing/2014/main" id="{C409BFCE-261E-3738-CFC2-C4A3B648BB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419600"/>
            <a:ext cx="251460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sz="1800" b="0"/>
              <a:t>Pthread_join() returns</a:t>
            </a:r>
          </a:p>
        </p:txBody>
      </p:sp>
      <p:sp>
        <p:nvSpPr>
          <p:cNvPr id="35" name="Text Box 15">
            <a:extLst>
              <a:ext uri="{FF2B5EF4-FFF2-40B4-BE49-F238E27FC236}">
                <a16:creationId xmlns:a16="http://schemas.microsoft.com/office/drawing/2014/main" id="{5AC3296A-D7DB-29C2-55E6-FF9580A89A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3200400"/>
            <a:ext cx="12763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800" dirty="0" err="1">
                <a:latin typeface="Courier New" pitchFamily="49" charset="0"/>
              </a:rPr>
              <a:t>printf</a:t>
            </a:r>
            <a:r>
              <a:rPr lang="en-US" sz="1800" dirty="0">
                <a:latin typeface="Courier New" pitchFamily="49" charset="0"/>
              </a:rPr>
              <a:t>()</a:t>
            </a:r>
            <a:endParaRPr lang="en-US" sz="1800" dirty="0"/>
          </a:p>
        </p:txBody>
      </p:sp>
      <p:sp>
        <p:nvSpPr>
          <p:cNvPr id="36" name="Text Box 16">
            <a:extLst>
              <a:ext uri="{FF2B5EF4-FFF2-40B4-BE49-F238E27FC236}">
                <a16:creationId xmlns:a16="http://schemas.microsoft.com/office/drawing/2014/main" id="{E59EEDDF-47F3-3D38-E5CD-DF4FB17B97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0850" y="3810000"/>
            <a:ext cx="1226117" cy="64633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Peer thread</a:t>
            </a:r>
          </a:p>
          <a:p>
            <a:r>
              <a:rPr lang="en-US" sz="1800" dirty="0">
                <a:solidFill>
                  <a:srgbClr val="FF0000"/>
                </a:solidFill>
              </a:rPr>
              <a:t>terminates</a:t>
            </a:r>
          </a:p>
        </p:txBody>
      </p:sp>
      <p:sp>
        <p:nvSpPr>
          <p:cNvPr id="37" name="Text Box 17">
            <a:extLst>
              <a:ext uri="{FF2B5EF4-FFF2-40B4-BE49-F238E27FC236}">
                <a16:creationId xmlns:a16="http://schemas.microsoft.com/office/drawing/2014/main" id="{9604C37F-E94D-09AD-8D68-D3469A4B6B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050" y="2514600"/>
            <a:ext cx="26733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sz="1800" b="0" dirty="0" err="1"/>
              <a:t>Pthread_create</a:t>
            </a:r>
            <a:r>
              <a:rPr lang="en-US" sz="1800" b="0" dirty="0"/>
              <a:t>() returns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537FB6-8071-9CFE-CF06-CF2544D0F81C}"/>
              </a:ext>
            </a:extLst>
          </p:cNvPr>
          <p:cNvSpPr>
            <a:spLocks/>
          </p:cNvSpPr>
          <p:nvPr/>
        </p:nvSpPr>
        <p:spPr bwMode="auto">
          <a:xfrm>
            <a:off x="0" y="6636634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C6CE2E-653D-2EEA-90EB-536C94301EF4}"/>
              </a:ext>
            </a:extLst>
          </p:cNvPr>
          <p:cNvSpPr>
            <a:spLocks/>
          </p:cNvSpPr>
          <p:nvPr/>
        </p:nvSpPr>
        <p:spPr bwMode="auto">
          <a:xfrm>
            <a:off x="-6350" y="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762540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6" grpId="0" animBg="1"/>
      <p:bldP spid="27" grpId="0"/>
      <p:bldP spid="28" grpId="0" animBg="1"/>
      <p:bldP spid="29" grpId="0"/>
      <p:bldP spid="30" grpId="0" animBg="1"/>
      <p:bldP spid="34" grpId="0"/>
      <p:bldP spid="35" grpId="0"/>
      <p:bldP spid="3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698" name="Rectangle 2"/>
          <p:cNvSpPr>
            <a:spLocks noGrp="1" noChangeArrowheads="1"/>
          </p:cNvSpPr>
          <p:nvPr>
            <p:ph type="title"/>
          </p:nvPr>
        </p:nvSpPr>
        <p:spPr>
          <a:xfrm>
            <a:off x="302514" y="435678"/>
            <a:ext cx="8634582" cy="762000"/>
          </a:xfrm>
        </p:spPr>
        <p:txBody>
          <a:bodyPr/>
          <a:lstStyle/>
          <a:p>
            <a:r>
              <a:rPr lang="en-US" dirty="0"/>
              <a:t>Shared Variables in Threaded C Programs</a:t>
            </a:r>
          </a:p>
        </p:txBody>
      </p:sp>
      <p:sp>
        <p:nvSpPr>
          <p:cNvPr id="925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4457" y="1257300"/>
            <a:ext cx="8307387" cy="5143500"/>
          </a:xfrm>
        </p:spPr>
        <p:txBody>
          <a:bodyPr/>
          <a:lstStyle/>
          <a:p>
            <a:r>
              <a:rPr lang="en-US" dirty="0"/>
              <a:t>Question: Which variables  in a threaded C program are shared?</a:t>
            </a:r>
          </a:p>
          <a:p>
            <a:pPr lvl="1"/>
            <a:r>
              <a:rPr lang="en-US" dirty="0"/>
              <a:t>The answer is not as simple as “</a:t>
            </a:r>
            <a:r>
              <a:rPr lang="en-US" i="1" dirty="0"/>
              <a:t>global variables are shared</a:t>
            </a:r>
            <a:r>
              <a:rPr lang="en-US" dirty="0"/>
              <a:t>” and </a:t>
            </a:r>
            <a:br>
              <a:rPr lang="en-US" dirty="0"/>
            </a:br>
            <a:r>
              <a:rPr lang="en-US" dirty="0"/>
              <a:t>“</a:t>
            </a:r>
            <a:r>
              <a:rPr lang="en-US" i="1" dirty="0"/>
              <a:t>stack variables are private</a:t>
            </a:r>
            <a:r>
              <a:rPr lang="en-US" dirty="0"/>
              <a:t>”</a:t>
            </a:r>
          </a:p>
          <a:p>
            <a:endParaRPr lang="en-US" dirty="0"/>
          </a:p>
          <a:p>
            <a:r>
              <a:rPr lang="en-US" i="1" dirty="0" err="1"/>
              <a:t>Def</a:t>
            </a:r>
            <a:r>
              <a:rPr lang="en-US" i="1" dirty="0"/>
              <a:t>:</a:t>
            </a:r>
            <a:r>
              <a:rPr lang="en-US" dirty="0"/>
              <a:t> A variable </a:t>
            </a:r>
            <a:r>
              <a:rPr lang="en-US" dirty="0">
                <a:latin typeface="Courier New"/>
                <a:cs typeface="Courier New"/>
              </a:rPr>
              <a:t>x</a:t>
            </a:r>
            <a:r>
              <a:rPr lang="en-US" dirty="0"/>
              <a:t> is </a:t>
            </a:r>
            <a:r>
              <a:rPr lang="en-US" i="1" dirty="0"/>
              <a:t>shared </a:t>
            </a:r>
            <a:r>
              <a:rPr lang="en-US" dirty="0"/>
              <a:t>if and only if multiple threads reference some instance of </a:t>
            </a:r>
            <a:r>
              <a:rPr lang="en-US" dirty="0">
                <a:latin typeface="Courier New"/>
                <a:cs typeface="Courier New"/>
              </a:rPr>
              <a:t>x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Requires answers to the following questions:</a:t>
            </a:r>
          </a:p>
          <a:p>
            <a:pPr lvl="1"/>
            <a:r>
              <a:rPr lang="en-US" dirty="0"/>
              <a:t>What is the memory model for threads?</a:t>
            </a:r>
          </a:p>
          <a:p>
            <a:pPr lvl="1"/>
            <a:r>
              <a:rPr lang="en-US" dirty="0"/>
              <a:t>How are instances of variables mapped to memory?</a:t>
            </a:r>
          </a:p>
          <a:p>
            <a:pPr lvl="1"/>
            <a:r>
              <a:rPr lang="en-US" dirty="0"/>
              <a:t>How many threads might reference each of these instances?</a:t>
            </a:r>
            <a:endParaRPr lang="en-US" i="1" dirty="0"/>
          </a:p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C8FE02-EA30-07C5-C3D8-4991AE7A1719}"/>
              </a:ext>
            </a:extLst>
          </p:cNvPr>
          <p:cNvSpPr>
            <a:spLocks/>
          </p:cNvSpPr>
          <p:nvPr/>
        </p:nvSpPr>
        <p:spPr bwMode="auto">
          <a:xfrm>
            <a:off x="0" y="6636634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C5F69F-C456-0B58-4E6B-2FF7C04738DD}"/>
              </a:ext>
            </a:extLst>
          </p:cNvPr>
          <p:cNvSpPr>
            <a:spLocks/>
          </p:cNvSpPr>
          <p:nvPr/>
        </p:nvSpPr>
        <p:spPr bwMode="auto">
          <a:xfrm>
            <a:off x="-6350" y="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Threads Memory Model</a:t>
            </a:r>
          </a:p>
        </p:txBody>
      </p:sp>
      <p:sp>
        <p:nvSpPr>
          <p:cNvPr id="927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3375" y="1264238"/>
            <a:ext cx="8201025" cy="4972050"/>
          </a:xfrm>
        </p:spPr>
        <p:txBody>
          <a:bodyPr/>
          <a:lstStyle/>
          <a:p>
            <a:r>
              <a:rPr lang="en-US" dirty="0"/>
              <a:t>Conceptual model:</a:t>
            </a:r>
          </a:p>
          <a:p>
            <a:pPr lvl="1"/>
            <a:r>
              <a:rPr lang="en-US" dirty="0"/>
              <a:t>Multiple threads run within the context of a single process</a:t>
            </a:r>
          </a:p>
          <a:p>
            <a:pPr lvl="1"/>
            <a:r>
              <a:rPr lang="en-US" dirty="0"/>
              <a:t>Each thread has its own separate thread context</a:t>
            </a:r>
          </a:p>
          <a:p>
            <a:pPr lvl="2"/>
            <a:r>
              <a:rPr lang="en-US" sz="1600" dirty="0"/>
              <a:t>Thread ID, stack, stack pointer, PC, condition codes, and GP registers</a:t>
            </a:r>
          </a:p>
          <a:p>
            <a:pPr lvl="1"/>
            <a:r>
              <a:rPr lang="en-US" dirty="0"/>
              <a:t>All threads share the remaining process context</a:t>
            </a:r>
          </a:p>
          <a:p>
            <a:pPr lvl="2"/>
            <a:r>
              <a:rPr lang="en-US" sz="1600" dirty="0"/>
              <a:t>Code, data, heap, and shared library segments of the process virtual address space</a:t>
            </a:r>
          </a:p>
          <a:p>
            <a:pPr lvl="2"/>
            <a:r>
              <a:rPr lang="en-US" sz="1600" dirty="0"/>
              <a:t>Open files and installed handlers</a:t>
            </a:r>
          </a:p>
          <a:p>
            <a:r>
              <a:rPr lang="en-US" dirty="0"/>
              <a:t>Operationally, this model is not strictly enforced:</a:t>
            </a:r>
          </a:p>
          <a:p>
            <a:pPr lvl="1"/>
            <a:r>
              <a:rPr lang="en-US" dirty="0"/>
              <a:t>Register values are truly separate and protected, but…</a:t>
            </a:r>
          </a:p>
          <a:p>
            <a:pPr lvl="1"/>
            <a:r>
              <a:rPr lang="en-US" dirty="0"/>
              <a:t>Any thread can read and write the stack of any other thread</a:t>
            </a:r>
          </a:p>
          <a:p>
            <a:endParaRPr lang="en-US" sz="2000" dirty="0"/>
          </a:p>
          <a:p>
            <a:pPr>
              <a:buNone/>
            </a:pPr>
            <a:r>
              <a:rPr lang="en-US" i="1" dirty="0">
                <a:solidFill>
                  <a:srgbClr val="C00000"/>
                </a:solidFill>
              </a:rPr>
              <a:t>The mismatch between the conceptual and operation model </a:t>
            </a:r>
            <a:br>
              <a:rPr lang="en-US" i="1" dirty="0">
                <a:solidFill>
                  <a:srgbClr val="C00000"/>
                </a:solidFill>
              </a:rPr>
            </a:br>
            <a:r>
              <a:rPr lang="en-US" i="1" dirty="0">
                <a:solidFill>
                  <a:srgbClr val="C00000"/>
                </a:solidFill>
              </a:rPr>
              <a:t>is a source of confusion and errors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F4DEBF-0AAE-6B94-EF1C-8426AE08D178}"/>
              </a:ext>
            </a:extLst>
          </p:cNvPr>
          <p:cNvSpPr>
            <a:spLocks/>
          </p:cNvSpPr>
          <p:nvPr/>
        </p:nvSpPr>
        <p:spPr bwMode="auto">
          <a:xfrm>
            <a:off x="0" y="6636634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74D1E4-2415-19B9-2E8B-42188B30AE21}"/>
              </a:ext>
            </a:extLst>
          </p:cNvPr>
          <p:cNvSpPr>
            <a:spLocks/>
          </p:cNvSpPr>
          <p:nvPr/>
        </p:nvSpPr>
        <p:spPr bwMode="auto">
          <a:xfrm>
            <a:off x="-6350" y="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794" name="Rectangle 2"/>
          <p:cNvSpPr>
            <a:spLocks noGrp="1" noChangeArrowheads="1"/>
          </p:cNvSpPr>
          <p:nvPr>
            <p:ph type="title"/>
          </p:nvPr>
        </p:nvSpPr>
        <p:spPr>
          <a:xfrm>
            <a:off x="350962" y="435678"/>
            <a:ext cx="8507016" cy="762000"/>
          </a:xfrm>
        </p:spPr>
        <p:txBody>
          <a:bodyPr/>
          <a:lstStyle/>
          <a:p>
            <a:r>
              <a:rPr lang="en-US" dirty="0"/>
              <a:t>Example Program to Illustrate Sharing</a:t>
            </a:r>
          </a:p>
        </p:txBody>
      </p:sp>
      <p:sp>
        <p:nvSpPr>
          <p:cNvPr id="929795" name="Rectangle 3"/>
          <p:cNvSpPr>
            <a:spLocks noChangeArrowheads="1"/>
          </p:cNvSpPr>
          <p:nvPr/>
        </p:nvSpPr>
        <p:spPr bwMode="auto">
          <a:xfrm>
            <a:off x="76200" y="1419285"/>
            <a:ext cx="4267200" cy="4770537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sz="1600" dirty="0">
                <a:solidFill>
                  <a:srgbClr val="2D961E"/>
                </a:solidFill>
                <a:latin typeface="Menlo-Regular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**</a:t>
            </a:r>
            <a:r>
              <a:rPr lang="en-US" sz="1600" dirty="0" err="1">
                <a:solidFill>
                  <a:srgbClr val="C1651C"/>
                </a:solidFill>
                <a:latin typeface="Menlo-Regular"/>
              </a:rPr>
              <a:t>ptr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;  </a:t>
            </a:r>
            <a:r>
              <a:rPr lang="en-US" sz="1600" dirty="0">
                <a:solidFill>
                  <a:srgbClr val="CB2418"/>
                </a:solidFill>
                <a:latin typeface="Menlo-Regular"/>
              </a:rPr>
              <a:t>/* global var */</a:t>
            </a:r>
            <a:endParaRPr lang="en-US" sz="1600" dirty="0">
              <a:solidFill>
                <a:srgbClr val="000000"/>
              </a:solidFill>
              <a:latin typeface="Menlo-Regular"/>
            </a:endParaRPr>
          </a:p>
          <a:p>
            <a:endParaRPr lang="en-US" sz="1600" dirty="0">
              <a:solidFill>
                <a:srgbClr val="000000"/>
              </a:solidFill>
              <a:latin typeface="Menlo-Regular"/>
            </a:endParaRPr>
          </a:p>
          <a:p>
            <a:r>
              <a:rPr lang="en-US" sz="1600" dirty="0" err="1">
                <a:solidFill>
                  <a:srgbClr val="2D961E"/>
                </a:solidFill>
                <a:latin typeface="Menlo-Regular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600" dirty="0">
                <a:solidFill>
                  <a:srgbClr val="4A00FF"/>
                </a:solidFill>
                <a:latin typeface="Menlo-Regular"/>
              </a:rPr>
              <a:t>main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en-US" sz="1600" dirty="0">
                <a:solidFill>
                  <a:srgbClr val="2D961E"/>
                </a:solidFill>
                <a:latin typeface="Menlo-Regular"/>
              </a:rPr>
              <a:t>long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Menlo-Regular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en-US" sz="1600" dirty="0" err="1">
                <a:solidFill>
                  <a:srgbClr val="2D961E"/>
                </a:solidFill>
                <a:latin typeface="Menlo-Regular"/>
              </a:rPr>
              <a:t>pthread_t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Menlo-Regular"/>
              </a:rPr>
              <a:t>tid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;</a:t>
            </a:r>
          </a:p>
          <a:p>
            <a:r>
              <a:rPr lang="da-DK" sz="16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da-DK" sz="1600" dirty="0" err="1">
                <a:solidFill>
                  <a:srgbClr val="2D961E"/>
                </a:solidFill>
                <a:latin typeface="Menlo-Regular"/>
              </a:rPr>
              <a:t>char</a:t>
            </a:r>
            <a:r>
              <a:rPr lang="da-DK" sz="1600" dirty="0">
                <a:solidFill>
                  <a:srgbClr val="000000"/>
                </a:solidFill>
                <a:latin typeface="Menlo-Regular"/>
              </a:rPr>
              <a:t> *</a:t>
            </a:r>
            <a:r>
              <a:rPr lang="da-DK" sz="1600" dirty="0" err="1">
                <a:solidFill>
                  <a:srgbClr val="C1651C"/>
                </a:solidFill>
                <a:latin typeface="Menlo-Regular"/>
              </a:rPr>
              <a:t>msgs</a:t>
            </a:r>
            <a:r>
              <a:rPr lang="da-DK" sz="1600" dirty="0">
                <a:solidFill>
                  <a:srgbClr val="000000"/>
                </a:solidFill>
                <a:latin typeface="Menlo-Regular"/>
              </a:rPr>
              <a:t>[2] = {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    </a:t>
            </a:r>
            <a:r>
              <a:rPr lang="en-US" sz="1600" dirty="0">
                <a:solidFill>
                  <a:srgbClr val="9D206F"/>
                </a:solidFill>
                <a:latin typeface="Menlo-Regular"/>
              </a:rPr>
              <a:t>"Hello from foo"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,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    </a:t>
            </a:r>
            <a:r>
              <a:rPr lang="en-US" sz="1600" dirty="0">
                <a:solidFill>
                  <a:srgbClr val="9D206F"/>
                </a:solidFill>
                <a:latin typeface="Menlo-Regular"/>
              </a:rPr>
              <a:t>"Hello from bar"</a:t>
            </a:r>
            <a:endParaRPr lang="en-US" sz="1600" dirty="0">
              <a:solidFill>
                <a:srgbClr val="000000"/>
              </a:solidFill>
              <a:latin typeface="Menlo-Regular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};</a:t>
            </a:r>
          </a:p>
          <a:p>
            <a:endParaRPr lang="en-US" sz="1600" dirty="0">
              <a:solidFill>
                <a:srgbClr val="000000"/>
              </a:solidFill>
              <a:latin typeface="Menlo-Regular"/>
            </a:endParaRPr>
          </a:p>
          <a:p>
            <a:r>
              <a:rPr lang="ro-RO" sz="1600" dirty="0">
                <a:solidFill>
                  <a:srgbClr val="000000"/>
                </a:solidFill>
                <a:latin typeface="Menlo-Regular"/>
              </a:rPr>
              <a:t>    ptr = msgs;</a:t>
            </a:r>
          </a:p>
          <a:p>
            <a:r>
              <a:rPr lang="da-DK" sz="16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da-DK" sz="1600" dirty="0">
                <a:solidFill>
                  <a:srgbClr val="C200FF"/>
                </a:solidFill>
                <a:latin typeface="Menlo-Regular"/>
              </a:rPr>
              <a:t>for</a:t>
            </a:r>
            <a:r>
              <a:rPr lang="da-DK" sz="1600" dirty="0">
                <a:solidFill>
                  <a:srgbClr val="000000"/>
                </a:solidFill>
                <a:latin typeface="Menlo-Regular"/>
              </a:rPr>
              <a:t> (i = 0; i &lt; 2; i++)</a:t>
            </a:r>
          </a:p>
          <a:p>
            <a:r>
              <a:rPr lang="da-DK" sz="1600" dirty="0">
                <a:solidFill>
                  <a:srgbClr val="000000"/>
                </a:solidFill>
                <a:latin typeface="Menlo-Regular"/>
              </a:rPr>
              <a:t>        </a:t>
            </a:r>
            <a:r>
              <a:rPr lang="da-DK" sz="1600" dirty="0" err="1">
                <a:solidFill>
                  <a:srgbClr val="000000"/>
                </a:solidFill>
                <a:latin typeface="Menlo-Regular"/>
              </a:rPr>
              <a:t>Pthread_create</a:t>
            </a:r>
            <a:r>
              <a:rPr lang="da-DK" sz="1600" dirty="0">
                <a:solidFill>
                  <a:srgbClr val="000000"/>
                </a:solidFill>
                <a:latin typeface="Menlo-Regular"/>
              </a:rPr>
              <a:t>(&amp;tid, </a:t>
            </a:r>
          </a:p>
          <a:p>
            <a:r>
              <a:rPr lang="da-DK" sz="1600" dirty="0">
                <a:solidFill>
                  <a:srgbClr val="000000"/>
                </a:solidFill>
                <a:latin typeface="Menlo-Regular"/>
              </a:rPr>
              <a:t>            </a:t>
            </a:r>
            <a:r>
              <a:rPr lang="da-DK" sz="1600" dirty="0">
                <a:solidFill>
                  <a:srgbClr val="2C9290"/>
                </a:solidFill>
                <a:latin typeface="Menlo-Regular"/>
              </a:rPr>
              <a:t>NULL</a:t>
            </a:r>
            <a:r>
              <a:rPr lang="da-DK" sz="1600" dirty="0">
                <a:solidFill>
                  <a:srgbClr val="000000"/>
                </a:solidFill>
                <a:latin typeface="Menlo-Regular"/>
              </a:rPr>
              <a:t>, </a:t>
            </a:r>
          </a:p>
          <a:p>
            <a:r>
              <a:rPr lang="da-DK" sz="1600" dirty="0">
                <a:solidFill>
                  <a:srgbClr val="000000"/>
                </a:solidFill>
                <a:latin typeface="Menlo-Regular"/>
              </a:rPr>
              <a:t>            </a:t>
            </a:r>
            <a:r>
              <a:rPr lang="da-DK" sz="1600" dirty="0" err="1">
                <a:solidFill>
                  <a:srgbClr val="000000"/>
                </a:solidFill>
                <a:latin typeface="Menlo-Regular"/>
              </a:rPr>
              <a:t>thread</a:t>
            </a:r>
            <a:r>
              <a:rPr lang="da-DK" sz="1600" dirty="0">
                <a:solidFill>
                  <a:srgbClr val="000000"/>
                </a:solidFill>
                <a:latin typeface="Menlo-Regular"/>
              </a:rPr>
              <a:t>, </a:t>
            </a:r>
          </a:p>
          <a:p>
            <a:r>
              <a:rPr lang="da-DK" sz="1600" dirty="0">
                <a:solidFill>
                  <a:srgbClr val="000000"/>
                </a:solidFill>
                <a:latin typeface="Menlo-Regular"/>
              </a:rPr>
              <a:t>            (</a:t>
            </a:r>
            <a:r>
              <a:rPr lang="da-DK" sz="1600" dirty="0" err="1">
                <a:solidFill>
                  <a:srgbClr val="2D961E"/>
                </a:solidFill>
                <a:latin typeface="Menlo-Regular"/>
              </a:rPr>
              <a:t>void</a:t>
            </a:r>
            <a:r>
              <a:rPr lang="da-DK" sz="1600" dirty="0">
                <a:solidFill>
                  <a:srgbClr val="000000"/>
                </a:solidFill>
                <a:latin typeface="Menlo-Regular"/>
              </a:rPr>
              <a:t> *)i);</a:t>
            </a:r>
          </a:p>
          <a:p>
            <a:r>
              <a:rPr lang="da-DK" sz="16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da-DK" sz="1600" dirty="0" err="1">
                <a:solidFill>
                  <a:srgbClr val="000000"/>
                </a:solidFill>
                <a:latin typeface="Menlo-Regular"/>
              </a:rPr>
              <a:t>Pthread_exit</a:t>
            </a:r>
            <a:r>
              <a:rPr lang="da-DK" sz="1600" dirty="0">
                <a:solidFill>
                  <a:srgbClr val="000000"/>
                </a:solidFill>
                <a:latin typeface="Menlo-Regular"/>
              </a:rPr>
              <a:t>(</a:t>
            </a:r>
            <a:r>
              <a:rPr lang="da-DK" sz="1600" dirty="0">
                <a:solidFill>
                  <a:srgbClr val="2C9290"/>
                </a:solidFill>
                <a:latin typeface="Menlo-Regular"/>
              </a:rPr>
              <a:t>NULL</a:t>
            </a:r>
            <a:r>
              <a:rPr lang="da-DK" sz="1600" dirty="0">
                <a:solidFill>
                  <a:srgbClr val="000000"/>
                </a:solidFill>
                <a:latin typeface="Menlo-Regular"/>
              </a:rPr>
              <a:t>);</a:t>
            </a:r>
          </a:p>
          <a:p>
            <a:r>
              <a:rPr lang="da-DK" sz="1600" dirty="0">
                <a:solidFill>
                  <a:srgbClr val="000000"/>
                </a:solidFill>
                <a:latin typeface="Menlo-Regular"/>
              </a:rPr>
              <a:t>}</a:t>
            </a:r>
          </a:p>
        </p:txBody>
      </p:sp>
      <p:sp>
        <p:nvSpPr>
          <p:cNvPr id="929796" name="Rectangle 4"/>
          <p:cNvSpPr>
            <a:spLocks noChangeArrowheads="1"/>
          </p:cNvSpPr>
          <p:nvPr/>
        </p:nvSpPr>
        <p:spPr bwMode="auto">
          <a:xfrm>
            <a:off x="4572000" y="1447800"/>
            <a:ext cx="4508265" cy="2308324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600" dirty="0">
                <a:solidFill>
                  <a:srgbClr val="2D961E"/>
                </a:solidFill>
                <a:latin typeface="Menlo-Regular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*</a:t>
            </a:r>
            <a:r>
              <a:rPr lang="en-US" sz="1600" dirty="0">
                <a:solidFill>
                  <a:srgbClr val="4A00FF"/>
                </a:solidFill>
                <a:latin typeface="Menlo-Regular"/>
              </a:rPr>
              <a:t>thread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(</a:t>
            </a:r>
            <a:r>
              <a:rPr lang="en-US" sz="1600" dirty="0">
                <a:solidFill>
                  <a:srgbClr val="2D961E"/>
                </a:solidFill>
                <a:latin typeface="Menlo-Regular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*</a:t>
            </a:r>
            <a:r>
              <a:rPr lang="en-US" sz="1600" dirty="0" err="1">
                <a:solidFill>
                  <a:srgbClr val="C1651C"/>
                </a:solidFill>
                <a:latin typeface="Menlo-Regular"/>
              </a:rPr>
              <a:t>vargp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en-US" sz="1600" dirty="0">
                <a:solidFill>
                  <a:srgbClr val="2D961E"/>
                </a:solidFill>
                <a:latin typeface="Menlo-Regular"/>
              </a:rPr>
              <a:t>long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Menlo-Regular"/>
              </a:rPr>
              <a:t>myid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= (</a:t>
            </a:r>
            <a:r>
              <a:rPr lang="en-US" sz="1600" dirty="0">
                <a:solidFill>
                  <a:srgbClr val="2D961E"/>
                </a:solidFill>
                <a:latin typeface="Menlo-Regular"/>
              </a:rPr>
              <a:t>long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)</a:t>
            </a:r>
            <a:r>
              <a:rPr lang="en-US" sz="1600" dirty="0" err="1">
                <a:solidFill>
                  <a:srgbClr val="000000"/>
                </a:solidFill>
                <a:latin typeface="Menlo-Regular"/>
              </a:rPr>
              <a:t>vargp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Menlo-Regular"/>
              </a:rPr>
              <a:t>static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600" dirty="0" err="1">
                <a:solidFill>
                  <a:srgbClr val="2D961E"/>
                </a:solidFill>
                <a:latin typeface="Menlo-Regular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Menlo-Regular"/>
              </a:rPr>
              <a:t>cnt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= 0;</a:t>
            </a:r>
          </a:p>
          <a:p>
            <a:endParaRPr lang="en-US" sz="1600" dirty="0">
              <a:solidFill>
                <a:srgbClr val="000000"/>
              </a:solidFill>
              <a:latin typeface="Menlo-Regular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Menlo-Regular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(</a:t>
            </a:r>
            <a:r>
              <a:rPr lang="en-US" sz="1600" dirty="0">
                <a:solidFill>
                  <a:srgbClr val="9D206F"/>
                </a:solidFill>
                <a:latin typeface="Menlo-Regular"/>
              </a:rPr>
              <a:t>"[%</a:t>
            </a:r>
            <a:r>
              <a:rPr lang="en-US" sz="1600" dirty="0" err="1">
                <a:solidFill>
                  <a:srgbClr val="9D206F"/>
                </a:solidFill>
                <a:latin typeface="Menlo-Regular"/>
              </a:rPr>
              <a:t>ld</a:t>
            </a:r>
            <a:r>
              <a:rPr lang="en-US" sz="1600" dirty="0">
                <a:solidFill>
                  <a:srgbClr val="9D206F"/>
                </a:solidFill>
                <a:latin typeface="Menlo-Regular"/>
              </a:rPr>
              <a:t>]:  %s (</a:t>
            </a:r>
            <a:r>
              <a:rPr lang="en-US" sz="1600" dirty="0" err="1">
                <a:solidFill>
                  <a:srgbClr val="9D206F"/>
                </a:solidFill>
                <a:latin typeface="Menlo-Regular"/>
              </a:rPr>
              <a:t>cnt</a:t>
            </a:r>
            <a:r>
              <a:rPr lang="en-US" sz="1600" dirty="0">
                <a:solidFill>
                  <a:srgbClr val="9D206F"/>
                </a:solidFill>
                <a:latin typeface="Menlo-Regular"/>
              </a:rPr>
              <a:t>=%d)\n"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, 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     </a:t>
            </a:r>
            <a:r>
              <a:rPr lang="en-US" sz="1600" dirty="0" err="1">
                <a:solidFill>
                  <a:srgbClr val="000000"/>
                </a:solidFill>
                <a:latin typeface="Menlo-Regular"/>
              </a:rPr>
              <a:t>myid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Menlo-Regular"/>
              </a:rPr>
              <a:t>ptr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[</a:t>
            </a:r>
            <a:r>
              <a:rPr lang="en-US" sz="1600" dirty="0" err="1">
                <a:solidFill>
                  <a:srgbClr val="000000"/>
                </a:solidFill>
                <a:latin typeface="Menlo-Regular"/>
              </a:rPr>
              <a:t>myid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], ++</a:t>
            </a:r>
            <a:r>
              <a:rPr lang="en-US" sz="1600" dirty="0" err="1">
                <a:solidFill>
                  <a:srgbClr val="000000"/>
                </a:solidFill>
                <a:latin typeface="Menlo-Regular"/>
              </a:rPr>
              <a:t>cnt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Menlo-Regular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600" dirty="0">
                <a:solidFill>
                  <a:srgbClr val="2C9290"/>
                </a:solidFill>
                <a:latin typeface="Menlo-Regular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}</a:t>
            </a:r>
          </a:p>
        </p:txBody>
      </p:sp>
      <p:sp>
        <p:nvSpPr>
          <p:cNvPr id="929797" name="Text Box 5"/>
          <p:cNvSpPr txBox="1">
            <a:spLocks noChangeArrowheads="1"/>
          </p:cNvSpPr>
          <p:nvPr/>
        </p:nvSpPr>
        <p:spPr bwMode="auto">
          <a:xfrm>
            <a:off x="4660665" y="3912512"/>
            <a:ext cx="4320614" cy="55399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tIns="0" bIns="0" anchor="ctr">
            <a:spAutoFit/>
          </a:bodyPr>
          <a:lstStyle/>
          <a:p>
            <a:r>
              <a:rPr lang="en-US" sz="1800" i="1" dirty="0">
                <a:latin typeface="+mn-lt"/>
              </a:rPr>
              <a:t>Peer threads reference main thread’s stack</a:t>
            </a:r>
          </a:p>
          <a:p>
            <a:r>
              <a:rPr lang="en-US" sz="1800" i="1" dirty="0">
                <a:latin typeface="+mn-lt"/>
              </a:rPr>
              <a:t>indirectly through global </a:t>
            </a:r>
            <a:r>
              <a:rPr lang="en-US" sz="1800" i="1" dirty="0" err="1">
                <a:latin typeface="+mn-lt"/>
              </a:rPr>
              <a:t>ptr</a:t>
            </a:r>
            <a:r>
              <a:rPr lang="en-US" sz="1800" i="1" dirty="0">
                <a:latin typeface="+mn-lt"/>
              </a:rPr>
              <a:t> variable</a:t>
            </a:r>
            <a:endParaRPr lang="en-US" sz="1800" dirty="0">
              <a:latin typeface="+mn-lt"/>
            </a:endParaRPr>
          </a:p>
        </p:txBody>
      </p:sp>
      <p:sp>
        <p:nvSpPr>
          <p:cNvPr id="929798" name="Line 6"/>
          <p:cNvSpPr>
            <a:spLocks noChangeShapeType="1"/>
          </p:cNvSpPr>
          <p:nvPr/>
        </p:nvSpPr>
        <p:spPr bwMode="auto">
          <a:xfrm flipV="1">
            <a:off x="6181490" y="3239412"/>
            <a:ext cx="520700" cy="6731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tIns="0" bIns="0" anchor="ctr"/>
          <a:lstStyle/>
          <a:p>
            <a:endParaRPr lang="en-US" dirty="0">
              <a:ln>
                <a:solidFill>
                  <a:srgbClr val="FF0000"/>
                </a:solidFill>
              </a:ln>
              <a:latin typeface="Calibri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52800" y="5879068"/>
            <a:ext cx="1044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solidFill>
                  <a:srgbClr val="7F7F7F"/>
                </a:solidFill>
                <a:latin typeface="Calibri" pitchFamily="34" charset="0"/>
              </a:rPr>
              <a:t>sharing.c</a:t>
            </a:r>
            <a:endParaRPr lang="en-US" sz="1800" dirty="0">
              <a:solidFill>
                <a:srgbClr val="7F7F7F"/>
              </a:solidFill>
              <a:latin typeface="Calibri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86E72D-F647-1B07-87EF-105F1274BBA2}"/>
              </a:ext>
            </a:extLst>
          </p:cNvPr>
          <p:cNvSpPr>
            <a:spLocks/>
          </p:cNvSpPr>
          <p:nvPr/>
        </p:nvSpPr>
        <p:spPr bwMode="auto">
          <a:xfrm>
            <a:off x="0" y="6636634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B9C94E-FA55-671F-156A-2EA29332039B}"/>
              </a:ext>
            </a:extLst>
          </p:cNvPr>
          <p:cNvSpPr>
            <a:spLocks/>
          </p:cNvSpPr>
          <p:nvPr/>
        </p:nvSpPr>
        <p:spPr bwMode="auto">
          <a:xfrm>
            <a:off x="-6350" y="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9797" grpId="0"/>
      <p:bldP spid="92979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8482182" cy="762000"/>
          </a:xfrm>
        </p:spPr>
        <p:txBody>
          <a:bodyPr/>
          <a:lstStyle/>
          <a:p>
            <a:r>
              <a:rPr lang="en-US" dirty="0"/>
              <a:t>Mapping Variable Instances to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362075"/>
            <a:ext cx="8442325" cy="4972050"/>
          </a:xfrm>
        </p:spPr>
        <p:txBody>
          <a:bodyPr/>
          <a:lstStyle/>
          <a:p>
            <a:r>
              <a:rPr lang="en-US" dirty="0"/>
              <a:t>Global variables</a:t>
            </a:r>
          </a:p>
          <a:p>
            <a:pPr lvl="1"/>
            <a:r>
              <a:rPr lang="en-US" i="1" dirty="0"/>
              <a:t>Def:</a:t>
            </a:r>
            <a:r>
              <a:rPr lang="en-US" dirty="0"/>
              <a:t>  Variable declared outside of a function</a:t>
            </a:r>
          </a:p>
          <a:p>
            <a:pPr lvl="1"/>
            <a:r>
              <a:rPr lang="en-US" b="1" dirty="0">
                <a:solidFill>
                  <a:srgbClr val="990000"/>
                </a:solidFill>
              </a:rPr>
              <a:t>Virtual memory contains exactly one instance of any global variable</a:t>
            </a:r>
          </a:p>
          <a:p>
            <a:pPr lvl="1">
              <a:buNone/>
            </a:pPr>
            <a:endParaRPr lang="en-US" dirty="0"/>
          </a:p>
          <a:p>
            <a:r>
              <a:rPr lang="en-US" dirty="0"/>
              <a:t>Local variables</a:t>
            </a:r>
          </a:p>
          <a:p>
            <a:pPr lvl="1"/>
            <a:r>
              <a:rPr lang="en-US" i="1" dirty="0"/>
              <a:t>Def:</a:t>
            </a:r>
            <a:r>
              <a:rPr lang="en-US" dirty="0"/>
              <a:t> Variable declared inside function without  </a:t>
            </a:r>
            <a:r>
              <a:rPr lang="en-US" dirty="0">
                <a:latin typeface="Courier New"/>
                <a:cs typeface="Courier New"/>
              </a:rPr>
              <a:t>static</a:t>
            </a:r>
            <a:r>
              <a:rPr lang="en-US" dirty="0"/>
              <a:t> attribute</a:t>
            </a:r>
          </a:p>
          <a:p>
            <a:pPr lvl="1"/>
            <a:r>
              <a:rPr lang="en-US" b="1" dirty="0">
                <a:solidFill>
                  <a:srgbClr val="990000"/>
                </a:solidFill>
              </a:rPr>
              <a:t>Each thread stack contains one instance of each local variable</a:t>
            </a:r>
          </a:p>
          <a:p>
            <a:pPr lvl="1"/>
            <a:endParaRPr lang="en-US" dirty="0"/>
          </a:p>
          <a:p>
            <a:r>
              <a:rPr lang="en-US" dirty="0"/>
              <a:t>Local static variables</a:t>
            </a:r>
          </a:p>
          <a:p>
            <a:pPr lvl="1"/>
            <a:r>
              <a:rPr lang="en-US" i="1" dirty="0"/>
              <a:t>Def: </a:t>
            </a:r>
            <a:r>
              <a:rPr lang="en-US" dirty="0"/>
              <a:t> Variable declared inside  function with the </a:t>
            </a:r>
            <a:r>
              <a:rPr lang="en-US" dirty="0">
                <a:latin typeface="Courier New"/>
                <a:cs typeface="Courier New"/>
              </a:rPr>
              <a:t>static</a:t>
            </a:r>
            <a:r>
              <a:rPr lang="en-US" dirty="0"/>
              <a:t> attribute</a:t>
            </a:r>
          </a:p>
          <a:p>
            <a:pPr lvl="1"/>
            <a:r>
              <a:rPr lang="en-US" b="1" dirty="0">
                <a:solidFill>
                  <a:srgbClr val="990000"/>
                </a:solidFill>
              </a:rPr>
              <a:t>Virtual memory contains exactly one instance of any local static variable.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F46128-0DCB-8E34-99E4-AF61F3BE55C2}"/>
              </a:ext>
            </a:extLst>
          </p:cNvPr>
          <p:cNvSpPr>
            <a:spLocks/>
          </p:cNvSpPr>
          <p:nvPr/>
        </p:nvSpPr>
        <p:spPr bwMode="auto">
          <a:xfrm>
            <a:off x="0" y="6636634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97343B-0439-DE6F-A4FE-CF52D07C0DC5}"/>
              </a:ext>
            </a:extLst>
          </p:cNvPr>
          <p:cNvSpPr>
            <a:spLocks/>
          </p:cNvSpPr>
          <p:nvPr/>
        </p:nvSpPr>
        <p:spPr bwMode="auto">
          <a:xfrm>
            <a:off x="-6350" y="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3"/>
          <p:cNvSpPr>
            <a:spLocks noChangeArrowheads="1"/>
          </p:cNvSpPr>
          <p:nvPr/>
        </p:nvSpPr>
        <p:spPr bwMode="auto">
          <a:xfrm>
            <a:off x="76200" y="1828800"/>
            <a:ext cx="4267200" cy="4770537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sz="1600" dirty="0">
                <a:solidFill>
                  <a:srgbClr val="2D961E"/>
                </a:solidFill>
                <a:latin typeface="Menlo-Regular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**</a:t>
            </a:r>
            <a:r>
              <a:rPr lang="en-US" sz="1600" dirty="0" err="1">
                <a:solidFill>
                  <a:srgbClr val="C1651C"/>
                </a:solidFill>
                <a:latin typeface="Menlo-Regular"/>
              </a:rPr>
              <a:t>ptr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;  </a:t>
            </a:r>
            <a:r>
              <a:rPr lang="en-US" sz="1600" dirty="0">
                <a:solidFill>
                  <a:srgbClr val="CB2418"/>
                </a:solidFill>
                <a:latin typeface="Menlo-Regular"/>
              </a:rPr>
              <a:t>/* global </a:t>
            </a:r>
            <a:r>
              <a:rPr lang="en-US" sz="1600" dirty="0" err="1">
                <a:solidFill>
                  <a:srgbClr val="CB2418"/>
                </a:solidFill>
                <a:latin typeface="Menlo-Regular"/>
              </a:rPr>
              <a:t>var</a:t>
            </a:r>
            <a:r>
              <a:rPr lang="en-US" sz="1600" dirty="0">
                <a:solidFill>
                  <a:srgbClr val="CB2418"/>
                </a:solidFill>
                <a:latin typeface="Menlo-Regular"/>
              </a:rPr>
              <a:t> */</a:t>
            </a:r>
            <a:endParaRPr lang="en-US" sz="1600" dirty="0">
              <a:solidFill>
                <a:srgbClr val="000000"/>
              </a:solidFill>
              <a:latin typeface="Menlo-Regular"/>
            </a:endParaRPr>
          </a:p>
          <a:p>
            <a:endParaRPr lang="en-US" sz="1600" dirty="0">
              <a:solidFill>
                <a:srgbClr val="000000"/>
              </a:solidFill>
              <a:latin typeface="Menlo-Regular"/>
            </a:endParaRPr>
          </a:p>
          <a:p>
            <a:r>
              <a:rPr lang="en-US" sz="1600" dirty="0" err="1">
                <a:solidFill>
                  <a:srgbClr val="2D961E"/>
                </a:solidFill>
                <a:latin typeface="Menlo-Regular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600" dirty="0">
                <a:solidFill>
                  <a:srgbClr val="4A00FF"/>
                </a:solidFill>
                <a:latin typeface="Menlo-Regular"/>
              </a:rPr>
              <a:t>main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en-US" sz="1600" dirty="0">
                <a:solidFill>
                  <a:srgbClr val="2D961E"/>
                </a:solidFill>
                <a:latin typeface="Menlo-Regular"/>
              </a:rPr>
              <a:t>long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Menlo-Regular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en-US" sz="1600" dirty="0" err="1">
                <a:solidFill>
                  <a:srgbClr val="2D961E"/>
                </a:solidFill>
                <a:latin typeface="Menlo-Regular"/>
              </a:rPr>
              <a:t>pthread_t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Menlo-Regular"/>
              </a:rPr>
              <a:t>tid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;</a:t>
            </a:r>
          </a:p>
          <a:p>
            <a:r>
              <a:rPr lang="da-DK" sz="16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da-DK" sz="1600" dirty="0" err="1">
                <a:solidFill>
                  <a:srgbClr val="2D961E"/>
                </a:solidFill>
                <a:latin typeface="Menlo-Regular"/>
              </a:rPr>
              <a:t>char</a:t>
            </a:r>
            <a:r>
              <a:rPr lang="da-DK" sz="1600" dirty="0">
                <a:solidFill>
                  <a:srgbClr val="000000"/>
                </a:solidFill>
                <a:latin typeface="Menlo-Regular"/>
              </a:rPr>
              <a:t> *</a:t>
            </a:r>
            <a:r>
              <a:rPr lang="da-DK" sz="1600" dirty="0" err="1">
                <a:solidFill>
                  <a:srgbClr val="C1651C"/>
                </a:solidFill>
                <a:latin typeface="Menlo-Regular"/>
              </a:rPr>
              <a:t>msgs</a:t>
            </a:r>
            <a:r>
              <a:rPr lang="da-DK" sz="1600" dirty="0">
                <a:solidFill>
                  <a:srgbClr val="000000"/>
                </a:solidFill>
                <a:latin typeface="Menlo-Regular"/>
              </a:rPr>
              <a:t>[2] = {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    </a:t>
            </a:r>
            <a:r>
              <a:rPr lang="en-US" sz="1600" dirty="0">
                <a:solidFill>
                  <a:srgbClr val="9D206F"/>
                </a:solidFill>
                <a:latin typeface="Menlo-Regular"/>
              </a:rPr>
              <a:t>"Hello from foo"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,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    </a:t>
            </a:r>
            <a:r>
              <a:rPr lang="en-US" sz="1600" dirty="0">
                <a:solidFill>
                  <a:srgbClr val="9D206F"/>
                </a:solidFill>
                <a:latin typeface="Menlo-Regular"/>
              </a:rPr>
              <a:t>"Hello from bar"</a:t>
            </a:r>
            <a:endParaRPr lang="en-US" sz="1600" dirty="0">
              <a:solidFill>
                <a:srgbClr val="000000"/>
              </a:solidFill>
              <a:latin typeface="Menlo-Regular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};</a:t>
            </a:r>
          </a:p>
          <a:p>
            <a:endParaRPr lang="en-US" sz="1600" dirty="0">
              <a:solidFill>
                <a:srgbClr val="000000"/>
              </a:solidFill>
              <a:latin typeface="Menlo-Regular"/>
            </a:endParaRPr>
          </a:p>
          <a:p>
            <a:r>
              <a:rPr lang="ro-RO" sz="1600" dirty="0">
                <a:solidFill>
                  <a:srgbClr val="000000"/>
                </a:solidFill>
                <a:latin typeface="Menlo-Regular"/>
              </a:rPr>
              <a:t>    ptr = msgs;</a:t>
            </a:r>
          </a:p>
          <a:p>
            <a:r>
              <a:rPr lang="da-DK" sz="16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da-DK" sz="1600" dirty="0">
                <a:solidFill>
                  <a:srgbClr val="C200FF"/>
                </a:solidFill>
                <a:latin typeface="Menlo-Regular"/>
              </a:rPr>
              <a:t>for</a:t>
            </a:r>
            <a:r>
              <a:rPr lang="da-DK" sz="1600" dirty="0">
                <a:solidFill>
                  <a:srgbClr val="000000"/>
                </a:solidFill>
                <a:latin typeface="Menlo-Regular"/>
              </a:rPr>
              <a:t> (i = 0; i &lt; 2; i++)</a:t>
            </a:r>
          </a:p>
          <a:p>
            <a:r>
              <a:rPr lang="da-DK" sz="1600" dirty="0">
                <a:solidFill>
                  <a:srgbClr val="000000"/>
                </a:solidFill>
                <a:latin typeface="Menlo-Regular"/>
              </a:rPr>
              <a:t>        </a:t>
            </a:r>
            <a:r>
              <a:rPr lang="da-DK" sz="1600" dirty="0" err="1">
                <a:solidFill>
                  <a:srgbClr val="000000"/>
                </a:solidFill>
                <a:latin typeface="Menlo-Regular"/>
              </a:rPr>
              <a:t>Pthread_create</a:t>
            </a:r>
            <a:r>
              <a:rPr lang="da-DK" sz="1600" dirty="0">
                <a:solidFill>
                  <a:srgbClr val="000000"/>
                </a:solidFill>
                <a:latin typeface="Menlo-Regular"/>
              </a:rPr>
              <a:t>(&amp;tid, </a:t>
            </a:r>
          </a:p>
          <a:p>
            <a:r>
              <a:rPr lang="da-DK" sz="1600" dirty="0">
                <a:solidFill>
                  <a:srgbClr val="000000"/>
                </a:solidFill>
                <a:latin typeface="Menlo-Regular"/>
              </a:rPr>
              <a:t>            </a:t>
            </a:r>
            <a:r>
              <a:rPr lang="da-DK" sz="1600" dirty="0">
                <a:solidFill>
                  <a:srgbClr val="2C9290"/>
                </a:solidFill>
                <a:latin typeface="Menlo-Regular"/>
              </a:rPr>
              <a:t>NULL</a:t>
            </a:r>
            <a:r>
              <a:rPr lang="da-DK" sz="1600" dirty="0">
                <a:solidFill>
                  <a:srgbClr val="000000"/>
                </a:solidFill>
                <a:latin typeface="Menlo-Regular"/>
              </a:rPr>
              <a:t>, </a:t>
            </a:r>
          </a:p>
          <a:p>
            <a:r>
              <a:rPr lang="da-DK" sz="1600" dirty="0">
                <a:solidFill>
                  <a:srgbClr val="000000"/>
                </a:solidFill>
                <a:latin typeface="Menlo-Regular"/>
              </a:rPr>
              <a:t>            </a:t>
            </a:r>
            <a:r>
              <a:rPr lang="da-DK" sz="1600" dirty="0" err="1">
                <a:solidFill>
                  <a:srgbClr val="000000"/>
                </a:solidFill>
                <a:latin typeface="Menlo-Regular"/>
              </a:rPr>
              <a:t>thread</a:t>
            </a:r>
            <a:r>
              <a:rPr lang="da-DK" sz="1600" dirty="0">
                <a:solidFill>
                  <a:srgbClr val="000000"/>
                </a:solidFill>
                <a:latin typeface="Menlo-Regular"/>
              </a:rPr>
              <a:t>, </a:t>
            </a:r>
          </a:p>
          <a:p>
            <a:r>
              <a:rPr lang="da-DK" sz="1600" dirty="0">
                <a:solidFill>
                  <a:srgbClr val="000000"/>
                </a:solidFill>
                <a:latin typeface="Menlo-Regular"/>
              </a:rPr>
              <a:t>            (</a:t>
            </a:r>
            <a:r>
              <a:rPr lang="da-DK" sz="1600" dirty="0" err="1">
                <a:solidFill>
                  <a:srgbClr val="2D961E"/>
                </a:solidFill>
                <a:latin typeface="Menlo-Regular"/>
              </a:rPr>
              <a:t>void</a:t>
            </a:r>
            <a:r>
              <a:rPr lang="da-DK" sz="1600" dirty="0">
                <a:solidFill>
                  <a:srgbClr val="000000"/>
                </a:solidFill>
                <a:latin typeface="Menlo-Regular"/>
              </a:rPr>
              <a:t> *)i);</a:t>
            </a:r>
          </a:p>
          <a:p>
            <a:r>
              <a:rPr lang="da-DK" sz="16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da-DK" sz="1600" dirty="0" err="1">
                <a:solidFill>
                  <a:srgbClr val="000000"/>
                </a:solidFill>
                <a:latin typeface="Menlo-Regular"/>
              </a:rPr>
              <a:t>Pthread_exit</a:t>
            </a:r>
            <a:r>
              <a:rPr lang="da-DK" sz="1600" dirty="0">
                <a:solidFill>
                  <a:srgbClr val="000000"/>
                </a:solidFill>
                <a:latin typeface="Menlo-Regular"/>
              </a:rPr>
              <a:t>(</a:t>
            </a:r>
            <a:r>
              <a:rPr lang="da-DK" sz="1600" dirty="0">
                <a:solidFill>
                  <a:srgbClr val="2C9290"/>
                </a:solidFill>
                <a:latin typeface="Menlo-Regular"/>
              </a:rPr>
              <a:t>NULL</a:t>
            </a:r>
            <a:r>
              <a:rPr lang="da-DK" sz="1600" dirty="0">
                <a:solidFill>
                  <a:srgbClr val="000000"/>
                </a:solidFill>
                <a:latin typeface="Menlo-Regular"/>
              </a:rPr>
              <a:t>);</a:t>
            </a:r>
          </a:p>
          <a:p>
            <a:r>
              <a:rPr lang="da-DK" sz="1600" dirty="0">
                <a:solidFill>
                  <a:srgbClr val="000000"/>
                </a:solidFill>
                <a:latin typeface="Menlo-Regular"/>
              </a:rPr>
              <a:t>}</a:t>
            </a:r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4495800" y="3559076"/>
            <a:ext cx="4508265" cy="2308324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600" dirty="0">
                <a:solidFill>
                  <a:srgbClr val="2D961E"/>
                </a:solidFill>
                <a:latin typeface="Menlo-Regular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*</a:t>
            </a:r>
            <a:r>
              <a:rPr lang="en-US" sz="1600" dirty="0">
                <a:solidFill>
                  <a:srgbClr val="4A00FF"/>
                </a:solidFill>
                <a:latin typeface="Menlo-Regular"/>
              </a:rPr>
              <a:t>thread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(</a:t>
            </a:r>
            <a:r>
              <a:rPr lang="en-US" sz="1600" dirty="0">
                <a:solidFill>
                  <a:srgbClr val="2D961E"/>
                </a:solidFill>
                <a:latin typeface="Menlo-Regular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*</a:t>
            </a:r>
            <a:r>
              <a:rPr lang="en-US" sz="1600" dirty="0" err="1">
                <a:solidFill>
                  <a:srgbClr val="C1651C"/>
                </a:solidFill>
                <a:latin typeface="Menlo-Regular"/>
              </a:rPr>
              <a:t>vargp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en-US" sz="1600" dirty="0">
                <a:solidFill>
                  <a:srgbClr val="2D961E"/>
                </a:solidFill>
                <a:latin typeface="Menlo-Regular"/>
              </a:rPr>
              <a:t>long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Menlo-Regular"/>
              </a:rPr>
              <a:t>myid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= (</a:t>
            </a:r>
            <a:r>
              <a:rPr lang="en-US" sz="1600" dirty="0">
                <a:solidFill>
                  <a:srgbClr val="2D961E"/>
                </a:solidFill>
                <a:latin typeface="Menlo-Regular"/>
              </a:rPr>
              <a:t>long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)</a:t>
            </a:r>
            <a:r>
              <a:rPr lang="en-US" sz="1600" dirty="0" err="1">
                <a:solidFill>
                  <a:srgbClr val="000000"/>
                </a:solidFill>
                <a:latin typeface="Menlo-Regular"/>
              </a:rPr>
              <a:t>vargp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Menlo-Regular"/>
              </a:rPr>
              <a:t>static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600" dirty="0" err="1">
                <a:solidFill>
                  <a:srgbClr val="2D961E"/>
                </a:solidFill>
                <a:latin typeface="Menlo-Regular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Menlo-Regular"/>
              </a:rPr>
              <a:t>cnt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= 0;</a:t>
            </a:r>
          </a:p>
          <a:p>
            <a:endParaRPr lang="en-US" sz="1600" dirty="0">
              <a:solidFill>
                <a:srgbClr val="000000"/>
              </a:solidFill>
              <a:latin typeface="Menlo-Regular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Menlo-Regular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(</a:t>
            </a:r>
            <a:r>
              <a:rPr lang="en-US" sz="1600" dirty="0">
                <a:solidFill>
                  <a:srgbClr val="9D206F"/>
                </a:solidFill>
                <a:latin typeface="Menlo-Regular"/>
              </a:rPr>
              <a:t>"[%</a:t>
            </a:r>
            <a:r>
              <a:rPr lang="en-US" sz="1600" dirty="0" err="1">
                <a:solidFill>
                  <a:srgbClr val="9D206F"/>
                </a:solidFill>
                <a:latin typeface="Menlo-Regular"/>
              </a:rPr>
              <a:t>ld</a:t>
            </a:r>
            <a:r>
              <a:rPr lang="en-US" sz="1600" dirty="0">
                <a:solidFill>
                  <a:srgbClr val="9D206F"/>
                </a:solidFill>
                <a:latin typeface="Menlo-Regular"/>
              </a:rPr>
              <a:t>]:  %s (</a:t>
            </a:r>
            <a:r>
              <a:rPr lang="en-US" sz="1600" dirty="0" err="1">
                <a:solidFill>
                  <a:srgbClr val="9D206F"/>
                </a:solidFill>
                <a:latin typeface="Menlo-Regular"/>
              </a:rPr>
              <a:t>cnt</a:t>
            </a:r>
            <a:r>
              <a:rPr lang="en-US" sz="1600" dirty="0">
                <a:solidFill>
                  <a:srgbClr val="9D206F"/>
                </a:solidFill>
                <a:latin typeface="Menlo-Regular"/>
              </a:rPr>
              <a:t>=%d)\n"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, 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     </a:t>
            </a:r>
            <a:r>
              <a:rPr lang="en-US" sz="1600" dirty="0" err="1">
                <a:solidFill>
                  <a:srgbClr val="000000"/>
                </a:solidFill>
                <a:latin typeface="Menlo-Regular"/>
              </a:rPr>
              <a:t>myid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Menlo-Regular"/>
              </a:rPr>
              <a:t>ptr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[</a:t>
            </a:r>
            <a:r>
              <a:rPr lang="en-US" sz="1600" dirty="0" err="1">
                <a:solidFill>
                  <a:srgbClr val="000000"/>
                </a:solidFill>
                <a:latin typeface="Menlo-Regular"/>
              </a:rPr>
              <a:t>myid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], ++</a:t>
            </a:r>
            <a:r>
              <a:rPr lang="en-US" sz="1600" dirty="0" err="1">
                <a:solidFill>
                  <a:srgbClr val="000000"/>
                </a:solidFill>
                <a:latin typeface="Menlo-Regular"/>
              </a:rPr>
              <a:t>cnt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Menlo-Regular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600" dirty="0">
                <a:solidFill>
                  <a:srgbClr val="2C9290"/>
                </a:solidFill>
                <a:latin typeface="Menlo-Regular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}</a:t>
            </a:r>
          </a:p>
        </p:txBody>
      </p:sp>
      <p:sp>
        <p:nvSpPr>
          <p:cNvPr id="93184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97862"/>
            <a:ext cx="8972550" cy="781050"/>
          </a:xfrm>
        </p:spPr>
        <p:txBody>
          <a:bodyPr/>
          <a:lstStyle/>
          <a:p>
            <a:r>
              <a:rPr lang="en-US" dirty="0"/>
              <a:t>Mapping Variable Instances to Memory</a:t>
            </a:r>
          </a:p>
        </p:txBody>
      </p:sp>
      <p:sp>
        <p:nvSpPr>
          <p:cNvPr id="931845" name="Text Box 5"/>
          <p:cNvSpPr txBox="1">
            <a:spLocks noChangeArrowheads="1"/>
          </p:cNvSpPr>
          <p:nvPr/>
        </p:nvSpPr>
        <p:spPr bwMode="auto">
          <a:xfrm>
            <a:off x="200673" y="1130888"/>
            <a:ext cx="3583481" cy="27699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tIns="0" bIns="0" anchor="ctr">
            <a:spAutoFit/>
          </a:bodyPr>
          <a:lstStyle/>
          <a:p>
            <a:pPr algn="ctr"/>
            <a:r>
              <a:rPr lang="en-US" sz="1800" i="1" dirty="0">
                <a:solidFill>
                  <a:srgbClr val="C00000"/>
                </a:solidFill>
                <a:latin typeface="Calibri" pitchFamily="34" charset="0"/>
              </a:rPr>
              <a:t>Global </a:t>
            </a:r>
            <a:r>
              <a:rPr lang="en-US" sz="1800" i="1" dirty="0" err="1">
                <a:solidFill>
                  <a:srgbClr val="C00000"/>
                </a:solidFill>
                <a:latin typeface="Calibri" pitchFamily="34" charset="0"/>
              </a:rPr>
              <a:t>var</a:t>
            </a: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: </a:t>
            </a:r>
            <a:r>
              <a:rPr lang="en-US" sz="1800" dirty="0">
                <a:latin typeface="Calibri" pitchFamily="34" charset="0"/>
              </a:rPr>
              <a:t>1 instance (</a:t>
            </a:r>
            <a:r>
              <a:rPr lang="en-US" sz="1800" dirty="0" err="1">
                <a:latin typeface="Courier New" pitchFamily="49" charset="0"/>
              </a:rPr>
              <a:t>ptr</a:t>
            </a:r>
            <a:r>
              <a:rPr lang="en-US" sz="1800" dirty="0">
                <a:latin typeface="Courier New" pitchFamily="49" charset="0"/>
              </a:rPr>
              <a:t> </a:t>
            </a:r>
            <a:r>
              <a:rPr lang="en-US" sz="1800" dirty="0">
                <a:latin typeface="Calibri" pitchFamily="34" charset="0"/>
              </a:rPr>
              <a:t>[data])</a:t>
            </a:r>
          </a:p>
        </p:txBody>
      </p:sp>
      <p:sp>
        <p:nvSpPr>
          <p:cNvPr id="931846" name="Line 6"/>
          <p:cNvSpPr>
            <a:spLocks noChangeShapeType="1"/>
          </p:cNvSpPr>
          <p:nvPr/>
        </p:nvSpPr>
        <p:spPr bwMode="auto">
          <a:xfrm>
            <a:off x="1295401" y="1450976"/>
            <a:ext cx="0" cy="504824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med" len="med"/>
          </a:ln>
          <a:effectLst/>
        </p:spPr>
        <p:txBody>
          <a:bodyPr wrap="none" tIns="0" bIns="0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931847" name="Text Box 7"/>
          <p:cNvSpPr txBox="1">
            <a:spLocks noChangeArrowheads="1"/>
          </p:cNvSpPr>
          <p:nvPr/>
        </p:nvSpPr>
        <p:spPr bwMode="auto">
          <a:xfrm>
            <a:off x="4972286" y="6019800"/>
            <a:ext cx="4032837" cy="27699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tIns="0" bIns="0" anchor="ctr">
            <a:spAutoFit/>
          </a:bodyPr>
          <a:lstStyle/>
          <a:p>
            <a:pPr algn="ctr"/>
            <a:r>
              <a:rPr lang="en-US" sz="1800" i="1" dirty="0">
                <a:solidFill>
                  <a:srgbClr val="C00000"/>
                </a:solidFill>
                <a:latin typeface="Calibri" pitchFamily="34" charset="0"/>
              </a:rPr>
              <a:t>Local static </a:t>
            </a:r>
            <a:r>
              <a:rPr lang="en-US" sz="1800" i="1" dirty="0" err="1">
                <a:solidFill>
                  <a:srgbClr val="C00000"/>
                </a:solidFill>
                <a:latin typeface="Calibri" pitchFamily="34" charset="0"/>
              </a:rPr>
              <a:t>var</a:t>
            </a: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: </a:t>
            </a:r>
            <a:r>
              <a:rPr lang="en-US" sz="1800" dirty="0">
                <a:latin typeface="Calibri" pitchFamily="34" charset="0"/>
              </a:rPr>
              <a:t>1 instance (</a:t>
            </a:r>
            <a:r>
              <a:rPr lang="en-US" sz="1800" dirty="0" err="1">
                <a:latin typeface="Courier New" pitchFamily="49" charset="0"/>
              </a:rPr>
              <a:t>cnt</a:t>
            </a:r>
            <a:r>
              <a:rPr lang="en-US" sz="1800" dirty="0">
                <a:latin typeface="Courier New" pitchFamily="49" charset="0"/>
              </a:rPr>
              <a:t> </a:t>
            </a:r>
            <a:r>
              <a:rPr lang="en-US" sz="1800" dirty="0">
                <a:latin typeface="Calibri" pitchFamily="34" charset="0"/>
              </a:rPr>
              <a:t>[data])</a:t>
            </a:r>
          </a:p>
        </p:txBody>
      </p:sp>
      <p:sp>
        <p:nvSpPr>
          <p:cNvPr id="931848" name="Line 8"/>
          <p:cNvSpPr>
            <a:spLocks noChangeShapeType="1"/>
          </p:cNvSpPr>
          <p:nvPr/>
        </p:nvSpPr>
        <p:spPr bwMode="auto">
          <a:xfrm flipV="1">
            <a:off x="6348824" y="4636088"/>
            <a:ext cx="304800" cy="134620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med" len="med"/>
          </a:ln>
          <a:effectLst/>
        </p:spPr>
        <p:txBody>
          <a:bodyPr wrap="none" tIns="0" bIns="0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931849" name="Text Box 9"/>
          <p:cNvSpPr txBox="1">
            <a:spLocks noChangeArrowheads="1"/>
          </p:cNvSpPr>
          <p:nvPr/>
        </p:nvSpPr>
        <p:spPr bwMode="auto">
          <a:xfrm>
            <a:off x="3815414" y="1399401"/>
            <a:ext cx="3927485" cy="27699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tIns="0" bIns="0" anchor="ctr">
            <a:spAutoFit/>
          </a:bodyPr>
          <a:lstStyle/>
          <a:p>
            <a:pPr algn="ctr"/>
            <a:r>
              <a:rPr lang="en-US" sz="1800" i="1" dirty="0">
                <a:solidFill>
                  <a:srgbClr val="C00000"/>
                </a:solidFill>
                <a:latin typeface="Calibri" pitchFamily="34" charset="0"/>
              </a:rPr>
              <a:t>Local </a:t>
            </a:r>
            <a:r>
              <a:rPr lang="en-US" sz="1800" i="1" dirty="0" err="1">
                <a:solidFill>
                  <a:srgbClr val="C00000"/>
                </a:solidFill>
                <a:latin typeface="Calibri" pitchFamily="34" charset="0"/>
              </a:rPr>
              <a:t>vars</a:t>
            </a: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: </a:t>
            </a:r>
            <a:r>
              <a:rPr lang="en-US" sz="1800" dirty="0">
                <a:latin typeface="Calibri" pitchFamily="34" charset="0"/>
              </a:rPr>
              <a:t>1 instance (</a:t>
            </a:r>
            <a:r>
              <a:rPr lang="en-US" sz="1800" dirty="0" err="1">
                <a:latin typeface="Courier New" pitchFamily="49" charset="0"/>
              </a:rPr>
              <a:t>i.m</a:t>
            </a:r>
            <a:r>
              <a:rPr lang="en-US" sz="1800" dirty="0">
                <a:latin typeface="Courier New" pitchFamily="49" charset="0"/>
              </a:rPr>
              <a:t>, </a:t>
            </a:r>
            <a:r>
              <a:rPr lang="en-US" sz="1800" dirty="0" err="1">
                <a:latin typeface="Courier New" pitchFamily="49" charset="0"/>
              </a:rPr>
              <a:t>msgs.m</a:t>
            </a:r>
            <a:r>
              <a:rPr lang="en-US" sz="1800" dirty="0">
                <a:latin typeface="Calibri" pitchFamily="34" charset="0"/>
              </a:rPr>
              <a:t>)</a:t>
            </a:r>
          </a:p>
        </p:txBody>
      </p:sp>
      <p:sp>
        <p:nvSpPr>
          <p:cNvPr id="931850" name="Line 10"/>
          <p:cNvSpPr>
            <a:spLocks noChangeShapeType="1"/>
          </p:cNvSpPr>
          <p:nvPr/>
        </p:nvSpPr>
        <p:spPr bwMode="auto">
          <a:xfrm flipH="1">
            <a:off x="1486549" y="1676400"/>
            <a:ext cx="2971799" cy="129540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med" len="med"/>
          </a:ln>
          <a:effectLst/>
        </p:spPr>
        <p:txBody>
          <a:bodyPr wrap="none" tIns="0" bIns="0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931851" name="Text Box 11"/>
          <p:cNvSpPr txBox="1">
            <a:spLocks noChangeArrowheads="1"/>
          </p:cNvSpPr>
          <p:nvPr/>
        </p:nvSpPr>
        <p:spPr bwMode="auto">
          <a:xfrm>
            <a:off x="4509914" y="1955800"/>
            <a:ext cx="3872086" cy="110799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tIns="0" bIns="0" anchor="ctr">
            <a:spAutoFit/>
          </a:bodyPr>
          <a:lstStyle/>
          <a:p>
            <a:r>
              <a:rPr lang="en-US" sz="1800" i="1" dirty="0">
                <a:solidFill>
                  <a:srgbClr val="C00000"/>
                </a:solidFill>
                <a:latin typeface="Calibri" pitchFamily="34" charset="0"/>
              </a:rPr>
              <a:t>Local </a:t>
            </a:r>
            <a:r>
              <a:rPr lang="en-US" sz="1800" i="1" dirty="0" err="1">
                <a:solidFill>
                  <a:srgbClr val="C00000"/>
                </a:solidFill>
                <a:latin typeface="Calibri" pitchFamily="34" charset="0"/>
              </a:rPr>
              <a:t>var</a:t>
            </a:r>
            <a:r>
              <a:rPr lang="en-US" sz="1800" i="1" dirty="0">
                <a:solidFill>
                  <a:srgbClr val="C00000"/>
                </a:solidFill>
                <a:latin typeface="Calibri" pitchFamily="34" charset="0"/>
              </a:rPr>
              <a:t>:</a:t>
            </a: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  </a:t>
            </a:r>
            <a:r>
              <a:rPr lang="en-US" sz="1800" dirty="0">
                <a:latin typeface="Calibri" pitchFamily="34" charset="0"/>
              </a:rPr>
              <a:t>2 instances (</a:t>
            </a:r>
          </a:p>
          <a:p>
            <a:r>
              <a:rPr lang="en-US" sz="1800" dirty="0">
                <a:latin typeface="Calibri" pitchFamily="34" charset="0"/>
              </a:rPr>
              <a:t>     </a:t>
            </a:r>
            <a:r>
              <a:rPr lang="en-US" sz="1800" dirty="0">
                <a:latin typeface="Courier New" pitchFamily="49" charset="0"/>
              </a:rPr>
              <a:t>myid.p0 </a:t>
            </a:r>
            <a:r>
              <a:rPr lang="en-US" sz="1800" dirty="0">
                <a:latin typeface="Calibri" pitchFamily="34" charset="0"/>
              </a:rPr>
              <a:t>[peer thread 0’s stack],</a:t>
            </a:r>
            <a:r>
              <a:rPr lang="en-US" sz="1800" dirty="0">
                <a:latin typeface="Courier New" pitchFamily="49" charset="0"/>
              </a:rPr>
              <a:t> </a:t>
            </a:r>
          </a:p>
          <a:p>
            <a:r>
              <a:rPr lang="en-US" sz="1800" dirty="0">
                <a:latin typeface="Courier New" pitchFamily="49" charset="0"/>
              </a:rPr>
              <a:t>  myid.p1 </a:t>
            </a:r>
            <a:r>
              <a:rPr lang="en-US" sz="1800" dirty="0">
                <a:latin typeface="Calibri" pitchFamily="34" charset="0"/>
              </a:rPr>
              <a:t>[peer thread 1’s stack]</a:t>
            </a:r>
          </a:p>
          <a:p>
            <a:r>
              <a:rPr lang="en-US" sz="1800" dirty="0">
                <a:latin typeface="Calibri" pitchFamily="34" charset="0"/>
              </a:rPr>
              <a:t>)</a:t>
            </a:r>
          </a:p>
        </p:txBody>
      </p:sp>
      <p:sp>
        <p:nvSpPr>
          <p:cNvPr id="931852" name="Line 12"/>
          <p:cNvSpPr>
            <a:spLocks noChangeShapeType="1"/>
          </p:cNvSpPr>
          <p:nvPr/>
        </p:nvSpPr>
        <p:spPr bwMode="auto">
          <a:xfrm flipH="1">
            <a:off x="5943600" y="2864732"/>
            <a:ext cx="533400" cy="132080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med" len="med"/>
          </a:ln>
          <a:effectLst/>
        </p:spPr>
        <p:txBody>
          <a:bodyPr wrap="none" tIns="0" bIns="0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3" name="Line 10"/>
          <p:cNvSpPr>
            <a:spLocks noChangeShapeType="1"/>
          </p:cNvSpPr>
          <p:nvPr/>
        </p:nvSpPr>
        <p:spPr bwMode="auto">
          <a:xfrm flipH="1">
            <a:off x="2286000" y="1676400"/>
            <a:ext cx="2172348" cy="175260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med" len="med"/>
          </a:ln>
          <a:effectLst/>
        </p:spPr>
        <p:txBody>
          <a:bodyPr wrap="none" tIns="0" bIns="0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61715" y="6230005"/>
            <a:ext cx="1044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solidFill>
                  <a:srgbClr val="7F7F7F"/>
                </a:solidFill>
                <a:latin typeface="Calibri" pitchFamily="34" charset="0"/>
              </a:rPr>
              <a:t>sharing.c</a:t>
            </a:r>
            <a:endParaRPr lang="en-US" sz="1800" dirty="0">
              <a:solidFill>
                <a:srgbClr val="7F7F7F"/>
              </a:solidFill>
              <a:latin typeface="Calibri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89E8BB-3C0B-9832-C6F0-9A10C95C36A1}"/>
              </a:ext>
            </a:extLst>
          </p:cNvPr>
          <p:cNvSpPr>
            <a:spLocks/>
          </p:cNvSpPr>
          <p:nvPr/>
        </p:nvSpPr>
        <p:spPr bwMode="auto">
          <a:xfrm>
            <a:off x="0" y="6636634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FB1059-7A40-69EA-19C9-BFB6CDD0491A}"/>
              </a:ext>
            </a:extLst>
          </p:cNvPr>
          <p:cNvSpPr>
            <a:spLocks/>
          </p:cNvSpPr>
          <p:nvPr/>
        </p:nvSpPr>
        <p:spPr bwMode="auto">
          <a:xfrm>
            <a:off x="-6350" y="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45" grpId="0"/>
      <p:bldP spid="931846" grpId="0" animBg="1"/>
      <p:bldP spid="931847" grpId="0"/>
      <p:bldP spid="931848" grpId="0" animBg="1"/>
      <p:bldP spid="931849" grpId="0"/>
      <p:bldP spid="931850" grpId="0" animBg="1"/>
      <p:bldP spid="931851" grpId="0"/>
      <p:bldP spid="931852" grpId="0" animBg="1"/>
      <p:bldP spid="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Variable Analysis</a:t>
            </a:r>
          </a:p>
        </p:txBody>
      </p:sp>
      <p:sp>
        <p:nvSpPr>
          <p:cNvPr id="933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136" y="1219200"/>
            <a:ext cx="7896225" cy="5181600"/>
          </a:xfrm>
        </p:spPr>
        <p:txBody>
          <a:bodyPr/>
          <a:lstStyle/>
          <a:p>
            <a:r>
              <a:rPr lang="en-US" dirty="0"/>
              <a:t>Which variables are shared?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pPr>
              <a:lnSpc>
                <a:spcPct val="95000"/>
              </a:lnSpc>
            </a:pPr>
            <a:endParaRPr lang="en-US" dirty="0"/>
          </a:p>
          <a:p>
            <a:pPr>
              <a:lnSpc>
                <a:spcPct val="95000"/>
              </a:lnSpc>
            </a:pPr>
            <a:r>
              <a:rPr lang="en-US" dirty="0"/>
              <a:t>Answer: A variable </a:t>
            </a:r>
            <a:r>
              <a:rPr lang="en-US" dirty="0">
                <a:latin typeface="Courier New"/>
                <a:cs typeface="Courier New"/>
              </a:rPr>
              <a:t>x</a:t>
            </a:r>
            <a:r>
              <a:rPr lang="en-US" dirty="0"/>
              <a:t> is shared if multiple threads reference at least one instance of </a:t>
            </a:r>
            <a:r>
              <a:rPr lang="en-US" dirty="0">
                <a:latin typeface="Courier New"/>
                <a:cs typeface="Courier New"/>
              </a:rPr>
              <a:t>x</a:t>
            </a:r>
            <a:r>
              <a:rPr lang="en-US" dirty="0"/>
              <a:t>. Thus:</a:t>
            </a:r>
          </a:p>
          <a:p>
            <a:pPr marL="744538" lvl="1" indent="-246063">
              <a:spcBef>
                <a:spcPct val="25000"/>
              </a:spcBef>
              <a:buClr>
                <a:srgbClr val="C00000"/>
              </a:buClr>
              <a:buSzPct val="75000"/>
              <a:buFont typeface="Wingdings" pitchFamily="2" charset="2"/>
              <a:buChar char="n"/>
            </a:pPr>
            <a:r>
              <a:rPr lang="en-US" b="1" kern="1200" dirty="0" err="1">
                <a:solidFill>
                  <a:srgbClr val="000000"/>
                </a:solidFill>
                <a:latin typeface="Courier New" pitchFamily="49" charset="0"/>
                <a:ea typeface="+mn-ea"/>
                <a:cs typeface="+mn-cs"/>
              </a:rPr>
              <a:t>ptr</a:t>
            </a:r>
            <a:r>
              <a:rPr lang="en-US" b="1" kern="1200" dirty="0">
                <a:solidFill>
                  <a:srgbClr val="000000"/>
                </a:solidFill>
                <a:ea typeface="+mn-ea"/>
                <a:cs typeface="+mn-cs"/>
              </a:rPr>
              <a:t>,  </a:t>
            </a:r>
            <a:r>
              <a:rPr lang="en-US" b="1" kern="1200" dirty="0" err="1">
                <a:solidFill>
                  <a:srgbClr val="000000"/>
                </a:solidFill>
                <a:latin typeface="Courier New" pitchFamily="49" charset="0"/>
                <a:ea typeface="+mn-ea"/>
                <a:cs typeface="+mn-cs"/>
              </a:rPr>
              <a:t>cnt</a:t>
            </a:r>
            <a:r>
              <a:rPr lang="en-US" b="1" kern="1200" dirty="0">
                <a:solidFill>
                  <a:srgbClr val="000000"/>
                </a:solidFill>
                <a:ea typeface="+mn-ea"/>
                <a:cs typeface="+mn-cs"/>
              </a:rPr>
              <a:t>, and </a:t>
            </a:r>
            <a:r>
              <a:rPr lang="en-US" b="1" kern="1200" dirty="0" err="1">
                <a:solidFill>
                  <a:srgbClr val="000000"/>
                </a:solidFill>
                <a:latin typeface="Courier New" pitchFamily="49" charset="0"/>
                <a:ea typeface="+mn-ea"/>
                <a:cs typeface="+mn-cs"/>
              </a:rPr>
              <a:t>msgs</a:t>
            </a:r>
            <a:r>
              <a:rPr lang="en-US" b="1" kern="1200" dirty="0">
                <a:solidFill>
                  <a:srgbClr val="000000"/>
                </a:solidFill>
                <a:ea typeface="+mn-ea"/>
                <a:cs typeface="+mn-cs"/>
              </a:rPr>
              <a:t> are shared</a:t>
            </a:r>
          </a:p>
          <a:p>
            <a:pPr marL="744538" lvl="1" indent="-246063">
              <a:spcBef>
                <a:spcPct val="25000"/>
              </a:spcBef>
              <a:buClr>
                <a:srgbClr val="C00000"/>
              </a:buClr>
              <a:buSzPct val="75000"/>
              <a:buFont typeface="Wingdings" pitchFamily="2" charset="2"/>
              <a:buChar char="n"/>
            </a:pPr>
            <a:r>
              <a:rPr lang="en-US" b="1" kern="1200" dirty="0" err="1">
                <a:solidFill>
                  <a:srgbClr val="000000"/>
                </a:solidFill>
                <a:latin typeface="Courier New" pitchFamily="49" charset="0"/>
                <a:ea typeface="+mn-ea"/>
                <a:cs typeface="+mn-cs"/>
              </a:rPr>
              <a:t>i</a:t>
            </a:r>
            <a:r>
              <a:rPr lang="en-US" b="1" kern="1200" dirty="0">
                <a:solidFill>
                  <a:srgbClr val="000000"/>
                </a:solidFill>
                <a:ea typeface="+mn-ea"/>
                <a:cs typeface="+mn-cs"/>
              </a:rPr>
              <a:t> and </a:t>
            </a:r>
            <a:r>
              <a:rPr lang="en-US" b="1" kern="1200" dirty="0" err="1">
                <a:solidFill>
                  <a:srgbClr val="000000"/>
                </a:solidFill>
                <a:latin typeface="Courier New" pitchFamily="49" charset="0"/>
                <a:ea typeface="+mn-ea"/>
                <a:cs typeface="+mn-cs"/>
              </a:rPr>
              <a:t>myid</a:t>
            </a:r>
            <a:r>
              <a:rPr lang="en-US" b="1" kern="1200" dirty="0">
                <a:solidFill>
                  <a:srgbClr val="000000"/>
                </a:solidFill>
                <a:ea typeface="+mn-ea"/>
                <a:cs typeface="+mn-cs"/>
              </a:rPr>
              <a:t> are </a:t>
            </a:r>
            <a:r>
              <a:rPr lang="en-US" b="1" i="1" kern="1200" dirty="0">
                <a:solidFill>
                  <a:srgbClr val="C00000"/>
                </a:solidFill>
                <a:ea typeface="+mn-ea"/>
                <a:cs typeface="+mn-cs"/>
              </a:rPr>
              <a:t>not</a:t>
            </a:r>
            <a:r>
              <a:rPr lang="en-US" b="1" kern="1200" dirty="0">
                <a:solidFill>
                  <a:srgbClr val="000000"/>
                </a:solidFill>
                <a:ea typeface="+mn-ea"/>
                <a:cs typeface="+mn-cs"/>
              </a:rPr>
              <a:t> shared</a:t>
            </a:r>
          </a:p>
        </p:txBody>
      </p:sp>
      <p:sp>
        <p:nvSpPr>
          <p:cNvPr id="933892" name="Text Box 4"/>
          <p:cNvSpPr txBox="1">
            <a:spLocks noChangeArrowheads="1"/>
          </p:cNvSpPr>
          <p:nvPr/>
        </p:nvSpPr>
        <p:spPr bwMode="auto">
          <a:xfrm>
            <a:off x="785813" y="1765300"/>
            <a:ext cx="6224794" cy="236988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>
            <a:noFill/>
            <a:miter lim="800000"/>
            <a:headEnd/>
            <a:tailEnd/>
          </a:ln>
          <a:effectLst/>
        </p:spPr>
        <p:txBody>
          <a:bodyPr wrap="none" tIns="0" bIns="0" anchor="ctr">
            <a:spAutoFit/>
          </a:bodyPr>
          <a:lstStyle/>
          <a:p>
            <a:r>
              <a:rPr lang="en-US" sz="18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Variable 	  Referenced by	Referenced by 	Referenced by</a:t>
            </a:r>
          </a:p>
          <a:p>
            <a:r>
              <a:rPr lang="en-US" sz="18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instance	   main thread?	peer thread 0?	peer thread 1?</a:t>
            </a:r>
            <a:endParaRPr lang="en-US" sz="1800" dirty="0">
              <a:latin typeface="Calibri" pitchFamily="34" charset="0"/>
            </a:endParaRPr>
          </a:p>
          <a:p>
            <a:pPr>
              <a:spcBef>
                <a:spcPts val="1200"/>
              </a:spcBef>
            </a:pPr>
            <a:r>
              <a:rPr lang="en-US" sz="1800" dirty="0" err="1">
                <a:latin typeface="Courier New" pitchFamily="49" charset="0"/>
              </a:rPr>
              <a:t>ptr</a:t>
            </a:r>
            <a:r>
              <a:rPr lang="en-US" sz="1800" dirty="0">
                <a:latin typeface="Courier New" pitchFamily="49" charset="0"/>
              </a:rPr>
              <a:t>		</a:t>
            </a:r>
          </a:p>
          <a:p>
            <a:r>
              <a:rPr lang="en-US" sz="1800" dirty="0" err="1">
                <a:latin typeface="Courier New" pitchFamily="49" charset="0"/>
              </a:rPr>
              <a:t>cnt</a:t>
            </a:r>
            <a:r>
              <a:rPr lang="en-US" sz="1800" dirty="0">
                <a:latin typeface="Courier New" pitchFamily="49" charset="0"/>
              </a:rPr>
              <a:t>		</a:t>
            </a:r>
          </a:p>
          <a:p>
            <a:r>
              <a:rPr lang="en-US" sz="1800" dirty="0" err="1">
                <a:latin typeface="Courier New" pitchFamily="49" charset="0"/>
              </a:rPr>
              <a:t>i.m</a:t>
            </a:r>
            <a:r>
              <a:rPr lang="en-US" sz="1800" dirty="0">
                <a:latin typeface="Courier New" pitchFamily="49" charset="0"/>
              </a:rPr>
              <a:t>		</a:t>
            </a:r>
          </a:p>
          <a:p>
            <a:r>
              <a:rPr lang="en-US" sz="1800" dirty="0" err="1">
                <a:latin typeface="Courier New" pitchFamily="49" charset="0"/>
              </a:rPr>
              <a:t>msgs.m</a:t>
            </a:r>
            <a:r>
              <a:rPr lang="en-US" sz="1800" dirty="0">
                <a:latin typeface="Courier New" pitchFamily="49" charset="0"/>
              </a:rPr>
              <a:t>			</a:t>
            </a:r>
          </a:p>
          <a:p>
            <a:r>
              <a:rPr lang="en-US" sz="1800" dirty="0">
                <a:latin typeface="Courier New" pitchFamily="49" charset="0"/>
              </a:rPr>
              <a:t>myid.p0		</a:t>
            </a:r>
          </a:p>
          <a:p>
            <a:r>
              <a:rPr lang="en-US" sz="1800" dirty="0">
                <a:latin typeface="Courier New" pitchFamily="49" charset="0"/>
              </a:rPr>
              <a:t>myid.p1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62200" y="2362200"/>
            <a:ext cx="499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yes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38774" y="2362200"/>
            <a:ext cx="499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yes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67400" y="2362200"/>
            <a:ext cx="499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yes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5732" y="2654300"/>
            <a:ext cx="432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8774" y="2654300"/>
            <a:ext cx="499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yes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67400" y="2654300"/>
            <a:ext cx="499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62200" y="2921000"/>
            <a:ext cx="499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2306" y="2921000"/>
            <a:ext cx="432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00932" y="2921000"/>
            <a:ext cx="432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62200" y="3227864"/>
            <a:ext cx="499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yes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38774" y="3227864"/>
            <a:ext cx="499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yes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67400" y="3227864"/>
            <a:ext cx="499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yes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32" y="3510002"/>
            <a:ext cx="432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38774" y="3510002"/>
            <a:ext cx="499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yes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00932" y="3510002"/>
            <a:ext cx="432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95732" y="3770868"/>
            <a:ext cx="432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3170" y="3770868"/>
            <a:ext cx="432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7400" y="3770868"/>
            <a:ext cx="499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yes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4C3755-2C0A-35BE-161B-5B484B34C169}"/>
              </a:ext>
            </a:extLst>
          </p:cNvPr>
          <p:cNvSpPr>
            <a:spLocks/>
          </p:cNvSpPr>
          <p:nvPr/>
        </p:nvSpPr>
        <p:spPr bwMode="auto">
          <a:xfrm>
            <a:off x="0" y="6636634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CCB76C-44CC-68EA-B0F6-51ECAED33A9F}"/>
              </a:ext>
            </a:extLst>
          </p:cNvPr>
          <p:cNvSpPr>
            <a:spLocks/>
          </p:cNvSpPr>
          <p:nvPr/>
        </p:nvSpPr>
        <p:spPr bwMode="auto">
          <a:xfrm>
            <a:off x="-6350" y="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8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8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Synchronizing Threads	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Shared variables are handy...</a:t>
            </a:r>
          </a:p>
          <a:p>
            <a:endParaRPr lang="en-US" dirty="0"/>
          </a:p>
          <a:p>
            <a:r>
              <a:rPr lang="en-US" dirty="0"/>
              <a:t>…but introduce the possibility of nasty </a:t>
            </a:r>
            <a:r>
              <a:rPr lang="en-US" i="1" dirty="0"/>
              <a:t>synchronization</a:t>
            </a:r>
            <a:r>
              <a:rPr lang="en-US" dirty="0"/>
              <a:t> errors.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298FC1-1EB2-22AA-9814-5309285DFB7B}"/>
              </a:ext>
            </a:extLst>
          </p:cNvPr>
          <p:cNvSpPr>
            <a:spLocks/>
          </p:cNvSpPr>
          <p:nvPr/>
        </p:nvSpPr>
        <p:spPr bwMode="auto">
          <a:xfrm>
            <a:off x="0" y="6636634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49717F-72F5-A549-9ACD-02D5FDBC9965}"/>
              </a:ext>
            </a:extLst>
          </p:cNvPr>
          <p:cNvSpPr>
            <a:spLocks/>
          </p:cNvSpPr>
          <p:nvPr/>
        </p:nvSpPr>
        <p:spPr bwMode="auto">
          <a:xfrm>
            <a:off x="-6350" y="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16240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938" name="Rectangle 2"/>
          <p:cNvSpPr>
            <a:spLocks noGrp="1" noChangeArrowheads="1"/>
          </p:cNvSpPr>
          <p:nvPr>
            <p:ph type="title"/>
          </p:nvPr>
        </p:nvSpPr>
        <p:spPr>
          <a:xfrm>
            <a:off x="366007" y="152400"/>
            <a:ext cx="8775700" cy="1095375"/>
          </a:xfrm>
        </p:spPr>
        <p:txBody>
          <a:bodyPr/>
          <a:lstStyle/>
          <a:p>
            <a:r>
              <a:rPr lang="en-US" dirty="0" err="1">
                <a:latin typeface="Courier New" pitchFamily="49" charset="0"/>
              </a:rPr>
              <a:t>badcnt.c</a:t>
            </a:r>
            <a:r>
              <a:rPr lang="en-US" dirty="0"/>
              <a:t>: Improper Synchronization</a:t>
            </a:r>
          </a:p>
        </p:txBody>
      </p:sp>
      <p:sp>
        <p:nvSpPr>
          <p:cNvPr id="935939" name="Rectangle 3"/>
          <p:cNvSpPr>
            <a:spLocks noChangeArrowheads="1"/>
          </p:cNvSpPr>
          <p:nvPr/>
        </p:nvSpPr>
        <p:spPr bwMode="auto">
          <a:xfrm>
            <a:off x="46180" y="1227921"/>
            <a:ext cx="4800600" cy="5401479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sz="1500" dirty="0">
                <a:solidFill>
                  <a:srgbClr val="CB2418"/>
                </a:solidFill>
                <a:latin typeface="Menlo-Regular"/>
              </a:rPr>
              <a:t>/* Global shared variable */</a:t>
            </a:r>
            <a:endParaRPr lang="en-US" sz="1500" dirty="0">
              <a:solidFill>
                <a:srgbClr val="000000"/>
              </a:solidFill>
              <a:latin typeface="Menlo-Regular"/>
            </a:endParaRPr>
          </a:p>
          <a:p>
            <a:r>
              <a:rPr lang="en-US" sz="1500" dirty="0">
                <a:solidFill>
                  <a:srgbClr val="C200FF"/>
                </a:solidFill>
                <a:latin typeface="Menlo-Regular"/>
              </a:rPr>
              <a:t>volatile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500" dirty="0">
                <a:solidFill>
                  <a:srgbClr val="2D961E"/>
                </a:solidFill>
                <a:latin typeface="Menlo-Regular"/>
              </a:rPr>
              <a:t>long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500" dirty="0" err="1">
                <a:solidFill>
                  <a:srgbClr val="C1651C"/>
                </a:solidFill>
                <a:latin typeface="Menlo-Regular"/>
              </a:rPr>
              <a:t>cnt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 = 0; </a:t>
            </a:r>
            <a:r>
              <a:rPr lang="en-US" sz="1500" dirty="0">
                <a:solidFill>
                  <a:srgbClr val="CB2418"/>
                </a:solidFill>
                <a:latin typeface="Menlo-Regular"/>
              </a:rPr>
              <a:t>/* Counter */</a:t>
            </a:r>
            <a:endParaRPr lang="en-US" sz="1500" dirty="0">
              <a:solidFill>
                <a:srgbClr val="000000"/>
              </a:solidFill>
              <a:latin typeface="Menlo-Regular"/>
            </a:endParaRPr>
          </a:p>
          <a:p>
            <a:endParaRPr lang="en-US" sz="1500" dirty="0">
              <a:solidFill>
                <a:srgbClr val="000000"/>
              </a:solidFill>
              <a:latin typeface="Menlo-Regular"/>
            </a:endParaRPr>
          </a:p>
          <a:p>
            <a:r>
              <a:rPr lang="en-US" sz="1500" dirty="0" err="1">
                <a:solidFill>
                  <a:srgbClr val="2D961E"/>
                </a:solidFill>
                <a:latin typeface="Menlo-Regular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500" dirty="0">
                <a:solidFill>
                  <a:srgbClr val="4A00FF"/>
                </a:solidFill>
                <a:latin typeface="Menlo-Regular"/>
              </a:rPr>
              <a:t>main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(</a:t>
            </a:r>
            <a:r>
              <a:rPr lang="en-US" sz="1500" dirty="0" err="1">
                <a:solidFill>
                  <a:srgbClr val="2D961E"/>
                </a:solidFill>
                <a:latin typeface="Menlo-Regular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500" dirty="0" err="1">
                <a:solidFill>
                  <a:srgbClr val="C1651C"/>
                </a:solidFill>
                <a:latin typeface="Menlo-Regular"/>
              </a:rPr>
              <a:t>argc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, </a:t>
            </a:r>
            <a:r>
              <a:rPr lang="en-US" sz="1500" dirty="0">
                <a:solidFill>
                  <a:srgbClr val="2D961E"/>
                </a:solidFill>
                <a:latin typeface="Menlo-Regular"/>
              </a:rPr>
              <a:t>char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 **</a:t>
            </a:r>
            <a:r>
              <a:rPr lang="en-US" sz="1500" dirty="0" err="1">
                <a:solidFill>
                  <a:srgbClr val="C1651C"/>
                </a:solidFill>
                <a:latin typeface="Menlo-Regular"/>
              </a:rPr>
              <a:t>argv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)</a:t>
            </a:r>
          </a:p>
          <a:p>
            <a:r>
              <a:rPr lang="en-US" sz="1500" dirty="0">
                <a:solidFill>
                  <a:srgbClr val="000000"/>
                </a:solidFill>
                <a:latin typeface="Menlo-Regular"/>
              </a:rPr>
              <a:t>{</a:t>
            </a:r>
          </a:p>
          <a:p>
            <a:r>
              <a:rPr lang="en-US" sz="15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en-US" sz="1500" dirty="0">
                <a:solidFill>
                  <a:srgbClr val="2D961E"/>
                </a:solidFill>
                <a:latin typeface="Menlo-Regular"/>
              </a:rPr>
              <a:t>long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500" dirty="0">
                <a:solidFill>
                  <a:srgbClr val="C1651C"/>
                </a:solidFill>
                <a:latin typeface="Menlo-Regular"/>
              </a:rPr>
              <a:t>niters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;</a:t>
            </a:r>
          </a:p>
          <a:p>
            <a:r>
              <a:rPr lang="en-US" sz="15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en-US" sz="1500" dirty="0" err="1">
                <a:solidFill>
                  <a:srgbClr val="2D961E"/>
                </a:solidFill>
                <a:latin typeface="Menlo-Regular"/>
              </a:rPr>
              <a:t>pthread_t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500" dirty="0">
                <a:solidFill>
                  <a:srgbClr val="C1651C"/>
                </a:solidFill>
                <a:latin typeface="Menlo-Regular"/>
              </a:rPr>
              <a:t>tid1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, </a:t>
            </a:r>
            <a:r>
              <a:rPr lang="en-US" sz="1500" dirty="0">
                <a:solidFill>
                  <a:srgbClr val="C1651C"/>
                </a:solidFill>
                <a:latin typeface="Menlo-Regular"/>
              </a:rPr>
              <a:t>tid2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;</a:t>
            </a:r>
          </a:p>
          <a:p>
            <a:endParaRPr lang="en-US" sz="1500" dirty="0">
              <a:solidFill>
                <a:srgbClr val="000000"/>
              </a:solidFill>
              <a:latin typeface="Menlo-Regular"/>
            </a:endParaRPr>
          </a:p>
          <a:p>
            <a:r>
              <a:rPr lang="fi-FI" sz="15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fi-FI" sz="1500" dirty="0" err="1">
                <a:solidFill>
                  <a:srgbClr val="000000"/>
                </a:solidFill>
                <a:latin typeface="Menlo-Regular"/>
              </a:rPr>
              <a:t>niters</a:t>
            </a:r>
            <a:r>
              <a:rPr lang="fi-FI" sz="1500" dirty="0">
                <a:solidFill>
                  <a:srgbClr val="000000"/>
                </a:solidFill>
                <a:latin typeface="Menlo-Regular"/>
              </a:rPr>
              <a:t> = atoi(argv[1]);</a:t>
            </a:r>
          </a:p>
          <a:p>
            <a:r>
              <a:rPr lang="fi-FI" sz="1500" dirty="0">
                <a:solidFill>
                  <a:srgbClr val="000000"/>
                </a:solidFill>
                <a:latin typeface="Menlo-Regular"/>
              </a:rPr>
              <a:t>    Pthread_create(&amp;tid1, </a:t>
            </a:r>
            <a:r>
              <a:rPr lang="fi-FI" sz="1500" dirty="0">
                <a:solidFill>
                  <a:srgbClr val="2C9290"/>
                </a:solidFill>
                <a:latin typeface="Menlo-Regular"/>
              </a:rPr>
              <a:t>NULL</a:t>
            </a:r>
            <a:r>
              <a:rPr lang="fi-FI" sz="1500" dirty="0">
                <a:solidFill>
                  <a:srgbClr val="000000"/>
                </a:solidFill>
                <a:latin typeface="Menlo-Regular"/>
              </a:rPr>
              <a:t>,</a:t>
            </a:r>
          </a:p>
          <a:p>
            <a:r>
              <a:rPr lang="fi-FI" sz="1500" dirty="0">
                <a:solidFill>
                  <a:srgbClr val="000000"/>
                </a:solidFill>
                <a:latin typeface="Menlo-Regular"/>
              </a:rPr>
              <a:t>        </a:t>
            </a:r>
            <a:r>
              <a:rPr lang="fi-FI" sz="1500" dirty="0" err="1">
                <a:solidFill>
                  <a:srgbClr val="000000"/>
                </a:solidFill>
                <a:latin typeface="Menlo-Regular"/>
              </a:rPr>
              <a:t>thread</a:t>
            </a:r>
            <a:r>
              <a:rPr lang="fi-FI" sz="1500" dirty="0">
                <a:solidFill>
                  <a:srgbClr val="000000"/>
                </a:solidFill>
                <a:latin typeface="Menlo-Regular"/>
              </a:rPr>
              <a:t>, &amp;</a:t>
            </a:r>
            <a:r>
              <a:rPr lang="fi-FI" sz="1500" dirty="0" err="1">
                <a:solidFill>
                  <a:srgbClr val="000000"/>
                </a:solidFill>
                <a:latin typeface="Menlo-Regular"/>
              </a:rPr>
              <a:t>niters</a:t>
            </a:r>
            <a:r>
              <a:rPr lang="fi-FI" sz="1500" dirty="0">
                <a:solidFill>
                  <a:srgbClr val="000000"/>
                </a:solidFill>
                <a:latin typeface="Menlo-Regular"/>
              </a:rPr>
              <a:t>);</a:t>
            </a:r>
          </a:p>
          <a:p>
            <a:r>
              <a:rPr lang="fi-FI" sz="1500" dirty="0">
                <a:solidFill>
                  <a:srgbClr val="000000"/>
                </a:solidFill>
                <a:latin typeface="Menlo-Regular"/>
              </a:rPr>
              <a:t>    Pthread_create(&amp;tid2, </a:t>
            </a:r>
            <a:r>
              <a:rPr lang="fi-FI" sz="1500" dirty="0">
                <a:solidFill>
                  <a:srgbClr val="2C9290"/>
                </a:solidFill>
                <a:latin typeface="Menlo-Regular"/>
              </a:rPr>
              <a:t>NULL</a:t>
            </a:r>
            <a:r>
              <a:rPr lang="fi-FI" sz="1500" dirty="0">
                <a:solidFill>
                  <a:srgbClr val="000000"/>
                </a:solidFill>
                <a:latin typeface="Menlo-Regular"/>
              </a:rPr>
              <a:t>,</a:t>
            </a:r>
          </a:p>
          <a:p>
            <a:r>
              <a:rPr lang="fi-FI" sz="1500" dirty="0">
                <a:solidFill>
                  <a:srgbClr val="000000"/>
                </a:solidFill>
                <a:latin typeface="Menlo-Regular"/>
              </a:rPr>
              <a:t>        </a:t>
            </a:r>
            <a:r>
              <a:rPr lang="fi-FI" sz="1500" dirty="0" err="1">
                <a:solidFill>
                  <a:srgbClr val="000000"/>
                </a:solidFill>
                <a:latin typeface="Menlo-Regular"/>
              </a:rPr>
              <a:t>thread</a:t>
            </a:r>
            <a:r>
              <a:rPr lang="fi-FI" sz="1500" dirty="0">
                <a:solidFill>
                  <a:srgbClr val="000000"/>
                </a:solidFill>
                <a:latin typeface="Menlo-Regular"/>
              </a:rPr>
              <a:t>, &amp;</a:t>
            </a:r>
            <a:r>
              <a:rPr lang="fi-FI" sz="1500" dirty="0" err="1">
                <a:solidFill>
                  <a:srgbClr val="000000"/>
                </a:solidFill>
                <a:latin typeface="Menlo-Regular"/>
              </a:rPr>
              <a:t>niters</a:t>
            </a:r>
            <a:r>
              <a:rPr lang="fi-FI" sz="1500" dirty="0">
                <a:solidFill>
                  <a:srgbClr val="000000"/>
                </a:solidFill>
                <a:latin typeface="Menlo-Regular"/>
              </a:rPr>
              <a:t>);</a:t>
            </a:r>
          </a:p>
          <a:p>
            <a:r>
              <a:rPr lang="fi-FI" sz="1500" dirty="0">
                <a:solidFill>
                  <a:srgbClr val="000000"/>
                </a:solidFill>
                <a:latin typeface="Menlo-Regular"/>
              </a:rPr>
              <a:t>    Pthread_join(tid1, </a:t>
            </a:r>
            <a:r>
              <a:rPr lang="fi-FI" sz="1500" dirty="0">
                <a:solidFill>
                  <a:srgbClr val="2C9290"/>
                </a:solidFill>
                <a:latin typeface="Menlo-Regular"/>
              </a:rPr>
              <a:t>NULL</a:t>
            </a:r>
            <a:r>
              <a:rPr lang="fi-FI" sz="1500" dirty="0">
                <a:solidFill>
                  <a:srgbClr val="000000"/>
                </a:solidFill>
                <a:latin typeface="Menlo-Regular"/>
              </a:rPr>
              <a:t>);</a:t>
            </a:r>
          </a:p>
          <a:p>
            <a:r>
              <a:rPr lang="fi-FI" sz="1500" dirty="0">
                <a:solidFill>
                  <a:srgbClr val="000000"/>
                </a:solidFill>
                <a:latin typeface="Menlo-Regular"/>
              </a:rPr>
              <a:t>    Pthread_join(tid2, </a:t>
            </a:r>
            <a:r>
              <a:rPr lang="fi-FI" sz="1500" dirty="0">
                <a:solidFill>
                  <a:srgbClr val="2C9290"/>
                </a:solidFill>
                <a:latin typeface="Menlo-Regular"/>
              </a:rPr>
              <a:t>NULL</a:t>
            </a:r>
            <a:r>
              <a:rPr lang="fi-FI" sz="1500" dirty="0">
                <a:solidFill>
                  <a:srgbClr val="000000"/>
                </a:solidFill>
                <a:latin typeface="Menlo-Regular"/>
              </a:rPr>
              <a:t>);</a:t>
            </a:r>
          </a:p>
          <a:p>
            <a:endParaRPr lang="fi-FI" sz="1500" dirty="0">
              <a:solidFill>
                <a:srgbClr val="000000"/>
              </a:solidFill>
              <a:latin typeface="Menlo-Regular"/>
            </a:endParaRPr>
          </a:p>
          <a:p>
            <a:r>
              <a:rPr lang="pt-BR" sz="15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pt-BR" sz="1500" dirty="0">
                <a:solidFill>
                  <a:srgbClr val="CB2418"/>
                </a:solidFill>
                <a:latin typeface="Menlo-Regular"/>
              </a:rPr>
              <a:t>/* </a:t>
            </a:r>
            <a:r>
              <a:rPr lang="pt-BR" sz="1500" dirty="0" err="1">
                <a:solidFill>
                  <a:srgbClr val="CB2418"/>
                </a:solidFill>
                <a:latin typeface="Menlo-Regular"/>
              </a:rPr>
              <a:t>Check</a:t>
            </a:r>
            <a:r>
              <a:rPr lang="pt-BR" sz="1500" dirty="0">
                <a:solidFill>
                  <a:srgbClr val="CB2418"/>
                </a:solidFill>
                <a:latin typeface="Menlo-Regular"/>
              </a:rPr>
              <a:t> </a:t>
            </a:r>
            <a:r>
              <a:rPr lang="pt-BR" sz="1500" dirty="0" err="1">
                <a:solidFill>
                  <a:srgbClr val="CB2418"/>
                </a:solidFill>
                <a:latin typeface="Menlo-Regular"/>
              </a:rPr>
              <a:t>result</a:t>
            </a:r>
            <a:r>
              <a:rPr lang="pt-BR" sz="1500" dirty="0">
                <a:solidFill>
                  <a:srgbClr val="CB2418"/>
                </a:solidFill>
                <a:latin typeface="Menlo-Regular"/>
              </a:rPr>
              <a:t> */</a:t>
            </a:r>
            <a:endParaRPr lang="pt-BR" sz="1500" dirty="0">
              <a:solidFill>
                <a:srgbClr val="000000"/>
              </a:solidFill>
              <a:latin typeface="Menlo-Regular"/>
            </a:endParaRPr>
          </a:p>
          <a:p>
            <a:r>
              <a:rPr lang="en-US" sz="15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en-US" sz="1500" dirty="0">
                <a:solidFill>
                  <a:srgbClr val="C200FF"/>
                </a:solidFill>
                <a:latin typeface="Menlo-Regular"/>
              </a:rPr>
              <a:t>if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 (</a:t>
            </a:r>
            <a:r>
              <a:rPr lang="en-US" sz="1500" dirty="0" err="1">
                <a:solidFill>
                  <a:srgbClr val="000000"/>
                </a:solidFill>
                <a:latin typeface="Menlo-Regular"/>
              </a:rPr>
              <a:t>cnt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 != (2 * niters))</a:t>
            </a:r>
          </a:p>
          <a:p>
            <a:r>
              <a:rPr lang="ro-RO" sz="1500" dirty="0">
                <a:solidFill>
                  <a:srgbClr val="000000"/>
                </a:solidFill>
                <a:latin typeface="Menlo-Regular"/>
              </a:rPr>
              <a:t>        printf(</a:t>
            </a:r>
            <a:r>
              <a:rPr lang="ro-RO" sz="1500" dirty="0">
                <a:solidFill>
                  <a:srgbClr val="9D206F"/>
                </a:solidFill>
                <a:latin typeface="Menlo-Regular"/>
              </a:rPr>
              <a:t>"BOOM! cnt=%ld\n"</a:t>
            </a:r>
            <a:r>
              <a:rPr lang="ro-RO" sz="1500" dirty="0">
                <a:solidFill>
                  <a:srgbClr val="000000"/>
                </a:solidFill>
                <a:latin typeface="Menlo-Regular"/>
              </a:rPr>
              <a:t>, cnt);</a:t>
            </a:r>
          </a:p>
          <a:p>
            <a:r>
              <a:rPr lang="hu-HU" sz="15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hu-HU" sz="1500" dirty="0">
                <a:solidFill>
                  <a:srgbClr val="C200FF"/>
                </a:solidFill>
                <a:latin typeface="Menlo-Regular"/>
              </a:rPr>
              <a:t>else</a:t>
            </a:r>
            <a:endParaRPr lang="hu-HU" sz="1500" dirty="0">
              <a:solidFill>
                <a:srgbClr val="000000"/>
              </a:solidFill>
              <a:latin typeface="Menlo-Regular"/>
            </a:endParaRPr>
          </a:p>
          <a:p>
            <a:r>
              <a:rPr lang="ro-RO" sz="1500" dirty="0">
                <a:solidFill>
                  <a:srgbClr val="000000"/>
                </a:solidFill>
                <a:latin typeface="Menlo-Regular"/>
              </a:rPr>
              <a:t>        printf(</a:t>
            </a:r>
            <a:r>
              <a:rPr lang="ro-RO" sz="1500" dirty="0">
                <a:solidFill>
                  <a:srgbClr val="9D206F"/>
                </a:solidFill>
                <a:latin typeface="Menlo-Regular"/>
              </a:rPr>
              <a:t>"OK cnt=%ld\n"</a:t>
            </a:r>
            <a:r>
              <a:rPr lang="ro-RO" sz="1500" dirty="0">
                <a:solidFill>
                  <a:srgbClr val="000000"/>
                </a:solidFill>
                <a:latin typeface="Menlo-Regular"/>
              </a:rPr>
              <a:t>, cnt);</a:t>
            </a:r>
          </a:p>
          <a:p>
            <a:r>
              <a:rPr lang="ro-RO" sz="1500" dirty="0">
                <a:solidFill>
                  <a:srgbClr val="000000"/>
                </a:solidFill>
                <a:latin typeface="Menlo-Regular"/>
              </a:rPr>
              <a:t>    exit(0);</a:t>
            </a:r>
          </a:p>
          <a:p>
            <a:r>
              <a:rPr lang="ro-RO" sz="1500" dirty="0">
                <a:solidFill>
                  <a:srgbClr val="000000"/>
                </a:solidFill>
                <a:latin typeface="Menlo-Regular"/>
              </a:rPr>
              <a:t>}</a:t>
            </a:r>
          </a:p>
        </p:txBody>
      </p:sp>
      <p:sp>
        <p:nvSpPr>
          <p:cNvPr id="935940" name="Rectangle 4"/>
          <p:cNvSpPr>
            <a:spLocks noChangeArrowheads="1"/>
          </p:cNvSpPr>
          <p:nvPr/>
        </p:nvSpPr>
        <p:spPr bwMode="auto">
          <a:xfrm>
            <a:off x="4923199" y="1237834"/>
            <a:ext cx="4137671" cy="2800766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600" dirty="0">
                <a:solidFill>
                  <a:srgbClr val="9D0003"/>
                </a:solidFill>
                <a:latin typeface="Menlo-Regular"/>
              </a:rPr>
              <a:t>/* Thread routine */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                                                                                            </a:t>
            </a:r>
          </a:p>
          <a:p>
            <a:r>
              <a:rPr lang="en-US" sz="1600" dirty="0">
                <a:solidFill>
                  <a:srgbClr val="107702"/>
                </a:solidFill>
                <a:latin typeface="Menlo-Regular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*</a:t>
            </a:r>
            <a:r>
              <a:rPr lang="en-US" sz="1600" dirty="0">
                <a:solidFill>
                  <a:srgbClr val="0000FF"/>
                </a:solidFill>
                <a:latin typeface="Menlo-Regular"/>
              </a:rPr>
              <a:t>thread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(</a:t>
            </a:r>
            <a:r>
              <a:rPr lang="en-US" sz="1600" dirty="0">
                <a:solidFill>
                  <a:srgbClr val="107702"/>
                </a:solidFill>
                <a:latin typeface="Menlo-Regular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*</a:t>
            </a:r>
            <a:r>
              <a:rPr lang="en-US" sz="1600" dirty="0" err="1">
                <a:solidFill>
                  <a:srgbClr val="9E4C04"/>
                </a:solidFill>
                <a:latin typeface="Menlo-Regular"/>
              </a:rPr>
              <a:t>vargp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)                                                                                        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{                                                                                                                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en-US" sz="1600" dirty="0">
                <a:solidFill>
                  <a:srgbClr val="107702"/>
                </a:solidFill>
                <a:latin typeface="Menlo-Regular"/>
              </a:rPr>
              <a:t>long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600" dirty="0" err="1">
                <a:solidFill>
                  <a:srgbClr val="9E4C04"/>
                </a:solidFill>
                <a:latin typeface="Menlo-Regular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, </a:t>
            </a:r>
            <a:r>
              <a:rPr lang="en-US" sz="1600" dirty="0">
                <a:solidFill>
                  <a:srgbClr val="9E4C04"/>
                </a:solidFill>
                <a:latin typeface="Menlo-Regular"/>
              </a:rPr>
              <a:t>niters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= 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           *((</a:t>
            </a:r>
            <a:r>
              <a:rPr lang="en-US" sz="1600" dirty="0">
                <a:solidFill>
                  <a:srgbClr val="107702"/>
                </a:solidFill>
                <a:latin typeface="Menlo-Regular"/>
              </a:rPr>
              <a:t>long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*)</a:t>
            </a:r>
            <a:r>
              <a:rPr lang="en-US" sz="1600" dirty="0" err="1">
                <a:solidFill>
                  <a:srgbClr val="000000"/>
                </a:solidFill>
                <a:latin typeface="Menlo-Regular"/>
              </a:rPr>
              <a:t>vargp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);                                                                           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                                                                                                             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en-US" sz="1600" dirty="0">
                <a:solidFill>
                  <a:srgbClr val="9D00FF"/>
                </a:solidFill>
                <a:latin typeface="Menlo-Regular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(</a:t>
            </a:r>
            <a:r>
              <a:rPr lang="en-US" sz="1600" dirty="0" err="1">
                <a:solidFill>
                  <a:srgbClr val="000000"/>
                </a:solidFill>
                <a:latin typeface="Menlo-Regular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= 0; </a:t>
            </a:r>
            <a:r>
              <a:rPr lang="en-US" sz="1600" dirty="0" err="1">
                <a:solidFill>
                  <a:srgbClr val="000000"/>
                </a:solidFill>
                <a:latin typeface="Menlo-Regular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&lt; niters; </a:t>
            </a:r>
            <a:r>
              <a:rPr lang="en-US" sz="1600" dirty="0" err="1">
                <a:solidFill>
                  <a:srgbClr val="000000"/>
                </a:solidFill>
                <a:latin typeface="Menlo-Regular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++)</a:t>
            </a:r>
          </a:p>
          <a:p>
            <a:r>
              <a:rPr lang="nl-NL" sz="1600" dirty="0">
                <a:solidFill>
                  <a:srgbClr val="000000"/>
                </a:solidFill>
                <a:latin typeface="Menlo-Regular"/>
              </a:rPr>
              <a:t>        </a:t>
            </a:r>
            <a:r>
              <a:rPr lang="nl-NL" sz="1600" dirty="0" err="1">
                <a:solidFill>
                  <a:srgbClr val="000000"/>
                </a:solidFill>
                <a:latin typeface="Menlo-Regular"/>
              </a:rPr>
              <a:t>cnt</a:t>
            </a:r>
            <a:r>
              <a:rPr lang="nl-NL" sz="1600" dirty="0">
                <a:solidFill>
                  <a:srgbClr val="000000"/>
                </a:solidFill>
                <a:latin typeface="Menlo-Regular"/>
              </a:rPr>
              <a:t>++;                   </a:t>
            </a:r>
          </a:p>
          <a:p>
            <a:r>
              <a:rPr lang="nl-NL" sz="1600" dirty="0">
                <a:solidFill>
                  <a:srgbClr val="000000"/>
                </a:solidFill>
                <a:latin typeface="Menlo-Regular"/>
              </a:rPr>
              <a:t>                                                                                                                 </a:t>
            </a:r>
          </a:p>
          <a:p>
            <a:r>
              <a:rPr lang="is-IS" sz="16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is-IS" sz="1600" dirty="0">
                <a:solidFill>
                  <a:srgbClr val="9D00FF"/>
                </a:solidFill>
                <a:latin typeface="Menlo-Regular"/>
              </a:rPr>
              <a:t>return</a:t>
            </a:r>
            <a:r>
              <a:rPr lang="is-IS" sz="16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is-IS" sz="1600" dirty="0">
                <a:solidFill>
                  <a:srgbClr val="0F7574"/>
                </a:solidFill>
                <a:latin typeface="Menlo-Regular"/>
              </a:rPr>
              <a:t>NULL</a:t>
            </a:r>
            <a:r>
              <a:rPr lang="is-IS" sz="1600" dirty="0">
                <a:solidFill>
                  <a:srgbClr val="000000"/>
                </a:solidFill>
                <a:latin typeface="Menlo-Regular"/>
              </a:rPr>
              <a:t>;                                                                                                 </a:t>
            </a:r>
          </a:p>
          <a:p>
            <a:r>
              <a:rPr lang="is-IS" sz="1600" dirty="0">
                <a:solidFill>
                  <a:srgbClr val="000000"/>
                </a:solidFill>
                <a:latin typeface="Menlo-Regular"/>
              </a:rPr>
              <a:t>} </a:t>
            </a:r>
            <a:endParaRPr lang="en-US" sz="1600" dirty="0">
              <a:solidFill>
                <a:srgbClr val="000000"/>
              </a:solidFill>
              <a:latin typeface="Courier New" pitchFamily="49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5468580" y="4252316"/>
            <a:ext cx="3505200" cy="2198847"/>
            <a:chOff x="5048250" y="4192250"/>
            <a:chExt cx="3505200" cy="2198847"/>
          </a:xfrm>
        </p:grpSpPr>
        <p:sp>
          <p:nvSpPr>
            <p:cNvPr id="935941" name="Text Box 5"/>
            <p:cNvSpPr txBox="1">
              <a:spLocks noChangeArrowheads="1"/>
            </p:cNvSpPr>
            <p:nvPr/>
          </p:nvSpPr>
          <p:spPr bwMode="auto">
            <a:xfrm>
              <a:off x="5486400" y="4192250"/>
              <a:ext cx="2770410" cy="132343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54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1600" dirty="0" err="1">
                  <a:latin typeface="Courier New" pitchFamily="49" charset="0"/>
                </a:rPr>
                <a:t>linux</a:t>
              </a:r>
              <a:r>
                <a:rPr lang="en-US" sz="1600" dirty="0">
                  <a:latin typeface="Courier New" pitchFamily="49" charset="0"/>
                </a:rPr>
                <a:t>&gt; ./</a:t>
              </a:r>
              <a:r>
                <a:rPr lang="en-US" sz="1600" dirty="0" err="1">
                  <a:latin typeface="Courier New" pitchFamily="49" charset="0"/>
                </a:rPr>
                <a:t>badcnt</a:t>
              </a:r>
              <a:r>
                <a:rPr lang="en-US" sz="1600" dirty="0">
                  <a:latin typeface="Courier New" pitchFamily="49" charset="0"/>
                </a:rPr>
                <a:t> 10000</a:t>
              </a:r>
            </a:p>
            <a:p>
              <a:r>
                <a:rPr lang="en-US" sz="1600" dirty="0">
                  <a:latin typeface="Courier New" pitchFamily="49" charset="0"/>
                </a:rPr>
                <a:t>OK </a:t>
              </a:r>
              <a:r>
                <a:rPr lang="en-US" sz="1600" dirty="0" err="1">
                  <a:latin typeface="Courier New" pitchFamily="49" charset="0"/>
                </a:rPr>
                <a:t>cnt</a:t>
              </a:r>
              <a:r>
                <a:rPr lang="en-US" sz="1600" dirty="0">
                  <a:latin typeface="Courier New" pitchFamily="49" charset="0"/>
                </a:rPr>
                <a:t>=20000</a:t>
              </a:r>
            </a:p>
            <a:p>
              <a:r>
                <a:rPr lang="en-US" sz="1600" dirty="0" err="1">
                  <a:latin typeface="Courier New" pitchFamily="49" charset="0"/>
                </a:rPr>
                <a:t>linux</a:t>
              </a:r>
              <a:r>
                <a:rPr lang="en-US" sz="1600" dirty="0">
                  <a:latin typeface="Courier New" pitchFamily="49" charset="0"/>
                </a:rPr>
                <a:t>&gt; ./</a:t>
              </a:r>
              <a:r>
                <a:rPr lang="en-US" sz="1600" dirty="0" err="1">
                  <a:latin typeface="Courier New" pitchFamily="49" charset="0"/>
                </a:rPr>
                <a:t>badcnt</a:t>
              </a:r>
              <a:r>
                <a:rPr lang="en-US" sz="1600" dirty="0">
                  <a:latin typeface="Courier New" pitchFamily="49" charset="0"/>
                </a:rPr>
                <a:t> 10000</a:t>
              </a:r>
            </a:p>
            <a:p>
              <a:r>
                <a:rPr lang="en-US" sz="1600" dirty="0">
                  <a:latin typeface="Courier New" pitchFamily="49" charset="0"/>
                </a:rPr>
                <a:t>BOOM! </a:t>
              </a:r>
              <a:r>
                <a:rPr lang="en-US" sz="1600" dirty="0" err="1">
                  <a:latin typeface="Courier New" pitchFamily="49" charset="0"/>
                </a:rPr>
                <a:t>cnt</a:t>
              </a:r>
              <a:r>
                <a:rPr lang="en-US" sz="1600" dirty="0">
                  <a:latin typeface="Courier New" pitchFamily="49" charset="0"/>
                </a:rPr>
                <a:t>=13051</a:t>
              </a:r>
            </a:p>
            <a:p>
              <a:r>
                <a:rPr lang="en-US" sz="1600" dirty="0" err="1">
                  <a:latin typeface="Courier New" pitchFamily="49" charset="0"/>
                </a:rPr>
                <a:t>linux</a:t>
              </a:r>
              <a:r>
                <a:rPr lang="en-US" sz="1600" dirty="0">
                  <a:latin typeface="Courier New" pitchFamily="49" charset="0"/>
                </a:rPr>
                <a:t>&gt;</a:t>
              </a:r>
            </a:p>
          </p:txBody>
        </p:sp>
        <p:sp>
          <p:nvSpPr>
            <p:cNvPr id="935942" name="Text Box 6"/>
            <p:cNvSpPr txBox="1">
              <a:spLocks noChangeArrowheads="1"/>
            </p:cNvSpPr>
            <p:nvPr/>
          </p:nvSpPr>
          <p:spPr bwMode="auto">
            <a:xfrm>
              <a:off x="5048250" y="5560100"/>
              <a:ext cx="3505200" cy="83099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dirty="0" err="1">
                  <a:latin typeface="Courier New" pitchFamily="49" charset="0"/>
                </a:rPr>
                <a:t>cnt</a:t>
              </a:r>
              <a:r>
                <a:rPr lang="en-US" dirty="0">
                  <a:latin typeface="Calibri" pitchFamily="34" charset="0"/>
                </a:rPr>
                <a:t> should equal 20,000.</a:t>
              </a:r>
              <a:endParaRPr lang="en-US" sz="1800" dirty="0">
                <a:latin typeface="Calibri" pitchFamily="34" charset="0"/>
              </a:endParaRPr>
            </a:p>
            <a:p>
              <a:pPr algn="ctr"/>
              <a:r>
                <a:rPr lang="en-US" dirty="0">
                  <a:solidFill>
                    <a:srgbClr val="9D3E40"/>
                  </a:solidFill>
                  <a:latin typeface="Calibri" pitchFamily="34" charset="0"/>
                </a:rPr>
                <a:t>What went wrong?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3755723" y="6248400"/>
            <a:ext cx="1005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solidFill>
                  <a:srgbClr val="7F7F7F"/>
                </a:solidFill>
                <a:latin typeface="Calibri" pitchFamily="34" charset="0"/>
              </a:rPr>
              <a:t>badcnt.c</a:t>
            </a:r>
            <a:endParaRPr lang="en-US" sz="1800" dirty="0">
              <a:solidFill>
                <a:srgbClr val="7F7F7F"/>
              </a:solidFill>
              <a:latin typeface="Calibri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AB9FB2-85BA-D909-4C7D-8B9BEBCF21A2}"/>
              </a:ext>
            </a:extLst>
          </p:cNvPr>
          <p:cNvSpPr>
            <a:spLocks/>
          </p:cNvSpPr>
          <p:nvPr/>
        </p:nvSpPr>
        <p:spPr bwMode="auto">
          <a:xfrm>
            <a:off x="0" y="6636634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0A8A05-E3A7-3874-1952-098C4280E737}"/>
              </a:ext>
            </a:extLst>
          </p:cNvPr>
          <p:cNvSpPr>
            <a:spLocks/>
          </p:cNvSpPr>
          <p:nvPr/>
        </p:nvSpPr>
        <p:spPr bwMode="auto">
          <a:xfrm>
            <a:off x="-6350" y="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Code for Counter Loop</a:t>
            </a:r>
          </a:p>
        </p:txBody>
      </p:sp>
      <p:sp>
        <p:nvSpPr>
          <p:cNvPr id="937989" name="Rectangle 5"/>
          <p:cNvSpPr>
            <a:spLocks noChangeArrowheads="1"/>
          </p:cNvSpPr>
          <p:nvPr/>
        </p:nvSpPr>
        <p:spPr bwMode="auto">
          <a:xfrm>
            <a:off x="2073836" y="1715869"/>
            <a:ext cx="4063282" cy="646331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lvl="0"/>
            <a:r>
              <a:rPr lang="nl-NL" sz="1800" dirty="0" err="1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for</a:t>
            </a:r>
            <a:r>
              <a:rPr lang="nl-NL" sz="18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 (i = 0; i &lt; </a:t>
            </a:r>
            <a:r>
              <a:rPr lang="nl-NL" sz="1800" dirty="0" err="1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niters</a:t>
            </a:r>
            <a:r>
              <a:rPr lang="nl-NL" sz="18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; i++)</a:t>
            </a:r>
          </a:p>
          <a:p>
            <a:pPr lvl="0"/>
            <a:r>
              <a:rPr lang="nl-NL" sz="18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    </a:t>
            </a:r>
            <a:r>
              <a:rPr lang="nl-NL" sz="1800" dirty="0" err="1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cnt</a:t>
            </a:r>
            <a:r>
              <a:rPr lang="nl-NL" sz="18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++; </a:t>
            </a:r>
            <a:endParaRPr lang="en-US" sz="1800" dirty="0">
              <a:solidFill>
                <a:srgbClr val="000000"/>
              </a:solidFill>
              <a:latin typeface="Courier New"/>
              <a:ea typeface="ＭＳ Ｐゴシック" charset="0"/>
              <a:cs typeface="Courier New"/>
            </a:endParaRPr>
          </a:p>
        </p:txBody>
      </p:sp>
      <p:sp>
        <p:nvSpPr>
          <p:cNvPr id="937990" name="Text Box 6"/>
          <p:cNvSpPr txBox="1">
            <a:spLocks noChangeArrowheads="1"/>
          </p:cNvSpPr>
          <p:nvPr/>
        </p:nvSpPr>
        <p:spPr bwMode="auto">
          <a:xfrm>
            <a:off x="1828800" y="1249234"/>
            <a:ext cx="4854462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dirty="0">
                <a:latin typeface="Calibri" pitchFamily="34" charset="0"/>
              </a:rPr>
              <a:t>C code for counter loop in thread </a:t>
            </a:r>
            <a:r>
              <a:rPr lang="en-US" dirty="0" err="1">
                <a:latin typeface="Calibri" pitchFamily="34" charset="0"/>
              </a:rPr>
              <a:t>i</a:t>
            </a:r>
            <a:endParaRPr lang="en-US" dirty="0">
              <a:latin typeface="Calibri" pitchFamily="34" charset="0"/>
            </a:endParaRPr>
          </a:p>
        </p:txBody>
      </p:sp>
      <p:sp>
        <p:nvSpPr>
          <p:cNvPr id="27" name="Text Box 379"/>
          <p:cNvSpPr txBox="1">
            <a:spLocks noChangeArrowheads="1"/>
          </p:cNvSpPr>
          <p:nvPr/>
        </p:nvSpPr>
        <p:spPr bwMode="auto">
          <a:xfrm>
            <a:off x="2209800" y="3121224"/>
            <a:ext cx="3614294" cy="3431976"/>
          </a:xfrm>
          <a:prstGeom prst="rect">
            <a:avLst/>
          </a:prstGeom>
          <a:solidFill>
            <a:srgbClr val="D9D9D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tIns="45720" anchor="t" anchorCtr="0">
            <a:noAutofit/>
          </a:bodyPr>
          <a:lstStyle/>
          <a:p>
            <a:pPr algn="l"/>
            <a:r>
              <a:rPr lang="en-US" sz="1800" dirty="0">
                <a:latin typeface="Courier New"/>
                <a:cs typeface="Courier New"/>
              </a:rPr>
              <a:t>    </a:t>
            </a:r>
            <a:r>
              <a:rPr lang="en-US" sz="1800" dirty="0" err="1">
                <a:latin typeface="Courier New"/>
                <a:cs typeface="Courier New"/>
              </a:rPr>
              <a:t>movq</a:t>
            </a:r>
            <a:r>
              <a:rPr lang="en-US" sz="1800" dirty="0">
                <a:latin typeface="Courier New"/>
                <a:cs typeface="Courier New"/>
              </a:rPr>
              <a:t>  (%</a:t>
            </a:r>
            <a:r>
              <a:rPr lang="en-US" sz="1800" dirty="0" err="1">
                <a:latin typeface="Courier New"/>
                <a:cs typeface="Courier New"/>
              </a:rPr>
              <a:t>rdi</a:t>
            </a:r>
            <a:r>
              <a:rPr lang="en-US" sz="1800" dirty="0">
                <a:latin typeface="Courier New"/>
                <a:cs typeface="Courier New"/>
              </a:rPr>
              <a:t>), %</a:t>
            </a:r>
            <a:r>
              <a:rPr lang="en-US" sz="1800" dirty="0" err="1">
                <a:latin typeface="Courier New"/>
                <a:cs typeface="Courier New"/>
              </a:rPr>
              <a:t>rcx</a:t>
            </a:r>
            <a:endParaRPr lang="en-US" sz="1800" dirty="0">
              <a:latin typeface="Courier New"/>
              <a:cs typeface="Courier New"/>
            </a:endParaRPr>
          </a:p>
          <a:p>
            <a:pPr algn="l"/>
            <a:r>
              <a:rPr lang="en-US" sz="1800" dirty="0">
                <a:latin typeface="Courier New"/>
                <a:cs typeface="Courier New"/>
              </a:rPr>
              <a:t>    </a:t>
            </a:r>
            <a:r>
              <a:rPr lang="en-US" sz="1800" dirty="0" err="1">
                <a:latin typeface="Courier New"/>
                <a:cs typeface="Courier New"/>
              </a:rPr>
              <a:t>testq</a:t>
            </a:r>
            <a:r>
              <a:rPr lang="en-US" sz="1800" dirty="0">
                <a:latin typeface="Courier New"/>
                <a:cs typeface="Courier New"/>
              </a:rPr>
              <a:t> %</a:t>
            </a:r>
            <a:r>
              <a:rPr lang="en-US" sz="1800" dirty="0" err="1">
                <a:latin typeface="Courier New"/>
                <a:cs typeface="Courier New"/>
              </a:rPr>
              <a:t>rcx</a:t>
            </a:r>
            <a:r>
              <a:rPr lang="en-US" sz="1800" dirty="0">
                <a:latin typeface="Courier New"/>
                <a:cs typeface="Courier New"/>
              </a:rPr>
              <a:t>,%</a:t>
            </a:r>
            <a:r>
              <a:rPr lang="en-US" sz="1800" dirty="0" err="1">
                <a:latin typeface="Courier New"/>
                <a:cs typeface="Courier New"/>
              </a:rPr>
              <a:t>rcx</a:t>
            </a:r>
            <a:endParaRPr lang="en-US" sz="1800" dirty="0">
              <a:latin typeface="Courier New"/>
              <a:cs typeface="Courier New"/>
            </a:endParaRPr>
          </a:p>
          <a:p>
            <a:pPr algn="l"/>
            <a:r>
              <a:rPr lang="en-US" sz="1800" dirty="0">
                <a:latin typeface="Courier New"/>
                <a:cs typeface="Courier New"/>
              </a:rPr>
              <a:t>    </a:t>
            </a:r>
            <a:r>
              <a:rPr lang="en-US" sz="1800" dirty="0" err="1">
                <a:latin typeface="Courier New"/>
                <a:cs typeface="Courier New"/>
              </a:rPr>
              <a:t>jle</a:t>
            </a:r>
            <a:r>
              <a:rPr lang="en-US" sz="1800" dirty="0">
                <a:latin typeface="Courier New"/>
                <a:cs typeface="Courier New"/>
              </a:rPr>
              <a:t>   .L2</a:t>
            </a:r>
          </a:p>
          <a:p>
            <a:pPr algn="l"/>
            <a:r>
              <a:rPr lang="cs-CZ" sz="1800" dirty="0">
                <a:latin typeface="Courier New"/>
                <a:cs typeface="Courier New"/>
              </a:rPr>
              <a:t>    </a:t>
            </a:r>
            <a:r>
              <a:rPr lang="cs-CZ" sz="1800" dirty="0" err="1">
                <a:latin typeface="Courier New"/>
                <a:cs typeface="Courier New"/>
              </a:rPr>
              <a:t>movl</a:t>
            </a:r>
            <a:r>
              <a:rPr lang="cs-CZ" sz="1800" dirty="0">
                <a:latin typeface="Courier New"/>
                <a:cs typeface="Courier New"/>
              </a:rPr>
              <a:t>  $0, %</a:t>
            </a:r>
            <a:r>
              <a:rPr lang="cs-CZ" sz="1800" dirty="0" err="1">
                <a:latin typeface="Courier New"/>
                <a:cs typeface="Courier New"/>
              </a:rPr>
              <a:t>eax</a:t>
            </a:r>
            <a:endParaRPr lang="cs-CZ" sz="1800" dirty="0">
              <a:latin typeface="Courier New"/>
              <a:cs typeface="Courier New"/>
            </a:endParaRPr>
          </a:p>
          <a:p>
            <a:pPr algn="l"/>
            <a:r>
              <a:rPr lang="cs-CZ" sz="1800" dirty="0">
                <a:latin typeface="Courier New"/>
                <a:cs typeface="Courier New"/>
              </a:rPr>
              <a:t>.L3:</a:t>
            </a:r>
          </a:p>
          <a:p>
            <a:pPr algn="l"/>
            <a:r>
              <a:rPr lang="en-US" sz="1800" dirty="0">
                <a:latin typeface="Courier New"/>
                <a:cs typeface="Courier New"/>
              </a:rPr>
              <a:t>    </a:t>
            </a:r>
            <a:r>
              <a:rPr lang="en-US" sz="1800" dirty="0" err="1">
                <a:latin typeface="Courier New"/>
                <a:cs typeface="Courier New"/>
              </a:rPr>
              <a:t>movq</a:t>
            </a:r>
            <a:r>
              <a:rPr lang="en-US" sz="1800" dirty="0">
                <a:latin typeface="Courier New"/>
                <a:cs typeface="Courier New"/>
              </a:rPr>
              <a:t>  </a:t>
            </a:r>
            <a:r>
              <a:rPr lang="en-US" sz="1800" dirty="0" err="1">
                <a:latin typeface="Courier New"/>
                <a:cs typeface="Courier New"/>
              </a:rPr>
              <a:t>cnt</a:t>
            </a:r>
            <a:r>
              <a:rPr lang="en-US" sz="1800" dirty="0">
                <a:latin typeface="Courier New"/>
                <a:cs typeface="Courier New"/>
              </a:rPr>
              <a:t>(%rip),%</a:t>
            </a:r>
            <a:r>
              <a:rPr lang="en-US" sz="1800" dirty="0" err="1">
                <a:latin typeface="Courier New"/>
                <a:cs typeface="Courier New"/>
              </a:rPr>
              <a:t>rdx</a:t>
            </a:r>
            <a:endParaRPr lang="en-US" sz="1800" dirty="0">
              <a:latin typeface="Courier New"/>
              <a:cs typeface="Courier New"/>
            </a:endParaRPr>
          </a:p>
          <a:p>
            <a:pPr algn="l"/>
            <a:r>
              <a:rPr lang="en-US" sz="1800" dirty="0">
                <a:latin typeface="Courier New"/>
                <a:cs typeface="Courier New"/>
              </a:rPr>
              <a:t>    </a:t>
            </a:r>
            <a:r>
              <a:rPr lang="en-US" sz="1800" dirty="0" err="1">
                <a:latin typeface="Courier New"/>
                <a:cs typeface="Courier New"/>
              </a:rPr>
              <a:t>addq</a:t>
            </a:r>
            <a:r>
              <a:rPr lang="en-US" sz="1800" dirty="0">
                <a:latin typeface="Courier New"/>
                <a:cs typeface="Courier New"/>
              </a:rPr>
              <a:t>  $1, %</a:t>
            </a:r>
            <a:r>
              <a:rPr lang="en-US" sz="1800" dirty="0" err="1">
                <a:latin typeface="Courier New"/>
                <a:cs typeface="Courier New"/>
              </a:rPr>
              <a:t>rdx</a:t>
            </a:r>
            <a:endParaRPr lang="en-US" sz="1800" dirty="0">
              <a:latin typeface="Courier New"/>
              <a:cs typeface="Courier New"/>
            </a:endParaRPr>
          </a:p>
          <a:p>
            <a:pPr algn="l"/>
            <a:r>
              <a:rPr lang="en-US" sz="1800" dirty="0">
                <a:latin typeface="Courier New"/>
                <a:cs typeface="Courier New"/>
              </a:rPr>
              <a:t>    </a:t>
            </a:r>
            <a:r>
              <a:rPr lang="en-US" sz="1800" dirty="0" err="1">
                <a:latin typeface="Courier New"/>
                <a:cs typeface="Courier New"/>
              </a:rPr>
              <a:t>movq</a:t>
            </a:r>
            <a:r>
              <a:rPr lang="en-US" sz="1800" dirty="0">
                <a:latin typeface="Courier New"/>
                <a:cs typeface="Courier New"/>
              </a:rPr>
              <a:t>  %</a:t>
            </a:r>
            <a:r>
              <a:rPr lang="en-US" sz="1800" dirty="0" err="1">
                <a:latin typeface="Courier New"/>
                <a:cs typeface="Courier New"/>
              </a:rPr>
              <a:t>rdx</a:t>
            </a:r>
            <a:r>
              <a:rPr lang="en-US" sz="1800" dirty="0">
                <a:latin typeface="Courier New"/>
                <a:cs typeface="Courier New"/>
              </a:rPr>
              <a:t>, </a:t>
            </a:r>
            <a:r>
              <a:rPr lang="en-US" sz="1800" dirty="0" err="1">
                <a:latin typeface="Courier New"/>
                <a:cs typeface="Courier New"/>
              </a:rPr>
              <a:t>cnt</a:t>
            </a:r>
            <a:r>
              <a:rPr lang="en-US" sz="1800" dirty="0">
                <a:latin typeface="Courier New"/>
                <a:cs typeface="Courier New"/>
              </a:rPr>
              <a:t>(%rip)</a:t>
            </a:r>
          </a:p>
          <a:p>
            <a:pPr algn="l"/>
            <a:r>
              <a:rPr lang="en-US" sz="1800" dirty="0">
                <a:latin typeface="Courier New"/>
                <a:cs typeface="Courier New"/>
              </a:rPr>
              <a:t>    </a:t>
            </a:r>
            <a:r>
              <a:rPr lang="en-US" sz="1800" dirty="0" err="1">
                <a:latin typeface="Courier New"/>
                <a:cs typeface="Courier New"/>
              </a:rPr>
              <a:t>addq</a:t>
            </a:r>
            <a:r>
              <a:rPr lang="en-US" sz="1800" dirty="0">
                <a:latin typeface="Courier New"/>
                <a:cs typeface="Courier New"/>
              </a:rPr>
              <a:t>  $1, %</a:t>
            </a:r>
            <a:r>
              <a:rPr lang="en-US" sz="1800" dirty="0" err="1">
                <a:latin typeface="Courier New"/>
                <a:cs typeface="Courier New"/>
              </a:rPr>
              <a:t>rax</a:t>
            </a:r>
            <a:endParaRPr lang="en-US" sz="1800" dirty="0">
              <a:latin typeface="Courier New"/>
              <a:cs typeface="Courier New"/>
            </a:endParaRPr>
          </a:p>
          <a:p>
            <a:pPr algn="l"/>
            <a:r>
              <a:rPr lang="en-US" sz="1800" dirty="0">
                <a:latin typeface="Courier New"/>
                <a:cs typeface="Courier New"/>
              </a:rPr>
              <a:t>    </a:t>
            </a:r>
            <a:r>
              <a:rPr lang="en-US" sz="1800" dirty="0" err="1">
                <a:latin typeface="Courier New"/>
                <a:cs typeface="Courier New"/>
              </a:rPr>
              <a:t>cmpq</a:t>
            </a:r>
            <a:r>
              <a:rPr lang="en-US" sz="1800" dirty="0">
                <a:latin typeface="Courier New"/>
                <a:cs typeface="Courier New"/>
              </a:rPr>
              <a:t>  %</a:t>
            </a:r>
            <a:r>
              <a:rPr lang="en-US" sz="1800" dirty="0" err="1">
                <a:latin typeface="Courier New"/>
                <a:cs typeface="Courier New"/>
              </a:rPr>
              <a:t>rcx</a:t>
            </a:r>
            <a:r>
              <a:rPr lang="en-US" sz="1800" dirty="0">
                <a:latin typeface="Courier New"/>
                <a:cs typeface="Courier New"/>
              </a:rPr>
              <a:t>, %</a:t>
            </a:r>
            <a:r>
              <a:rPr lang="en-US" sz="1800" dirty="0" err="1">
                <a:latin typeface="Courier New"/>
                <a:cs typeface="Courier New"/>
              </a:rPr>
              <a:t>rax</a:t>
            </a:r>
            <a:endParaRPr lang="en-US" sz="1800" dirty="0">
              <a:latin typeface="Courier New"/>
              <a:cs typeface="Courier New"/>
            </a:endParaRPr>
          </a:p>
          <a:p>
            <a:pPr algn="l"/>
            <a:r>
              <a:rPr lang="pl-PL" sz="1800" dirty="0">
                <a:latin typeface="Courier New"/>
                <a:cs typeface="Courier New"/>
              </a:rPr>
              <a:t>    </a:t>
            </a:r>
            <a:r>
              <a:rPr lang="pl-PL" sz="1800" dirty="0" err="1">
                <a:latin typeface="Courier New"/>
                <a:cs typeface="Courier New"/>
              </a:rPr>
              <a:t>jne</a:t>
            </a:r>
            <a:r>
              <a:rPr lang="pl-PL" sz="1800" dirty="0">
                <a:latin typeface="Courier New"/>
                <a:cs typeface="Courier New"/>
              </a:rPr>
              <a:t>   .L3</a:t>
            </a:r>
          </a:p>
          <a:p>
            <a:pPr algn="l"/>
            <a:r>
              <a:rPr lang="pl-PL" sz="1800" dirty="0">
                <a:latin typeface="Courier New"/>
                <a:cs typeface="Courier New"/>
              </a:rPr>
              <a:t>.L2:</a:t>
            </a:r>
            <a:endParaRPr lang="en-US" sz="1800" dirty="0">
              <a:latin typeface="Courier New"/>
              <a:cs typeface="Courier New"/>
            </a:endParaRPr>
          </a:p>
        </p:txBody>
      </p:sp>
      <p:sp>
        <p:nvSpPr>
          <p:cNvPr id="28" name="AutoShape 381"/>
          <p:cNvSpPr>
            <a:spLocks noChangeAspect="1"/>
          </p:cNvSpPr>
          <p:nvPr/>
        </p:nvSpPr>
        <p:spPr bwMode="auto">
          <a:xfrm flipH="1">
            <a:off x="5922650" y="3148057"/>
            <a:ext cx="73396" cy="1086862"/>
          </a:xfrm>
          <a:prstGeom prst="leftBrace">
            <a:avLst>
              <a:gd name="adj1" fmla="val 123405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" name="Text Box 382"/>
          <p:cNvSpPr txBox="1">
            <a:spLocks noChangeArrowheads="1"/>
          </p:cNvSpPr>
          <p:nvPr/>
        </p:nvSpPr>
        <p:spPr bwMode="auto">
          <a:xfrm>
            <a:off x="5969322" y="3507004"/>
            <a:ext cx="100387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r"/>
            <a:r>
              <a:rPr lang="en-US" sz="1800" i="1" dirty="0"/>
              <a:t>H</a:t>
            </a:r>
            <a:r>
              <a:rPr lang="en-US" sz="1800" i="1" baseline="-25000" dirty="0"/>
              <a:t>i</a:t>
            </a:r>
            <a:r>
              <a:rPr lang="en-US" sz="1800" i="1" dirty="0"/>
              <a:t> </a:t>
            </a:r>
            <a:r>
              <a:rPr lang="en-US" sz="1800" dirty="0"/>
              <a:t>: Head</a:t>
            </a:r>
          </a:p>
        </p:txBody>
      </p:sp>
      <p:sp>
        <p:nvSpPr>
          <p:cNvPr id="30" name="Text Box 383"/>
          <p:cNvSpPr txBox="1">
            <a:spLocks noChangeArrowheads="1"/>
          </p:cNvSpPr>
          <p:nvPr/>
        </p:nvSpPr>
        <p:spPr bwMode="auto">
          <a:xfrm>
            <a:off x="5969322" y="5739385"/>
            <a:ext cx="759003" cy="338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/>
            <a:r>
              <a:rPr lang="en-US" sz="1600" i="1" dirty="0"/>
              <a:t>T</a:t>
            </a:r>
            <a:r>
              <a:rPr lang="en-US" sz="1600" i="1" baseline="-25000" dirty="0"/>
              <a:t>i</a:t>
            </a:r>
            <a:r>
              <a:rPr lang="en-US" sz="1600" dirty="0"/>
              <a:t> : Tail</a:t>
            </a:r>
          </a:p>
        </p:txBody>
      </p:sp>
      <p:sp>
        <p:nvSpPr>
          <p:cNvPr id="31" name="Line 385"/>
          <p:cNvSpPr>
            <a:spLocks noChangeShapeType="1"/>
          </p:cNvSpPr>
          <p:nvPr/>
        </p:nvSpPr>
        <p:spPr bwMode="auto">
          <a:xfrm flipV="1">
            <a:off x="2212483" y="4290240"/>
            <a:ext cx="3600887" cy="6712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US"/>
          </a:p>
        </p:txBody>
      </p:sp>
      <p:sp>
        <p:nvSpPr>
          <p:cNvPr id="32" name="Line 386"/>
          <p:cNvSpPr>
            <a:spLocks noChangeShapeType="1"/>
          </p:cNvSpPr>
          <p:nvPr/>
        </p:nvSpPr>
        <p:spPr bwMode="auto">
          <a:xfrm>
            <a:off x="2212483" y="5390895"/>
            <a:ext cx="3600887" cy="14737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US"/>
          </a:p>
        </p:txBody>
      </p:sp>
      <p:sp>
        <p:nvSpPr>
          <p:cNvPr id="33" name="Text Box 387"/>
          <p:cNvSpPr txBox="1">
            <a:spLocks noChangeArrowheads="1"/>
          </p:cNvSpPr>
          <p:nvPr/>
        </p:nvSpPr>
        <p:spPr bwMode="auto">
          <a:xfrm>
            <a:off x="5969322" y="4443985"/>
            <a:ext cx="165072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/>
            <a:r>
              <a:rPr lang="en-US" sz="1800" i="1" dirty="0"/>
              <a:t>L</a:t>
            </a:r>
            <a:r>
              <a:rPr lang="en-US" sz="1800" i="1" baseline="-25000" dirty="0"/>
              <a:t>i  </a:t>
            </a:r>
            <a:r>
              <a:rPr lang="en-US" sz="1800" dirty="0"/>
              <a:t>: Load </a:t>
            </a:r>
            <a:r>
              <a:rPr lang="en-US" sz="1800" dirty="0" err="1">
                <a:latin typeface="Courier New" charset="0"/>
              </a:rPr>
              <a:t>cnt</a:t>
            </a:r>
            <a:endParaRPr lang="en-US" sz="1800" dirty="0"/>
          </a:p>
          <a:p>
            <a:pPr algn="l"/>
            <a:r>
              <a:rPr lang="en-US" sz="1800" i="1" dirty="0" err="1"/>
              <a:t>U</a:t>
            </a:r>
            <a:r>
              <a:rPr lang="en-US" sz="1800" i="1" baseline="-25000" dirty="0" err="1"/>
              <a:t>i</a:t>
            </a:r>
            <a:r>
              <a:rPr lang="en-US" sz="1800" dirty="0"/>
              <a:t> : Update </a:t>
            </a:r>
            <a:r>
              <a:rPr lang="en-US" sz="1800" dirty="0" err="1">
                <a:latin typeface="Courier New" charset="0"/>
              </a:rPr>
              <a:t>cnt</a:t>
            </a:r>
            <a:endParaRPr lang="en-US" sz="1800" dirty="0"/>
          </a:p>
          <a:p>
            <a:pPr algn="l"/>
            <a:r>
              <a:rPr lang="en-US" sz="1800" i="1" dirty="0"/>
              <a:t>S</a:t>
            </a:r>
            <a:r>
              <a:rPr lang="en-US" sz="1800" i="1" baseline="-25000" dirty="0"/>
              <a:t>i</a:t>
            </a:r>
            <a:r>
              <a:rPr lang="en-US" sz="1800" dirty="0"/>
              <a:t> : Store </a:t>
            </a:r>
            <a:r>
              <a:rPr lang="en-US" sz="1800" dirty="0" err="1">
                <a:latin typeface="Courier New" charset="0"/>
              </a:rPr>
              <a:t>cnt</a:t>
            </a:r>
            <a:endParaRPr lang="en-US" sz="1800" dirty="0">
              <a:latin typeface="Courier New" charset="0"/>
            </a:endParaRPr>
          </a:p>
        </p:txBody>
      </p:sp>
      <p:sp>
        <p:nvSpPr>
          <p:cNvPr id="34" name="Text Box 392"/>
          <p:cNvSpPr txBox="1">
            <a:spLocks noChangeArrowheads="1"/>
          </p:cNvSpPr>
          <p:nvPr/>
        </p:nvSpPr>
        <p:spPr bwMode="auto">
          <a:xfrm>
            <a:off x="2674993" y="2688224"/>
            <a:ext cx="2682568" cy="4263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i="1" dirty="0" err="1"/>
              <a:t>Asm</a:t>
            </a:r>
            <a:r>
              <a:rPr lang="en-US" i="1" dirty="0"/>
              <a:t> code for thread </a:t>
            </a:r>
            <a:r>
              <a:rPr lang="en-US" i="1" dirty="0" err="1"/>
              <a:t>i</a:t>
            </a:r>
            <a:endParaRPr lang="en-US" i="1" dirty="0"/>
          </a:p>
        </p:txBody>
      </p:sp>
      <p:sp>
        <p:nvSpPr>
          <p:cNvPr id="35" name="AutoShape 381"/>
          <p:cNvSpPr>
            <a:spLocks noChangeAspect="1"/>
          </p:cNvSpPr>
          <p:nvPr/>
        </p:nvSpPr>
        <p:spPr bwMode="auto">
          <a:xfrm flipH="1">
            <a:off x="5922650" y="4295623"/>
            <a:ext cx="73396" cy="1086862"/>
          </a:xfrm>
          <a:prstGeom prst="leftBrace">
            <a:avLst>
              <a:gd name="adj1" fmla="val 123405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6" name="AutoShape 381"/>
          <p:cNvSpPr>
            <a:spLocks noChangeAspect="1"/>
          </p:cNvSpPr>
          <p:nvPr/>
        </p:nvSpPr>
        <p:spPr bwMode="auto">
          <a:xfrm flipH="1">
            <a:off x="5922650" y="5432466"/>
            <a:ext cx="73396" cy="1086862"/>
          </a:xfrm>
          <a:prstGeom prst="leftBrace">
            <a:avLst>
              <a:gd name="adj1" fmla="val 123405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BF08F4-79EF-DF3B-B084-6AB72AA874EA}"/>
              </a:ext>
            </a:extLst>
          </p:cNvPr>
          <p:cNvSpPr>
            <a:spLocks/>
          </p:cNvSpPr>
          <p:nvPr/>
        </p:nvSpPr>
        <p:spPr bwMode="auto">
          <a:xfrm>
            <a:off x="0" y="6636634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60F617-5C96-FCFD-DA6C-5C37E39150E2}"/>
              </a:ext>
            </a:extLst>
          </p:cNvPr>
          <p:cNvSpPr>
            <a:spLocks/>
          </p:cNvSpPr>
          <p:nvPr/>
        </p:nvSpPr>
        <p:spPr bwMode="auto">
          <a:xfrm>
            <a:off x="-6350" y="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034" name="Rectangle 2"/>
          <p:cNvSpPr>
            <a:spLocks noGrp="1" noChangeArrowheads="1"/>
          </p:cNvSpPr>
          <p:nvPr>
            <p:ph type="title"/>
          </p:nvPr>
        </p:nvSpPr>
        <p:spPr>
          <a:xfrm>
            <a:off x="292688" y="493712"/>
            <a:ext cx="6616700" cy="573088"/>
          </a:xfrm>
        </p:spPr>
        <p:txBody>
          <a:bodyPr/>
          <a:lstStyle/>
          <a:p>
            <a:r>
              <a:rPr lang="en-US" dirty="0"/>
              <a:t>Concurrent Execution</a:t>
            </a:r>
          </a:p>
        </p:txBody>
      </p:sp>
      <p:sp>
        <p:nvSpPr>
          <p:cNvPr id="940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1220788"/>
            <a:ext cx="8307387" cy="1450975"/>
          </a:xfrm>
        </p:spPr>
        <p:txBody>
          <a:bodyPr/>
          <a:lstStyle/>
          <a:p>
            <a:pPr>
              <a:lnSpc>
                <a:spcPct val="85000"/>
              </a:lnSpc>
            </a:pPr>
            <a:r>
              <a:rPr lang="en-US" i="1" dirty="0">
                <a:solidFill>
                  <a:srgbClr val="C00000"/>
                </a:solidFill>
              </a:rPr>
              <a:t>Key idea: </a:t>
            </a:r>
            <a:r>
              <a:rPr lang="en-US" dirty="0"/>
              <a:t>In general, any sequentially consistent interleaving is possible, but some give an unexpected result!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I</a:t>
            </a:r>
            <a:r>
              <a:rPr lang="en-US" baseline="-25000" dirty="0"/>
              <a:t>i</a:t>
            </a:r>
            <a:r>
              <a:rPr lang="en-US" dirty="0"/>
              <a:t> denotes that thread </a:t>
            </a:r>
            <a:r>
              <a:rPr lang="en-US" dirty="0" err="1"/>
              <a:t>i</a:t>
            </a:r>
            <a:r>
              <a:rPr lang="en-US" dirty="0"/>
              <a:t> executes instruction I</a:t>
            </a:r>
            <a:endParaRPr lang="en-US" sz="1600" dirty="0"/>
          </a:p>
          <a:p>
            <a:pPr lvl="1">
              <a:lnSpc>
                <a:spcPct val="90000"/>
              </a:lnSpc>
            </a:pPr>
            <a:r>
              <a:rPr lang="en-US" dirty="0"/>
              <a:t>%</a:t>
            </a:r>
            <a:r>
              <a:rPr lang="en-US" dirty="0" err="1"/>
              <a:t>rdx</a:t>
            </a:r>
            <a:r>
              <a:rPr lang="en-US" baseline="-25000" dirty="0" err="1"/>
              <a:t>i</a:t>
            </a:r>
            <a:r>
              <a:rPr lang="en-US" baseline="-25000" dirty="0"/>
              <a:t> </a:t>
            </a:r>
            <a:r>
              <a:rPr lang="en-US" dirty="0"/>
              <a:t>is the content of %</a:t>
            </a:r>
            <a:r>
              <a:rPr lang="en-US" dirty="0" err="1"/>
              <a:t>rdx</a:t>
            </a:r>
            <a:r>
              <a:rPr lang="en-US" dirty="0"/>
              <a:t> in thread i’s context</a:t>
            </a:r>
            <a:endParaRPr lang="en-US" sz="1800" dirty="0"/>
          </a:p>
        </p:txBody>
      </p:sp>
      <p:sp>
        <p:nvSpPr>
          <p:cNvPr id="940036" name="Rectangle 4"/>
          <p:cNvSpPr>
            <a:spLocks noChangeArrowheads="1"/>
          </p:cNvSpPr>
          <p:nvPr/>
        </p:nvSpPr>
        <p:spPr bwMode="auto">
          <a:xfrm>
            <a:off x="1820863" y="3343275"/>
            <a:ext cx="974725" cy="271463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H</a:t>
            </a:r>
            <a:r>
              <a:rPr lang="en-US" sz="1800" baseline="-25000" dirty="0">
                <a:latin typeface="Calibri" pitchFamily="34" charset="0"/>
              </a:rPr>
              <a:t>1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940037" name="Rectangle 5"/>
          <p:cNvSpPr>
            <a:spLocks noChangeArrowheads="1"/>
          </p:cNvSpPr>
          <p:nvPr/>
        </p:nvSpPr>
        <p:spPr bwMode="auto">
          <a:xfrm>
            <a:off x="1820863" y="3614738"/>
            <a:ext cx="974725" cy="271462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L</a:t>
            </a:r>
            <a:r>
              <a:rPr lang="en-US" sz="1800" baseline="-25000" dirty="0">
                <a:latin typeface="Calibri" pitchFamily="34" charset="0"/>
              </a:rPr>
              <a:t>1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940038" name="Rectangle 6"/>
          <p:cNvSpPr>
            <a:spLocks noChangeArrowheads="1"/>
          </p:cNvSpPr>
          <p:nvPr/>
        </p:nvSpPr>
        <p:spPr bwMode="auto">
          <a:xfrm>
            <a:off x="1820863" y="3876675"/>
            <a:ext cx="974725" cy="271463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U</a:t>
            </a:r>
            <a:r>
              <a:rPr lang="en-US" sz="1800" baseline="-25000" dirty="0">
                <a:latin typeface="Calibri" pitchFamily="34" charset="0"/>
              </a:rPr>
              <a:t>1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940039" name="Rectangle 7"/>
          <p:cNvSpPr>
            <a:spLocks noChangeArrowheads="1"/>
          </p:cNvSpPr>
          <p:nvPr/>
        </p:nvSpPr>
        <p:spPr bwMode="auto">
          <a:xfrm>
            <a:off x="1820863" y="4148138"/>
            <a:ext cx="974725" cy="271462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S</a:t>
            </a:r>
            <a:r>
              <a:rPr lang="en-US" sz="1800" baseline="-25000" dirty="0">
                <a:latin typeface="Calibri" pitchFamily="34" charset="0"/>
              </a:rPr>
              <a:t>1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940040" name="Rectangle 8"/>
          <p:cNvSpPr>
            <a:spLocks noChangeArrowheads="1"/>
          </p:cNvSpPr>
          <p:nvPr/>
        </p:nvSpPr>
        <p:spPr bwMode="auto">
          <a:xfrm>
            <a:off x="1820863" y="4410075"/>
            <a:ext cx="974725" cy="271463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H</a:t>
            </a:r>
            <a:r>
              <a:rPr lang="en-US" sz="1800" baseline="-25000" dirty="0">
                <a:latin typeface="Calibri" pitchFamily="34" charset="0"/>
              </a:rPr>
              <a:t>2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940041" name="Rectangle 9"/>
          <p:cNvSpPr>
            <a:spLocks noChangeArrowheads="1"/>
          </p:cNvSpPr>
          <p:nvPr/>
        </p:nvSpPr>
        <p:spPr bwMode="auto">
          <a:xfrm>
            <a:off x="1820863" y="4681538"/>
            <a:ext cx="974725" cy="2714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L</a:t>
            </a:r>
            <a:r>
              <a:rPr lang="en-US" sz="1800" baseline="-25000" dirty="0">
                <a:latin typeface="Calibri" pitchFamily="34" charset="0"/>
              </a:rPr>
              <a:t>2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940042" name="Rectangle 10"/>
          <p:cNvSpPr>
            <a:spLocks noChangeArrowheads="1"/>
          </p:cNvSpPr>
          <p:nvPr/>
        </p:nvSpPr>
        <p:spPr bwMode="auto">
          <a:xfrm>
            <a:off x="1820863" y="4943475"/>
            <a:ext cx="974725" cy="2714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U</a:t>
            </a:r>
            <a:r>
              <a:rPr lang="en-US" sz="1800" baseline="-25000" dirty="0">
                <a:latin typeface="Calibri" pitchFamily="34" charset="0"/>
              </a:rPr>
              <a:t>2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940043" name="Rectangle 11"/>
          <p:cNvSpPr>
            <a:spLocks noChangeArrowheads="1"/>
          </p:cNvSpPr>
          <p:nvPr/>
        </p:nvSpPr>
        <p:spPr bwMode="auto">
          <a:xfrm>
            <a:off x="1820863" y="5214938"/>
            <a:ext cx="974725" cy="2714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S</a:t>
            </a:r>
            <a:r>
              <a:rPr lang="en-US" sz="1800" baseline="-25000" dirty="0">
                <a:latin typeface="Calibri" pitchFamily="34" charset="0"/>
              </a:rPr>
              <a:t>2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940044" name="Rectangle 12"/>
          <p:cNvSpPr>
            <a:spLocks noChangeArrowheads="1"/>
          </p:cNvSpPr>
          <p:nvPr/>
        </p:nvSpPr>
        <p:spPr bwMode="auto">
          <a:xfrm>
            <a:off x="1820863" y="5476875"/>
            <a:ext cx="974725" cy="271463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T</a:t>
            </a:r>
            <a:r>
              <a:rPr lang="en-US" sz="1800" baseline="-25000" dirty="0">
                <a:latin typeface="Calibri" pitchFamily="34" charset="0"/>
              </a:rPr>
              <a:t>2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940045" name="Rectangle 13"/>
          <p:cNvSpPr>
            <a:spLocks noChangeArrowheads="1"/>
          </p:cNvSpPr>
          <p:nvPr/>
        </p:nvSpPr>
        <p:spPr bwMode="auto">
          <a:xfrm>
            <a:off x="1820863" y="5748338"/>
            <a:ext cx="974725" cy="271462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T</a:t>
            </a:r>
            <a:r>
              <a:rPr lang="en-US" sz="1800" baseline="-25000" dirty="0">
                <a:latin typeface="Calibri" pitchFamily="34" charset="0"/>
              </a:rPr>
              <a:t>1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940046" name="Rectangle 14"/>
          <p:cNvSpPr>
            <a:spLocks noChangeArrowheads="1"/>
          </p:cNvSpPr>
          <p:nvPr/>
        </p:nvSpPr>
        <p:spPr bwMode="auto">
          <a:xfrm>
            <a:off x="846138" y="3343275"/>
            <a:ext cx="974725" cy="271463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1</a:t>
            </a:r>
          </a:p>
        </p:txBody>
      </p:sp>
      <p:sp>
        <p:nvSpPr>
          <p:cNvPr id="940047" name="Rectangle 15"/>
          <p:cNvSpPr>
            <a:spLocks noChangeArrowheads="1"/>
          </p:cNvSpPr>
          <p:nvPr/>
        </p:nvSpPr>
        <p:spPr bwMode="auto">
          <a:xfrm>
            <a:off x="846138" y="3614738"/>
            <a:ext cx="974725" cy="271462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1</a:t>
            </a:r>
          </a:p>
        </p:txBody>
      </p:sp>
      <p:sp>
        <p:nvSpPr>
          <p:cNvPr id="940048" name="Rectangle 16"/>
          <p:cNvSpPr>
            <a:spLocks noChangeArrowheads="1"/>
          </p:cNvSpPr>
          <p:nvPr/>
        </p:nvSpPr>
        <p:spPr bwMode="auto">
          <a:xfrm>
            <a:off x="846138" y="3876675"/>
            <a:ext cx="974725" cy="271463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1</a:t>
            </a:r>
          </a:p>
        </p:txBody>
      </p:sp>
      <p:sp>
        <p:nvSpPr>
          <p:cNvPr id="940049" name="Rectangle 17"/>
          <p:cNvSpPr>
            <a:spLocks noChangeArrowheads="1"/>
          </p:cNvSpPr>
          <p:nvPr/>
        </p:nvSpPr>
        <p:spPr bwMode="auto">
          <a:xfrm>
            <a:off x="846138" y="4148138"/>
            <a:ext cx="974725" cy="271462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1</a:t>
            </a:r>
          </a:p>
        </p:txBody>
      </p:sp>
      <p:sp>
        <p:nvSpPr>
          <p:cNvPr id="940050" name="Rectangle 18"/>
          <p:cNvSpPr>
            <a:spLocks noChangeArrowheads="1"/>
          </p:cNvSpPr>
          <p:nvPr/>
        </p:nvSpPr>
        <p:spPr bwMode="auto">
          <a:xfrm>
            <a:off x="846138" y="4410075"/>
            <a:ext cx="974725" cy="271463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2</a:t>
            </a:r>
          </a:p>
        </p:txBody>
      </p:sp>
      <p:sp>
        <p:nvSpPr>
          <p:cNvPr id="940051" name="Rectangle 19"/>
          <p:cNvSpPr>
            <a:spLocks noChangeArrowheads="1"/>
          </p:cNvSpPr>
          <p:nvPr/>
        </p:nvSpPr>
        <p:spPr bwMode="auto">
          <a:xfrm>
            <a:off x="846138" y="4681538"/>
            <a:ext cx="974725" cy="2714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2</a:t>
            </a:r>
          </a:p>
        </p:txBody>
      </p:sp>
      <p:sp>
        <p:nvSpPr>
          <p:cNvPr id="940052" name="Rectangle 20"/>
          <p:cNvSpPr>
            <a:spLocks noChangeArrowheads="1"/>
          </p:cNvSpPr>
          <p:nvPr/>
        </p:nvSpPr>
        <p:spPr bwMode="auto">
          <a:xfrm>
            <a:off x="846138" y="4943475"/>
            <a:ext cx="974725" cy="2714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2</a:t>
            </a:r>
          </a:p>
        </p:txBody>
      </p:sp>
      <p:sp>
        <p:nvSpPr>
          <p:cNvPr id="940053" name="Rectangle 21"/>
          <p:cNvSpPr>
            <a:spLocks noChangeArrowheads="1"/>
          </p:cNvSpPr>
          <p:nvPr/>
        </p:nvSpPr>
        <p:spPr bwMode="auto">
          <a:xfrm>
            <a:off x="846138" y="5214938"/>
            <a:ext cx="974725" cy="2714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2</a:t>
            </a:r>
          </a:p>
        </p:txBody>
      </p:sp>
      <p:sp>
        <p:nvSpPr>
          <p:cNvPr id="940054" name="Rectangle 22"/>
          <p:cNvSpPr>
            <a:spLocks noChangeArrowheads="1"/>
          </p:cNvSpPr>
          <p:nvPr/>
        </p:nvSpPr>
        <p:spPr bwMode="auto">
          <a:xfrm>
            <a:off x="846138" y="5476875"/>
            <a:ext cx="974725" cy="271463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2</a:t>
            </a:r>
          </a:p>
        </p:txBody>
      </p:sp>
      <p:sp>
        <p:nvSpPr>
          <p:cNvPr id="940055" name="Rectangle 23"/>
          <p:cNvSpPr>
            <a:spLocks noChangeArrowheads="1"/>
          </p:cNvSpPr>
          <p:nvPr/>
        </p:nvSpPr>
        <p:spPr bwMode="auto">
          <a:xfrm>
            <a:off x="846138" y="5748338"/>
            <a:ext cx="974725" cy="271462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1</a:t>
            </a:r>
          </a:p>
        </p:txBody>
      </p:sp>
      <p:sp>
        <p:nvSpPr>
          <p:cNvPr id="940056" name="Rectangle 24"/>
          <p:cNvSpPr>
            <a:spLocks noChangeArrowheads="1"/>
          </p:cNvSpPr>
          <p:nvPr/>
        </p:nvSpPr>
        <p:spPr bwMode="auto">
          <a:xfrm>
            <a:off x="2795588" y="3343275"/>
            <a:ext cx="974725" cy="271463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-</a:t>
            </a:r>
          </a:p>
        </p:txBody>
      </p:sp>
      <p:sp>
        <p:nvSpPr>
          <p:cNvPr id="940057" name="Rectangle 25"/>
          <p:cNvSpPr>
            <a:spLocks noChangeArrowheads="1"/>
          </p:cNvSpPr>
          <p:nvPr/>
        </p:nvSpPr>
        <p:spPr bwMode="auto">
          <a:xfrm>
            <a:off x="2795588" y="3614738"/>
            <a:ext cx="974725" cy="271462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0</a:t>
            </a:r>
          </a:p>
        </p:txBody>
      </p:sp>
      <p:sp>
        <p:nvSpPr>
          <p:cNvPr id="940058" name="Rectangle 26"/>
          <p:cNvSpPr>
            <a:spLocks noChangeArrowheads="1"/>
          </p:cNvSpPr>
          <p:nvPr/>
        </p:nvSpPr>
        <p:spPr bwMode="auto">
          <a:xfrm>
            <a:off x="2795588" y="3876675"/>
            <a:ext cx="974725" cy="271463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1</a:t>
            </a:r>
          </a:p>
        </p:txBody>
      </p:sp>
      <p:sp>
        <p:nvSpPr>
          <p:cNvPr id="940059" name="Rectangle 27"/>
          <p:cNvSpPr>
            <a:spLocks noChangeArrowheads="1"/>
          </p:cNvSpPr>
          <p:nvPr/>
        </p:nvSpPr>
        <p:spPr bwMode="auto">
          <a:xfrm>
            <a:off x="2795588" y="4148138"/>
            <a:ext cx="974725" cy="271462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1</a:t>
            </a:r>
          </a:p>
        </p:txBody>
      </p:sp>
      <p:sp>
        <p:nvSpPr>
          <p:cNvPr id="940060" name="Rectangle 28"/>
          <p:cNvSpPr>
            <a:spLocks noChangeArrowheads="1"/>
          </p:cNvSpPr>
          <p:nvPr/>
        </p:nvSpPr>
        <p:spPr bwMode="auto">
          <a:xfrm>
            <a:off x="2795588" y="4410075"/>
            <a:ext cx="974725" cy="271463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-</a:t>
            </a:r>
          </a:p>
        </p:txBody>
      </p:sp>
      <p:sp>
        <p:nvSpPr>
          <p:cNvPr id="940061" name="Rectangle 29"/>
          <p:cNvSpPr>
            <a:spLocks noChangeArrowheads="1"/>
          </p:cNvSpPr>
          <p:nvPr/>
        </p:nvSpPr>
        <p:spPr bwMode="auto">
          <a:xfrm>
            <a:off x="2795588" y="4681538"/>
            <a:ext cx="974725" cy="2714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-</a:t>
            </a:r>
          </a:p>
        </p:txBody>
      </p:sp>
      <p:sp>
        <p:nvSpPr>
          <p:cNvPr id="940062" name="Rectangle 30"/>
          <p:cNvSpPr>
            <a:spLocks noChangeArrowheads="1"/>
          </p:cNvSpPr>
          <p:nvPr/>
        </p:nvSpPr>
        <p:spPr bwMode="auto">
          <a:xfrm>
            <a:off x="2795588" y="4943475"/>
            <a:ext cx="974725" cy="2714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-</a:t>
            </a:r>
          </a:p>
        </p:txBody>
      </p:sp>
      <p:sp>
        <p:nvSpPr>
          <p:cNvPr id="940063" name="Rectangle 31"/>
          <p:cNvSpPr>
            <a:spLocks noChangeArrowheads="1"/>
          </p:cNvSpPr>
          <p:nvPr/>
        </p:nvSpPr>
        <p:spPr bwMode="auto">
          <a:xfrm>
            <a:off x="2795588" y="5214938"/>
            <a:ext cx="974725" cy="2714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-</a:t>
            </a:r>
          </a:p>
        </p:txBody>
      </p:sp>
      <p:sp>
        <p:nvSpPr>
          <p:cNvPr id="940064" name="Rectangle 32"/>
          <p:cNvSpPr>
            <a:spLocks noChangeArrowheads="1"/>
          </p:cNvSpPr>
          <p:nvPr/>
        </p:nvSpPr>
        <p:spPr bwMode="auto">
          <a:xfrm>
            <a:off x="2795588" y="5476875"/>
            <a:ext cx="974725" cy="271463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-</a:t>
            </a:r>
          </a:p>
        </p:txBody>
      </p:sp>
      <p:sp>
        <p:nvSpPr>
          <p:cNvPr id="940065" name="Rectangle 33"/>
          <p:cNvSpPr>
            <a:spLocks noChangeArrowheads="1"/>
          </p:cNvSpPr>
          <p:nvPr/>
        </p:nvSpPr>
        <p:spPr bwMode="auto">
          <a:xfrm>
            <a:off x="2795588" y="5748338"/>
            <a:ext cx="974725" cy="271462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1</a:t>
            </a:r>
          </a:p>
        </p:txBody>
      </p:sp>
      <p:sp>
        <p:nvSpPr>
          <p:cNvPr id="940066" name="Rectangle 34"/>
          <p:cNvSpPr>
            <a:spLocks noChangeArrowheads="1"/>
          </p:cNvSpPr>
          <p:nvPr/>
        </p:nvSpPr>
        <p:spPr bwMode="auto">
          <a:xfrm>
            <a:off x="4716463" y="3343275"/>
            <a:ext cx="974725" cy="271463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0</a:t>
            </a:r>
          </a:p>
        </p:txBody>
      </p:sp>
      <p:sp>
        <p:nvSpPr>
          <p:cNvPr id="940067" name="Rectangle 35"/>
          <p:cNvSpPr>
            <a:spLocks noChangeArrowheads="1"/>
          </p:cNvSpPr>
          <p:nvPr/>
        </p:nvSpPr>
        <p:spPr bwMode="auto">
          <a:xfrm>
            <a:off x="4716463" y="3614738"/>
            <a:ext cx="974725" cy="271462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0</a:t>
            </a:r>
          </a:p>
        </p:txBody>
      </p:sp>
      <p:sp>
        <p:nvSpPr>
          <p:cNvPr id="940068" name="Rectangle 36"/>
          <p:cNvSpPr>
            <a:spLocks noChangeArrowheads="1"/>
          </p:cNvSpPr>
          <p:nvPr/>
        </p:nvSpPr>
        <p:spPr bwMode="auto">
          <a:xfrm>
            <a:off x="4716463" y="3876675"/>
            <a:ext cx="974725" cy="271463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0</a:t>
            </a:r>
          </a:p>
        </p:txBody>
      </p:sp>
      <p:sp>
        <p:nvSpPr>
          <p:cNvPr id="940069" name="Rectangle 37"/>
          <p:cNvSpPr>
            <a:spLocks noChangeArrowheads="1"/>
          </p:cNvSpPr>
          <p:nvPr/>
        </p:nvSpPr>
        <p:spPr bwMode="auto">
          <a:xfrm>
            <a:off x="4716463" y="4148138"/>
            <a:ext cx="974725" cy="271462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1</a:t>
            </a:r>
          </a:p>
        </p:txBody>
      </p:sp>
      <p:sp>
        <p:nvSpPr>
          <p:cNvPr id="940070" name="Rectangle 38"/>
          <p:cNvSpPr>
            <a:spLocks noChangeArrowheads="1"/>
          </p:cNvSpPr>
          <p:nvPr/>
        </p:nvSpPr>
        <p:spPr bwMode="auto">
          <a:xfrm>
            <a:off x="4716463" y="4410075"/>
            <a:ext cx="974725" cy="271463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1</a:t>
            </a:r>
          </a:p>
        </p:txBody>
      </p:sp>
      <p:sp>
        <p:nvSpPr>
          <p:cNvPr id="940071" name="Rectangle 39"/>
          <p:cNvSpPr>
            <a:spLocks noChangeArrowheads="1"/>
          </p:cNvSpPr>
          <p:nvPr/>
        </p:nvSpPr>
        <p:spPr bwMode="auto">
          <a:xfrm>
            <a:off x="4716463" y="4681538"/>
            <a:ext cx="974725" cy="2714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1</a:t>
            </a:r>
          </a:p>
        </p:txBody>
      </p:sp>
      <p:sp>
        <p:nvSpPr>
          <p:cNvPr id="940072" name="Rectangle 40"/>
          <p:cNvSpPr>
            <a:spLocks noChangeArrowheads="1"/>
          </p:cNvSpPr>
          <p:nvPr/>
        </p:nvSpPr>
        <p:spPr bwMode="auto">
          <a:xfrm>
            <a:off x="4716463" y="4943475"/>
            <a:ext cx="974725" cy="2714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1</a:t>
            </a:r>
          </a:p>
        </p:txBody>
      </p:sp>
      <p:sp>
        <p:nvSpPr>
          <p:cNvPr id="940073" name="Rectangle 41"/>
          <p:cNvSpPr>
            <a:spLocks noChangeArrowheads="1"/>
          </p:cNvSpPr>
          <p:nvPr/>
        </p:nvSpPr>
        <p:spPr bwMode="auto">
          <a:xfrm>
            <a:off x="4716463" y="5214938"/>
            <a:ext cx="974725" cy="2714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2</a:t>
            </a:r>
          </a:p>
        </p:txBody>
      </p:sp>
      <p:sp>
        <p:nvSpPr>
          <p:cNvPr id="940074" name="Rectangle 42"/>
          <p:cNvSpPr>
            <a:spLocks noChangeArrowheads="1"/>
          </p:cNvSpPr>
          <p:nvPr/>
        </p:nvSpPr>
        <p:spPr bwMode="auto">
          <a:xfrm>
            <a:off x="4716463" y="5476875"/>
            <a:ext cx="974725" cy="271463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2</a:t>
            </a:r>
          </a:p>
        </p:txBody>
      </p:sp>
      <p:sp>
        <p:nvSpPr>
          <p:cNvPr id="940075" name="Rectangle 43"/>
          <p:cNvSpPr>
            <a:spLocks noChangeArrowheads="1"/>
          </p:cNvSpPr>
          <p:nvPr/>
        </p:nvSpPr>
        <p:spPr bwMode="auto">
          <a:xfrm>
            <a:off x="4716463" y="5748338"/>
            <a:ext cx="974725" cy="271462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2</a:t>
            </a:r>
          </a:p>
        </p:txBody>
      </p:sp>
      <p:sp>
        <p:nvSpPr>
          <p:cNvPr id="940076" name="Text Box 44"/>
          <p:cNvSpPr txBox="1">
            <a:spLocks noChangeArrowheads="1"/>
          </p:cNvSpPr>
          <p:nvPr/>
        </p:nvSpPr>
        <p:spPr bwMode="auto">
          <a:xfrm>
            <a:off x="838200" y="2895600"/>
            <a:ext cx="1073371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 dirty="0" err="1">
                <a:latin typeface="Calibri" pitchFamily="34" charset="0"/>
              </a:rPr>
              <a:t>i</a:t>
            </a:r>
            <a:r>
              <a:rPr lang="en-US" sz="1800" dirty="0">
                <a:latin typeface="Calibri" pitchFamily="34" charset="0"/>
              </a:rPr>
              <a:t> (thread)</a:t>
            </a:r>
          </a:p>
        </p:txBody>
      </p:sp>
      <p:sp>
        <p:nvSpPr>
          <p:cNvPr id="940077" name="Text Box 45"/>
          <p:cNvSpPr txBox="1">
            <a:spLocks noChangeArrowheads="1"/>
          </p:cNvSpPr>
          <p:nvPr/>
        </p:nvSpPr>
        <p:spPr bwMode="auto">
          <a:xfrm>
            <a:off x="2001838" y="2911475"/>
            <a:ext cx="653384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 dirty="0" err="1">
                <a:latin typeface="Calibri" pitchFamily="34" charset="0"/>
              </a:rPr>
              <a:t>instr</a:t>
            </a:r>
            <a:r>
              <a:rPr lang="en-US" sz="1800" baseline="-25000" dirty="0" err="1">
                <a:latin typeface="Calibri" pitchFamily="34" charset="0"/>
              </a:rPr>
              <a:t>i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940078" name="Text Box 46"/>
          <p:cNvSpPr txBox="1">
            <a:spLocks noChangeArrowheads="1"/>
          </p:cNvSpPr>
          <p:nvPr/>
        </p:nvSpPr>
        <p:spPr bwMode="auto">
          <a:xfrm>
            <a:off x="4983163" y="2911475"/>
            <a:ext cx="482312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 dirty="0" err="1">
                <a:latin typeface="Calibri" pitchFamily="34" charset="0"/>
              </a:rPr>
              <a:t>cnt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940079" name="Text Box 47"/>
          <p:cNvSpPr txBox="1">
            <a:spLocks noChangeArrowheads="1"/>
          </p:cNvSpPr>
          <p:nvPr/>
        </p:nvSpPr>
        <p:spPr bwMode="auto">
          <a:xfrm>
            <a:off x="2922233" y="2911475"/>
            <a:ext cx="742924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 dirty="0">
                <a:latin typeface="Calibri" pitchFamily="34" charset="0"/>
              </a:rPr>
              <a:t>%rdx</a:t>
            </a:r>
            <a:r>
              <a:rPr lang="en-US" sz="1800" baseline="-25000" dirty="0">
                <a:latin typeface="Calibri" pitchFamily="34" charset="0"/>
              </a:rPr>
              <a:t>1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940080" name="Text Box 48"/>
          <p:cNvSpPr txBox="1">
            <a:spLocks noChangeArrowheads="1"/>
          </p:cNvSpPr>
          <p:nvPr/>
        </p:nvSpPr>
        <p:spPr bwMode="auto">
          <a:xfrm>
            <a:off x="5915628" y="5669080"/>
            <a:ext cx="561372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OK</a:t>
            </a:r>
          </a:p>
        </p:txBody>
      </p:sp>
      <p:sp>
        <p:nvSpPr>
          <p:cNvPr id="940081" name="Rectangle 49"/>
          <p:cNvSpPr>
            <a:spLocks noChangeArrowheads="1"/>
          </p:cNvSpPr>
          <p:nvPr/>
        </p:nvSpPr>
        <p:spPr bwMode="auto">
          <a:xfrm>
            <a:off x="3741738" y="3343275"/>
            <a:ext cx="974725" cy="271463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-</a:t>
            </a:r>
          </a:p>
        </p:txBody>
      </p:sp>
      <p:sp>
        <p:nvSpPr>
          <p:cNvPr id="940082" name="Rectangle 50"/>
          <p:cNvSpPr>
            <a:spLocks noChangeArrowheads="1"/>
          </p:cNvSpPr>
          <p:nvPr/>
        </p:nvSpPr>
        <p:spPr bwMode="auto">
          <a:xfrm>
            <a:off x="3741738" y="3614738"/>
            <a:ext cx="974725" cy="271462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-</a:t>
            </a:r>
          </a:p>
        </p:txBody>
      </p:sp>
      <p:sp>
        <p:nvSpPr>
          <p:cNvPr id="940083" name="Rectangle 51"/>
          <p:cNvSpPr>
            <a:spLocks noChangeArrowheads="1"/>
          </p:cNvSpPr>
          <p:nvPr/>
        </p:nvSpPr>
        <p:spPr bwMode="auto">
          <a:xfrm>
            <a:off x="3741738" y="3876675"/>
            <a:ext cx="974725" cy="271463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-</a:t>
            </a:r>
          </a:p>
        </p:txBody>
      </p:sp>
      <p:sp>
        <p:nvSpPr>
          <p:cNvPr id="940084" name="Rectangle 52"/>
          <p:cNvSpPr>
            <a:spLocks noChangeArrowheads="1"/>
          </p:cNvSpPr>
          <p:nvPr/>
        </p:nvSpPr>
        <p:spPr bwMode="auto">
          <a:xfrm>
            <a:off x="3741738" y="4148138"/>
            <a:ext cx="974725" cy="271462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-</a:t>
            </a:r>
          </a:p>
        </p:txBody>
      </p:sp>
      <p:sp>
        <p:nvSpPr>
          <p:cNvPr id="940085" name="Rectangle 53"/>
          <p:cNvSpPr>
            <a:spLocks noChangeArrowheads="1"/>
          </p:cNvSpPr>
          <p:nvPr/>
        </p:nvSpPr>
        <p:spPr bwMode="auto">
          <a:xfrm>
            <a:off x="3741738" y="4410075"/>
            <a:ext cx="974725" cy="271463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-</a:t>
            </a:r>
          </a:p>
        </p:txBody>
      </p:sp>
      <p:sp>
        <p:nvSpPr>
          <p:cNvPr id="940086" name="Rectangle 54"/>
          <p:cNvSpPr>
            <a:spLocks noChangeArrowheads="1"/>
          </p:cNvSpPr>
          <p:nvPr/>
        </p:nvSpPr>
        <p:spPr bwMode="auto">
          <a:xfrm>
            <a:off x="3741738" y="4681538"/>
            <a:ext cx="974725" cy="2714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1</a:t>
            </a:r>
          </a:p>
        </p:txBody>
      </p:sp>
      <p:sp>
        <p:nvSpPr>
          <p:cNvPr id="940087" name="Rectangle 55"/>
          <p:cNvSpPr>
            <a:spLocks noChangeArrowheads="1"/>
          </p:cNvSpPr>
          <p:nvPr/>
        </p:nvSpPr>
        <p:spPr bwMode="auto">
          <a:xfrm>
            <a:off x="3741738" y="4943475"/>
            <a:ext cx="974725" cy="2714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2</a:t>
            </a:r>
          </a:p>
        </p:txBody>
      </p:sp>
      <p:sp>
        <p:nvSpPr>
          <p:cNvPr id="940088" name="Rectangle 56"/>
          <p:cNvSpPr>
            <a:spLocks noChangeArrowheads="1"/>
          </p:cNvSpPr>
          <p:nvPr/>
        </p:nvSpPr>
        <p:spPr bwMode="auto">
          <a:xfrm>
            <a:off x="3741738" y="5214938"/>
            <a:ext cx="974725" cy="2714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2</a:t>
            </a:r>
          </a:p>
        </p:txBody>
      </p:sp>
      <p:sp>
        <p:nvSpPr>
          <p:cNvPr id="940089" name="Rectangle 57"/>
          <p:cNvSpPr>
            <a:spLocks noChangeArrowheads="1"/>
          </p:cNvSpPr>
          <p:nvPr/>
        </p:nvSpPr>
        <p:spPr bwMode="auto">
          <a:xfrm>
            <a:off x="3741738" y="5476875"/>
            <a:ext cx="974725" cy="271463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2</a:t>
            </a:r>
          </a:p>
        </p:txBody>
      </p:sp>
      <p:sp>
        <p:nvSpPr>
          <p:cNvPr id="940090" name="Rectangle 58"/>
          <p:cNvSpPr>
            <a:spLocks noChangeArrowheads="1"/>
          </p:cNvSpPr>
          <p:nvPr/>
        </p:nvSpPr>
        <p:spPr bwMode="auto">
          <a:xfrm>
            <a:off x="3741738" y="5748338"/>
            <a:ext cx="974725" cy="271462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-</a:t>
            </a:r>
          </a:p>
        </p:txBody>
      </p:sp>
      <p:sp>
        <p:nvSpPr>
          <p:cNvPr id="940091" name="Text Box 59"/>
          <p:cNvSpPr txBox="1">
            <a:spLocks noChangeArrowheads="1"/>
          </p:cNvSpPr>
          <p:nvPr/>
        </p:nvSpPr>
        <p:spPr bwMode="auto">
          <a:xfrm>
            <a:off x="3868383" y="2911475"/>
            <a:ext cx="742924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 dirty="0">
                <a:latin typeface="Calibri" pitchFamily="34" charset="0"/>
              </a:rPr>
              <a:t>%rdx</a:t>
            </a:r>
            <a:r>
              <a:rPr lang="en-US" sz="1800" baseline="-25000" dirty="0">
                <a:latin typeface="Calibri" pitchFamily="34" charset="0"/>
              </a:rPr>
              <a:t>2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60" name="Rectangle 35"/>
          <p:cNvSpPr>
            <a:spLocks noChangeArrowheads="1"/>
          </p:cNvSpPr>
          <p:nvPr/>
        </p:nvSpPr>
        <p:spPr bwMode="auto">
          <a:xfrm>
            <a:off x="6238837" y="3620869"/>
            <a:ext cx="487363" cy="271462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sz="1800" dirty="0">
              <a:latin typeface="Calibri" pitchFamily="34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934200" y="3392269"/>
            <a:ext cx="1600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Thread 1 critical section</a:t>
            </a:r>
          </a:p>
        </p:txBody>
      </p:sp>
      <p:sp>
        <p:nvSpPr>
          <p:cNvPr id="62" name="Rectangle 37"/>
          <p:cNvSpPr>
            <a:spLocks noChangeArrowheads="1"/>
          </p:cNvSpPr>
          <p:nvPr/>
        </p:nvSpPr>
        <p:spPr bwMode="auto">
          <a:xfrm>
            <a:off x="6238837" y="4258806"/>
            <a:ext cx="487363" cy="2714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sz="1800" dirty="0">
              <a:latin typeface="Calibri" pitchFamily="34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934200" y="4078069"/>
            <a:ext cx="1600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Thread 2 critical section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62B6A5-DDAF-CDC2-8DCE-E4214692C811}"/>
              </a:ext>
            </a:extLst>
          </p:cNvPr>
          <p:cNvSpPr>
            <a:spLocks/>
          </p:cNvSpPr>
          <p:nvPr/>
        </p:nvSpPr>
        <p:spPr bwMode="auto">
          <a:xfrm>
            <a:off x="0" y="6636634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6D1901-871D-F79B-68E7-F3B5EBC1F879}"/>
              </a:ext>
            </a:extLst>
          </p:cNvPr>
          <p:cNvSpPr>
            <a:spLocks/>
          </p:cNvSpPr>
          <p:nvPr/>
        </p:nvSpPr>
        <p:spPr bwMode="auto">
          <a:xfrm>
            <a:off x="-6350" y="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008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Concurrent Execution (</a:t>
            </a:r>
            <a:r>
              <a:rPr lang="en-US" dirty="0" err="1"/>
              <a:t>cont</a:t>
            </a:r>
            <a:r>
              <a:rPr lang="en-US" dirty="0"/>
              <a:t>)</a:t>
            </a:r>
          </a:p>
        </p:txBody>
      </p:sp>
      <p:sp>
        <p:nvSpPr>
          <p:cNvPr id="942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6776" y="1276350"/>
            <a:ext cx="7896225" cy="857250"/>
          </a:xfrm>
        </p:spPr>
        <p:txBody>
          <a:bodyPr/>
          <a:lstStyle/>
          <a:p>
            <a:r>
              <a:rPr lang="en-US" dirty="0"/>
              <a:t>Incorrect ordering: two threads increment the counter, but the result is 1 instead of 2</a:t>
            </a:r>
          </a:p>
        </p:txBody>
      </p:sp>
      <p:sp>
        <p:nvSpPr>
          <p:cNvPr id="942084" name="Rectangle 4"/>
          <p:cNvSpPr>
            <a:spLocks noChangeArrowheads="1"/>
          </p:cNvSpPr>
          <p:nvPr/>
        </p:nvSpPr>
        <p:spPr bwMode="auto">
          <a:xfrm>
            <a:off x="1798534" y="2657475"/>
            <a:ext cx="974725" cy="271463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H</a:t>
            </a:r>
            <a:r>
              <a:rPr lang="en-US" sz="1800" baseline="-25000" dirty="0">
                <a:latin typeface="Calibri" pitchFamily="34" charset="0"/>
              </a:rPr>
              <a:t>1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942085" name="Rectangle 5"/>
          <p:cNvSpPr>
            <a:spLocks noChangeArrowheads="1"/>
          </p:cNvSpPr>
          <p:nvPr/>
        </p:nvSpPr>
        <p:spPr bwMode="auto">
          <a:xfrm>
            <a:off x="1798534" y="2928938"/>
            <a:ext cx="974725" cy="271462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L</a:t>
            </a:r>
            <a:r>
              <a:rPr lang="en-US" sz="1800" baseline="-25000" dirty="0">
                <a:latin typeface="Calibri" pitchFamily="34" charset="0"/>
              </a:rPr>
              <a:t>1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942086" name="Rectangle 6"/>
          <p:cNvSpPr>
            <a:spLocks noChangeArrowheads="1"/>
          </p:cNvSpPr>
          <p:nvPr/>
        </p:nvSpPr>
        <p:spPr bwMode="auto">
          <a:xfrm>
            <a:off x="1798534" y="3190875"/>
            <a:ext cx="974725" cy="271463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U</a:t>
            </a:r>
            <a:r>
              <a:rPr lang="en-US" sz="1800" baseline="-25000" dirty="0">
                <a:latin typeface="Calibri" pitchFamily="34" charset="0"/>
              </a:rPr>
              <a:t>1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942087" name="Rectangle 7"/>
          <p:cNvSpPr>
            <a:spLocks noChangeArrowheads="1"/>
          </p:cNvSpPr>
          <p:nvPr/>
        </p:nvSpPr>
        <p:spPr bwMode="auto">
          <a:xfrm>
            <a:off x="1798534" y="3462338"/>
            <a:ext cx="974725" cy="271462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H</a:t>
            </a:r>
            <a:r>
              <a:rPr lang="en-US" sz="1800" baseline="-25000" dirty="0">
                <a:latin typeface="Calibri" pitchFamily="34" charset="0"/>
              </a:rPr>
              <a:t>2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942088" name="Rectangle 8"/>
          <p:cNvSpPr>
            <a:spLocks noChangeArrowheads="1"/>
          </p:cNvSpPr>
          <p:nvPr/>
        </p:nvSpPr>
        <p:spPr bwMode="auto">
          <a:xfrm>
            <a:off x="1798534" y="3724275"/>
            <a:ext cx="974725" cy="2714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L</a:t>
            </a:r>
            <a:r>
              <a:rPr lang="en-US" sz="1800" baseline="-25000" dirty="0">
                <a:latin typeface="Calibri" pitchFamily="34" charset="0"/>
              </a:rPr>
              <a:t>2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942089" name="Rectangle 9"/>
          <p:cNvSpPr>
            <a:spLocks noChangeArrowheads="1"/>
          </p:cNvSpPr>
          <p:nvPr/>
        </p:nvSpPr>
        <p:spPr bwMode="auto">
          <a:xfrm>
            <a:off x="1798534" y="3995738"/>
            <a:ext cx="974725" cy="271462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S</a:t>
            </a:r>
            <a:r>
              <a:rPr lang="en-US" sz="1800" baseline="-25000" dirty="0">
                <a:latin typeface="Calibri" pitchFamily="34" charset="0"/>
              </a:rPr>
              <a:t>1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942090" name="Rectangle 10"/>
          <p:cNvSpPr>
            <a:spLocks noChangeArrowheads="1"/>
          </p:cNvSpPr>
          <p:nvPr/>
        </p:nvSpPr>
        <p:spPr bwMode="auto">
          <a:xfrm>
            <a:off x="1798534" y="4257675"/>
            <a:ext cx="974725" cy="271463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T</a:t>
            </a:r>
            <a:r>
              <a:rPr lang="en-US" sz="1800" baseline="-25000" dirty="0">
                <a:latin typeface="Calibri" pitchFamily="34" charset="0"/>
              </a:rPr>
              <a:t>1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942091" name="Rectangle 11"/>
          <p:cNvSpPr>
            <a:spLocks noChangeArrowheads="1"/>
          </p:cNvSpPr>
          <p:nvPr/>
        </p:nvSpPr>
        <p:spPr bwMode="auto">
          <a:xfrm>
            <a:off x="1798534" y="4529138"/>
            <a:ext cx="974725" cy="2714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U</a:t>
            </a:r>
            <a:r>
              <a:rPr lang="en-US" sz="1800" baseline="-25000" dirty="0">
                <a:latin typeface="Calibri" pitchFamily="34" charset="0"/>
              </a:rPr>
              <a:t>2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942092" name="Rectangle 12"/>
          <p:cNvSpPr>
            <a:spLocks noChangeArrowheads="1"/>
          </p:cNvSpPr>
          <p:nvPr/>
        </p:nvSpPr>
        <p:spPr bwMode="auto">
          <a:xfrm>
            <a:off x="1798534" y="4791075"/>
            <a:ext cx="974725" cy="2714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S</a:t>
            </a:r>
            <a:r>
              <a:rPr lang="en-US" sz="1800" baseline="-25000" dirty="0">
                <a:latin typeface="Calibri" pitchFamily="34" charset="0"/>
              </a:rPr>
              <a:t>2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942093" name="Rectangle 13"/>
          <p:cNvSpPr>
            <a:spLocks noChangeArrowheads="1"/>
          </p:cNvSpPr>
          <p:nvPr/>
        </p:nvSpPr>
        <p:spPr bwMode="auto">
          <a:xfrm>
            <a:off x="1798534" y="5062538"/>
            <a:ext cx="974725" cy="271462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T</a:t>
            </a:r>
            <a:r>
              <a:rPr lang="en-US" sz="1800" baseline="-25000" dirty="0">
                <a:latin typeface="Calibri" pitchFamily="34" charset="0"/>
              </a:rPr>
              <a:t>2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942094" name="Rectangle 14"/>
          <p:cNvSpPr>
            <a:spLocks noChangeArrowheads="1"/>
          </p:cNvSpPr>
          <p:nvPr/>
        </p:nvSpPr>
        <p:spPr bwMode="auto">
          <a:xfrm>
            <a:off x="823809" y="2657475"/>
            <a:ext cx="974725" cy="271463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1</a:t>
            </a:r>
          </a:p>
        </p:txBody>
      </p:sp>
      <p:sp>
        <p:nvSpPr>
          <p:cNvPr id="942095" name="Rectangle 15"/>
          <p:cNvSpPr>
            <a:spLocks noChangeArrowheads="1"/>
          </p:cNvSpPr>
          <p:nvPr/>
        </p:nvSpPr>
        <p:spPr bwMode="auto">
          <a:xfrm>
            <a:off x="823809" y="2928938"/>
            <a:ext cx="974725" cy="271462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1</a:t>
            </a:r>
          </a:p>
        </p:txBody>
      </p:sp>
      <p:sp>
        <p:nvSpPr>
          <p:cNvPr id="942096" name="Rectangle 16"/>
          <p:cNvSpPr>
            <a:spLocks noChangeArrowheads="1"/>
          </p:cNvSpPr>
          <p:nvPr/>
        </p:nvSpPr>
        <p:spPr bwMode="auto">
          <a:xfrm>
            <a:off x="823809" y="3190875"/>
            <a:ext cx="974725" cy="271463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1</a:t>
            </a:r>
          </a:p>
        </p:txBody>
      </p:sp>
      <p:sp>
        <p:nvSpPr>
          <p:cNvPr id="942097" name="Rectangle 17"/>
          <p:cNvSpPr>
            <a:spLocks noChangeArrowheads="1"/>
          </p:cNvSpPr>
          <p:nvPr/>
        </p:nvSpPr>
        <p:spPr bwMode="auto">
          <a:xfrm>
            <a:off x="823809" y="3462338"/>
            <a:ext cx="974725" cy="271462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2</a:t>
            </a:r>
          </a:p>
        </p:txBody>
      </p:sp>
      <p:sp>
        <p:nvSpPr>
          <p:cNvPr id="942098" name="Rectangle 18"/>
          <p:cNvSpPr>
            <a:spLocks noChangeArrowheads="1"/>
          </p:cNvSpPr>
          <p:nvPr/>
        </p:nvSpPr>
        <p:spPr bwMode="auto">
          <a:xfrm>
            <a:off x="823809" y="3724275"/>
            <a:ext cx="974725" cy="2714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2</a:t>
            </a:r>
          </a:p>
        </p:txBody>
      </p:sp>
      <p:sp>
        <p:nvSpPr>
          <p:cNvPr id="942099" name="Rectangle 19"/>
          <p:cNvSpPr>
            <a:spLocks noChangeArrowheads="1"/>
          </p:cNvSpPr>
          <p:nvPr/>
        </p:nvSpPr>
        <p:spPr bwMode="auto">
          <a:xfrm>
            <a:off x="823809" y="3995738"/>
            <a:ext cx="974725" cy="271462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1</a:t>
            </a:r>
          </a:p>
        </p:txBody>
      </p:sp>
      <p:sp>
        <p:nvSpPr>
          <p:cNvPr id="942100" name="Rectangle 20"/>
          <p:cNvSpPr>
            <a:spLocks noChangeArrowheads="1"/>
          </p:cNvSpPr>
          <p:nvPr/>
        </p:nvSpPr>
        <p:spPr bwMode="auto">
          <a:xfrm>
            <a:off x="823809" y="4257675"/>
            <a:ext cx="974725" cy="271463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1</a:t>
            </a:r>
          </a:p>
        </p:txBody>
      </p:sp>
      <p:sp>
        <p:nvSpPr>
          <p:cNvPr id="942101" name="Rectangle 21"/>
          <p:cNvSpPr>
            <a:spLocks noChangeArrowheads="1"/>
          </p:cNvSpPr>
          <p:nvPr/>
        </p:nvSpPr>
        <p:spPr bwMode="auto">
          <a:xfrm>
            <a:off x="823809" y="4529138"/>
            <a:ext cx="974725" cy="2714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2</a:t>
            </a:r>
          </a:p>
        </p:txBody>
      </p:sp>
      <p:sp>
        <p:nvSpPr>
          <p:cNvPr id="942102" name="Rectangle 22"/>
          <p:cNvSpPr>
            <a:spLocks noChangeArrowheads="1"/>
          </p:cNvSpPr>
          <p:nvPr/>
        </p:nvSpPr>
        <p:spPr bwMode="auto">
          <a:xfrm>
            <a:off x="823809" y="4791075"/>
            <a:ext cx="974725" cy="2714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2</a:t>
            </a:r>
          </a:p>
        </p:txBody>
      </p:sp>
      <p:sp>
        <p:nvSpPr>
          <p:cNvPr id="942103" name="Rectangle 23"/>
          <p:cNvSpPr>
            <a:spLocks noChangeArrowheads="1"/>
          </p:cNvSpPr>
          <p:nvPr/>
        </p:nvSpPr>
        <p:spPr bwMode="auto">
          <a:xfrm>
            <a:off x="823809" y="5062538"/>
            <a:ext cx="974725" cy="271462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2</a:t>
            </a:r>
          </a:p>
        </p:txBody>
      </p:sp>
      <p:sp>
        <p:nvSpPr>
          <p:cNvPr id="942104" name="Rectangle 24"/>
          <p:cNvSpPr>
            <a:spLocks noChangeArrowheads="1"/>
          </p:cNvSpPr>
          <p:nvPr/>
        </p:nvSpPr>
        <p:spPr bwMode="auto">
          <a:xfrm>
            <a:off x="2773259" y="2657475"/>
            <a:ext cx="974725" cy="271463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-</a:t>
            </a:r>
          </a:p>
        </p:txBody>
      </p:sp>
      <p:sp>
        <p:nvSpPr>
          <p:cNvPr id="942105" name="Rectangle 25"/>
          <p:cNvSpPr>
            <a:spLocks noChangeArrowheads="1"/>
          </p:cNvSpPr>
          <p:nvPr/>
        </p:nvSpPr>
        <p:spPr bwMode="auto">
          <a:xfrm>
            <a:off x="2773259" y="2928938"/>
            <a:ext cx="974725" cy="271462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0</a:t>
            </a:r>
          </a:p>
        </p:txBody>
      </p:sp>
      <p:sp>
        <p:nvSpPr>
          <p:cNvPr id="942106" name="Rectangle 26"/>
          <p:cNvSpPr>
            <a:spLocks noChangeArrowheads="1"/>
          </p:cNvSpPr>
          <p:nvPr/>
        </p:nvSpPr>
        <p:spPr bwMode="auto">
          <a:xfrm>
            <a:off x="2773259" y="3190875"/>
            <a:ext cx="974725" cy="271463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1</a:t>
            </a:r>
          </a:p>
        </p:txBody>
      </p:sp>
      <p:sp>
        <p:nvSpPr>
          <p:cNvPr id="942107" name="Rectangle 27"/>
          <p:cNvSpPr>
            <a:spLocks noChangeArrowheads="1"/>
          </p:cNvSpPr>
          <p:nvPr/>
        </p:nvSpPr>
        <p:spPr bwMode="auto">
          <a:xfrm>
            <a:off x="2773259" y="3462338"/>
            <a:ext cx="974725" cy="271462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-</a:t>
            </a:r>
          </a:p>
        </p:txBody>
      </p:sp>
      <p:sp>
        <p:nvSpPr>
          <p:cNvPr id="942108" name="Rectangle 28"/>
          <p:cNvSpPr>
            <a:spLocks noChangeArrowheads="1"/>
          </p:cNvSpPr>
          <p:nvPr/>
        </p:nvSpPr>
        <p:spPr bwMode="auto">
          <a:xfrm>
            <a:off x="2773259" y="3724275"/>
            <a:ext cx="974725" cy="2714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-</a:t>
            </a:r>
          </a:p>
        </p:txBody>
      </p:sp>
      <p:sp>
        <p:nvSpPr>
          <p:cNvPr id="942109" name="Rectangle 29"/>
          <p:cNvSpPr>
            <a:spLocks noChangeArrowheads="1"/>
          </p:cNvSpPr>
          <p:nvPr/>
        </p:nvSpPr>
        <p:spPr bwMode="auto">
          <a:xfrm>
            <a:off x="2773259" y="3995738"/>
            <a:ext cx="974725" cy="271462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1</a:t>
            </a:r>
          </a:p>
        </p:txBody>
      </p:sp>
      <p:sp>
        <p:nvSpPr>
          <p:cNvPr id="942110" name="Rectangle 30"/>
          <p:cNvSpPr>
            <a:spLocks noChangeArrowheads="1"/>
          </p:cNvSpPr>
          <p:nvPr/>
        </p:nvSpPr>
        <p:spPr bwMode="auto">
          <a:xfrm>
            <a:off x="2773259" y="4257675"/>
            <a:ext cx="974725" cy="271463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1</a:t>
            </a:r>
          </a:p>
        </p:txBody>
      </p:sp>
      <p:sp>
        <p:nvSpPr>
          <p:cNvPr id="942111" name="Rectangle 31"/>
          <p:cNvSpPr>
            <a:spLocks noChangeArrowheads="1"/>
          </p:cNvSpPr>
          <p:nvPr/>
        </p:nvSpPr>
        <p:spPr bwMode="auto">
          <a:xfrm>
            <a:off x="2773259" y="4529138"/>
            <a:ext cx="974725" cy="2714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-</a:t>
            </a:r>
          </a:p>
        </p:txBody>
      </p:sp>
      <p:sp>
        <p:nvSpPr>
          <p:cNvPr id="942112" name="Rectangle 32"/>
          <p:cNvSpPr>
            <a:spLocks noChangeArrowheads="1"/>
          </p:cNvSpPr>
          <p:nvPr/>
        </p:nvSpPr>
        <p:spPr bwMode="auto">
          <a:xfrm>
            <a:off x="2773259" y="4791075"/>
            <a:ext cx="974725" cy="2714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-</a:t>
            </a:r>
          </a:p>
        </p:txBody>
      </p:sp>
      <p:sp>
        <p:nvSpPr>
          <p:cNvPr id="942113" name="Rectangle 33"/>
          <p:cNvSpPr>
            <a:spLocks noChangeArrowheads="1"/>
          </p:cNvSpPr>
          <p:nvPr/>
        </p:nvSpPr>
        <p:spPr bwMode="auto">
          <a:xfrm>
            <a:off x="2773259" y="5062538"/>
            <a:ext cx="974725" cy="271462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-</a:t>
            </a:r>
          </a:p>
        </p:txBody>
      </p:sp>
      <p:sp>
        <p:nvSpPr>
          <p:cNvPr id="942114" name="Rectangle 34"/>
          <p:cNvSpPr>
            <a:spLocks noChangeArrowheads="1"/>
          </p:cNvSpPr>
          <p:nvPr/>
        </p:nvSpPr>
        <p:spPr bwMode="auto">
          <a:xfrm>
            <a:off x="4662384" y="2657475"/>
            <a:ext cx="974725" cy="271463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0</a:t>
            </a:r>
          </a:p>
        </p:txBody>
      </p:sp>
      <p:sp>
        <p:nvSpPr>
          <p:cNvPr id="942115" name="Rectangle 35"/>
          <p:cNvSpPr>
            <a:spLocks noChangeArrowheads="1"/>
          </p:cNvSpPr>
          <p:nvPr/>
        </p:nvSpPr>
        <p:spPr bwMode="auto">
          <a:xfrm>
            <a:off x="4662384" y="2928938"/>
            <a:ext cx="974725" cy="271462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0</a:t>
            </a:r>
          </a:p>
        </p:txBody>
      </p:sp>
      <p:sp>
        <p:nvSpPr>
          <p:cNvPr id="942116" name="Rectangle 36"/>
          <p:cNvSpPr>
            <a:spLocks noChangeArrowheads="1"/>
          </p:cNvSpPr>
          <p:nvPr/>
        </p:nvSpPr>
        <p:spPr bwMode="auto">
          <a:xfrm>
            <a:off x="4662384" y="3190875"/>
            <a:ext cx="974725" cy="271463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0</a:t>
            </a:r>
          </a:p>
        </p:txBody>
      </p:sp>
      <p:sp>
        <p:nvSpPr>
          <p:cNvPr id="942117" name="Rectangle 37"/>
          <p:cNvSpPr>
            <a:spLocks noChangeArrowheads="1"/>
          </p:cNvSpPr>
          <p:nvPr/>
        </p:nvSpPr>
        <p:spPr bwMode="auto">
          <a:xfrm>
            <a:off x="4662384" y="3462338"/>
            <a:ext cx="974725" cy="271462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0</a:t>
            </a:r>
          </a:p>
        </p:txBody>
      </p:sp>
      <p:sp>
        <p:nvSpPr>
          <p:cNvPr id="942118" name="Rectangle 38"/>
          <p:cNvSpPr>
            <a:spLocks noChangeArrowheads="1"/>
          </p:cNvSpPr>
          <p:nvPr/>
        </p:nvSpPr>
        <p:spPr bwMode="auto">
          <a:xfrm>
            <a:off x="4662384" y="3724275"/>
            <a:ext cx="974725" cy="2714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0</a:t>
            </a:r>
          </a:p>
        </p:txBody>
      </p:sp>
      <p:sp>
        <p:nvSpPr>
          <p:cNvPr id="942119" name="Rectangle 39"/>
          <p:cNvSpPr>
            <a:spLocks noChangeArrowheads="1"/>
          </p:cNvSpPr>
          <p:nvPr/>
        </p:nvSpPr>
        <p:spPr bwMode="auto">
          <a:xfrm>
            <a:off x="4662384" y="3995738"/>
            <a:ext cx="974725" cy="271462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1</a:t>
            </a:r>
          </a:p>
        </p:txBody>
      </p:sp>
      <p:sp>
        <p:nvSpPr>
          <p:cNvPr id="942120" name="Rectangle 40"/>
          <p:cNvSpPr>
            <a:spLocks noChangeArrowheads="1"/>
          </p:cNvSpPr>
          <p:nvPr/>
        </p:nvSpPr>
        <p:spPr bwMode="auto">
          <a:xfrm>
            <a:off x="4662384" y="4257675"/>
            <a:ext cx="974725" cy="271463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1</a:t>
            </a:r>
          </a:p>
        </p:txBody>
      </p:sp>
      <p:sp>
        <p:nvSpPr>
          <p:cNvPr id="942121" name="Rectangle 41"/>
          <p:cNvSpPr>
            <a:spLocks noChangeArrowheads="1"/>
          </p:cNvSpPr>
          <p:nvPr/>
        </p:nvSpPr>
        <p:spPr bwMode="auto">
          <a:xfrm>
            <a:off x="4662384" y="4529138"/>
            <a:ext cx="974725" cy="2714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1</a:t>
            </a:r>
          </a:p>
        </p:txBody>
      </p:sp>
      <p:sp>
        <p:nvSpPr>
          <p:cNvPr id="942122" name="Rectangle 42"/>
          <p:cNvSpPr>
            <a:spLocks noChangeArrowheads="1"/>
          </p:cNvSpPr>
          <p:nvPr/>
        </p:nvSpPr>
        <p:spPr bwMode="auto">
          <a:xfrm>
            <a:off x="4662384" y="4791075"/>
            <a:ext cx="974725" cy="2714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1</a:t>
            </a:r>
          </a:p>
        </p:txBody>
      </p:sp>
      <p:sp>
        <p:nvSpPr>
          <p:cNvPr id="942123" name="Rectangle 43"/>
          <p:cNvSpPr>
            <a:spLocks noChangeArrowheads="1"/>
          </p:cNvSpPr>
          <p:nvPr/>
        </p:nvSpPr>
        <p:spPr bwMode="auto">
          <a:xfrm>
            <a:off x="4662384" y="5062538"/>
            <a:ext cx="974725" cy="271462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1</a:t>
            </a:r>
          </a:p>
        </p:txBody>
      </p:sp>
      <p:sp>
        <p:nvSpPr>
          <p:cNvPr id="942124" name="Text Box 44"/>
          <p:cNvSpPr txBox="1">
            <a:spLocks noChangeArrowheads="1"/>
          </p:cNvSpPr>
          <p:nvPr/>
        </p:nvSpPr>
        <p:spPr bwMode="auto">
          <a:xfrm>
            <a:off x="814676" y="2281793"/>
            <a:ext cx="1073371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 dirty="0" err="1">
                <a:latin typeface="Calibri" pitchFamily="34" charset="0"/>
              </a:rPr>
              <a:t>i</a:t>
            </a:r>
            <a:r>
              <a:rPr lang="en-US" sz="1800" dirty="0">
                <a:latin typeface="Calibri" pitchFamily="34" charset="0"/>
              </a:rPr>
              <a:t> (thread)</a:t>
            </a:r>
          </a:p>
        </p:txBody>
      </p:sp>
      <p:sp>
        <p:nvSpPr>
          <p:cNvPr id="942125" name="Text Box 45"/>
          <p:cNvSpPr txBox="1">
            <a:spLocks noChangeArrowheads="1"/>
          </p:cNvSpPr>
          <p:nvPr/>
        </p:nvSpPr>
        <p:spPr bwMode="auto">
          <a:xfrm>
            <a:off x="1978313" y="2297668"/>
            <a:ext cx="653384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 dirty="0" err="1">
                <a:latin typeface="Calibri" pitchFamily="34" charset="0"/>
              </a:rPr>
              <a:t>instr</a:t>
            </a:r>
            <a:r>
              <a:rPr lang="en-US" sz="1800" baseline="-25000" dirty="0" err="1">
                <a:latin typeface="Calibri" pitchFamily="34" charset="0"/>
              </a:rPr>
              <a:t>i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942126" name="Text Box 46"/>
          <p:cNvSpPr txBox="1">
            <a:spLocks noChangeArrowheads="1"/>
          </p:cNvSpPr>
          <p:nvPr/>
        </p:nvSpPr>
        <p:spPr bwMode="auto">
          <a:xfrm>
            <a:off x="4927888" y="2297668"/>
            <a:ext cx="482312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 dirty="0" err="1">
                <a:latin typeface="Calibri" pitchFamily="34" charset="0"/>
              </a:rPr>
              <a:t>cnt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942127" name="Text Box 47"/>
          <p:cNvSpPr txBox="1">
            <a:spLocks noChangeArrowheads="1"/>
          </p:cNvSpPr>
          <p:nvPr/>
        </p:nvSpPr>
        <p:spPr bwMode="auto">
          <a:xfrm>
            <a:off x="2898709" y="2297668"/>
            <a:ext cx="742924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 dirty="0">
                <a:latin typeface="Calibri" pitchFamily="34" charset="0"/>
              </a:rPr>
              <a:t>%rdx</a:t>
            </a:r>
            <a:r>
              <a:rPr lang="en-US" sz="1800" baseline="-25000" dirty="0">
                <a:latin typeface="Calibri" pitchFamily="34" charset="0"/>
              </a:rPr>
              <a:t>1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942128" name="Rectangle 48"/>
          <p:cNvSpPr>
            <a:spLocks noChangeArrowheads="1"/>
          </p:cNvSpPr>
          <p:nvPr/>
        </p:nvSpPr>
        <p:spPr bwMode="auto">
          <a:xfrm>
            <a:off x="3732109" y="2657475"/>
            <a:ext cx="974725" cy="271463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-</a:t>
            </a:r>
          </a:p>
        </p:txBody>
      </p:sp>
      <p:sp>
        <p:nvSpPr>
          <p:cNvPr id="942129" name="Rectangle 49"/>
          <p:cNvSpPr>
            <a:spLocks noChangeArrowheads="1"/>
          </p:cNvSpPr>
          <p:nvPr/>
        </p:nvSpPr>
        <p:spPr bwMode="auto">
          <a:xfrm>
            <a:off x="3732109" y="2928938"/>
            <a:ext cx="974725" cy="271462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-</a:t>
            </a:r>
          </a:p>
        </p:txBody>
      </p:sp>
      <p:sp>
        <p:nvSpPr>
          <p:cNvPr id="942130" name="Rectangle 50"/>
          <p:cNvSpPr>
            <a:spLocks noChangeArrowheads="1"/>
          </p:cNvSpPr>
          <p:nvPr/>
        </p:nvSpPr>
        <p:spPr bwMode="auto">
          <a:xfrm>
            <a:off x="3732109" y="3190875"/>
            <a:ext cx="974725" cy="271463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-</a:t>
            </a:r>
          </a:p>
        </p:txBody>
      </p:sp>
      <p:sp>
        <p:nvSpPr>
          <p:cNvPr id="942131" name="Rectangle 51"/>
          <p:cNvSpPr>
            <a:spLocks noChangeArrowheads="1"/>
          </p:cNvSpPr>
          <p:nvPr/>
        </p:nvSpPr>
        <p:spPr bwMode="auto">
          <a:xfrm>
            <a:off x="3732109" y="3462338"/>
            <a:ext cx="974725" cy="271462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-</a:t>
            </a:r>
          </a:p>
        </p:txBody>
      </p:sp>
      <p:sp>
        <p:nvSpPr>
          <p:cNvPr id="942132" name="Rectangle 52"/>
          <p:cNvSpPr>
            <a:spLocks noChangeArrowheads="1"/>
          </p:cNvSpPr>
          <p:nvPr/>
        </p:nvSpPr>
        <p:spPr bwMode="auto">
          <a:xfrm>
            <a:off x="3732109" y="3724275"/>
            <a:ext cx="974725" cy="2714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0</a:t>
            </a:r>
          </a:p>
        </p:txBody>
      </p:sp>
      <p:sp>
        <p:nvSpPr>
          <p:cNvPr id="942133" name="Rectangle 53"/>
          <p:cNvSpPr>
            <a:spLocks noChangeArrowheads="1"/>
          </p:cNvSpPr>
          <p:nvPr/>
        </p:nvSpPr>
        <p:spPr bwMode="auto">
          <a:xfrm>
            <a:off x="3732109" y="3995738"/>
            <a:ext cx="974725" cy="271462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-</a:t>
            </a:r>
          </a:p>
        </p:txBody>
      </p:sp>
      <p:sp>
        <p:nvSpPr>
          <p:cNvPr id="942134" name="Rectangle 54"/>
          <p:cNvSpPr>
            <a:spLocks noChangeArrowheads="1"/>
          </p:cNvSpPr>
          <p:nvPr/>
        </p:nvSpPr>
        <p:spPr bwMode="auto">
          <a:xfrm>
            <a:off x="3732109" y="4257675"/>
            <a:ext cx="974725" cy="271463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-</a:t>
            </a:r>
          </a:p>
        </p:txBody>
      </p:sp>
      <p:sp>
        <p:nvSpPr>
          <p:cNvPr id="942135" name="Rectangle 55"/>
          <p:cNvSpPr>
            <a:spLocks noChangeArrowheads="1"/>
          </p:cNvSpPr>
          <p:nvPr/>
        </p:nvSpPr>
        <p:spPr bwMode="auto">
          <a:xfrm>
            <a:off x="3732109" y="4529138"/>
            <a:ext cx="974725" cy="2714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1</a:t>
            </a:r>
          </a:p>
        </p:txBody>
      </p:sp>
      <p:sp>
        <p:nvSpPr>
          <p:cNvPr id="942136" name="Rectangle 56"/>
          <p:cNvSpPr>
            <a:spLocks noChangeArrowheads="1"/>
          </p:cNvSpPr>
          <p:nvPr/>
        </p:nvSpPr>
        <p:spPr bwMode="auto">
          <a:xfrm>
            <a:off x="3732109" y="4791075"/>
            <a:ext cx="974725" cy="2714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1</a:t>
            </a:r>
          </a:p>
        </p:txBody>
      </p:sp>
      <p:sp>
        <p:nvSpPr>
          <p:cNvPr id="942137" name="Rectangle 57"/>
          <p:cNvSpPr>
            <a:spLocks noChangeArrowheads="1"/>
          </p:cNvSpPr>
          <p:nvPr/>
        </p:nvSpPr>
        <p:spPr bwMode="auto">
          <a:xfrm>
            <a:off x="3732109" y="5062538"/>
            <a:ext cx="974725" cy="271462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1</a:t>
            </a:r>
          </a:p>
        </p:txBody>
      </p:sp>
      <p:sp>
        <p:nvSpPr>
          <p:cNvPr id="942138" name="Text Box 58"/>
          <p:cNvSpPr txBox="1">
            <a:spLocks noChangeArrowheads="1"/>
          </p:cNvSpPr>
          <p:nvPr/>
        </p:nvSpPr>
        <p:spPr bwMode="auto">
          <a:xfrm>
            <a:off x="3857559" y="2297668"/>
            <a:ext cx="742924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 dirty="0">
                <a:latin typeface="Calibri" pitchFamily="34" charset="0"/>
              </a:rPr>
              <a:t>%rdx</a:t>
            </a:r>
            <a:r>
              <a:rPr lang="en-US" sz="1800" baseline="-25000" dirty="0">
                <a:latin typeface="Calibri" pitchFamily="34" charset="0"/>
              </a:rPr>
              <a:t>2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942139" name="Text Box 59"/>
          <p:cNvSpPr txBox="1">
            <a:spLocks noChangeArrowheads="1"/>
          </p:cNvSpPr>
          <p:nvPr/>
        </p:nvSpPr>
        <p:spPr bwMode="auto">
          <a:xfrm>
            <a:off x="5791200" y="4953000"/>
            <a:ext cx="935000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Oops!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5D3C61-FBF0-5928-292E-F83832F34481}"/>
              </a:ext>
            </a:extLst>
          </p:cNvPr>
          <p:cNvSpPr>
            <a:spLocks/>
          </p:cNvSpPr>
          <p:nvPr/>
        </p:nvSpPr>
        <p:spPr bwMode="auto">
          <a:xfrm>
            <a:off x="0" y="6636634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C278A2-6EF4-5655-FACA-BF9579B2C1EB}"/>
              </a:ext>
            </a:extLst>
          </p:cNvPr>
          <p:cNvSpPr>
            <a:spLocks/>
          </p:cNvSpPr>
          <p:nvPr/>
        </p:nvSpPr>
        <p:spPr bwMode="auto">
          <a:xfrm>
            <a:off x="-6350" y="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Concurrent Execution (cont)</a:t>
            </a:r>
          </a:p>
        </p:txBody>
      </p:sp>
      <p:sp>
        <p:nvSpPr>
          <p:cNvPr id="944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2651" y="1258182"/>
            <a:ext cx="7896225" cy="4972050"/>
          </a:xfrm>
        </p:spPr>
        <p:txBody>
          <a:bodyPr/>
          <a:lstStyle/>
          <a:p>
            <a:r>
              <a:rPr lang="en-US" dirty="0"/>
              <a:t>How about this ordering?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ctr">
              <a:buNone/>
            </a:pPr>
            <a:endParaRPr lang="en-US" dirty="0"/>
          </a:p>
          <a:p>
            <a:pPr marL="344488" indent="-344488" algn="ctr">
              <a:buNone/>
            </a:pPr>
            <a:endParaRPr lang="en-US" dirty="0"/>
          </a:p>
          <a:p>
            <a:r>
              <a:rPr lang="en-US" dirty="0"/>
              <a:t>We can analyze the behavior using a </a:t>
            </a:r>
            <a:r>
              <a:rPr lang="en-US" i="1" dirty="0">
                <a:solidFill>
                  <a:srgbClr val="C00000"/>
                </a:solidFill>
              </a:rPr>
              <a:t>progress graph</a:t>
            </a:r>
          </a:p>
        </p:txBody>
      </p:sp>
      <p:sp>
        <p:nvSpPr>
          <p:cNvPr id="944132" name="Rectangle 4"/>
          <p:cNvSpPr>
            <a:spLocks noChangeArrowheads="1"/>
          </p:cNvSpPr>
          <p:nvPr/>
        </p:nvSpPr>
        <p:spPr bwMode="auto">
          <a:xfrm>
            <a:off x="1814806" y="2200275"/>
            <a:ext cx="974725" cy="271463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H</a:t>
            </a:r>
            <a:r>
              <a:rPr lang="en-US" sz="1800" baseline="-25000" dirty="0">
                <a:latin typeface="Calibri" pitchFamily="34" charset="0"/>
              </a:rPr>
              <a:t>1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944133" name="Rectangle 5"/>
          <p:cNvSpPr>
            <a:spLocks noChangeArrowheads="1"/>
          </p:cNvSpPr>
          <p:nvPr/>
        </p:nvSpPr>
        <p:spPr bwMode="auto">
          <a:xfrm>
            <a:off x="1814806" y="2471738"/>
            <a:ext cx="974725" cy="271462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L</a:t>
            </a:r>
            <a:r>
              <a:rPr lang="en-US" sz="1800" baseline="-25000" dirty="0">
                <a:latin typeface="Calibri" pitchFamily="34" charset="0"/>
              </a:rPr>
              <a:t>1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944134" name="Rectangle 6"/>
          <p:cNvSpPr>
            <a:spLocks noChangeArrowheads="1"/>
          </p:cNvSpPr>
          <p:nvPr/>
        </p:nvSpPr>
        <p:spPr bwMode="auto">
          <a:xfrm>
            <a:off x="1814806" y="2733675"/>
            <a:ext cx="974725" cy="271463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H</a:t>
            </a:r>
            <a:r>
              <a:rPr lang="en-US" sz="1800" baseline="-25000" dirty="0">
                <a:latin typeface="Calibri" pitchFamily="34" charset="0"/>
              </a:rPr>
              <a:t>2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944135" name="Rectangle 7"/>
          <p:cNvSpPr>
            <a:spLocks noChangeArrowheads="1"/>
          </p:cNvSpPr>
          <p:nvPr/>
        </p:nvSpPr>
        <p:spPr bwMode="auto">
          <a:xfrm>
            <a:off x="1814806" y="3005138"/>
            <a:ext cx="974725" cy="2714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L</a:t>
            </a:r>
            <a:r>
              <a:rPr lang="en-US" sz="1800" baseline="-25000" dirty="0">
                <a:latin typeface="Calibri" pitchFamily="34" charset="0"/>
              </a:rPr>
              <a:t>2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944136" name="Rectangle 8"/>
          <p:cNvSpPr>
            <a:spLocks noChangeArrowheads="1"/>
          </p:cNvSpPr>
          <p:nvPr/>
        </p:nvSpPr>
        <p:spPr bwMode="auto">
          <a:xfrm>
            <a:off x="1814806" y="3267075"/>
            <a:ext cx="974725" cy="2714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U</a:t>
            </a:r>
            <a:r>
              <a:rPr lang="en-US" sz="1800" baseline="-25000" dirty="0">
                <a:latin typeface="Calibri" pitchFamily="34" charset="0"/>
              </a:rPr>
              <a:t>2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944137" name="Rectangle 9"/>
          <p:cNvSpPr>
            <a:spLocks noChangeArrowheads="1"/>
          </p:cNvSpPr>
          <p:nvPr/>
        </p:nvSpPr>
        <p:spPr bwMode="auto">
          <a:xfrm>
            <a:off x="1814806" y="3538538"/>
            <a:ext cx="974725" cy="2714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S</a:t>
            </a:r>
            <a:r>
              <a:rPr lang="en-US" sz="1800" baseline="-25000" dirty="0">
                <a:latin typeface="Calibri" pitchFamily="34" charset="0"/>
              </a:rPr>
              <a:t>2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944138" name="Rectangle 10"/>
          <p:cNvSpPr>
            <a:spLocks noChangeArrowheads="1"/>
          </p:cNvSpPr>
          <p:nvPr/>
        </p:nvSpPr>
        <p:spPr bwMode="auto">
          <a:xfrm>
            <a:off x="1814806" y="3800475"/>
            <a:ext cx="974725" cy="271463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U</a:t>
            </a:r>
            <a:r>
              <a:rPr lang="en-US" sz="1800" baseline="-25000" dirty="0">
                <a:latin typeface="Calibri" pitchFamily="34" charset="0"/>
              </a:rPr>
              <a:t>1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944139" name="Rectangle 11"/>
          <p:cNvSpPr>
            <a:spLocks noChangeArrowheads="1"/>
          </p:cNvSpPr>
          <p:nvPr/>
        </p:nvSpPr>
        <p:spPr bwMode="auto">
          <a:xfrm>
            <a:off x="1814806" y="4071938"/>
            <a:ext cx="974725" cy="271462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S</a:t>
            </a:r>
            <a:r>
              <a:rPr lang="en-US" sz="1800" baseline="-25000" dirty="0">
                <a:latin typeface="Calibri" pitchFamily="34" charset="0"/>
              </a:rPr>
              <a:t>1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944140" name="Rectangle 12"/>
          <p:cNvSpPr>
            <a:spLocks noChangeArrowheads="1"/>
          </p:cNvSpPr>
          <p:nvPr/>
        </p:nvSpPr>
        <p:spPr bwMode="auto">
          <a:xfrm>
            <a:off x="1814806" y="4333875"/>
            <a:ext cx="974725" cy="271463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T</a:t>
            </a:r>
            <a:r>
              <a:rPr lang="en-US" sz="1800" baseline="-25000" dirty="0">
                <a:latin typeface="Calibri" pitchFamily="34" charset="0"/>
              </a:rPr>
              <a:t>1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944141" name="Rectangle 13"/>
          <p:cNvSpPr>
            <a:spLocks noChangeArrowheads="1"/>
          </p:cNvSpPr>
          <p:nvPr/>
        </p:nvSpPr>
        <p:spPr bwMode="auto">
          <a:xfrm>
            <a:off x="1814806" y="4605338"/>
            <a:ext cx="974725" cy="271462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T</a:t>
            </a:r>
            <a:r>
              <a:rPr lang="en-US" sz="1800" baseline="-25000" dirty="0">
                <a:latin typeface="Calibri" pitchFamily="34" charset="0"/>
              </a:rPr>
              <a:t>2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944142" name="Rectangle 14"/>
          <p:cNvSpPr>
            <a:spLocks noChangeArrowheads="1"/>
          </p:cNvSpPr>
          <p:nvPr/>
        </p:nvSpPr>
        <p:spPr bwMode="auto">
          <a:xfrm>
            <a:off x="840081" y="2200275"/>
            <a:ext cx="974725" cy="271463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1</a:t>
            </a:r>
          </a:p>
        </p:txBody>
      </p:sp>
      <p:sp>
        <p:nvSpPr>
          <p:cNvPr id="944143" name="Rectangle 15"/>
          <p:cNvSpPr>
            <a:spLocks noChangeArrowheads="1"/>
          </p:cNvSpPr>
          <p:nvPr/>
        </p:nvSpPr>
        <p:spPr bwMode="auto">
          <a:xfrm>
            <a:off x="840081" y="2471738"/>
            <a:ext cx="974725" cy="271462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1</a:t>
            </a:r>
          </a:p>
        </p:txBody>
      </p:sp>
      <p:sp>
        <p:nvSpPr>
          <p:cNvPr id="944144" name="Rectangle 16"/>
          <p:cNvSpPr>
            <a:spLocks noChangeArrowheads="1"/>
          </p:cNvSpPr>
          <p:nvPr/>
        </p:nvSpPr>
        <p:spPr bwMode="auto">
          <a:xfrm>
            <a:off x="840081" y="2733675"/>
            <a:ext cx="974725" cy="271463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2</a:t>
            </a:r>
          </a:p>
        </p:txBody>
      </p:sp>
      <p:sp>
        <p:nvSpPr>
          <p:cNvPr id="944145" name="Rectangle 17"/>
          <p:cNvSpPr>
            <a:spLocks noChangeArrowheads="1"/>
          </p:cNvSpPr>
          <p:nvPr/>
        </p:nvSpPr>
        <p:spPr bwMode="auto">
          <a:xfrm>
            <a:off x="840081" y="3005138"/>
            <a:ext cx="974725" cy="2714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2</a:t>
            </a:r>
          </a:p>
        </p:txBody>
      </p:sp>
      <p:sp>
        <p:nvSpPr>
          <p:cNvPr id="944146" name="Rectangle 18"/>
          <p:cNvSpPr>
            <a:spLocks noChangeArrowheads="1"/>
          </p:cNvSpPr>
          <p:nvPr/>
        </p:nvSpPr>
        <p:spPr bwMode="auto">
          <a:xfrm>
            <a:off x="840081" y="3267075"/>
            <a:ext cx="974725" cy="2714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2</a:t>
            </a:r>
          </a:p>
        </p:txBody>
      </p:sp>
      <p:sp>
        <p:nvSpPr>
          <p:cNvPr id="944147" name="Rectangle 19"/>
          <p:cNvSpPr>
            <a:spLocks noChangeArrowheads="1"/>
          </p:cNvSpPr>
          <p:nvPr/>
        </p:nvSpPr>
        <p:spPr bwMode="auto">
          <a:xfrm>
            <a:off x="840081" y="3538538"/>
            <a:ext cx="974725" cy="2714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2</a:t>
            </a:r>
          </a:p>
        </p:txBody>
      </p:sp>
      <p:sp>
        <p:nvSpPr>
          <p:cNvPr id="944148" name="Rectangle 20"/>
          <p:cNvSpPr>
            <a:spLocks noChangeArrowheads="1"/>
          </p:cNvSpPr>
          <p:nvPr/>
        </p:nvSpPr>
        <p:spPr bwMode="auto">
          <a:xfrm>
            <a:off x="840081" y="3800475"/>
            <a:ext cx="974725" cy="271463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1</a:t>
            </a:r>
          </a:p>
        </p:txBody>
      </p:sp>
      <p:sp>
        <p:nvSpPr>
          <p:cNvPr id="944149" name="Rectangle 21"/>
          <p:cNvSpPr>
            <a:spLocks noChangeArrowheads="1"/>
          </p:cNvSpPr>
          <p:nvPr/>
        </p:nvSpPr>
        <p:spPr bwMode="auto">
          <a:xfrm>
            <a:off x="840081" y="4071938"/>
            <a:ext cx="974725" cy="271462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1</a:t>
            </a:r>
          </a:p>
        </p:txBody>
      </p:sp>
      <p:sp>
        <p:nvSpPr>
          <p:cNvPr id="944150" name="Rectangle 22"/>
          <p:cNvSpPr>
            <a:spLocks noChangeArrowheads="1"/>
          </p:cNvSpPr>
          <p:nvPr/>
        </p:nvSpPr>
        <p:spPr bwMode="auto">
          <a:xfrm>
            <a:off x="840081" y="4333875"/>
            <a:ext cx="974725" cy="271463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1</a:t>
            </a:r>
          </a:p>
        </p:txBody>
      </p:sp>
      <p:sp>
        <p:nvSpPr>
          <p:cNvPr id="944151" name="Rectangle 23"/>
          <p:cNvSpPr>
            <a:spLocks noChangeArrowheads="1"/>
          </p:cNvSpPr>
          <p:nvPr/>
        </p:nvSpPr>
        <p:spPr bwMode="auto">
          <a:xfrm>
            <a:off x="840081" y="4605338"/>
            <a:ext cx="974725" cy="271462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itchFamily="34" charset="0"/>
              </a:rPr>
              <a:t>2</a:t>
            </a:r>
          </a:p>
        </p:txBody>
      </p:sp>
      <p:sp>
        <p:nvSpPr>
          <p:cNvPr id="944152" name="Rectangle 24"/>
          <p:cNvSpPr>
            <a:spLocks noChangeArrowheads="1"/>
          </p:cNvSpPr>
          <p:nvPr/>
        </p:nvSpPr>
        <p:spPr bwMode="auto">
          <a:xfrm>
            <a:off x="2789531" y="2200275"/>
            <a:ext cx="974725" cy="271463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sz="1800" dirty="0">
              <a:latin typeface="Calibri" pitchFamily="34" charset="0"/>
            </a:endParaRPr>
          </a:p>
        </p:txBody>
      </p:sp>
      <p:sp>
        <p:nvSpPr>
          <p:cNvPr id="944153" name="Rectangle 25"/>
          <p:cNvSpPr>
            <a:spLocks noChangeArrowheads="1"/>
          </p:cNvSpPr>
          <p:nvPr/>
        </p:nvSpPr>
        <p:spPr bwMode="auto">
          <a:xfrm>
            <a:off x="2789531" y="2471738"/>
            <a:ext cx="974725" cy="271462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sz="1800" dirty="0">
              <a:latin typeface="Calibri" pitchFamily="34" charset="0"/>
            </a:endParaRPr>
          </a:p>
        </p:txBody>
      </p:sp>
      <p:sp>
        <p:nvSpPr>
          <p:cNvPr id="944154" name="Rectangle 26"/>
          <p:cNvSpPr>
            <a:spLocks noChangeArrowheads="1"/>
          </p:cNvSpPr>
          <p:nvPr/>
        </p:nvSpPr>
        <p:spPr bwMode="auto">
          <a:xfrm>
            <a:off x="2789531" y="2733675"/>
            <a:ext cx="974725" cy="271463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sz="1800" dirty="0">
              <a:latin typeface="Calibri" pitchFamily="34" charset="0"/>
            </a:endParaRPr>
          </a:p>
        </p:txBody>
      </p:sp>
      <p:sp>
        <p:nvSpPr>
          <p:cNvPr id="944155" name="Rectangle 27"/>
          <p:cNvSpPr>
            <a:spLocks noChangeArrowheads="1"/>
          </p:cNvSpPr>
          <p:nvPr/>
        </p:nvSpPr>
        <p:spPr bwMode="auto">
          <a:xfrm>
            <a:off x="2789531" y="3005138"/>
            <a:ext cx="974725" cy="2714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sz="1800" dirty="0">
              <a:latin typeface="Calibri" pitchFamily="34" charset="0"/>
            </a:endParaRPr>
          </a:p>
        </p:txBody>
      </p:sp>
      <p:sp>
        <p:nvSpPr>
          <p:cNvPr id="944156" name="Rectangle 28"/>
          <p:cNvSpPr>
            <a:spLocks noChangeArrowheads="1"/>
          </p:cNvSpPr>
          <p:nvPr/>
        </p:nvSpPr>
        <p:spPr bwMode="auto">
          <a:xfrm>
            <a:off x="2789531" y="3267075"/>
            <a:ext cx="974725" cy="2714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sz="1800" dirty="0">
              <a:latin typeface="Calibri" pitchFamily="34" charset="0"/>
            </a:endParaRPr>
          </a:p>
        </p:txBody>
      </p:sp>
      <p:sp>
        <p:nvSpPr>
          <p:cNvPr id="944157" name="Rectangle 29"/>
          <p:cNvSpPr>
            <a:spLocks noChangeArrowheads="1"/>
          </p:cNvSpPr>
          <p:nvPr/>
        </p:nvSpPr>
        <p:spPr bwMode="auto">
          <a:xfrm>
            <a:off x="2789531" y="3538538"/>
            <a:ext cx="974725" cy="2714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sz="1800" dirty="0">
              <a:latin typeface="Calibri" pitchFamily="34" charset="0"/>
            </a:endParaRPr>
          </a:p>
        </p:txBody>
      </p:sp>
      <p:sp>
        <p:nvSpPr>
          <p:cNvPr id="944158" name="Rectangle 30"/>
          <p:cNvSpPr>
            <a:spLocks noChangeArrowheads="1"/>
          </p:cNvSpPr>
          <p:nvPr/>
        </p:nvSpPr>
        <p:spPr bwMode="auto">
          <a:xfrm>
            <a:off x="2789531" y="3800475"/>
            <a:ext cx="974725" cy="271463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sz="1800" dirty="0">
              <a:latin typeface="Calibri" pitchFamily="34" charset="0"/>
            </a:endParaRPr>
          </a:p>
        </p:txBody>
      </p:sp>
      <p:sp>
        <p:nvSpPr>
          <p:cNvPr id="944159" name="Rectangle 31"/>
          <p:cNvSpPr>
            <a:spLocks noChangeArrowheads="1"/>
          </p:cNvSpPr>
          <p:nvPr/>
        </p:nvSpPr>
        <p:spPr bwMode="auto">
          <a:xfrm>
            <a:off x="2789531" y="4071938"/>
            <a:ext cx="974725" cy="271462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sz="1800" dirty="0">
              <a:latin typeface="Calibri" pitchFamily="34" charset="0"/>
            </a:endParaRPr>
          </a:p>
        </p:txBody>
      </p:sp>
      <p:sp>
        <p:nvSpPr>
          <p:cNvPr id="944160" name="Rectangle 32"/>
          <p:cNvSpPr>
            <a:spLocks noChangeArrowheads="1"/>
          </p:cNvSpPr>
          <p:nvPr/>
        </p:nvSpPr>
        <p:spPr bwMode="auto">
          <a:xfrm>
            <a:off x="2789531" y="4333875"/>
            <a:ext cx="974725" cy="271463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sz="1800" dirty="0">
              <a:latin typeface="Calibri" pitchFamily="34" charset="0"/>
            </a:endParaRPr>
          </a:p>
        </p:txBody>
      </p:sp>
      <p:sp>
        <p:nvSpPr>
          <p:cNvPr id="944161" name="Rectangle 33"/>
          <p:cNvSpPr>
            <a:spLocks noChangeArrowheads="1"/>
          </p:cNvSpPr>
          <p:nvPr/>
        </p:nvSpPr>
        <p:spPr bwMode="auto">
          <a:xfrm>
            <a:off x="2789531" y="4605338"/>
            <a:ext cx="974725" cy="271462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sz="1800" dirty="0">
              <a:latin typeface="Calibri" pitchFamily="34" charset="0"/>
            </a:endParaRPr>
          </a:p>
        </p:txBody>
      </p:sp>
      <p:sp>
        <p:nvSpPr>
          <p:cNvPr id="944162" name="Rectangle 34"/>
          <p:cNvSpPr>
            <a:spLocks noChangeArrowheads="1"/>
          </p:cNvSpPr>
          <p:nvPr/>
        </p:nvSpPr>
        <p:spPr bwMode="auto">
          <a:xfrm>
            <a:off x="4678656" y="2200275"/>
            <a:ext cx="974725" cy="271463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sz="1800" dirty="0">
              <a:latin typeface="Calibri" pitchFamily="34" charset="0"/>
            </a:endParaRPr>
          </a:p>
        </p:txBody>
      </p:sp>
      <p:sp>
        <p:nvSpPr>
          <p:cNvPr id="944163" name="Rectangle 35"/>
          <p:cNvSpPr>
            <a:spLocks noChangeArrowheads="1"/>
          </p:cNvSpPr>
          <p:nvPr/>
        </p:nvSpPr>
        <p:spPr bwMode="auto">
          <a:xfrm>
            <a:off x="4678656" y="2471738"/>
            <a:ext cx="974725" cy="271462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sz="1800" dirty="0">
              <a:latin typeface="Calibri" pitchFamily="34" charset="0"/>
            </a:endParaRPr>
          </a:p>
        </p:txBody>
      </p:sp>
      <p:sp>
        <p:nvSpPr>
          <p:cNvPr id="944164" name="Rectangle 36"/>
          <p:cNvSpPr>
            <a:spLocks noChangeArrowheads="1"/>
          </p:cNvSpPr>
          <p:nvPr/>
        </p:nvSpPr>
        <p:spPr bwMode="auto">
          <a:xfrm>
            <a:off x="4678656" y="2733675"/>
            <a:ext cx="974725" cy="271463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sz="1800" dirty="0">
              <a:latin typeface="Calibri" pitchFamily="34" charset="0"/>
            </a:endParaRPr>
          </a:p>
        </p:txBody>
      </p:sp>
      <p:sp>
        <p:nvSpPr>
          <p:cNvPr id="944165" name="Rectangle 37"/>
          <p:cNvSpPr>
            <a:spLocks noChangeArrowheads="1"/>
          </p:cNvSpPr>
          <p:nvPr/>
        </p:nvSpPr>
        <p:spPr bwMode="auto">
          <a:xfrm>
            <a:off x="4678656" y="3005138"/>
            <a:ext cx="974725" cy="2714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sz="1800" dirty="0">
              <a:latin typeface="Calibri" pitchFamily="34" charset="0"/>
            </a:endParaRPr>
          </a:p>
        </p:txBody>
      </p:sp>
      <p:sp>
        <p:nvSpPr>
          <p:cNvPr id="944166" name="Rectangle 38"/>
          <p:cNvSpPr>
            <a:spLocks noChangeArrowheads="1"/>
          </p:cNvSpPr>
          <p:nvPr/>
        </p:nvSpPr>
        <p:spPr bwMode="auto">
          <a:xfrm>
            <a:off x="4678656" y="3267075"/>
            <a:ext cx="974725" cy="2714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sz="1800" dirty="0">
              <a:latin typeface="Calibri" pitchFamily="34" charset="0"/>
            </a:endParaRPr>
          </a:p>
        </p:txBody>
      </p:sp>
      <p:sp>
        <p:nvSpPr>
          <p:cNvPr id="944167" name="Rectangle 39"/>
          <p:cNvSpPr>
            <a:spLocks noChangeArrowheads="1"/>
          </p:cNvSpPr>
          <p:nvPr/>
        </p:nvSpPr>
        <p:spPr bwMode="auto">
          <a:xfrm>
            <a:off x="4678656" y="3538538"/>
            <a:ext cx="974725" cy="2714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sz="1800" dirty="0">
              <a:latin typeface="Calibri" pitchFamily="34" charset="0"/>
            </a:endParaRPr>
          </a:p>
        </p:txBody>
      </p:sp>
      <p:sp>
        <p:nvSpPr>
          <p:cNvPr id="944168" name="Rectangle 40"/>
          <p:cNvSpPr>
            <a:spLocks noChangeArrowheads="1"/>
          </p:cNvSpPr>
          <p:nvPr/>
        </p:nvSpPr>
        <p:spPr bwMode="auto">
          <a:xfrm>
            <a:off x="4678656" y="3800475"/>
            <a:ext cx="974725" cy="271463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sz="1800" dirty="0">
              <a:latin typeface="Calibri" pitchFamily="34" charset="0"/>
            </a:endParaRPr>
          </a:p>
        </p:txBody>
      </p:sp>
      <p:sp>
        <p:nvSpPr>
          <p:cNvPr id="944169" name="Rectangle 41"/>
          <p:cNvSpPr>
            <a:spLocks noChangeArrowheads="1"/>
          </p:cNvSpPr>
          <p:nvPr/>
        </p:nvSpPr>
        <p:spPr bwMode="auto">
          <a:xfrm>
            <a:off x="4678656" y="4071938"/>
            <a:ext cx="974725" cy="271462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sz="1800" dirty="0">
              <a:latin typeface="Calibri" pitchFamily="34" charset="0"/>
            </a:endParaRPr>
          </a:p>
        </p:txBody>
      </p:sp>
      <p:sp>
        <p:nvSpPr>
          <p:cNvPr id="944170" name="Rectangle 42"/>
          <p:cNvSpPr>
            <a:spLocks noChangeArrowheads="1"/>
          </p:cNvSpPr>
          <p:nvPr/>
        </p:nvSpPr>
        <p:spPr bwMode="auto">
          <a:xfrm>
            <a:off x="4678656" y="4333875"/>
            <a:ext cx="974725" cy="271463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sz="1800" dirty="0">
              <a:latin typeface="Calibri" pitchFamily="34" charset="0"/>
            </a:endParaRPr>
          </a:p>
        </p:txBody>
      </p:sp>
      <p:sp>
        <p:nvSpPr>
          <p:cNvPr id="944171" name="Rectangle 43"/>
          <p:cNvSpPr>
            <a:spLocks noChangeArrowheads="1"/>
          </p:cNvSpPr>
          <p:nvPr/>
        </p:nvSpPr>
        <p:spPr bwMode="auto">
          <a:xfrm>
            <a:off x="4678656" y="4605338"/>
            <a:ext cx="974725" cy="271462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sz="1800" dirty="0">
              <a:latin typeface="Calibri" pitchFamily="34" charset="0"/>
            </a:endParaRPr>
          </a:p>
        </p:txBody>
      </p:sp>
      <p:sp>
        <p:nvSpPr>
          <p:cNvPr id="944172" name="Text Box 44"/>
          <p:cNvSpPr txBox="1">
            <a:spLocks noChangeArrowheads="1"/>
          </p:cNvSpPr>
          <p:nvPr/>
        </p:nvSpPr>
        <p:spPr bwMode="auto">
          <a:xfrm>
            <a:off x="832144" y="1828800"/>
            <a:ext cx="1073371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 dirty="0" err="1">
                <a:latin typeface="Calibri" pitchFamily="34" charset="0"/>
              </a:rPr>
              <a:t>i</a:t>
            </a:r>
            <a:r>
              <a:rPr lang="en-US" sz="1800" dirty="0">
                <a:latin typeface="Calibri" pitchFamily="34" charset="0"/>
              </a:rPr>
              <a:t> (thread)</a:t>
            </a:r>
          </a:p>
        </p:txBody>
      </p:sp>
      <p:sp>
        <p:nvSpPr>
          <p:cNvPr id="944173" name="Text Box 45"/>
          <p:cNvSpPr txBox="1">
            <a:spLocks noChangeArrowheads="1"/>
          </p:cNvSpPr>
          <p:nvPr/>
        </p:nvSpPr>
        <p:spPr bwMode="auto">
          <a:xfrm>
            <a:off x="1995781" y="1844675"/>
            <a:ext cx="653384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 dirty="0" err="1">
                <a:latin typeface="Calibri" pitchFamily="34" charset="0"/>
              </a:rPr>
              <a:t>instr</a:t>
            </a:r>
            <a:r>
              <a:rPr lang="en-US" sz="1800" baseline="-25000" dirty="0" err="1">
                <a:latin typeface="Calibri" pitchFamily="34" charset="0"/>
              </a:rPr>
              <a:t>i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944174" name="Text Box 46"/>
          <p:cNvSpPr txBox="1">
            <a:spLocks noChangeArrowheads="1"/>
          </p:cNvSpPr>
          <p:nvPr/>
        </p:nvSpPr>
        <p:spPr bwMode="auto">
          <a:xfrm>
            <a:off x="4945356" y="1844675"/>
            <a:ext cx="482312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 dirty="0" err="1">
                <a:latin typeface="Calibri" pitchFamily="34" charset="0"/>
              </a:rPr>
              <a:t>cnt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944175" name="Text Box 47"/>
          <p:cNvSpPr txBox="1">
            <a:spLocks noChangeArrowheads="1"/>
          </p:cNvSpPr>
          <p:nvPr/>
        </p:nvSpPr>
        <p:spPr bwMode="auto">
          <a:xfrm>
            <a:off x="2916177" y="1844675"/>
            <a:ext cx="742924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 dirty="0">
                <a:latin typeface="Calibri" pitchFamily="34" charset="0"/>
              </a:rPr>
              <a:t>%rdx</a:t>
            </a:r>
            <a:r>
              <a:rPr lang="en-US" sz="1800" baseline="-25000" dirty="0">
                <a:latin typeface="Calibri" pitchFamily="34" charset="0"/>
              </a:rPr>
              <a:t>1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944176" name="Rectangle 48"/>
          <p:cNvSpPr>
            <a:spLocks noChangeArrowheads="1"/>
          </p:cNvSpPr>
          <p:nvPr/>
        </p:nvSpPr>
        <p:spPr bwMode="auto">
          <a:xfrm>
            <a:off x="3748381" y="2200275"/>
            <a:ext cx="974725" cy="271463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sz="1800" dirty="0">
              <a:latin typeface="Calibri" pitchFamily="34" charset="0"/>
            </a:endParaRPr>
          </a:p>
        </p:txBody>
      </p:sp>
      <p:sp>
        <p:nvSpPr>
          <p:cNvPr id="944177" name="Rectangle 49"/>
          <p:cNvSpPr>
            <a:spLocks noChangeArrowheads="1"/>
          </p:cNvSpPr>
          <p:nvPr/>
        </p:nvSpPr>
        <p:spPr bwMode="auto">
          <a:xfrm>
            <a:off x="3748381" y="2471738"/>
            <a:ext cx="974725" cy="271462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sz="1800" dirty="0">
              <a:latin typeface="Calibri" pitchFamily="34" charset="0"/>
            </a:endParaRPr>
          </a:p>
        </p:txBody>
      </p:sp>
      <p:sp>
        <p:nvSpPr>
          <p:cNvPr id="944178" name="Rectangle 50"/>
          <p:cNvSpPr>
            <a:spLocks noChangeArrowheads="1"/>
          </p:cNvSpPr>
          <p:nvPr/>
        </p:nvSpPr>
        <p:spPr bwMode="auto">
          <a:xfrm>
            <a:off x="3748381" y="2733675"/>
            <a:ext cx="974725" cy="271463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sz="1800" dirty="0">
              <a:latin typeface="Calibri" pitchFamily="34" charset="0"/>
            </a:endParaRPr>
          </a:p>
        </p:txBody>
      </p:sp>
      <p:sp>
        <p:nvSpPr>
          <p:cNvPr id="944179" name="Rectangle 51"/>
          <p:cNvSpPr>
            <a:spLocks noChangeArrowheads="1"/>
          </p:cNvSpPr>
          <p:nvPr/>
        </p:nvSpPr>
        <p:spPr bwMode="auto">
          <a:xfrm>
            <a:off x="3748381" y="3005138"/>
            <a:ext cx="974725" cy="2714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sz="1800" dirty="0">
              <a:latin typeface="Calibri" pitchFamily="34" charset="0"/>
            </a:endParaRPr>
          </a:p>
        </p:txBody>
      </p:sp>
      <p:sp>
        <p:nvSpPr>
          <p:cNvPr id="944180" name="Rectangle 52"/>
          <p:cNvSpPr>
            <a:spLocks noChangeArrowheads="1"/>
          </p:cNvSpPr>
          <p:nvPr/>
        </p:nvSpPr>
        <p:spPr bwMode="auto">
          <a:xfrm>
            <a:off x="3748381" y="3267075"/>
            <a:ext cx="974725" cy="2714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sz="1800" dirty="0">
              <a:latin typeface="Calibri" pitchFamily="34" charset="0"/>
            </a:endParaRPr>
          </a:p>
        </p:txBody>
      </p:sp>
      <p:sp>
        <p:nvSpPr>
          <p:cNvPr id="944181" name="Rectangle 53"/>
          <p:cNvSpPr>
            <a:spLocks noChangeArrowheads="1"/>
          </p:cNvSpPr>
          <p:nvPr/>
        </p:nvSpPr>
        <p:spPr bwMode="auto">
          <a:xfrm>
            <a:off x="3748381" y="3538538"/>
            <a:ext cx="974725" cy="2714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sz="1800" dirty="0">
              <a:latin typeface="Calibri" pitchFamily="34" charset="0"/>
            </a:endParaRPr>
          </a:p>
        </p:txBody>
      </p:sp>
      <p:sp>
        <p:nvSpPr>
          <p:cNvPr id="944182" name="Rectangle 54"/>
          <p:cNvSpPr>
            <a:spLocks noChangeArrowheads="1"/>
          </p:cNvSpPr>
          <p:nvPr/>
        </p:nvSpPr>
        <p:spPr bwMode="auto">
          <a:xfrm>
            <a:off x="3748381" y="3800475"/>
            <a:ext cx="974725" cy="271463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sz="1800" dirty="0">
              <a:latin typeface="Calibri" pitchFamily="34" charset="0"/>
            </a:endParaRPr>
          </a:p>
        </p:txBody>
      </p:sp>
      <p:sp>
        <p:nvSpPr>
          <p:cNvPr id="944183" name="Rectangle 55"/>
          <p:cNvSpPr>
            <a:spLocks noChangeArrowheads="1"/>
          </p:cNvSpPr>
          <p:nvPr/>
        </p:nvSpPr>
        <p:spPr bwMode="auto">
          <a:xfrm>
            <a:off x="3748381" y="4071938"/>
            <a:ext cx="974725" cy="271462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sz="1800" dirty="0">
              <a:latin typeface="Calibri" pitchFamily="34" charset="0"/>
            </a:endParaRPr>
          </a:p>
        </p:txBody>
      </p:sp>
      <p:sp>
        <p:nvSpPr>
          <p:cNvPr id="944184" name="Rectangle 56"/>
          <p:cNvSpPr>
            <a:spLocks noChangeArrowheads="1"/>
          </p:cNvSpPr>
          <p:nvPr/>
        </p:nvSpPr>
        <p:spPr bwMode="auto">
          <a:xfrm>
            <a:off x="3748381" y="4333875"/>
            <a:ext cx="974725" cy="271463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sz="1800" dirty="0">
              <a:latin typeface="Calibri" pitchFamily="34" charset="0"/>
            </a:endParaRPr>
          </a:p>
        </p:txBody>
      </p:sp>
      <p:sp>
        <p:nvSpPr>
          <p:cNvPr id="944185" name="Rectangle 57"/>
          <p:cNvSpPr>
            <a:spLocks noChangeArrowheads="1"/>
          </p:cNvSpPr>
          <p:nvPr/>
        </p:nvSpPr>
        <p:spPr bwMode="auto">
          <a:xfrm>
            <a:off x="3748381" y="4605338"/>
            <a:ext cx="974725" cy="271462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sz="1800" dirty="0">
              <a:latin typeface="Calibri" pitchFamily="34" charset="0"/>
            </a:endParaRPr>
          </a:p>
        </p:txBody>
      </p:sp>
      <p:sp>
        <p:nvSpPr>
          <p:cNvPr id="944186" name="Text Box 58"/>
          <p:cNvSpPr txBox="1">
            <a:spLocks noChangeArrowheads="1"/>
          </p:cNvSpPr>
          <p:nvPr/>
        </p:nvSpPr>
        <p:spPr bwMode="auto">
          <a:xfrm>
            <a:off x="3875027" y="1844675"/>
            <a:ext cx="742924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 dirty="0">
                <a:latin typeface="Calibri" pitchFamily="34" charset="0"/>
              </a:rPr>
              <a:t>%rdx</a:t>
            </a:r>
            <a:r>
              <a:rPr lang="en-US" sz="1800" baseline="-25000" dirty="0">
                <a:latin typeface="Calibri" pitchFamily="34" charset="0"/>
              </a:rPr>
              <a:t>2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124200" y="2373868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32340" y="2133600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14800" y="2907268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16370" y="3200400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17940" y="3431143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32340" y="3440668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124200" y="3702606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124200" y="3974068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32340" y="3962400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29200" y="4495800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1</a:t>
            </a:r>
          </a:p>
        </p:txBody>
      </p:sp>
      <p:sp>
        <p:nvSpPr>
          <p:cNvPr id="69" name="Text Box 59"/>
          <p:cNvSpPr txBox="1">
            <a:spLocks noChangeArrowheads="1"/>
          </p:cNvSpPr>
          <p:nvPr/>
        </p:nvSpPr>
        <p:spPr bwMode="auto">
          <a:xfrm>
            <a:off x="5791200" y="4419600"/>
            <a:ext cx="935000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Oops!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0" y="4267200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EC953F-A45E-BDD7-5C38-2ABEA5C5E965}"/>
              </a:ext>
            </a:extLst>
          </p:cNvPr>
          <p:cNvSpPr>
            <a:spLocks/>
          </p:cNvSpPr>
          <p:nvPr/>
        </p:nvSpPr>
        <p:spPr bwMode="auto">
          <a:xfrm>
            <a:off x="0" y="6636634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064609-4B44-0C11-B91D-E26E0C63126D}"/>
              </a:ext>
            </a:extLst>
          </p:cNvPr>
          <p:cNvSpPr>
            <a:spLocks/>
          </p:cNvSpPr>
          <p:nvPr/>
        </p:nvSpPr>
        <p:spPr bwMode="auto">
          <a:xfrm>
            <a:off x="-6350" y="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roup 99"/>
          <p:cNvGrpSpPr/>
          <p:nvPr/>
        </p:nvGrpSpPr>
        <p:grpSpPr>
          <a:xfrm>
            <a:off x="2201333" y="2151591"/>
            <a:ext cx="76200" cy="3546475"/>
            <a:chOff x="770156" y="1852653"/>
            <a:chExt cx="76200" cy="3546475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101" name="Oval 100"/>
            <p:cNvSpPr/>
            <p:nvPr/>
          </p:nvSpPr>
          <p:spPr bwMode="auto">
            <a:xfrm>
              <a:off x="770156" y="532292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102" name="Oval 101"/>
            <p:cNvSpPr/>
            <p:nvPr/>
          </p:nvSpPr>
          <p:spPr bwMode="auto">
            <a:xfrm>
              <a:off x="770156" y="462887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103" name="Oval 102"/>
            <p:cNvSpPr/>
            <p:nvPr/>
          </p:nvSpPr>
          <p:spPr bwMode="auto">
            <a:xfrm>
              <a:off x="770156" y="393481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104" name="Oval 103"/>
            <p:cNvSpPr/>
            <p:nvPr/>
          </p:nvSpPr>
          <p:spPr bwMode="auto">
            <a:xfrm>
              <a:off x="770156" y="324076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105" name="Oval 104"/>
            <p:cNvSpPr/>
            <p:nvPr/>
          </p:nvSpPr>
          <p:spPr bwMode="auto">
            <a:xfrm>
              <a:off x="770156" y="254670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106" name="Oval 105"/>
            <p:cNvSpPr/>
            <p:nvPr/>
          </p:nvSpPr>
          <p:spPr bwMode="auto">
            <a:xfrm>
              <a:off x="770156" y="185265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946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Progress Graphs</a:t>
            </a:r>
          </a:p>
        </p:txBody>
      </p:sp>
      <p:sp>
        <p:nvSpPr>
          <p:cNvPr id="946179" name="Text Box 3"/>
          <p:cNvSpPr txBox="1">
            <a:spLocks noChangeArrowheads="1"/>
          </p:cNvSpPr>
          <p:nvPr/>
        </p:nvSpPr>
        <p:spPr bwMode="auto">
          <a:xfrm>
            <a:off x="5930900" y="1371600"/>
            <a:ext cx="2663037" cy="480131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A </a:t>
            </a:r>
            <a:r>
              <a:rPr lang="en-US" sz="1800" i="1" dirty="0">
                <a:solidFill>
                  <a:srgbClr val="C00000"/>
                </a:solidFill>
                <a:latin typeface="Calibri" pitchFamily="34" charset="0"/>
              </a:rPr>
              <a:t>progress graph</a:t>
            </a: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 </a:t>
            </a:r>
            <a:r>
              <a:rPr lang="en-US" sz="1800" dirty="0">
                <a:latin typeface="Calibri" pitchFamily="34" charset="0"/>
              </a:rPr>
              <a:t>depicts</a:t>
            </a:r>
          </a:p>
          <a:p>
            <a:r>
              <a:rPr lang="en-US" sz="1800" dirty="0">
                <a:latin typeface="Calibri" pitchFamily="34" charset="0"/>
              </a:rPr>
              <a:t>the discrete </a:t>
            </a:r>
            <a:r>
              <a:rPr lang="en-US" sz="1800" i="1" dirty="0">
                <a:solidFill>
                  <a:srgbClr val="C00000"/>
                </a:solidFill>
                <a:latin typeface="Calibri" pitchFamily="34" charset="0"/>
              </a:rPr>
              <a:t>execution </a:t>
            </a:r>
          </a:p>
          <a:p>
            <a:r>
              <a:rPr lang="en-US" sz="1800" i="1" dirty="0">
                <a:solidFill>
                  <a:srgbClr val="C00000"/>
                </a:solidFill>
                <a:latin typeface="Calibri" pitchFamily="34" charset="0"/>
              </a:rPr>
              <a:t>state space</a:t>
            </a:r>
            <a:r>
              <a:rPr lang="en-US" sz="1800" dirty="0">
                <a:latin typeface="Calibri" pitchFamily="34" charset="0"/>
              </a:rPr>
              <a:t> of concurrent</a:t>
            </a:r>
          </a:p>
          <a:p>
            <a:r>
              <a:rPr lang="en-US" sz="1800" dirty="0">
                <a:latin typeface="Calibri" pitchFamily="34" charset="0"/>
              </a:rPr>
              <a:t> threads.</a:t>
            </a:r>
          </a:p>
          <a:p>
            <a:endParaRPr lang="en-US" sz="1800" dirty="0">
              <a:latin typeface="Calibri" pitchFamily="34" charset="0"/>
            </a:endParaRPr>
          </a:p>
          <a:p>
            <a:r>
              <a:rPr lang="en-US" sz="1800" dirty="0">
                <a:latin typeface="Calibri" pitchFamily="34" charset="0"/>
              </a:rPr>
              <a:t>Each axis corresponds to</a:t>
            </a:r>
          </a:p>
          <a:p>
            <a:r>
              <a:rPr lang="en-US" sz="1800" dirty="0">
                <a:latin typeface="Calibri" pitchFamily="34" charset="0"/>
              </a:rPr>
              <a:t>the sequential order of</a:t>
            </a:r>
          </a:p>
          <a:p>
            <a:r>
              <a:rPr lang="en-US" sz="1800" dirty="0">
                <a:latin typeface="Calibri" pitchFamily="34" charset="0"/>
              </a:rPr>
              <a:t>instructions in a thread.</a:t>
            </a:r>
          </a:p>
          <a:p>
            <a:endParaRPr lang="en-US" sz="1800" dirty="0">
              <a:latin typeface="Calibri" pitchFamily="34" charset="0"/>
            </a:endParaRPr>
          </a:p>
          <a:p>
            <a:r>
              <a:rPr lang="en-US" sz="1800" dirty="0">
                <a:latin typeface="Calibri" pitchFamily="34" charset="0"/>
              </a:rPr>
              <a:t>Each point corresponds to</a:t>
            </a:r>
          </a:p>
          <a:p>
            <a:r>
              <a:rPr lang="en-US" sz="1800" dirty="0">
                <a:latin typeface="Calibri" pitchFamily="34" charset="0"/>
              </a:rPr>
              <a:t>a possible </a:t>
            </a:r>
            <a:r>
              <a:rPr lang="en-US" sz="1800" i="1" dirty="0">
                <a:solidFill>
                  <a:srgbClr val="C00000"/>
                </a:solidFill>
                <a:latin typeface="Calibri" pitchFamily="34" charset="0"/>
              </a:rPr>
              <a:t>execution state</a:t>
            </a:r>
            <a:endParaRPr lang="en-US" sz="1800" dirty="0">
              <a:solidFill>
                <a:srgbClr val="C00000"/>
              </a:solidFill>
              <a:latin typeface="Calibri" pitchFamily="34" charset="0"/>
            </a:endParaRPr>
          </a:p>
          <a:p>
            <a:r>
              <a:rPr lang="en-US" sz="1800" dirty="0">
                <a:latin typeface="Calibri" pitchFamily="34" charset="0"/>
              </a:rPr>
              <a:t>(Inst</a:t>
            </a:r>
            <a:r>
              <a:rPr lang="en-US" sz="1800" baseline="-25000" dirty="0">
                <a:latin typeface="Calibri" pitchFamily="34" charset="0"/>
              </a:rPr>
              <a:t>1</a:t>
            </a:r>
            <a:r>
              <a:rPr lang="en-US" sz="1800" dirty="0">
                <a:latin typeface="Calibri" pitchFamily="34" charset="0"/>
              </a:rPr>
              <a:t>, Inst</a:t>
            </a:r>
            <a:r>
              <a:rPr lang="en-US" sz="1800" baseline="-25000" dirty="0">
                <a:latin typeface="Calibri" pitchFamily="34" charset="0"/>
              </a:rPr>
              <a:t>2</a:t>
            </a:r>
            <a:r>
              <a:rPr lang="en-US" sz="1800" dirty="0">
                <a:latin typeface="Calibri" pitchFamily="34" charset="0"/>
              </a:rPr>
              <a:t>).</a:t>
            </a:r>
          </a:p>
          <a:p>
            <a:endParaRPr lang="en-US" sz="1800" dirty="0">
              <a:latin typeface="Calibri" pitchFamily="34" charset="0"/>
            </a:endParaRPr>
          </a:p>
          <a:p>
            <a:r>
              <a:rPr lang="en-US" sz="1800" dirty="0">
                <a:latin typeface="Calibri" pitchFamily="34" charset="0"/>
              </a:rPr>
              <a:t>E.g., </a:t>
            </a: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(L</a:t>
            </a:r>
            <a:r>
              <a:rPr lang="en-US" sz="1800" baseline="-25000" dirty="0">
                <a:solidFill>
                  <a:srgbClr val="C00000"/>
                </a:solidFill>
                <a:latin typeface="Calibri" pitchFamily="34" charset="0"/>
              </a:rPr>
              <a:t>1</a:t>
            </a: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, S</a:t>
            </a:r>
            <a:r>
              <a:rPr lang="en-US" sz="1800" baseline="-25000" dirty="0">
                <a:solidFill>
                  <a:srgbClr val="C00000"/>
                </a:solidFill>
                <a:latin typeface="Calibri" pitchFamily="34" charset="0"/>
              </a:rPr>
              <a:t>2</a:t>
            </a: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)  </a:t>
            </a:r>
            <a:r>
              <a:rPr lang="en-US" sz="1800" dirty="0">
                <a:latin typeface="Calibri" pitchFamily="34" charset="0"/>
              </a:rPr>
              <a:t>denotes state</a:t>
            </a:r>
          </a:p>
          <a:p>
            <a:r>
              <a:rPr lang="en-US" sz="1800" dirty="0">
                <a:latin typeface="Calibri" pitchFamily="34" charset="0"/>
              </a:rPr>
              <a:t>where  thread 1 has</a:t>
            </a:r>
          </a:p>
          <a:p>
            <a:r>
              <a:rPr lang="en-US" sz="1800" dirty="0">
                <a:latin typeface="Calibri" pitchFamily="34" charset="0"/>
              </a:rPr>
              <a:t>completed L</a:t>
            </a:r>
            <a:r>
              <a:rPr lang="en-US" sz="1800" baseline="-25000" dirty="0">
                <a:latin typeface="Calibri" pitchFamily="34" charset="0"/>
              </a:rPr>
              <a:t>1</a:t>
            </a:r>
            <a:r>
              <a:rPr lang="en-US" sz="1800" dirty="0">
                <a:latin typeface="Calibri" pitchFamily="34" charset="0"/>
              </a:rPr>
              <a:t> and thread</a:t>
            </a:r>
          </a:p>
          <a:p>
            <a:r>
              <a:rPr lang="en-US" sz="1800" dirty="0">
                <a:latin typeface="Calibri" pitchFamily="34" charset="0"/>
              </a:rPr>
              <a:t>2 has completed S</a:t>
            </a:r>
            <a:r>
              <a:rPr lang="en-US" sz="1800" baseline="-25000" dirty="0">
                <a:latin typeface="Calibri" pitchFamily="34" charset="0"/>
              </a:rPr>
              <a:t>2</a:t>
            </a:r>
            <a:r>
              <a:rPr lang="en-US" sz="1800" dirty="0">
                <a:latin typeface="Calibri" pitchFamily="34" charset="0"/>
              </a:rPr>
              <a:t>.</a:t>
            </a:r>
          </a:p>
        </p:txBody>
      </p:sp>
      <p:sp>
        <p:nvSpPr>
          <p:cNvPr id="946180" name="Line 4"/>
          <p:cNvSpPr>
            <a:spLocks noChangeAspect="1" noChangeShapeType="1"/>
          </p:cNvSpPr>
          <p:nvPr/>
        </p:nvSpPr>
        <p:spPr bwMode="auto">
          <a:xfrm flipV="1">
            <a:off x="811213" y="5664200"/>
            <a:ext cx="381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 sz="2000" dirty="0">
              <a:latin typeface="Calibri" pitchFamily="34" charset="0"/>
            </a:endParaRPr>
          </a:p>
        </p:txBody>
      </p:sp>
      <p:sp>
        <p:nvSpPr>
          <p:cNvPr id="946181" name="Line 5"/>
          <p:cNvSpPr>
            <a:spLocks noChangeAspect="1" noChangeShapeType="1"/>
          </p:cNvSpPr>
          <p:nvPr/>
        </p:nvSpPr>
        <p:spPr bwMode="auto">
          <a:xfrm flipH="1" flipV="1">
            <a:off x="811213" y="1824038"/>
            <a:ext cx="0" cy="38401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 sz="2000" dirty="0">
              <a:latin typeface="Calibri" pitchFamily="34" charset="0"/>
            </a:endParaRPr>
          </a:p>
        </p:txBody>
      </p:sp>
      <p:sp>
        <p:nvSpPr>
          <p:cNvPr id="946182" name="Text Box 6"/>
          <p:cNvSpPr txBox="1">
            <a:spLocks noChangeAspect="1" noChangeArrowheads="1"/>
          </p:cNvSpPr>
          <p:nvPr/>
        </p:nvSpPr>
        <p:spPr bwMode="auto">
          <a:xfrm>
            <a:off x="965200" y="5667375"/>
            <a:ext cx="433132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>
                <a:latin typeface="Calibri" pitchFamily="34" charset="0"/>
              </a:rPr>
              <a:t>H</a:t>
            </a:r>
            <a:r>
              <a:rPr lang="en-US" sz="2000" baseline="-25000" dirty="0">
                <a:latin typeface="Calibri" pitchFamily="34" charset="0"/>
              </a:rPr>
              <a:t>1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946183" name="Text Box 7"/>
          <p:cNvSpPr txBox="1">
            <a:spLocks noChangeAspect="1" noChangeArrowheads="1"/>
          </p:cNvSpPr>
          <p:nvPr/>
        </p:nvSpPr>
        <p:spPr bwMode="auto">
          <a:xfrm>
            <a:off x="1662113" y="5667375"/>
            <a:ext cx="380232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>
                <a:latin typeface="Calibri" pitchFamily="34" charset="0"/>
              </a:rPr>
              <a:t>L</a:t>
            </a:r>
            <a:r>
              <a:rPr lang="en-US" sz="2000" baseline="-25000" dirty="0">
                <a:latin typeface="Calibri" pitchFamily="34" charset="0"/>
              </a:rPr>
              <a:t>1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946184" name="Text Box 8"/>
          <p:cNvSpPr txBox="1">
            <a:spLocks noChangeAspect="1" noChangeArrowheads="1"/>
          </p:cNvSpPr>
          <p:nvPr/>
        </p:nvSpPr>
        <p:spPr bwMode="auto">
          <a:xfrm>
            <a:off x="2362200" y="5667375"/>
            <a:ext cx="437940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>
                <a:latin typeface="Calibri" pitchFamily="34" charset="0"/>
              </a:rPr>
              <a:t>U</a:t>
            </a:r>
            <a:r>
              <a:rPr lang="en-US" sz="2000" baseline="-25000" dirty="0">
                <a:latin typeface="Calibri" pitchFamily="34" charset="0"/>
              </a:rPr>
              <a:t>1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946185" name="Text Box 9"/>
          <p:cNvSpPr txBox="1">
            <a:spLocks noChangeAspect="1" noChangeArrowheads="1"/>
          </p:cNvSpPr>
          <p:nvPr/>
        </p:nvSpPr>
        <p:spPr bwMode="auto">
          <a:xfrm>
            <a:off x="3079750" y="5667375"/>
            <a:ext cx="393056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>
                <a:latin typeface="Calibri" pitchFamily="34" charset="0"/>
              </a:rPr>
              <a:t>S</a:t>
            </a:r>
            <a:r>
              <a:rPr lang="en-US" sz="2000" baseline="-25000" dirty="0">
                <a:latin typeface="Calibri" pitchFamily="34" charset="0"/>
              </a:rPr>
              <a:t>1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946186" name="Text Box 10"/>
          <p:cNvSpPr txBox="1">
            <a:spLocks noChangeAspect="1" noChangeArrowheads="1"/>
          </p:cNvSpPr>
          <p:nvPr/>
        </p:nvSpPr>
        <p:spPr bwMode="auto">
          <a:xfrm>
            <a:off x="3805238" y="5667375"/>
            <a:ext cx="397866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>
                <a:latin typeface="Calibri" pitchFamily="34" charset="0"/>
              </a:rPr>
              <a:t>T</a:t>
            </a:r>
            <a:r>
              <a:rPr lang="en-US" sz="2000" baseline="-25000" dirty="0">
                <a:latin typeface="Calibri" pitchFamily="34" charset="0"/>
              </a:rPr>
              <a:t>1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946187" name="Text Box 11"/>
          <p:cNvSpPr txBox="1">
            <a:spLocks noChangeAspect="1" noChangeArrowheads="1"/>
          </p:cNvSpPr>
          <p:nvPr/>
        </p:nvSpPr>
        <p:spPr bwMode="auto">
          <a:xfrm>
            <a:off x="430213" y="5108575"/>
            <a:ext cx="433132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>
                <a:latin typeface="Calibri" pitchFamily="34" charset="0"/>
              </a:rPr>
              <a:t>H</a:t>
            </a:r>
            <a:r>
              <a:rPr lang="en-US" sz="2000" baseline="-25000" dirty="0">
                <a:latin typeface="Calibri" pitchFamily="34" charset="0"/>
              </a:rPr>
              <a:t>2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946188" name="Text Box 12"/>
          <p:cNvSpPr txBox="1">
            <a:spLocks noChangeAspect="1" noChangeArrowheads="1"/>
          </p:cNvSpPr>
          <p:nvPr/>
        </p:nvSpPr>
        <p:spPr bwMode="auto">
          <a:xfrm>
            <a:off x="458788" y="4413250"/>
            <a:ext cx="380232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>
                <a:latin typeface="Calibri" pitchFamily="34" charset="0"/>
              </a:rPr>
              <a:t>L</a:t>
            </a:r>
            <a:r>
              <a:rPr lang="en-US" sz="2000" baseline="-25000" dirty="0">
                <a:latin typeface="Calibri" pitchFamily="34" charset="0"/>
              </a:rPr>
              <a:t>2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946189" name="Text Box 13"/>
          <p:cNvSpPr txBox="1">
            <a:spLocks noChangeAspect="1" noChangeArrowheads="1"/>
          </p:cNvSpPr>
          <p:nvPr/>
        </p:nvSpPr>
        <p:spPr bwMode="auto">
          <a:xfrm>
            <a:off x="430213" y="3692525"/>
            <a:ext cx="437940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>
                <a:latin typeface="Calibri" pitchFamily="34" charset="0"/>
              </a:rPr>
              <a:t>U</a:t>
            </a:r>
            <a:r>
              <a:rPr lang="en-US" sz="2000" baseline="-25000" dirty="0">
                <a:latin typeface="Calibri" pitchFamily="34" charset="0"/>
              </a:rPr>
              <a:t>2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946190" name="Text Box 14"/>
          <p:cNvSpPr txBox="1">
            <a:spLocks noChangeAspect="1" noChangeArrowheads="1"/>
          </p:cNvSpPr>
          <p:nvPr/>
        </p:nvSpPr>
        <p:spPr bwMode="auto">
          <a:xfrm>
            <a:off x="441325" y="3011488"/>
            <a:ext cx="393056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>
                <a:latin typeface="Calibri" pitchFamily="34" charset="0"/>
              </a:rPr>
              <a:t>S</a:t>
            </a:r>
            <a:r>
              <a:rPr lang="en-US" sz="2000" baseline="-25000" dirty="0">
                <a:latin typeface="Calibri" pitchFamily="34" charset="0"/>
              </a:rPr>
              <a:t>2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946191" name="Text Box 15"/>
          <p:cNvSpPr txBox="1">
            <a:spLocks noChangeAspect="1" noChangeArrowheads="1"/>
          </p:cNvSpPr>
          <p:nvPr/>
        </p:nvSpPr>
        <p:spPr bwMode="auto">
          <a:xfrm>
            <a:off x="452438" y="2292350"/>
            <a:ext cx="397866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>
                <a:latin typeface="Calibri" pitchFamily="34" charset="0"/>
              </a:rPr>
              <a:t>T</a:t>
            </a:r>
            <a:r>
              <a:rPr lang="en-US" sz="2000" baseline="-25000" dirty="0">
                <a:latin typeface="Calibri" pitchFamily="34" charset="0"/>
              </a:rPr>
              <a:t>2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946217" name="Text Box 41"/>
          <p:cNvSpPr txBox="1">
            <a:spLocks noChangeAspect="1" noChangeArrowheads="1"/>
          </p:cNvSpPr>
          <p:nvPr/>
        </p:nvSpPr>
        <p:spPr bwMode="auto">
          <a:xfrm>
            <a:off x="4600575" y="5495925"/>
            <a:ext cx="1119537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2000" dirty="0">
                <a:latin typeface="Calibri" pitchFamily="34" charset="0"/>
              </a:rPr>
              <a:t>Thread 1</a:t>
            </a:r>
          </a:p>
        </p:txBody>
      </p:sp>
      <p:sp>
        <p:nvSpPr>
          <p:cNvPr id="946218" name="Text Box 42"/>
          <p:cNvSpPr txBox="1">
            <a:spLocks noChangeAspect="1" noChangeArrowheads="1"/>
          </p:cNvSpPr>
          <p:nvPr/>
        </p:nvSpPr>
        <p:spPr bwMode="auto">
          <a:xfrm>
            <a:off x="255574" y="1395453"/>
            <a:ext cx="1119537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2000" dirty="0">
                <a:latin typeface="Calibri" pitchFamily="34" charset="0"/>
              </a:rPr>
              <a:t>Thread 2</a:t>
            </a:r>
          </a:p>
        </p:txBody>
      </p:sp>
      <p:grpSp>
        <p:nvGrpSpPr>
          <p:cNvPr id="62" name="Group 61"/>
          <p:cNvGrpSpPr/>
          <p:nvPr/>
        </p:nvGrpSpPr>
        <p:grpSpPr>
          <a:xfrm>
            <a:off x="770156" y="2141578"/>
            <a:ext cx="76200" cy="3546475"/>
            <a:chOff x="770156" y="1852653"/>
            <a:chExt cx="76200" cy="3546475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56" name="Oval 55"/>
            <p:cNvSpPr/>
            <p:nvPr/>
          </p:nvSpPr>
          <p:spPr bwMode="auto">
            <a:xfrm>
              <a:off x="770156" y="532292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57" name="Oval 56"/>
            <p:cNvSpPr/>
            <p:nvPr/>
          </p:nvSpPr>
          <p:spPr bwMode="auto">
            <a:xfrm>
              <a:off x="770156" y="462887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58" name="Oval 57"/>
            <p:cNvSpPr/>
            <p:nvPr/>
          </p:nvSpPr>
          <p:spPr bwMode="auto">
            <a:xfrm>
              <a:off x="770156" y="393481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59" name="Oval 58"/>
            <p:cNvSpPr/>
            <p:nvPr/>
          </p:nvSpPr>
          <p:spPr bwMode="auto">
            <a:xfrm>
              <a:off x="770156" y="324076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60" name="Oval 59"/>
            <p:cNvSpPr/>
            <p:nvPr/>
          </p:nvSpPr>
          <p:spPr bwMode="auto">
            <a:xfrm>
              <a:off x="770156" y="254670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61" name="Oval 60"/>
            <p:cNvSpPr/>
            <p:nvPr/>
          </p:nvSpPr>
          <p:spPr bwMode="auto">
            <a:xfrm>
              <a:off x="770156" y="185265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1484805" y="2152650"/>
            <a:ext cx="76200" cy="3546475"/>
            <a:chOff x="770156" y="1852653"/>
            <a:chExt cx="76200" cy="3546475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64" name="Oval 63"/>
            <p:cNvSpPr/>
            <p:nvPr/>
          </p:nvSpPr>
          <p:spPr bwMode="auto">
            <a:xfrm>
              <a:off x="770156" y="532292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Oval 64"/>
            <p:cNvSpPr/>
            <p:nvPr/>
          </p:nvSpPr>
          <p:spPr bwMode="auto">
            <a:xfrm>
              <a:off x="770156" y="462887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66" name="Oval 65"/>
            <p:cNvSpPr/>
            <p:nvPr/>
          </p:nvSpPr>
          <p:spPr bwMode="auto">
            <a:xfrm>
              <a:off x="770156" y="393481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Oval 66"/>
            <p:cNvSpPr/>
            <p:nvPr/>
          </p:nvSpPr>
          <p:spPr bwMode="auto">
            <a:xfrm>
              <a:off x="770156" y="324076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68" name="Oval 67"/>
            <p:cNvSpPr/>
            <p:nvPr/>
          </p:nvSpPr>
          <p:spPr bwMode="auto">
            <a:xfrm>
              <a:off x="770156" y="254670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69" name="Oval 68"/>
            <p:cNvSpPr/>
            <p:nvPr/>
          </p:nvSpPr>
          <p:spPr bwMode="auto">
            <a:xfrm>
              <a:off x="770156" y="185265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2199454" y="2152650"/>
            <a:ext cx="76200" cy="3546475"/>
            <a:chOff x="770156" y="1852653"/>
            <a:chExt cx="76200" cy="3546475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71" name="Oval 70"/>
            <p:cNvSpPr/>
            <p:nvPr/>
          </p:nvSpPr>
          <p:spPr bwMode="auto">
            <a:xfrm>
              <a:off x="770156" y="532292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Oval 71"/>
            <p:cNvSpPr/>
            <p:nvPr/>
          </p:nvSpPr>
          <p:spPr bwMode="auto">
            <a:xfrm>
              <a:off x="770156" y="462887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Oval 72"/>
            <p:cNvSpPr/>
            <p:nvPr/>
          </p:nvSpPr>
          <p:spPr bwMode="auto">
            <a:xfrm>
              <a:off x="770156" y="393481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74" name="Oval 73"/>
            <p:cNvSpPr/>
            <p:nvPr/>
          </p:nvSpPr>
          <p:spPr bwMode="auto">
            <a:xfrm>
              <a:off x="770156" y="324076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75" name="Oval 74"/>
            <p:cNvSpPr/>
            <p:nvPr/>
          </p:nvSpPr>
          <p:spPr bwMode="auto">
            <a:xfrm>
              <a:off x="770156" y="2546708"/>
              <a:ext cx="76200" cy="76200"/>
            </a:xfrm>
            <a:prstGeom prst="ellipse">
              <a:avLst/>
            </a:prstGeom>
            <a:solidFill>
              <a:srgbClr val="C00000"/>
            </a:solidFill>
            <a:ln w="25400">
              <a:solidFill>
                <a:srgbClr val="C00000"/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76" name="Oval 75"/>
            <p:cNvSpPr/>
            <p:nvPr/>
          </p:nvSpPr>
          <p:spPr bwMode="auto">
            <a:xfrm>
              <a:off x="770156" y="185265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2914103" y="2152650"/>
            <a:ext cx="76200" cy="3546475"/>
            <a:chOff x="770156" y="1852653"/>
            <a:chExt cx="76200" cy="3546475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78" name="Oval 77"/>
            <p:cNvSpPr/>
            <p:nvPr/>
          </p:nvSpPr>
          <p:spPr bwMode="auto">
            <a:xfrm>
              <a:off x="770156" y="532292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Oval 78"/>
            <p:cNvSpPr/>
            <p:nvPr/>
          </p:nvSpPr>
          <p:spPr bwMode="auto">
            <a:xfrm>
              <a:off x="770156" y="462887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Oval 79"/>
            <p:cNvSpPr/>
            <p:nvPr/>
          </p:nvSpPr>
          <p:spPr bwMode="auto">
            <a:xfrm>
              <a:off x="770156" y="393481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Oval 80"/>
            <p:cNvSpPr/>
            <p:nvPr/>
          </p:nvSpPr>
          <p:spPr bwMode="auto">
            <a:xfrm>
              <a:off x="770156" y="324076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Oval 81"/>
            <p:cNvSpPr/>
            <p:nvPr/>
          </p:nvSpPr>
          <p:spPr bwMode="auto">
            <a:xfrm>
              <a:off x="770156" y="254670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83" name="Oval 82"/>
            <p:cNvSpPr/>
            <p:nvPr/>
          </p:nvSpPr>
          <p:spPr bwMode="auto">
            <a:xfrm>
              <a:off x="770156" y="185265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84" name="Group 83"/>
          <p:cNvGrpSpPr/>
          <p:nvPr/>
        </p:nvGrpSpPr>
        <p:grpSpPr>
          <a:xfrm>
            <a:off x="3628752" y="2152650"/>
            <a:ext cx="76200" cy="3546475"/>
            <a:chOff x="770156" y="1852653"/>
            <a:chExt cx="76200" cy="3546475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85" name="Oval 84"/>
            <p:cNvSpPr/>
            <p:nvPr/>
          </p:nvSpPr>
          <p:spPr bwMode="auto">
            <a:xfrm>
              <a:off x="770156" y="532292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86" name="Oval 85"/>
            <p:cNvSpPr/>
            <p:nvPr/>
          </p:nvSpPr>
          <p:spPr bwMode="auto">
            <a:xfrm>
              <a:off x="770156" y="462887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87" name="Oval 86"/>
            <p:cNvSpPr/>
            <p:nvPr/>
          </p:nvSpPr>
          <p:spPr bwMode="auto">
            <a:xfrm>
              <a:off x="770156" y="393481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88" name="Oval 87"/>
            <p:cNvSpPr/>
            <p:nvPr/>
          </p:nvSpPr>
          <p:spPr bwMode="auto">
            <a:xfrm>
              <a:off x="770156" y="324076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89" name="Oval 88"/>
            <p:cNvSpPr/>
            <p:nvPr/>
          </p:nvSpPr>
          <p:spPr bwMode="auto">
            <a:xfrm>
              <a:off x="770156" y="254670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90" name="Oval 89"/>
            <p:cNvSpPr/>
            <p:nvPr/>
          </p:nvSpPr>
          <p:spPr bwMode="auto">
            <a:xfrm>
              <a:off x="770156" y="185265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91" name="Group 90"/>
          <p:cNvGrpSpPr/>
          <p:nvPr/>
        </p:nvGrpSpPr>
        <p:grpSpPr>
          <a:xfrm>
            <a:off x="4343400" y="2152650"/>
            <a:ext cx="76200" cy="3546475"/>
            <a:chOff x="770156" y="1852653"/>
            <a:chExt cx="76200" cy="3546475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92" name="Oval 91"/>
            <p:cNvSpPr/>
            <p:nvPr/>
          </p:nvSpPr>
          <p:spPr bwMode="auto">
            <a:xfrm>
              <a:off x="770156" y="532292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93" name="Oval 92"/>
            <p:cNvSpPr/>
            <p:nvPr/>
          </p:nvSpPr>
          <p:spPr bwMode="auto">
            <a:xfrm>
              <a:off x="770156" y="462887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94" name="Oval 93"/>
            <p:cNvSpPr/>
            <p:nvPr/>
          </p:nvSpPr>
          <p:spPr bwMode="auto">
            <a:xfrm>
              <a:off x="770156" y="393481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95" name="Oval 94"/>
            <p:cNvSpPr/>
            <p:nvPr/>
          </p:nvSpPr>
          <p:spPr bwMode="auto">
            <a:xfrm>
              <a:off x="770156" y="324076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96" name="Oval 95"/>
            <p:cNvSpPr/>
            <p:nvPr/>
          </p:nvSpPr>
          <p:spPr bwMode="auto">
            <a:xfrm>
              <a:off x="770156" y="254670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97" name="Oval 96"/>
            <p:cNvSpPr/>
            <p:nvPr/>
          </p:nvSpPr>
          <p:spPr bwMode="auto">
            <a:xfrm>
              <a:off x="770156" y="185265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98" name="Rectangle 97"/>
          <p:cNvSpPr/>
          <p:nvPr/>
        </p:nvSpPr>
        <p:spPr>
          <a:xfrm>
            <a:off x="1713047" y="2373968"/>
            <a:ext cx="10791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alibri" pitchFamily="34" charset="0"/>
              </a:rPr>
              <a:t>(L</a:t>
            </a:r>
            <a:r>
              <a:rPr lang="en-US" baseline="-25000" dirty="0">
                <a:solidFill>
                  <a:srgbClr val="C00000"/>
                </a:solidFill>
                <a:latin typeface="Calibri" pitchFamily="34" charset="0"/>
              </a:rPr>
              <a:t>1</a:t>
            </a:r>
            <a:r>
              <a:rPr lang="en-US" dirty="0">
                <a:solidFill>
                  <a:srgbClr val="C00000"/>
                </a:solidFill>
                <a:latin typeface="Calibri" pitchFamily="34" charset="0"/>
              </a:rPr>
              <a:t>, S</a:t>
            </a:r>
            <a:r>
              <a:rPr lang="en-US" baseline="-25000" dirty="0">
                <a:solidFill>
                  <a:srgbClr val="C00000"/>
                </a:solidFill>
                <a:latin typeface="Calibri" pitchFamily="34" charset="0"/>
              </a:rPr>
              <a:t>2</a:t>
            </a:r>
            <a:r>
              <a:rPr lang="en-US" dirty="0">
                <a:solidFill>
                  <a:srgbClr val="C00000"/>
                </a:solidFill>
                <a:latin typeface="Calibri" pitchFamily="34" charset="0"/>
              </a:rPr>
              <a:t>) 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96F15A-CED4-773B-AB71-71F0CCCA0D51}"/>
              </a:ext>
            </a:extLst>
          </p:cNvPr>
          <p:cNvSpPr>
            <a:spLocks/>
          </p:cNvSpPr>
          <p:nvPr/>
        </p:nvSpPr>
        <p:spPr bwMode="auto">
          <a:xfrm>
            <a:off x="0" y="6636634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B7BE8B-D3FF-0377-B645-1D1A550AD2C9}"/>
              </a:ext>
            </a:extLst>
          </p:cNvPr>
          <p:cNvSpPr>
            <a:spLocks/>
          </p:cNvSpPr>
          <p:nvPr/>
        </p:nvSpPr>
        <p:spPr bwMode="auto">
          <a:xfrm>
            <a:off x="-6350" y="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Trajectories in Progress Graphs</a:t>
            </a:r>
          </a:p>
        </p:txBody>
      </p:sp>
      <p:sp>
        <p:nvSpPr>
          <p:cNvPr id="948227" name="Text Box 3"/>
          <p:cNvSpPr txBox="1">
            <a:spLocks noChangeArrowheads="1"/>
          </p:cNvSpPr>
          <p:nvPr/>
        </p:nvSpPr>
        <p:spPr bwMode="auto">
          <a:xfrm>
            <a:off x="5257800" y="1686698"/>
            <a:ext cx="3810000" cy="218521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A </a:t>
            </a:r>
            <a:r>
              <a:rPr lang="en-US" sz="1800" i="1" dirty="0">
                <a:solidFill>
                  <a:srgbClr val="C00000"/>
                </a:solidFill>
                <a:latin typeface="Calibri" pitchFamily="34" charset="0"/>
              </a:rPr>
              <a:t>trajectory</a:t>
            </a:r>
            <a:r>
              <a:rPr lang="en-US" sz="1800" dirty="0">
                <a:latin typeface="Calibri" pitchFamily="34" charset="0"/>
              </a:rPr>
              <a:t> is a sequence of legal state transitions that describes one possible concurrent execution of the threads.</a:t>
            </a:r>
          </a:p>
          <a:p>
            <a:endParaRPr lang="en-US" sz="1800" dirty="0">
              <a:latin typeface="Calibri" pitchFamily="34" charset="0"/>
            </a:endParaRPr>
          </a:p>
          <a:p>
            <a:r>
              <a:rPr lang="en-US" sz="1800" dirty="0">
                <a:latin typeface="Calibri" pitchFamily="34" charset="0"/>
              </a:rPr>
              <a:t>Example:</a:t>
            </a:r>
          </a:p>
          <a:p>
            <a:pPr>
              <a:spcBef>
                <a:spcPts val="1200"/>
              </a:spcBef>
            </a:pPr>
            <a:r>
              <a:rPr lang="en-US" sz="1800" dirty="0">
                <a:latin typeface="Calibri" pitchFamily="34" charset="0"/>
              </a:rPr>
              <a:t>H1, L1, U1, H2, L2,  S1, T1, U2, S2, T2</a:t>
            </a:r>
          </a:p>
        </p:txBody>
      </p:sp>
      <p:sp>
        <p:nvSpPr>
          <p:cNvPr id="64" name="Line 4"/>
          <p:cNvSpPr>
            <a:spLocks noChangeAspect="1" noChangeShapeType="1"/>
          </p:cNvSpPr>
          <p:nvPr/>
        </p:nvSpPr>
        <p:spPr bwMode="auto">
          <a:xfrm flipV="1">
            <a:off x="942599" y="5664200"/>
            <a:ext cx="381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 sz="2000" dirty="0">
              <a:latin typeface="Calibri" pitchFamily="34" charset="0"/>
            </a:endParaRPr>
          </a:p>
        </p:txBody>
      </p:sp>
      <p:sp>
        <p:nvSpPr>
          <p:cNvPr id="65" name="Line 5"/>
          <p:cNvSpPr>
            <a:spLocks noChangeAspect="1" noChangeShapeType="1"/>
          </p:cNvSpPr>
          <p:nvPr/>
        </p:nvSpPr>
        <p:spPr bwMode="auto">
          <a:xfrm flipH="1" flipV="1">
            <a:off x="942599" y="1824038"/>
            <a:ext cx="0" cy="38401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 sz="2000" dirty="0">
              <a:latin typeface="Calibri" pitchFamily="34" charset="0"/>
            </a:endParaRPr>
          </a:p>
        </p:txBody>
      </p:sp>
      <p:sp>
        <p:nvSpPr>
          <p:cNvPr id="66" name="Text Box 6"/>
          <p:cNvSpPr txBox="1">
            <a:spLocks noChangeAspect="1" noChangeArrowheads="1"/>
          </p:cNvSpPr>
          <p:nvPr/>
        </p:nvSpPr>
        <p:spPr bwMode="auto">
          <a:xfrm>
            <a:off x="1096586" y="5667375"/>
            <a:ext cx="433132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>
                <a:latin typeface="Calibri" pitchFamily="34" charset="0"/>
              </a:rPr>
              <a:t>H</a:t>
            </a:r>
            <a:r>
              <a:rPr lang="en-US" sz="2000" baseline="-25000" dirty="0">
                <a:latin typeface="Calibri" pitchFamily="34" charset="0"/>
              </a:rPr>
              <a:t>1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67" name="Text Box 7"/>
          <p:cNvSpPr txBox="1">
            <a:spLocks noChangeAspect="1" noChangeArrowheads="1"/>
          </p:cNvSpPr>
          <p:nvPr/>
        </p:nvSpPr>
        <p:spPr bwMode="auto">
          <a:xfrm>
            <a:off x="1793499" y="5667375"/>
            <a:ext cx="380232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>
                <a:latin typeface="Calibri" pitchFamily="34" charset="0"/>
              </a:rPr>
              <a:t>L</a:t>
            </a:r>
            <a:r>
              <a:rPr lang="en-US" sz="2000" baseline="-25000" dirty="0">
                <a:latin typeface="Calibri" pitchFamily="34" charset="0"/>
              </a:rPr>
              <a:t>1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68" name="Text Box 8"/>
          <p:cNvSpPr txBox="1">
            <a:spLocks noChangeAspect="1" noChangeArrowheads="1"/>
          </p:cNvSpPr>
          <p:nvPr/>
        </p:nvSpPr>
        <p:spPr bwMode="auto">
          <a:xfrm>
            <a:off x="2493586" y="5667375"/>
            <a:ext cx="437940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>
                <a:latin typeface="Calibri" pitchFamily="34" charset="0"/>
              </a:rPr>
              <a:t>U</a:t>
            </a:r>
            <a:r>
              <a:rPr lang="en-US" sz="2000" baseline="-25000" dirty="0">
                <a:latin typeface="Calibri" pitchFamily="34" charset="0"/>
              </a:rPr>
              <a:t>1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69" name="Text Box 9"/>
          <p:cNvSpPr txBox="1">
            <a:spLocks noChangeAspect="1" noChangeArrowheads="1"/>
          </p:cNvSpPr>
          <p:nvPr/>
        </p:nvSpPr>
        <p:spPr bwMode="auto">
          <a:xfrm>
            <a:off x="3211136" y="5667375"/>
            <a:ext cx="393056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>
                <a:latin typeface="Calibri" pitchFamily="34" charset="0"/>
              </a:rPr>
              <a:t>S</a:t>
            </a:r>
            <a:r>
              <a:rPr lang="en-US" sz="2000" baseline="-25000" dirty="0">
                <a:latin typeface="Calibri" pitchFamily="34" charset="0"/>
              </a:rPr>
              <a:t>1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70" name="Text Box 10"/>
          <p:cNvSpPr txBox="1">
            <a:spLocks noChangeAspect="1" noChangeArrowheads="1"/>
          </p:cNvSpPr>
          <p:nvPr/>
        </p:nvSpPr>
        <p:spPr bwMode="auto">
          <a:xfrm>
            <a:off x="3936624" y="5667375"/>
            <a:ext cx="397866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>
                <a:latin typeface="Calibri" pitchFamily="34" charset="0"/>
              </a:rPr>
              <a:t>T</a:t>
            </a:r>
            <a:r>
              <a:rPr lang="en-US" sz="2000" baseline="-25000" dirty="0">
                <a:latin typeface="Calibri" pitchFamily="34" charset="0"/>
              </a:rPr>
              <a:t>1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71" name="Text Box 11"/>
          <p:cNvSpPr txBox="1">
            <a:spLocks noChangeAspect="1" noChangeArrowheads="1"/>
          </p:cNvSpPr>
          <p:nvPr/>
        </p:nvSpPr>
        <p:spPr bwMode="auto">
          <a:xfrm>
            <a:off x="561599" y="5108575"/>
            <a:ext cx="433132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>
                <a:latin typeface="Calibri" pitchFamily="34" charset="0"/>
              </a:rPr>
              <a:t>H</a:t>
            </a:r>
            <a:r>
              <a:rPr lang="en-US" sz="2000" baseline="-25000" dirty="0">
                <a:latin typeface="Calibri" pitchFamily="34" charset="0"/>
              </a:rPr>
              <a:t>2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72" name="Text Box 12"/>
          <p:cNvSpPr txBox="1">
            <a:spLocks noChangeAspect="1" noChangeArrowheads="1"/>
          </p:cNvSpPr>
          <p:nvPr/>
        </p:nvSpPr>
        <p:spPr bwMode="auto">
          <a:xfrm>
            <a:off x="590174" y="4413250"/>
            <a:ext cx="380232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>
                <a:latin typeface="Calibri" pitchFamily="34" charset="0"/>
              </a:rPr>
              <a:t>L</a:t>
            </a:r>
            <a:r>
              <a:rPr lang="en-US" sz="2000" baseline="-25000" dirty="0">
                <a:latin typeface="Calibri" pitchFamily="34" charset="0"/>
              </a:rPr>
              <a:t>2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73" name="Text Box 13"/>
          <p:cNvSpPr txBox="1">
            <a:spLocks noChangeAspect="1" noChangeArrowheads="1"/>
          </p:cNvSpPr>
          <p:nvPr/>
        </p:nvSpPr>
        <p:spPr bwMode="auto">
          <a:xfrm>
            <a:off x="561599" y="3692525"/>
            <a:ext cx="437940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>
                <a:latin typeface="Calibri" pitchFamily="34" charset="0"/>
              </a:rPr>
              <a:t>U</a:t>
            </a:r>
            <a:r>
              <a:rPr lang="en-US" sz="2000" baseline="-25000" dirty="0">
                <a:latin typeface="Calibri" pitchFamily="34" charset="0"/>
              </a:rPr>
              <a:t>2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74" name="Text Box 14"/>
          <p:cNvSpPr txBox="1">
            <a:spLocks noChangeAspect="1" noChangeArrowheads="1"/>
          </p:cNvSpPr>
          <p:nvPr/>
        </p:nvSpPr>
        <p:spPr bwMode="auto">
          <a:xfrm>
            <a:off x="572711" y="3011488"/>
            <a:ext cx="393056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>
                <a:latin typeface="Calibri" pitchFamily="34" charset="0"/>
              </a:rPr>
              <a:t>S</a:t>
            </a:r>
            <a:r>
              <a:rPr lang="en-US" sz="2000" baseline="-25000" dirty="0">
                <a:latin typeface="Calibri" pitchFamily="34" charset="0"/>
              </a:rPr>
              <a:t>2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75" name="Text Box 15"/>
          <p:cNvSpPr txBox="1">
            <a:spLocks noChangeAspect="1" noChangeArrowheads="1"/>
          </p:cNvSpPr>
          <p:nvPr/>
        </p:nvSpPr>
        <p:spPr bwMode="auto">
          <a:xfrm>
            <a:off x="583824" y="2292350"/>
            <a:ext cx="397866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>
                <a:latin typeface="Calibri" pitchFamily="34" charset="0"/>
              </a:rPr>
              <a:t>T</a:t>
            </a:r>
            <a:r>
              <a:rPr lang="en-US" sz="2000" baseline="-25000" dirty="0">
                <a:latin typeface="Calibri" pitchFamily="34" charset="0"/>
              </a:rPr>
              <a:t>2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76" name="Text Box 41"/>
          <p:cNvSpPr txBox="1">
            <a:spLocks noChangeAspect="1" noChangeArrowheads="1"/>
          </p:cNvSpPr>
          <p:nvPr/>
        </p:nvSpPr>
        <p:spPr bwMode="auto">
          <a:xfrm>
            <a:off x="4731961" y="5495925"/>
            <a:ext cx="1119537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2000" dirty="0">
                <a:latin typeface="Calibri" pitchFamily="34" charset="0"/>
              </a:rPr>
              <a:t>Thread 1</a:t>
            </a:r>
          </a:p>
        </p:txBody>
      </p:sp>
      <p:sp>
        <p:nvSpPr>
          <p:cNvPr id="77" name="Text Box 42"/>
          <p:cNvSpPr txBox="1">
            <a:spLocks noChangeAspect="1" noChangeArrowheads="1"/>
          </p:cNvSpPr>
          <p:nvPr/>
        </p:nvSpPr>
        <p:spPr bwMode="auto">
          <a:xfrm>
            <a:off x="386960" y="1395453"/>
            <a:ext cx="1119537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2000" dirty="0">
                <a:latin typeface="Calibri" pitchFamily="34" charset="0"/>
              </a:rPr>
              <a:t>Thread 2</a:t>
            </a:r>
          </a:p>
        </p:txBody>
      </p:sp>
      <p:grpSp>
        <p:nvGrpSpPr>
          <p:cNvPr id="78" name="Group 77"/>
          <p:cNvGrpSpPr/>
          <p:nvPr/>
        </p:nvGrpSpPr>
        <p:grpSpPr>
          <a:xfrm>
            <a:off x="901542" y="2141578"/>
            <a:ext cx="76200" cy="3546475"/>
            <a:chOff x="770156" y="1852653"/>
            <a:chExt cx="76200" cy="3546475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79" name="Oval 78"/>
            <p:cNvSpPr/>
            <p:nvPr/>
          </p:nvSpPr>
          <p:spPr bwMode="auto">
            <a:xfrm>
              <a:off x="770156" y="532292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Oval 79"/>
            <p:cNvSpPr/>
            <p:nvPr/>
          </p:nvSpPr>
          <p:spPr bwMode="auto">
            <a:xfrm>
              <a:off x="770156" y="462887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Oval 80"/>
            <p:cNvSpPr/>
            <p:nvPr/>
          </p:nvSpPr>
          <p:spPr bwMode="auto">
            <a:xfrm>
              <a:off x="770156" y="393481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Oval 81"/>
            <p:cNvSpPr/>
            <p:nvPr/>
          </p:nvSpPr>
          <p:spPr bwMode="auto">
            <a:xfrm>
              <a:off x="770156" y="324076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83" name="Oval 82"/>
            <p:cNvSpPr/>
            <p:nvPr/>
          </p:nvSpPr>
          <p:spPr bwMode="auto">
            <a:xfrm>
              <a:off x="770156" y="254670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84" name="Oval 83"/>
            <p:cNvSpPr/>
            <p:nvPr/>
          </p:nvSpPr>
          <p:spPr bwMode="auto">
            <a:xfrm>
              <a:off x="770156" y="185265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85" name="Group 84"/>
          <p:cNvGrpSpPr/>
          <p:nvPr/>
        </p:nvGrpSpPr>
        <p:grpSpPr>
          <a:xfrm>
            <a:off x="1616191" y="2152650"/>
            <a:ext cx="76200" cy="3546475"/>
            <a:chOff x="770156" y="1852653"/>
            <a:chExt cx="76200" cy="3546475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86" name="Oval 85"/>
            <p:cNvSpPr/>
            <p:nvPr/>
          </p:nvSpPr>
          <p:spPr bwMode="auto">
            <a:xfrm>
              <a:off x="770156" y="532292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87" name="Oval 86"/>
            <p:cNvSpPr/>
            <p:nvPr/>
          </p:nvSpPr>
          <p:spPr bwMode="auto">
            <a:xfrm>
              <a:off x="770156" y="462887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88" name="Oval 87"/>
            <p:cNvSpPr/>
            <p:nvPr/>
          </p:nvSpPr>
          <p:spPr bwMode="auto">
            <a:xfrm>
              <a:off x="770156" y="393481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89" name="Oval 88"/>
            <p:cNvSpPr/>
            <p:nvPr/>
          </p:nvSpPr>
          <p:spPr bwMode="auto">
            <a:xfrm>
              <a:off x="770156" y="324076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90" name="Oval 89"/>
            <p:cNvSpPr/>
            <p:nvPr/>
          </p:nvSpPr>
          <p:spPr bwMode="auto">
            <a:xfrm>
              <a:off x="770156" y="254670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91" name="Oval 90"/>
            <p:cNvSpPr/>
            <p:nvPr/>
          </p:nvSpPr>
          <p:spPr bwMode="auto">
            <a:xfrm>
              <a:off x="770156" y="185265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92" name="Group 91"/>
          <p:cNvGrpSpPr/>
          <p:nvPr/>
        </p:nvGrpSpPr>
        <p:grpSpPr>
          <a:xfrm>
            <a:off x="2330840" y="2152650"/>
            <a:ext cx="76200" cy="3546475"/>
            <a:chOff x="770156" y="1852653"/>
            <a:chExt cx="76200" cy="3546475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93" name="Oval 92"/>
            <p:cNvSpPr/>
            <p:nvPr/>
          </p:nvSpPr>
          <p:spPr bwMode="auto">
            <a:xfrm>
              <a:off x="770156" y="532292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94" name="Oval 93"/>
            <p:cNvSpPr/>
            <p:nvPr/>
          </p:nvSpPr>
          <p:spPr bwMode="auto">
            <a:xfrm>
              <a:off x="770156" y="462887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95" name="Oval 94"/>
            <p:cNvSpPr/>
            <p:nvPr/>
          </p:nvSpPr>
          <p:spPr bwMode="auto">
            <a:xfrm>
              <a:off x="770156" y="393481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96" name="Oval 95"/>
            <p:cNvSpPr/>
            <p:nvPr/>
          </p:nvSpPr>
          <p:spPr bwMode="auto">
            <a:xfrm>
              <a:off x="770156" y="324076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97" name="Oval 96"/>
            <p:cNvSpPr/>
            <p:nvPr/>
          </p:nvSpPr>
          <p:spPr bwMode="auto">
            <a:xfrm>
              <a:off x="770156" y="2546708"/>
              <a:ext cx="76200" cy="762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98" name="Oval 97"/>
            <p:cNvSpPr/>
            <p:nvPr/>
          </p:nvSpPr>
          <p:spPr bwMode="auto">
            <a:xfrm>
              <a:off x="770156" y="185265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99" name="Group 98"/>
          <p:cNvGrpSpPr/>
          <p:nvPr/>
        </p:nvGrpSpPr>
        <p:grpSpPr>
          <a:xfrm>
            <a:off x="3045489" y="2152650"/>
            <a:ext cx="76200" cy="3546475"/>
            <a:chOff x="770156" y="1852653"/>
            <a:chExt cx="76200" cy="3546475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100" name="Oval 99"/>
            <p:cNvSpPr/>
            <p:nvPr/>
          </p:nvSpPr>
          <p:spPr bwMode="auto">
            <a:xfrm>
              <a:off x="770156" y="532292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101" name="Oval 100"/>
            <p:cNvSpPr/>
            <p:nvPr/>
          </p:nvSpPr>
          <p:spPr bwMode="auto">
            <a:xfrm>
              <a:off x="770156" y="462887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102" name="Oval 101"/>
            <p:cNvSpPr/>
            <p:nvPr/>
          </p:nvSpPr>
          <p:spPr bwMode="auto">
            <a:xfrm>
              <a:off x="770156" y="393481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103" name="Oval 102"/>
            <p:cNvSpPr/>
            <p:nvPr/>
          </p:nvSpPr>
          <p:spPr bwMode="auto">
            <a:xfrm>
              <a:off x="770156" y="324076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104" name="Oval 103"/>
            <p:cNvSpPr/>
            <p:nvPr/>
          </p:nvSpPr>
          <p:spPr bwMode="auto">
            <a:xfrm>
              <a:off x="770156" y="254670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105" name="Oval 104"/>
            <p:cNvSpPr/>
            <p:nvPr/>
          </p:nvSpPr>
          <p:spPr bwMode="auto">
            <a:xfrm>
              <a:off x="770156" y="185265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3760138" y="2152650"/>
            <a:ext cx="76200" cy="3546475"/>
            <a:chOff x="770156" y="1852653"/>
            <a:chExt cx="76200" cy="3546475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107" name="Oval 106"/>
            <p:cNvSpPr/>
            <p:nvPr/>
          </p:nvSpPr>
          <p:spPr bwMode="auto">
            <a:xfrm>
              <a:off x="770156" y="532292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108" name="Oval 107"/>
            <p:cNvSpPr/>
            <p:nvPr/>
          </p:nvSpPr>
          <p:spPr bwMode="auto">
            <a:xfrm>
              <a:off x="770156" y="462887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109" name="Oval 108"/>
            <p:cNvSpPr/>
            <p:nvPr/>
          </p:nvSpPr>
          <p:spPr bwMode="auto">
            <a:xfrm>
              <a:off x="770156" y="393481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110" name="Oval 109"/>
            <p:cNvSpPr/>
            <p:nvPr/>
          </p:nvSpPr>
          <p:spPr bwMode="auto">
            <a:xfrm>
              <a:off x="770156" y="324076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111" name="Oval 110"/>
            <p:cNvSpPr/>
            <p:nvPr/>
          </p:nvSpPr>
          <p:spPr bwMode="auto">
            <a:xfrm>
              <a:off x="770156" y="254670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112" name="Oval 111"/>
            <p:cNvSpPr/>
            <p:nvPr/>
          </p:nvSpPr>
          <p:spPr bwMode="auto">
            <a:xfrm>
              <a:off x="770156" y="185265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13" name="Group 112"/>
          <p:cNvGrpSpPr/>
          <p:nvPr/>
        </p:nvGrpSpPr>
        <p:grpSpPr>
          <a:xfrm>
            <a:off x="4474786" y="2152650"/>
            <a:ext cx="76200" cy="3546475"/>
            <a:chOff x="770156" y="1852653"/>
            <a:chExt cx="76200" cy="3546475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114" name="Oval 113"/>
            <p:cNvSpPr/>
            <p:nvPr/>
          </p:nvSpPr>
          <p:spPr bwMode="auto">
            <a:xfrm>
              <a:off x="770156" y="532292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115" name="Oval 114"/>
            <p:cNvSpPr/>
            <p:nvPr/>
          </p:nvSpPr>
          <p:spPr bwMode="auto">
            <a:xfrm>
              <a:off x="770156" y="462887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116" name="Oval 115"/>
            <p:cNvSpPr/>
            <p:nvPr/>
          </p:nvSpPr>
          <p:spPr bwMode="auto">
            <a:xfrm>
              <a:off x="770156" y="393481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117" name="Oval 116"/>
            <p:cNvSpPr/>
            <p:nvPr/>
          </p:nvSpPr>
          <p:spPr bwMode="auto">
            <a:xfrm>
              <a:off x="770156" y="324076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118" name="Oval 117"/>
            <p:cNvSpPr/>
            <p:nvPr/>
          </p:nvSpPr>
          <p:spPr bwMode="auto">
            <a:xfrm>
              <a:off x="770156" y="254670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119" name="Oval 118"/>
            <p:cNvSpPr/>
            <p:nvPr/>
          </p:nvSpPr>
          <p:spPr bwMode="auto">
            <a:xfrm>
              <a:off x="770156" y="185265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21" name="Line 54"/>
          <p:cNvSpPr>
            <a:spLocks noChangeShapeType="1"/>
          </p:cNvSpPr>
          <p:nvPr/>
        </p:nvSpPr>
        <p:spPr bwMode="auto">
          <a:xfrm>
            <a:off x="917239" y="5653128"/>
            <a:ext cx="731520" cy="9525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22" name="Line 55"/>
          <p:cNvSpPr>
            <a:spLocks noChangeShapeType="1"/>
          </p:cNvSpPr>
          <p:nvPr/>
        </p:nvSpPr>
        <p:spPr bwMode="auto">
          <a:xfrm>
            <a:off x="1663269" y="5653128"/>
            <a:ext cx="739775" cy="0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23" name="Line 56"/>
          <p:cNvSpPr>
            <a:spLocks noChangeShapeType="1"/>
          </p:cNvSpPr>
          <p:nvPr/>
        </p:nvSpPr>
        <p:spPr bwMode="auto">
          <a:xfrm>
            <a:off x="2457019" y="5653128"/>
            <a:ext cx="655638" cy="0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24" name="Line 57"/>
          <p:cNvSpPr>
            <a:spLocks noChangeShapeType="1"/>
          </p:cNvSpPr>
          <p:nvPr/>
        </p:nvSpPr>
        <p:spPr bwMode="auto">
          <a:xfrm flipV="1">
            <a:off x="3096728" y="4978454"/>
            <a:ext cx="0" cy="633412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25" name="Line 58"/>
          <p:cNvSpPr>
            <a:spLocks noChangeShapeType="1"/>
          </p:cNvSpPr>
          <p:nvPr/>
        </p:nvSpPr>
        <p:spPr bwMode="auto">
          <a:xfrm flipV="1">
            <a:off x="3087203" y="4268841"/>
            <a:ext cx="0" cy="647700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26" name="Line 59"/>
          <p:cNvSpPr>
            <a:spLocks noChangeShapeType="1"/>
          </p:cNvSpPr>
          <p:nvPr/>
        </p:nvSpPr>
        <p:spPr bwMode="auto">
          <a:xfrm>
            <a:off x="3147582" y="4278420"/>
            <a:ext cx="655637" cy="0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27" name="Line 60"/>
          <p:cNvSpPr>
            <a:spLocks noChangeShapeType="1"/>
          </p:cNvSpPr>
          <p:nvPr/>
        </p:nvSpPr>
        <p:spPr bwMode="auto">
          <a:xfrm>
            <a:off x="3838144" y="4278420"/>
            <a:ext cx="655638" cy="0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28" name="Line 61"/>
          <p:cNvSpPr>
            <a:spLocks noChangeShapeType="1"/>
          </p:cNvSpPr>
          <p:nvPr/>
        </p:nvSpPr>
        <p:spPr bwMode="auto">
          <a:xfrm flipV="1">
            <a:off x="4519182" y="3560803"/>
            <a:ext cx="0" cy="647700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29" name="Line 62"/>
          <p:cNvSpPr>
            <a:spLocks noChangeShapeType="1"/>
          </p:cNvSpPr>
          <p:nvPr/>
        </p:nvSpPr>
        <p:spPr bwMode="auto">
          <a:xfrm flipV="1">
            <a:off x="4519182" y="2846428"/>
            <a:ext cx="0" cy="647700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30" name="Line 63"/>
          <p:cNvSpPr>
            <a:spLocks noChangeShapeType="1"/>
          </p:cNvSpPr>
          <p:nvPr/>
        </p:nvSpPr>
        <p:spPr bwMode="auto">
          <a:xfrm flipV="1">
            <a:off x="4519182" y="2146340"/>
            <a:ext cx="0" cy="647700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0ACE9F-E4B8-BCAE-9BA0-8A6B9C79AFC6}"/>
              </a:ext>
            </a:extLst>
          </p:cNvPr>
          <p:cNvSpPr>
            <a:spLocks/>
          </p:cNvSpPr>
          <p:nvPr/>
        </p:nvSpPr>
        <p:spPr bwMode="auto">
          <a:xfrm>
            <a:off x="0" y="6636634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5F779F-EF4D-DF7F-67D7-A591626A4195}"/>
              </a:ext>
            </a:extLst>
          </p:cNvPr>
          <p:cNvSpPr>
            <a:spLocks/>
          </p:cNvSpPr>
          <p:nvPr/>
        </p:nvSpPr>
        <p:spPr bwMode="auto">
          <a:xfrm>
            <a:off x="-6350" y="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angle 129"/>
          <p:cNvSpPr/>
          <p:nvPr/>
        </p:nvSpPr>
        <p:spPr bwMode="auto">
          <a:xfrm>
            <a:off x="2109747" y="2946758"/>
            <a:ext cx="2039112" cy="1965960"/>
          </a:xfrm>
          <a:prstGeom prst="rect">
            <a:avLst/>
          </a:prstGeom>
          <a:solidFill>
            <a:srgbClr val="F1C7C7"/>
          </a:solidFill>
          <a:ln w="25400">
            <a:noFill/>
            <a:round/>
            <a:headEnd/>
            <a:tailEnd/>
          </a:ln>
          <a:effectLst/>
        </p:spPr>
        <p:txBody>
          <a:bodyPr wrap="none" rtlCol="0" anchor="ctr">
            <a:spAutoFit/>
          </a:bodyPr>
          <a:lstStyle/>
          <a:p>
            <a:pPr algn="ctr"/>
            <a:endParaRPr lang="en-US"/>
          </a:p>
        </p:txBody>
      </p:sp>
      <p:sp>
        <p:nvSpPr>
          <p:cNvPr id="950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Sections and Unsafe Regions</a:t>
            </a:r>
          </a:p>
        </p:txBody>
      </p:sp>
      <p:sp>
        <p:nvSpPr>
          <p:cNvPr id="950275" name="Text Box 3"/>
          <p:cNvSpPr txBox="1">
            <a:spLocks noChangeArrowheads="1"/>
          </p:cNvSpPr>
          <p:nvPr/>
        </p:nvSpPr>
        <p:spPr bwMode="auto">
          <a:xfrm>
            <a:off x="5997575" y="1648350"/>
            <a:ext cx="2917825" cy="360098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 tIns="0" bIns="0" anchor="ctr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L, U, and S form a </a:t>
            </a:r>
            <a:r>
              <a:rPr lang="en-US" sz="1800" i="1" dirty="0">
                <a:solidFill>
                  <a:srgbClr val="C00000"/>
                </a:solidFill>
                <a:latin typeface="Calibri" pitchFamily="34" charset="0"/>
              </a:rPr>
              <a:t>critical section </a:t>
            </a:r>
            <a:r>
              <a:rPr lang="en-US" sz="1800" dirty="0">
                <a:latin typeface="Calibri" pitchFamily="34" charset="0"/>
              </a:rPr>
              <a:t>with respect to the shared variable </a:t>
            </a:r>
            <a:r>
              <a:rPr lang="en-US" sz="1800" dirty="0" err="1">
                <a:latin typeface="Courier New" pitchFamily="49" charset="0"/>
              </a:rPr>
              <a:t>cnt</a:t>
            </a:r>
            <a:endParaRPr lang="en-US" sz="1800" i="1" dirty="0">
              <a:latin typeface="Calibri" pitchFamily="34" charset="0"/>
            </a:endParaRPr>
          </a:p>
          <a:p>
            <a:endParaRPr lang="en-US" sz="1800" dirty="0">
              <a:latin typeface="Calibri" pitchFamily="34" charset="0"/>
            </a:endParaRPr>
          </a:p>
          <a:p>
            <a:r>
              <a:rPr lang="en-US" sz="1800" dirty="0">
                <a:latin typeface="Calibri" pitchFamily="34" charset="0"/>
              </a:rPr>
              <a:t>Instructions in critical sections (</a:t>
            </a:r>
            <a:r>
              <a:rPr lang="en-US" sz="1800" dirty="0" err="1">
                <a:latin typeface="Calibri" pitchFamily="34" charset="0"/>
              </a:rPr>
              <a:t>wrt</a:t>
            </a:r>
            <a:r>
              <a:rPr lang="en-US" sz="1800" dirty="0">
                <a:latin typeface="Calibri" pitchFamily="34" charset="0"/>
              </a:rPr>
              <a:t> some shared variable) should not be interleaved</a:t>
            </a:r>
          </a:p>
          <a:p>
            <a:endParaRPr lang="en-US" sz="1800" dirty="0">
              <a:latin typeface="Calibri" pitchFamily="34" charset="0"/>
            </a:endParaRPr>
          </a:p>
          <a:p>
            <a:r>
              <a:rPr lang="en-US" sz="1800" dirty="0">
                <a:latin typeface="Calibri" pitchFamily="34" charset="0"/>
              </a:rPr>
              <a:t>Sets of states where such interleaving occurs form </a:t>
            </a:r>
            <a:r>
              <a:rPr lang="en-US" sz="1800" i="1" dirty="0">
                <a:solidFill>
                  <a:srgbClr val="C00000"/>
                </a:solidFill>
                <a:latin typeface="Calibri" pitchFamily="34" charset="0"/>
              </a:rPr>
              <a:t>unsafe regions</a:t>
            </a:r>
            <a:endParaRPr lang="en-US" sz="1800" dirty="0">
              <a:latin typeface="Calibri" pitchFamily="34" charset="0"/>
            </a:endParaRPr>
          </a:p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60" name="Line 4"/>
          <p:cNvSpPr>
            <a:spLocks noChangeAspect="1" noChangeShapeType="1"/>
          </p:cNvSpPr>
          <p:nvPr/>
        </p:nvSpPr>
        <p:spPr bwMode="auto">
          <a:xfrm flipV="1">
            <a:off x="1339501" y="5664200"/>
            <a:ext cx="381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 sz="2000" dirty="0">
              <a:latin typeface="Calibri" pitchFamily="34" charset="0"/>
            </a:endParaRPr>
          </a:p>
        </p:txBody>
      </p:sp>
      <p:sp>
        <p:nvSpPr>
          <p:cNvPr id="61" name="Line 5"/>
          <p:cNvSpPr>
            <a:spLocks noChangeAspect="1" noChangeShapeType="1"/>
          </p:cNvSpPr>
          <p:nvPr/>
        </p:nvSpPr>
        <p:spPr bwMode="auto">
          <a:xfrm flipH="1" flipV="1">
            <a:off x="1339501" y="1824038"/>
            <a:ext cx="0" cy="38401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 sz="2000" dirty="0">
              <a:latin typeface="Calibri" pitchFamily="34" charset="0"/>
            </a:endParaRPr>
          </a:p>
        </p:txBody>
      </p:sp>
      <p:sp>
        <p:nvSpPr>
          <p:cNvPr id="62" name="Text Box 6"/>
          <p:cNvSpPr txBox="1">
            <a:spLocks noChangeAspect="1" noChangeArrowheads="1"/>
          </p:cNvSpPr>
          <p:nvPr/>
        </p:nvSpPr>
        <p:spPr bwMode="auto">
          <a:xfrm>
            <a:off x="1493488" y="5667375"/>
            <a:ext cx="433132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>
                <a:latin typeface="Calibri" pitchFamily="34" charset="0"/>
              </a:rPr>
              <a:t>H</a:t>
            </a:r>
            <a:r>
              <a:rPr lang="en-US" sz="2000" baseline="-25000" dirty="0">
                <a:latin typeface="Calibri" pitchFamily="34" charset="0"/>
              </a:rPr>
              <a:t>1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63" name="Text Box 7"/>
          <p:cNvSpPr txBox="1">
            <a:spLocks noChangeAspect="1" noChangeArrowheads="1"/>
          </p:cNvSpPr>
          <p:nvPr/>
        </p:nvSpPr>
        <p:spPr bwMode="auto">
          <a:xfrm>
            <a:off x="2190401" y="5667375"/>
            <a:ext cx="380232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>
                <a:latin typeface="Calibri" pitchFamily="34" charset="0"/>
              </a:rPr>
              <a:t>L</a:t>
            </a:r>
            <a:r>
              <a:rPr lang="en-US" sz="2000" baseline="-25000" dirty="0">
                <a:latin typeface="Calibri" pitchFamily="34" charset="0"/>
              </a:rPr>
              <a:t>1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64" name="Text Box 8"/>
          <p:cNvSpPr txBox="1">
            <a:spLocks noChangeAspect="1" noChangeArrowheads="1"/>
          </p:cNvSpPr>
          <p:nvPr/>
        </p:nvSpPr>
        <p:spPr bwMode="auto">
          <a:xfrm>
            <a:off x="2890488" y="5667375"/>
            <a:ext cx="437940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>
                <a:latin typeface="Calibri" pitchFamily="34" charset="0"/>
              </a:rPr>
              <a:t>U</a:t>
            </a:r>
            <a:r>
              <a:rPr lang="en-US" sz="2000" baseline="-25000" dirty="0">
                <a:latin typeface="Calibri" pitchFamily="34" charset="0"/>
              </a:rPr>
              <a:t>1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65" name="Text Box 9"/>
          <p:cNvSpPr txBox="1">
            <a:spLocks noChangeAspect="1" noChangeArrowheads="1"/>
          </p:cNvSpPr>
          <p:nvPr/>
        </p:nvSpPr>
        <p:spPr bwMode="auto">
          <a:xfrm>
            <a:off x="3608038" y="5667375"/>
            <a:ext cx="393056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>
                <a:latin typeface="Calibri" pitchFamily="34" charset="0"/>
              </a:rPr>
              <a:t>S</a:t>
            </a:r>
            <a:r>
              <a:rPr lang="en-US" sz="2000" baseline="-25000" dirty="0">
                <a:latin typeface="Calibri" pitchFamily="34" charset="0"/>
              </a:rPr>
              <a:t>1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66" name="Text Box 10"/>
          <p:cNvSpPr txBox="1">
            <a:spLocks noChangeAspect="1" noChangeArrowheads="1"/>
          </p:cNvSpPr>
          <p:nvPr/>
        </p:nvSpPr>
        <p:spPr bwMode="auto">
          <a:xfrm>
            <a:off x="4333526" y="5667375"/>
            <a:ext cx="397866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>
                <a:latin typeface="Calibri" pitchFamily="34" charset="0"/>
              </a:rPr>
              <a:t>T</a:t>
            </a:r>
            <a:r>
              <a:rPr lang="en-US" sz="2000" baseline="-25000" dirty="0">
                <a:latin typeface="Calibri" pitchFamily="34" charset="0"/>
              </a:rPr>
              <a:t>1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67" name="Text Box 11"/>
          <p:cNvSpPr txBox="1">
            <a:spLocks noChangeAspect="1" noChangeArrowheads="1"/>
          </p:cNvSpPr>
          <p:nvPr/>
        </p:nvSpPr>
        <p:spPr bwMode="auto">
          <a:xfrm>
            <a:off x="958501" y="5108575"/>
            <a:ext cx="433132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>
                <a:latin typeface="Calibri" pitchFamily="34" charset="0"/>
              </a:rPr>
              <a:t>H</a:t>
            </a:r>
            <a:r>
              <a:rPr lang="en-US" sz="2000" baseline="-25000" dirty="0">
                <a:latin typeface="Calibri" pitchFamily="34" charset="0"/>
              </a:rPr>
              <a:t>2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68" name="Text Box 12"/>
          <p:cNvSpPr txBox="1">
            <a:spLocks noChangeAspect="1" noChangeArrowheads="1"/>
          </p:cNvSpPr>
          <p:nvPr/>
        </p:nvSpPr>
        <p:spPr bwMode="auto">
          <a:xfrm>
            <a:off x="987076" y="4413250"/>
            <a:ext cx="380232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>
                <a:latin typeface="Calibri" pitchFamily="34" charset="0"/>
              </a:rPr>
              <a:t>L</a:t>
            </a:r>
            <a:r>
              <a:rPr lang="en-US" sz="2000" baseline="-25000" dirty="0">
                <a:latin typeface="Calibri" pitchFamily="34" charset="0"/>
              </a:rPr>
              <a:t>2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69" name="Text Box 13"/>
          <p:cNvSpPr txBox="1">
            <a:spLocks noChangeAspect="1" noChangeArrowheads="1"/>
          </p:cNvSpPr>
          <p:nvPr/>
        </p:nvSpPr>
        <p:spPr bwMode="auto">
          <a:xfrm>
            <a:off x="958501" y="3692525"/>
            <a:ext cx="437940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>
                <a:latin typeface="Calibri" pitchFamily="34" charset="0"/>
              </a:rPr>
              <a:t>U</a:t>
            </a:r>
            <a:r>
              <a:rPr lang="en-US" sz="2000" baseline="-25000" dirty="0">
                <a:latin typeface="Calibri" pitchFamily="34" charset="0"/>
              </a:rPr>
              <a:t>2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70" name="Text Box 14"/>
          <p:cNvSpPr txBox="1">
            <a:spLocks noChangeAspect="1" noChangeArrowheads="1"/>
          </p:cNvSpPr>
          <p:nvPr/>
        </p:nvSpPr>
        <p:spPr bwMode="auto">
          <a:xfrm>
            <a:off x="969613" y="3011488"/>
            <a:ext cx="393056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>
                <a:latin typeface="Calibri" pitchFamily="34" charset="0"/>
              </a:rPr>
              <a:t>S</a:t>
            </a:r>
            <a:r>
              <a:rPr lang="en-US" sz="2000" baseline="-25000" dirty="0">
                <a:latin typeface="Calibri" pitchFamily="34" charset="0"/>
              </a:rPr>
              <a:t>2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71" name="Text Box 15"/>
          <p:cNvSpPr txBox="1">
            <a:spLocks noChangeAspect="1" noChangeArrowheads="1"/>
          </p:cNvSpPr>
          <p:nvPr/>
        </p:nvSpPr>
        <p:spPr bwMode="auto">
          <a:xfrm>
            <a:off x="980726" y="2292350"/>
            <a:ext cx="397866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>
                <a:latin typeface="Calibri" pitchFamily="34" charset="0"/>
              </a:rPr>
              <a:t>T</a:t>
            </a:r>
            <a:r>
              <a:rPr lang="en-US" sz="2000" baseline="-25000" dirty="0">
                <a:latin typeface="Calibri" pitchFamily="34" charset="0"/>
              </a:rPr>
              <a:t>2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72" name="Text Box 41"/>
          <p:cNvSpPr txBox="1">
            <a:spLocks noChangeAspect="1" noChangeArrowheads="1"/>
          </p:cNvSpPr>
          <p:nvPr/>
        </p:nvSpPr>
        <p:spPr bwMode="auto">
          <a:xfrm>
            <a:off x="5128863" y="5495925"/>
            <a:ext cx="1119537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2000" dirty="0">
                <a:latin typeface="Calibri" pitchFamily="34" charset="0"/>
              </a:rPr>
              <a:t>Thread 1</a:t>
            </a:r>
          </a:p>
        </p:txBody>
      </p:sp>
      <p:sp>
        <p:nvSpPr>
          <p:cNvPr id="73" name="Text Box 42"/>
          <p:cNvSpPr txBox="1">
            <a:spLocks noChangeAspect="1" noChangeArrowheads="1"/>
          </p:cNvSpPr>
          <p:nvPr/>
        </p:nvSpPr>
        <p:spPr bwMode="auto">
          <a:xfrm>
            <a:off x="783862" y="1395453"/>
            <a:ext cx="1119537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2000" dirty="0">
                <a:latin typeface="Calibri" pitchFamily="34" charset="0"/>
              </a:rPr>
              <a:t>Thread 2</a:t>
            </a:r>
          </a:p>
        </p:txBody>
      </p:sp>
      <p:grpSp>
        <p:nvGrpSpPr>
          <p:cNvPr id="74" name="Group 73"/>
          <p:cNvGrpSpPr/>
          <p:nvPr/>
        </p:nvGrpSpPr>
        <p:grpSpPr>
          <a:xfrm>
            <a:off x="1298444" y="2141578"/>
            <a:ext cx="76200" cy="3546475"/>
            <a:chOff x="770156" y="1852653"/>
            <a:chExt cx="76200" cy="3546475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75" name="Oval 74"/>
            <p:cNvSpPr/>
            <p:nvPr/>
          </p:nvSpPr>
          <p:spPr bwMode="auto">
            <a:xfrm>
              <a:off x="770156" y="532292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76" name="Oval 75"/>
            <p:cNvSpPr/>
            <p:nvPr/>
          </p:nvSpPr>
          <p:spPr bwMode="auto">
            <a:xfrm>
              <a:off x="770156" y="462887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Oval 76"/>
            <p:cNvSpPr/>
            <p:nvPr/>
          </p:nvSpPr>
          <p:spPr bwMode="auto">
            <a:xfrm>
              <a:off x="770156" y="393481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Oval 77"/>
            <p:cNvSpPr/>
            <p:nvPr/>
          </p:nvSpPr>
          <p:spPr bwMode="auto">
            <a:xfrm>
              <a:off x="770156" y="324076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Oval 78"/>
            <p:cNvSpPr/>
            <p:nvPr/>
          </p:nvSpPr>
          <p:spPr bwMode="auto">
            <a:xfrm>
              <a:off x="770156" y="254670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Oval 79"/>
            <p:cNvSpPr/>
            <p:nvPr/>
          </p:nvSpPr>
          <p:spPr bwMode="auto">
            <a:xfrm>
              <a:off x="770156" y="185265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81" name="Group 80"/>
          <p:cNvGrpSpPr/>
          <p:nvPr/>
        </p:nvGrpSpPr>
        <p:grpSpPr>
          <a:xfrm>
            <a:off x="2013093" y="2152650"/>
            <a:ext cx="76200" cy="3546475"/>
            <a:chOff x="770156" y="1852653"/>
            <a:chExt cx="76200" cy="3546475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82" name="Oval 81"/>
            <p:cNvSpPr/>
            <p:nvPr/>
          </p:nvSpPr>
          <p:spPr bwMode="auto">
            <a:xfrm>
              <a:off x="770156" y="532292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83" name="Oval 82"/>
            <p:cNvSpPr/>
            <p:nvPr/>
          </p:nvSpPr>
          <p:spPr bwMode="auto">
            <a:xfrm>
              <a:off x="770156" y="462887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84" name="Oval 83"/>
            <p:cNvSpPr/>
            <p:nvPr/>
          </p:nvSpPr>
          <p:spPr bwMode="auto">
            <a:xfrm>
              <a:off x="770156" y="393481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85" name="Oval 84"/>
            <p:cNvSpPr/>
            <p:nvPr/>
          </p:nvSpPr>
          <p:spPr bwMode="auto">
            <a:xfrm>
              <a:off x="770156" y="324076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86" name="Oval 85"/>
            <p:cNvSpPr/>
            <p:nvPr/>
          </p:nvSpPr>
          <p:spPr bwMode="auto">
            <a:xfrm>
              <a:off x="770156" y="254670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87" name="Oval 86"/>
            <p:cNvSpPr/>
            <p:nvPr/>
          </p:nvSpPr>
          <p:spPr bwMode="auto">
            <a:xfrm>
              <a:off x="770156" y="185265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88" name="Group 87"/>
          <p:cNvGrpSpPr/>
          <p:nvPr/>
        </p:nvGrpSpPr>
        <p:grpSpPr>
          <a:xfrm>
            <a:off x="2727742" y="2152650"/>
            <a:ext cx="76200" cy="3546475"/>
            <a:chOff x="770156" y="1852653"/>
            <a:chExt cx="76200" cy="3546475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89" name="Oval 88"/>
            <p:cNvSpPr/>
            <p:nvPr/>
          </p:nvSpPr>
          <p:spPr bwMode="auto">
            <a:xfrm>
              <a:off x="770156" y="532292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90" name="Oval 89"/>
            <p:cNvSpPr/>
            <p:nvPr/>
          </p:nvSpPr>
          <p:spPr bwMode="auto">
            <a:xfrm>
              <a:off x="770156" y="462887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91" name="Oval 90"/>
            <p:cNvSpPr/>
            <p:nvPr/>
          </p:nvSpPr>
          <p:spPr bwMode="auto">
            <a:xfrm>
              <a:off x="770156" y="393481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92" name="Oval 91"/>
            <p:cNvSpPr/>
            <p:nvPr/>
          </p:nvSpPr>
          <p:spPr bwMode="auto">
            <a:xfrm>
              <a:off x="770156" y="324076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93" name="Oval 92"/>
            <p:cNvSpPr/>
            <p:nvPr/>
          </p:nvSpPr>
          <p:spPr bwMode="auto">
            <a:xfrm>
              <a:off x="770156" y="2546708"/>
              <a:ext cx="76200" cy="762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94" name="Oval 93"/>
            <p:cNvSpPr/>
            <p:nvPr/>
          </p:nvSpPr>
          <p:spPr bwMode="auto">
            <a:xfrm>
              <a:off x="770156" y="185265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95" name="Group 94"/>
          <p:cNvGrpSpPr/>
          <p:nvPr/>
        </p:nvGrpSpPr>
        <p:grpSpPr>
          <a:xfrm>
            <a:off x="3442391" y="2152650"/>
            <a:ext cx="76200" cy="3546475"/>
            <a:chOff x="770156" y="1852653"/>
            <a:chExt cx="76200" cy="3546475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96" name="Oval 95"/>
            <p:cNvSpPr/>
            <p:nvPr/>
          </p:nvSpPr>
          <p:spPr bwMode="auto">
            <a:xfrm>
              <a:off x="770156" y="532292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97" name="Oval 96"/>
            <p:cNvSpPr/>
            <p:nvPr/>
          </p:nvSpPr>
          <p:spPr bwMode="auto">
            <a:xfrm>
              <a:off x="770156" y="462887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98" name="Oval 97"/>
            <p:cNvSpPr/>
            <p:nvPr/>
          </p:nvSpPr>
          <p:spPr bwMode="auto">
            <a:xfrm>
              <a:off x="770156" y="393481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99" name="Oval 98"/>
            <p:cNvSpPr/>
            <p:nvPr/>
          </p:nvSpPr>
          <p:spPr bwMode="auto">
            <a:xfrm>
              <a:off x="770156" y="324076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100" name="Oval 99"/>
            <p:cNvSpPr/>
            <p:nvPr/>
          </p:nvSpPr>
          <p:spPr bwMode="auto">
            <a:xfrm>
              <a:off x="770156" y="254670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101" name="Oval 100"/>
            <p:cNvSpPr/>
            <p:nvPr/>
          </p:nvSpPr>
          <p:spPr bwMode="auto">
            <a:xfrm>
              <a:off x="770156" y="185265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02" name="Group 101"/>
          <p:cNvGrpSpPr/>
          <p:nvPr/>
        </p:nvGrpSpPr>
        <p:grpSpPr>
          <a:xfrm>
            <a:off x="4157040" y="2152650"/>
            <a:ext cx="76200" cy="3546475"/>
            <a:chOff x="770156" y="1852653"/>
            <a:chExt cx="76200" cy="3546475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103" name="Oval 102"/>
            <p:cNvSpPr/>
            <p:nvPr/>
          </p:nvSpPr>
          <p:spPr bwMode="auto">
            <a:xfrm>
              <a:off x="770156" y="532292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104" name="Oval 103"/>
            <p:cNvSpPr/>
            <p:nvPr/>
          </p:nvSpPr>
          <p:spPr bwMode="auto">
            <a:xfrm>
              <a:off x="770156" y="462887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105" name="Oval 104"/>
            <p:cNvSpPr/>
            <p:nvPr/>
          </p:nvSpPr>
          <p:spPr bwMode="auto">
            <a:xfrm>
              <a:off x="770156" y="393481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106" name="Oval 105"/>
            <p:cNvSpPr/>
            <p:nvPr/>
          </p:nvSpPr>
          <p:spPr bwMode="auto">
            <a:xfrm>
              <a:off x="770156" y="324076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107" name="Oval 106"/>
            <p:cNvSpPr/>
            <p:nvPr/>
          </p:nvSpPr>
          <p:spPr bwMode="auto">
            <a:xfrm>
              <a:off x="770156" y="254670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108" name="Oval 107"/>
            <p:cNvSpPr/>
            <p:nvPr/>
          </p:nvSpPr>
          <p:spPr bwMode="auto">
            <a:xfrm>
              <a:off x="770156" y="185265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09" name="Group 108"/>
          <p:cNvGrpSpPr/>
          <p:nvPr/>
        </p:nvGrpSpPr>
        <p:grpSpPr>
          <a:xfrm>
            <a:off x="4871688" y="2152650"/>
            <a:ext cx="76200" cy="3546475"/>
            <a:chOff x="770156" y="1852653"/>
            <a:chExt cx="76200" cy="3546475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110" name="Oval 109"/>
            <p:cNvSpPr/>
            <p:nvPr/>
          </p:nvSpPr>
          <p:spPr bwMode="auto">
            <a:xfrm>
              <a:off x="770156" y="532292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111" name="Oval 110"/>
            <p:cNvSpPr/>
            <p:nvPr/>
          </p:nvSpPr>
          <p:spPr bwMode="auto">
            <a:xfrm>
              <a:off x="770156" y="462887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112" name="Oval 111"/>
            <p:cNvSpPr/>
            <p:nvPr/>
          </p:nvSpPr>
          <p:spPr bwMode="auto">
            <a:xfrm>
              <a:off x="770156" y="393481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113" name="Oval 112"/>
            <p:cNvSpPr/>
            <p:nvPr/>
          </p:nvSpPr>
          <p:spPr bwMode="auto">
            <a:xfrm>
              <a:off x="770156" y="324076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114" name="Oval 113"/>
            <p:cNvSpPr/>
            <p:nvPr/>
          </p:nvSpPr>
          <p:spPr bwMode="auto">
            <a:xfrm>
              <a:off x="770156" y="254670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115" name="Oval 114"/>
            <p:cNvSpPr/>
            <p:nvPr/>
          </p:nvSpPr>
          <p:spPr bwMode="auto">
            <a:xfrm>
              <a:off x="770156" y="185265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26" name="AutoShape 56"/>
          <p:cNvSpPr>
            <a:spLocks/>
          </p:cNvSpPr>
          <p:nvPr/>
        </p:nvSpPr>
        <p:spPr bwMode="auto">
          <a:xfrm>
            <a:off x="825500" y="2895600"/>
            <a:ext cx="241300" cy="2070100"/>
          </a:xfrm>
          <a:prstGeom prst="leftBrace">
            <a:avLst>
              <a:gd name="adj1" fmla="val 71491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27" name="AutoShape 57"/>
          <p:cNvSpPr>
            <a:spLocks/>
          </p:cNvSpPr>
          <p:nvPr/>
        </p:nvSpPr>
        <p:spPr bwMode="auto">
          <a:xfrm rot="-5400000">
            <a:off x="3034796" y="5143500"/>
            <a:ext cx="241300" cy="2070100"/>
          </a:xfrm>
          <a:prstGeom prst="leftBrace">
            <a:avLst>
              <a:gd name="adj1" fmla="val 71491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28" name="Text Box 58"/>
          <p:cNvSpPr txBox="1">
            <a:spLocks noChangeArrowheads="1"/>
          </p:cNvSpPr>
          <p:nvPr/>
        </p:nvSpPr>
        <p:spPr bwMode="auto">
          <a:xfrm>
            <a:off x="1961646" y="6270625"/>
            <a:ext cx="2411493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 dirty="0">
                <a:latin typeface="Calibri" pitchFamily="34" charset="0"/>
              </a:rPr>
              <a:t>critical section </a:t>
            </a:r>
            <a:r>
              <a:rPr lang="en-US" sz="1800" dirty="0" err="1">
                <a:latin typeface="Calibri" pitchFamily="34" charset="0"/>
              </a:rPr>
              <a:t>wrt</a:t>
            </a:r>
            <a:r>
              <a:rPr lang="en-US" sz="1800" dirty="0">
                <a:latin typeface="Calibri" pitchFamily="34" charset="0"/>
              </a:rPr>
              <a:t> </a:t>
            </a:r>
            <a:r>
              <a:rPr lang="en-US" sz="1800" dirty="0" err="1">
                <a:latin typeface="Courier New" pitchFamily="49" charset="0"/>
              </a:rPr>
              <a:t>cnt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129" name="Text Box 59"/>
          <p:cNvSpPr txBox="1">
            <a:spLocks noChangeArrowheads="1"/>
          </p:cNvSpPr>
          <p:nvPr/>
        </p:nvSpPr>
        <p:spPr bwMode="auto">
          <a:xfrm>
            <a:off x="0" y="3295471"/>
            <a:ext cx="941388" cy="120032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sz="1800" dirty="0">
                <a:latin typeface="Calibri" pitchFamily="34" charset="0"/>
              </a:rPr>
              <a:t>critical section </a:t>
            </a:r>
            <a:r>
              <a:rPr lang="en-US" sz="1800" dirty="0" err="1">
                <a:latin typeface="Calibri" pitchFamily="34" charset="0"/>
              </a:rPr>
              <a:t>wrt</a:t>
            </a:r>
            <a:r>
              <a:rPr lang="en-US" sz="1800" dirty="0">
                <a:latin typeface="Calibri" pitchFamily="34" charset="0"/>
              </a:rPr>
              <a:t> </a:t>
            </a:r>
            <a:r>
              <a:rPr lang="en-US" sz="1800" dirty="0" err="1">
                <a:latin typeface="Courier New" pitchFamily="49" charset="0"/>
              </a:rPr>
              <a:t>cnt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2362200" y="3747156"/>
            <a:ext cx="1525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solidFill>
                  <a:srgbClr val="990000"/>
                </a:solidFill>
                <a:latin typeface="Calibri" pitchFamily="34" charset="0"/>
              </a:rPr>
              <a:t>Unsafe region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0C58FE-463B-02B5-695B-90A9C3709A9C}"/>
              </a:ext>
            </a:extLst>
          </p:cNvPr>
          <p:cNvSpPr>
            <a:spLocks/>
          </p:cNvSpPr>
          <p:nvPr/>
        </p:nvSpPr>
        <p:spPr bwMode="auto">
          <a:xfrm>
            <a:off x="0" y="6636634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ACD949-4BD1-55BD-78EE-3388666A76A9}"/>
              </a:ext>
            </a:extLst>
          </p:cNvPr>
          <p:cNvSpPr>
            <a:spLocks/>
          </p:cNvSpPr>
          <p:nvPr/>
        </p:nvSpPr>
        <p:spPr bwMode="auto">
          <a:xfrm>
            <a:off x="-6350" y="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 animBg="1"/>
      <p:bldP spid="126" grpId="0" animBg="1"/>
      <p:bldP spid="127" grpId="0" animBg="1"/>
      <p:bldP spid="128" grpId="0"/>
      <p:bldP spid="129" grpId="0"/>
      <p:bldP spid="13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angle 129"/>
          <p:cNvSpPr/>
          <p:nvPr/>
        </p:nvSpPr>
        <p:spPr bwMode="auto">
          <a:xfrm>
            <a:off x="2109747" y="2946758"/>
            <a:ext cx="2039112" cy="1965960"/>
          </a:xfrm>
          <a:prstGeom prst="rect">
            <a:avLst/>
          </a:prstGeom>
          <a:solidFill>
            <a:srgbClr val="F1C7C7"/>
          </a:solidFill>
          <a:ln w="25400">
            <a:noFill/>
            <a:round/>
            <a:headEnd/>
            <a:tailEnd/>
          </a:ln>
          <a:effectLst/>
        </p:spPr>
        <p:txBody>
          <a:bodyPr wrap="none" rtlCol="0" anchor="ctr">
            <a:spAutoFit/>
          </a:bodyPr>
          <a:lstStyle/>
          <a:p>
            <a:pPr algn="ctr"/>
            <a:endParaRPr lang="en-US"/>
          </a:p>
        </p:txBody>
      </p:sp>
      <p:sp>
        <p:nvSpPr>
          <p:cNvPr id="950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Sections and Unsafe Regions</a:t>
            </a:r>
          </a:p>
        </p:txBody>
      </p:sp>
      <p:sp>
        <p:nvSpPr>
          <p:cNvPr id="60" name="Line 4"/>
          <p:cNvSpPr>
            <a:spLocks noChangeAspect="1" noChangeShapeType="1"/>
          </p:cNvSpPr>
          <p:nvPr/>
        </p:nvSpPr>
        <p:spPr bwMode="auto">
          <a:xfrm flipV="1">
            <a:off x="1339501" y="5664200"/>
            <a:ext cx="381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 sz="2000" dirty="0">
              <a:latin typeface="Calibri" pitchFamily="34" charset="0"/>
            </a:endParaRPr>
          </a:p>
        </p:txBody>
      </p:sp>
      <p:sp>
        <p:nvSpPr>
          <p:cNvPr id="61" name="Line 5"/>
          <p:cNvSpPr>
            <a:spLocks noChangeAspect="1" noChangeShapeType="1"/>
          </p:cNvSpPr>
          <p:nvPr/>
        </p:nvSpPr>
        <p:spPr bwMode="auto">
          <a:xfrm flipH="1" flipV="1">
            <a:off x="1339501" y="1824038"/>
            <a:ext cx="0" cy="38401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 sz="2000" dirty="0">
              <a:latin typeface="Calibri" pitchFamily="34" charset="0"/>
            </a:endParaRPr>
          </a:p>
        </p:txBody>
      </p:sp>
      <p:sp>
        <p:nvSpPr>
          <p:cNvPr id="62" name="Text Box 6"/>
          <p:cNvSpPr txBox="1">
            <a:spLocks noChangeAspect="1" noChangeArrowheads="1"/>
          </p:cNvSpPr>
          <p:nvPr/>
        </p:nvSpPr>
        <p:spPr bwMode="auto">
          <a:xfrm>
            <a:off x="1493488" y="5667375"/>
            <a:ext cx="433132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>
                <a:latin typeface="Calibri" pitchFamily="34" charset="0"/>
              </a:rPr>
              <a:t>H</a:t>
            </a:r>
            <a:r>
              <a:rPr lang="en-US" sz="2000" baseline="-25000" dirty="0">
                <a:latin typeface="Calibri" pitchFamily="34" charset="0"/>
              </a:rPr>
              <a:t>1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63" name="Text Box 7"/>
          <p:cNvSpPr txBox="1">
            <a:spLocks noChangeAspect="1" noChangeArrowheads="1"/>
          </p:cNvSpPr>
          <p:nvPr/>
        </p:nvSpPr>
        <p:spPr bwMode="auto">
          <a:xfrm>
            <a:off x="2190401" y="5667375"/>
            <a:ext cx="380232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>
                <a:latin typeface="Calibri" pitchFamily="34" charset="0"/>
              </a:rPr>
              <a:t>L</a:t>
            </a:r>
            <a:r>
              <a:rPr lang="en-US" sz="2000" baseline="-25000" dirty="0">
                <a:latin typeface="Calibri" pitchFamily="34" charset="0"/>
              </a:rPr>
              <a:t>1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64" name="Text Box 8"/>
          <p:cNvSpPr txBox="1">
            <a:spLocks noChangeAspect="1" noChangeArrowheads="1"/>
          </p:cNvSpPr>
          <p:nvPr/>
        </p:nvSpPr>
        <p:spPr bwMode="auto">
          <a:xfrm>
            <a:off x="2890488" y="5667375"/>
            <a:ext cx="437940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>
                <a:latin typeface="Calibri" pitchFamily="34" charset="0"/>
              </a:rPr>
              <a:t>U</a:t>
            </a:r>
            <a:r>
              <a:rPr lang="en-US" sz="2000" baseline="-25000" dirty="0">
                <a:latin typeface="Calibri" pitchFamily="34" charset="0"/>
              </a:rPr>
              <a:t>1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65" name="Text Box 9"/>
          <p:cNvSpPr txBox="1">
            <a:spLocks noChangeAspect="1" noChangeArrowheads="1"/>
          </p:cNvSpPr>
          <p:nvPr/>
        </p:nvSpPr>
        <p:spPr bwMode="auto">
          <a:xfrm>
            <a:off x="3608038" y="5667375"/>
            <a:ext cx="393056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>
                <a:latin typeface="Calibri" pitchFamily="34" charset="0"/>
              </a:rPr>
              <a:t>S</a:t>
            </a:r>
            <a:r>
              <a:rPr lang="en-US" sz="2000" baseline="-25000" dirty="0">
                <a:latin typeface="Calibri" pitchFamily="34" charset="0"/>
              </a:rPr>
              <a:t>1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66" name="Text Box 10"/>
          <p:cNvSpPr txBox="1">
            <a:spLocks noChangeAspect="1" noChangeArrowheads="1"/>
          </p:cNvSpPr>
          <p:nvPr/>
        </p:nvSpPr>
        <p:spPr bwMode="auto">
          <a:xfrm>
            <a:off x="4333526" y="5667375"/>
            <a:ext cx="397866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>
                <a:latin typeface="Calibri" pitchFamily="34" charset="0"/>
              </a:rPr>
              <a:t>T</a:t>
            </a:r>
            <a:r>
              <a:rPr lang="en-US" sz="2000" baseline="-25000" dirty="0">
                <a:latin typeface="Calibri" pitchFamily="34" charset="0"/>
              </a:rPr>
              <a:t>1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67" name="Text Box 11"/>
          <p:cNvSpPr txBox="1">
            <a:spLocks noChangeAspect="1" noChangeArrowheads="1"/>
          </p:cNvSpPr>
          <p:nvPr/>
        </p:nvSpPr>
        <p:spPr bwMode="auto">
          <a:xfrm>
            <a:off x="958501" y="5108575"/>
            <a:ext cx="433132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>
                <a:latin typeface="Calibri" pitchFamily="34" charset="0"/>
              </a:rPr>
              <a:t>H</a:t>
            </a:r>
            <a:r>
              <a:rPr lang="en-US" sz="2000" baseline="-25000" dirty="0">
                <a:latin typeface="Calibri" pitchFamily="34" charset="0"/>
              </a:rPr>
              <a:t>2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68" name="Text Box 12"/>
          <p:cNvSpPr txBox="1">
            <a:spLocks noChangeAspect="1" noChangeArrowheads="1"/>
          </p:cNvSpPr>
          <p:nvPr/>
        </p:nvSpPr>
        <p:spPr bwMode="auto">
          <a:xfrm>
            <a:off x="987076" y="4413250"/>
            <a:ext cx="380232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>
                <a:latin typeface="Calibri" pitchFamily="34" charset="0"/>
              </a:rPr>
              <a:t>L</a:t>
            </a:r>
            <a:r>
              <a:rPr lang="en-US" sz="2000" baseline="-25000" dirty="0">
                <a:latin typeface="Calibri" pitchFamily="34" charset="0"/>
              </a:rPr>
              <a:t>2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69" name="Text Box 13"/>
          <p:cNvSpPr txBox="1">
            <a:spLocks noChangeAspect="1" noChangeArrowheads="1"/>
          </p:cNvSpPr>
          <p:nvPr/>
        </p:nvSpPr>
        <p:spPr bwMode="auto">
          <a:xfrm>
            <a:off x="958501" y="3692525"/>
            <a:ext cx="437940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>
                <a:latin typeface="Calibri" pitchFamily="34" charset="0"/>
              </a:rPr>
              <a:t>U</a:t>
            </a:r>
            <a:r>
              <a:rPr lang="en-US" sz="2000" baseline="-25000" dirty="0">
                <a:latin typeface="Calibri" pitchFamily="34" charset="0"/>
              </a:rPr>
              <a:t>2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70" name="Text Box 14"/>
          <p:cNvSpPr txBox="1">
            <a:spLocks noChangeAspect="1" noChangeArrowheads="1"/>
          </p:cNvSpPr>
          <p:nvPr/>
        </p:nvSpPr>
        <p:spPr bwMode="auto">
          <a:xfrm>
            <a:off x="969613" y="3011488"/>
            <a:ext cx="393056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>
                <a:latin typeface="Calibri" pitchFamily="34" charset="0"/>
              </a:rPr>
              <a:t>S</a:t>
            </a:r>
            <a:r>
              <a:rPr lang="en-US" sz="2000" baseline="-25000" dirty="0">
                <a:latin typeface="Calibri" pitchFamily="34" charset="0"/>
              </a:rPr>
              <a:t>2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71" name="Text Box 15"/>
          <p:cNvSpPr txBox="1">
            <a:spLocks noChangeAspect="1" noChangeArrowheads="1"/>
          </p:cNvSpPr>
          <p:nvPr/>
        </p:nvSpPr>
        <p:spPr bwMode="auto">
          <a:xfrm>
            <a:off x="980726" y="2292350"/>
            <a:ext cx="397866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>
                <a:latin typeface="Calibri" pitchFamily="34" charset="0"/>
              </a:rPr>
              <a:t>T</a:t>
            </a:r>
            <a:r>
              <a:rPr lang="en-US" sz="2000" baseline="-25000" dirty="0">
                <a:latin typeface="Calibri" pitchFamily="34" charset="0"/>
              </a:rPr>
              <a:t>2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72" name="Text Box 41"/>
          <p:cNvSpPr txBox="1">
            <a:spLocks noChangeAspect="1" noChangeArrowheads="1"/>
          </p:cNvSpPr>
          <p:nvPr/>
        </p:nvSpPr>
        <p:spPr bwMode="auto">
          <a:xfrm>
            <a:off x="5128863" y="5495925"/>
            <a:ext cx="1119537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2000" dirty="0">
                <a:latin typeface="Calibri" pitchFamily="34" charset="0"/>
              </a:rPr>
              <a:t>Thread 1</a:t>
            </a:r>
          </a:p>
        </p:txBody>
      </p:sp>
      <p:sp>
        <p:nvSpPr>
          <p:cNvPr id="73" name="Text Box 42"/>
          <p:cNvSpPr txBox="1">
            <a:spLocks noChangeAspect="1" noChangeArrowheads="1"/>
          </p:cNvSpPr>
          <p:nvPr/>
        </p:nvSpPr>
        <p:spPr bwMode="auto">
          <a:xfrm>
            <a:off x="783862" y="1395453"/>
            <a:ext cx="1119537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2000" dirty="0">
                <a:latin typeface="Calibri" pitchFamily="34" charset="0"/>
              </a:rPr>
              <a:t>Thread 2</a:t>
            </a:r>
          </a:p>
        </p:txBody>
      </p:sp>
      <p:grpSp>
        <p:nvGrpSpPr>
          <p:cNvPr id="2" name="Group 73"/>
          <p:cNvGrpSpPr/>
          <p:nvPr/>
        </p:nvGrpSpPr>
        <p:grpSpPr>
          <a:xfrm>
            <a:off x="1298444" y="2141578"/>
            <a:ext cx="76200" cy="3546475"/>
            <a:chOff x="770156" y="1852653"/>
            <a:chExt cx="76200" cy="3546475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75" name="Oval 74"/>
            <p:cNvSpPr/>
            <p:nvPr/>
          </p:nvSpPr>
          <p:spPr bwMode="auto">
            <a:xfrm>
              <a:off x="770156" y="532292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76" name="Oval 75"/>
            <p:cNvSpPr/>
            <p:nvPr/>
          </p:nvSpPr>
          <p:spPr bwMode="auto">
            <a:xfrm>
              <a:off x="770156" y="462887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Oval 76"/>
            <p:cNvSpPr/>
            <p:nvPr/>
          </p:nvSpPr>
          <p:spPr bwMode="auto">
            <a:xfrm>
              <a:off x="770156" y="393481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Oval 77"/>
            <p:cNvSpPr/>
            <p:nvPr/>
          </p:nvSpPr>
          <p:spPr bwMode="auto">
            <a:xfrm>
              <a:off x="770156" y="324076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Oval 78"/>
            <p:cNvSpPr/>
            <p:nvPr/>
          </p:nvSpPr>
          <p:spPr bwMode="auto">
            <a:xfrm>
              <a:off x="770156" y="254670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Oval 79"/>
            <p:cNvSpPr/>
            <p:nvPr/>
          </p:nvSpPr>
          <p:spPr bwMode="auto">
            <a:xfrm>
              <a:off x="770156" y="185265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3" name="Group 80"/>
          <p:cNvGrpSpPr/>
          <p:nvPr/>
        </p:nvGrpSpPr>
        <p:grpSpPr>
          <a:xfrm>
            <a:off x="2013093" y="2152650"/>
            <a:ext cx="76200" cy="3546475"/>
            <a:chOff x="770156" y="1852653"/>
            <a:chExt cx="76200" cy="3546475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82" name="Oval 81"/>
            <p:cNvSpPr/>
            <p:nvPr/>
          </p:nvSpPr>
          <p:spPr bwMode="auto">
            <a:xfrm>
              <a:off x="770156" y="532292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83" name="Oval 82"/>
            <p:cNvSpPr/>
            <p:nvPr/>
          </p:nvSpPr>
          <p:spPr bwMode="auto">
            <a:xfrm>
              <a:off x="770156" y="462887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84" name="Oval 83"/>
            <p:cNvSpPr/>
            <p:nvPr/>
          </p:nvSpPr>
          <p:spPr bwMode="auto">
            <a:xfrm>
              <a:off x="770156" y="393481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85" name="Oval 84"/>
            <p:cNvSpPr/>
            <p:nvPr/>
          </p:nvSpPr>
          <p:spPr bwMode="auto">
            <a:xfrm>
              <a:off x="770156" y="324076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86" name="Oval 85"/>
            <p:cNvSpPr/>
            <p:nvPr/>
          </p:nvSpPr>
          <p:spPr bwMode="auto">
            <a:xfrm>
              <a:off x="770156" y="254670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87" name="Oval 86"/>
            <p:cNvSpPr/>
            <p:nvPr/>
          </p:nvSpPr>
          <p:spPr bwMode="auto">
            <a:xfrm>
              <a:off x="770156" y="185265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4" name="Group 87"/>
          <p:cNvGrpSpPr/>
          <p:nvPr/>
        </p:nvGrpSpPr>
        <p:grpSpPr>
          <a:xfrm>
            <a:off x="2727742" y="2152650"/>
            <a:ext cx="76200" cy="3546475"/>
            <a:chOff x="770156" y="1852653"/>
            <a:chExt cx="76200" cy="3546475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89" name="Oval 88"/>
            <p:cNvSpPr/>
            <p:nvPr/>
          </p:nvSpPr>
          <p:spPr bwMode="auto">
            <a:xfrm>
              <a:off x="770156" y="532292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90" name="Oval 89"/>
            <p:cNvSpPr/>
            <p:nvPr/>
          </p:nvSpPr>
          <p:spPr bwMode="auto">
            <a:xfrm>
              <a:off x="770156" y="462887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91" name="Oval 90"/>
            <p:cNvSpPr/>
            <p:nvPr/>
          </p:nvSpPr>
          <p:spPr bwMode="auto">
            <a:xfrm>
              <a:off x="770156" y="393481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92" name="Oval 91"/>
            <p:cNvSpPr/>
            <p:nvPr/>
          </p:nvSpPr>
          <p:spPr bwMode="auto">
            <a:xfrm>
              <a:off x="770156" y="324076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93" name="Oval 92"/>
            <p:cNvSpPr/>
            <p:nvPr/>
          </p:nvSpPr>
          <p:spPr bwMode="auto">
            <a:xfrm>
              <a:off x="770156" y="2546708"/>
              <a:ext cx="76200" cy="762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94" name="Oval 93"/>
            <p:cNvSpPr/>
            <p:nvPr/>
          </p:nvSpPr>
          <p:spPr bwMode="auto">
            <a:xfrm>
              <a:off x="770156" y="185265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5" name="Group 94"/>
          <p:cNvGrpSpPr/>
          <p:nvPr/>
        </p:nvGrpSpPr>
        <p:grpSpPr>
          <a:xfrm>
            <a:off x="3442391" y="2152650"/>
            <a:ext cx="76200" cy="3546475"/>
            <a:chOff x="770156" y="1852653"/>
            <a:chExt cx="76200" cy="3546475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96" name="Oval 95"/>
            <p:cNvSpPr/>
            <p:nvPr/>
          </p:nvSpPr>
          <p:spPr bwMode="auto">
            <a:xfrm>
              <a:off x="770156" y="532292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97" name="Oval 96"/>
            <p:cNvSpPr/>
            <p:nvPr/>
          </p:nvSpPr>
          <p:spPr bwMode="auto">
            <a:xfrm>
              <a:off x="770156" y="462887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98" name="Oval 97"/>
            <p:cNvSpPr/>
            <p:nvPr/>
          </p:nvSpPr>
          <p:spPr bwMode="auto">
            <a:xfrm>
              <a:off x="770156" y="393481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99" name="Oval 98"/>
            <p:cNvSpPr/>
            <p:nvPr/>
          </p:nvSpPr>
          <p:spPr bwMode="auto">
            <a:xfrm>
              <a:off x="770156" y="324076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100" name="Oval 99"/>
            <p:cNvSpPr/>
            <p:nvPr/>
          </p:nvSpPr>
          <p:spPr bwMode="auto">
            <a:xfrm>
              <a:off x="770156" y="254670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101" name="Oval 100"/>
            <p:cNvSpPr/>
            <p:nvPr/>
          </p:nvSpPr>
          <p:spPr bwMode="auto">
            <a:xfrm>
              <a:off x="770156" y="185265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6" name="Group 101"/>
          <p:cNvGrpSpPr/>
          <p:nvPr/>
        </p:nvGrpSpPr>
        <p:grpSpPr>
          <a:xfrm>
            <a:off x="4157040" y="2152650"/>
            <a:ext cx="76200" cy="3546475"/>
            <a:chOff x="770156" y="1852653"/>
            <a:chExt cx="76200" cy="3546475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103" name="Oval 102"/>
            <p:cNvSpPr/>
            <p:nvPr/>
          </p:nvSpPr>
          <p:spPr bwMode="auto">
            <a:xfrm>
              <a:off x="770156" y="532292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104" name="Oval 103"/>
            <p:cNvSpPr/>
            <p:nvPr/>
          </p:nvSpPr>
          <p:spPr bwMode="auto">
            <a:xfrm>
              <a:off x="770156" y="462887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105" name="Oval 104"/>
            <p:cNvSpPr/>
            <p:nvPr/>
          </p:nvSpPr>
          <p:spPr bwMode="auto">
            <a:xfrm>
              <a:off x="770156" y="393481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106" name="Oval 105"/>
            <p:cNvSpPr/>
            <p:nvPr/>
          </p:nvSpPr>
          <p:spPr bwMode="auto">
            <a:xfrm>
              <a:off x="770156" y="324076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107" name="Oval 106"/>
            <p:cNvSpPr/>
            <p:nvPr/>
          </p:nvSpPr>
          <p:spPr bwMode="auto">
            <a:xfrm>
              <a:off x="770156" y="254670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108" name="Oval 107"/>
            <p:cNvSpPr/>
            <p:nvPr/>
          </p:nvSpPr>
          <p:spPr bwMode="auto">
            <a:xfrm>
              <a:off x="770156" y="185265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7" name="Group 108"/>
          <p:cNvGrpSpPr/>
          <p:nvPr/>
        </p:nvGrpSpPr>
        <p:grpSpPr>
          <a:xfrm>
            <a:off x="4871688" y="2152650"/>
            <a:ext cx="76200" cy="3546475"/>
            <a:chOff x="770156" y="1852653"/>
            <a:chExt cx="76200" cy="3546475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110" name="Oval 109"/>
            <p:cNvSpPr/>
            <p:nvPr/>
          </p:nvSpPr>
          <p:spPr bwMode="auto">
            <a:xfrm>
              <a:off x="770156" y="532292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111" name="Oval 110"/>
            <p:cNvSpPr/>
            <p:nvPr/>
          </p:nvSpPr>
          <p:spPr bwMode="auto">
            <a:xfrm>
              <a:off x="770156" y="462887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112" name="Oval 111"/>
            <p:cNvSpPr/>
            <p:nvPr/>
          </p:nvSpPr>
          <p:spPr bwMode="auto">
            <a:xfrm>
              <a:off x="770156" y="393481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113" name="Oval 112"/>
            <p:cNvSpPr/>
            <p:nvPr/>
          </p:nvSpPr>
          <p:spPr bwMode="auto">
            <a:xfrm>
              <a:off x="770156" y="324076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114" name="Oval 113"/>
            <p:cNvSpPr/>
            <p:nvPr/>
          </p:nvSpPr>
          <p:spPr bwMode="auto">
            <a:xfrm>
              <a:off x="770156" y="2546708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115" name="Oval 114"/>
            <p:cNvSpPr/>
            <p:nvPr/>
          </p:nvSpPr>
          <p:spPr bwMode="auto">
            <a:xfrm>
              <a:off x="770156" y="1852653"/>
              <a:ext cx="76200" cy="76200"/>
            </a:xfrm>
            <a:prstGeom prst="ellipse">
              <a:avLst/>
            </a:prstGeom>
            <a:grpFill/>
            <a:ln w="254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26" name="AutoShape 56"/>
          <p:cNvSpPr>
            <a:spLocks/>
          </p:cNvSpPr>
          <p:nvPr/>
        </p:nvSpPr>
        <p:spPr bwMode="auto">
          <a:xfrm>
            <a:off x="825500" y="2895600"/>
            <a:ext cx="241300" cy="2070100"/>
          </a:xfrm>
          <a:prstGeom prst="leftBrace">
            <a:avLst>
              <a:gd name="adj1" fmla="val 71491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27" name="AutoShape 57"/>
          <p:cNvSpPr>
            <a:spLocks/>
          </p:cNvSpPr>
          <p:nvPr/>
        </p:nvSpPr>
        <p:spPr bwMode="auto">
          <a:xfrm rot="-5400000">
            <a:off x="3045937" y="5143500"/>
            <a:ext cx="241300" cy="2070100"/>
          </a:xfrm>
          <a:prstGeom prst="leftBrace">
            <a:avLst>
              <a:gd name="adj1" fmla="val 71491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28" name="Text Box 58"/>
          <p:cNvSpPr txBox="1">
            <a:spLocks noChangeArrowheads="1"/>
          </p:cNvSpPr>
          <p:nvPr/>
        </p:nvSpPr>
        <p:spPr bwMode="auto">
          <a:xfrm>
            <a:off x="1972787" y="6270625"/>
            <a:ext cx="2411493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 dirty="0">
                <a:latin typeface="Calibri" pitchFamily="34" charset="0"/>
              </a:rPr>
              <a:t>critical section </a:t>
            </a:r>
            <a:r>
              <a:rPr lang="en-US" sz="1800" dirty="0" err="1">
                <a:latin typeface="Calibri" pitchFamily="34" charset="0"/>
              </a:rPr>
              <a:t>wrt</a:t>
            </a:r>
            <a:r>
              <a:rPr lang="en-US" sz="1800" dirty="0">
                <a:latin typeface="Calibri" pitchFamily="34" charset="0"/>
              </a:rPr>
              <a:t> </a:t>
            </a:r>
            <a:r>
              <a:rPr lang="en-US" sz="1800" dirty="0" err="1">
                <a:latin typeface="Courier New" pitchFamily="49" charset="0"/>
              </a:rPr>
              <a:t>cnt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129" name="Text Box 59"/>
          <p:cNvSpPr txBox="1">
            <a:spLocks noChangeArrowheads="1"/>
          </p:cNvSpPr>
          <p:nvPr/>
        </p:nvSpPr>
        <p:spPr bwMode="auto">
          <a:xfrm>
            <a:off x="0" y="3295471"/>
            <a:ext cx="941388" cy="120032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sz="1800" dirty="0">
                <a:latin typeface="Calibri" pitchFamily="34" charset="0"/>
              </a:rPr>
              <a:t>critical section </a:t>
            </a:r>
            <a:r>
              <a:rPr lang="en-US" sz="1800" dirty="0" err="1">
                <a:latin typeface="Calibri" pitchFamily="34" charset="0"/>
              </a:rPr>
              <a:t>wrt</a:t>
            </a:r>
            <a:r>
              <a:rPr lang="en-US" sz="1800" dirty="0">
                <a:latin typeface="Calibri" pitchFamily="34" charset="0"/>
              </a:rPr>
              <a:t> </a:t>
            </a:r>
            <a:r>
              <a:rPr lang="en-US" sz="1800" dirty="0" err="1">
                <a:latin typeface="Courier New" pitchFamily="49" charset="0"/>
              </a:rPr>
              <a:t>cnt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2362200" y="3747156"/>
            <a:ext cx="1525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solidFill>
                  <a:srgbClr val="990000"/>
                </a:solidFill>
                <a:latin typeface="Calibri" pitchFamily="34" charset="0"/>
              </a:rPr>
              <a:t>Unsafe region</a:t>
            </a:r>
          </a:p>
        </p:txBody>
      </p:sp>
      <p:sp>
        <p:nvSpPr>
          <p:cNvPr id="74" name="Text Box 3"/>
          <p:cNvSpPr txBox="1">
            <a:spLocks noChangeArrowheads="1"/>
          </p:cNvSpPr>
          <p:nvPr/>
        </p:nvSpPr>
        <p:spPr bwMode="auto">
          <a:xfrm>
            <a:off x="5334000" y="2180491"/>
            <a:ext cx="3505200" cy="166199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 tIns="0" bIns="0" anchor="ctr">
            <a:spAutoFit/>
          </a:bodyPr>
          <a:lstStyle/>
          <a:p>
            <a:r>
              <a:rPr lang="en-US" sz="1800" i="1" dirty="0">
                <a:solidFill>
                  <a:srgbClr val="C00000"/>
                </a:solidFill>
                <a:latin typeface="Calibri" pitchFamily="34" charset="0"/>
              </a:rPr>
              <a:t>Def:</a:t>
            </a:r>
            <a:r>
              <a:rPr lang="en-US" sz="1800" i="1" dirty="0">
                <a:latin typeface="Calibri" pitchFamily="34" charset="0"/>
              </a:rPr>
              <a:t> </a:t>
            </a:r>
            <a:r>
              <a:rPr lang="en-US" sz="1800" dirty="0">
                <a:latin typeface="Calibri" pitchFamily="34" charset="0"/>
              </a:rPr>
              <a:t>A trajectory is </a:t>
            </a:r>
            <a:r>
              <a:rPr lang="en-US" sz="1800" i="1" dirty="0">
                <a:solidFill>
                  <a:srgbClr val="C00000"/>
                </a:solidFill>
                <a:latin typeface="Calibri" pitchFamily="34" charset="0"/>
              </a:rPr>
              <a:t>safe  </a:t>
            </a:r>
            <a:r>
              <a:rPr lang="en-US" sz="1800" dirty="0" err="1">
                <a:latin typeface="Calibri" pitchFamily="34" charset="0"/>
              </a:rPr>
              <a:t>iff</a:t>
            </a:r>
            <a:r>
              <a:rPr lang="en-US" sz="1800" dirty="0">
                <a:latin typeface="Calibri" pitchFamily="34" charset="0"/>
              </a:rPr>
              <a:t> it does not enter any unsafe region</a:t>
            </a:r>
          </a:p>
          <a:p>
            <a:endParaRPr lang="en-US" sz="1800" dirty="0">
              <a:latin typeface="Calibri" pitchFamily="34" charset="0"/>
            </a:endParaRPr>
          </a:p>
          <a:p>
            <a:r>
              <a:rPr lang="en-US" sz="1800" i="1" dirty="0">
                <a:solidFill>
                  <a:srgbClr val="C00000"/>
                </a:solidFill>
                <a:latin typeface="Calibri" pitchFamily="34" charset="0"/>
              </a:rPr>
              <a:t>Claim:</a:t>
            </a:r>
            <a:r>
              <a:rPr lang="en-US" sz="1800" i="1" dirty="0">
                <a:latin typeface="Calibri" pitchFamily="34" charset="0"/>
              </a:rPr>
              <a:t> </a:t>
            </a:r>
            <a:r>
              <a:rPr lang="en-US" sz="1800" dirty="0">
                <a:latin typeface="Calibri" pitchFamily="34" charset="0"/>
              </a:rPr>
              <a:t>A trajectory is  correct (</a:t>
            </a:r>
            <a:r>
              <a:rPr lang="en-US" sz="1800" dirty="0" err="1">
                <a:latin typeface="Calibri" pitchFamily="34" charset="0"/>
              </a:rPr>
              <a:t>wrt</a:t>
            </a:r>
            <a:r>
              <a:rPr lang="en-US" sz="1800" dirty="0">
                <a:latin typeface="Calibri" pitchFamily="34" charset="0"/>
              </a:rPr>
              <a:t> </a:t>
            </a:r>
            <a:r>
              <a:rPr lang="en-US" sz="1800" dirty="0" err="1">
                <a:latin typeface="Courier New" pitchFamily="49" charset="0"/>
              </a:rPr>
              <a:t>cnt</a:t>
            </a:r>
            <a:r>
              <a:rPr lang="en-US" sz="1800" dirty="0">
                <a:latin typeface="Calibri" pitchFamily="34" charset="0"/>
              </a:rPr>
              <a:t>)  </a:t>
            </a:r>
            <a:r>
              <a:rPr lang="en-US" sz="1800" dirty="0" err="1">
                <a:latin typeface="Calibri" pitchFamily="34" charset="0"/>
              </a:rPr>
              <a:t>iff</a:t>
            </a:r>
            <a:r>
              <a:rPr lang="en-US" sz="1800" dirty="0">
                <a:latin typeface="Calibri" pitchFamily="34" charset="0"/>
              </a:rPr>
              <a:t> it is safe</a:t>
            </a:r>
          </a:p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81" name="Line 54"/>
          <p:cNvSpPr>
            <a:spLocks noChangeShapeType="1"/>
          </p:cNvSpPr>
          <p:nvPr/>
        </p:nvSpPr>
        <p:spPr bwMode="auto">
          <a:xfrm>
            <a:off x="1311302" y="5653128"/>
            <a:ext cx="731520" cy="9525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88" name="Line 55"/>
          <p:cNvSpPr>
            <a:spLocks noChangeShapeType="1"/>
          </p:cNvSpPr>
          <p:nvPr/>
        </p:nvSpPr>
        <p:spPr bwMode="auto">
          <a:xfrm>
            <a:off x="2057332" y="5653128"/>
            <a:ext cx="739775" cy="0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95" name="Line 56"/>
          <p:cNvSpPr>
            <a:spLocks noChangeShapeType="1"/>
          </p:cNvSpPr>
          <p:nvPr/>
        </p:nvSpPr>
        <p:spPr bwMode="auto">
          <a:xfrm>
            <a:off x="2851082" y="5653128"/>
            <a:ext cx="655638" cy="0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02" name="Line 57"/>
          <p:cNvSpPr>
            <a:spLocks noChangeShapeType="1"/>
          </p:cNvSpPr>
          <p:nvPr/>
        </p:nvSpPr>
        <p:spPr bwMode="auto">
          <a:xfrm flipV="1">
            <a:off x="3490791" y="4978454"/>
            <a:ext cx="0" cy="633412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09" name="Line 58"/>
          <p:cNvSpPr>
            <a:spLocks noChangeShapeType="1"/>
          </p:cNvSpPr>
          <p:nvPr/>
        </p:nvSpPr>
        <p:spPr bwMode="auto">
          <a:xfrm flipV="1">
            <a:off x="3481266" y="4268841"/>
            <a:ext cx="0" cy="647700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6" name="Line 59"/>
          <p:cNvSpPr>
            <a:spLocks noChangeShapeType="1"/>
          </p:cNvSpPr>
          <p:nvPr/>
        </p:nvSpPr>
        <p:spPr bwMode="auto">
          <a:xfrm>
            <a:off x="3541645" y="4278420"/>
            <a:ext cx="655637" cy="0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7" name="Line 60"/>
          <p:cNvSpPr>
            <a:spLocks noChangeShapeType="1"/>
          </p:cNvSpPr>
          <p:nvPr/>
        </p:nvSpPr>
        <p:spPr bwMode="auto">
          <a:xfrm>
            <a:off x="4232207" y="4278420"/>
            <a:ext cx="655638" cy="0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8" name="Line 61"/>
          <p:cNvSpPr>
            <a:spLocks noChangeShapeType="1"/>
          </p:cNvSpPr>
          <p:nvPr/>
        </p:nvSpPr>
        <p:spPr bwMode="auto">
          <a:xfrm flipV="1">
            <a:off x="4913245" y="3560803"/>
            <a:ext cx="0" cy="647700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9" name="Line 62"/>
          <p:cNvSpPr>
            <a:spLocks noChangeShapeType="1"/>
          </p:cNvSpPr>
          <p:nvPr/>
        </p:nvSpPr>
        <p:spPr bwMode="auto">
          <a:xfrm flipV="1">
            <a:off x="4913245" y="2846428"/>
            <a:ext cx="0" cy="647700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20" name="Line 63"/>
          <p:cNvSpPr>
            <a:spLocks noChangeShapeType="1"/>
          </p:cNvSpPr>
          <p:nvPr/>
        </p:nvSpPr>
        <p:spPr bwMode="auto">
          <a:xfrm flipV="1">
            <a:off x="4913245" y="2146340"/>
            <a:ext cx="0" cy="647700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4513391" y="4343400"/>
            <a:ext cx="820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unsafe</a:t>
            </a:r>
          </a:p>
        </p:txBody>
      </p:sp>
      <p:sp>
        <p:nvSpPr>
          <p:cNvPr id="122" name="Line 61"/>
          <p:cNvSpPr>
            <a:spLocks noChangeShapeType="1"/>
          </p:cNvSpPr>
          <p:nvPr/>
        </p:nvSpPr>
        <p:spPr bwMode="auto">
          <a:xfrm flipV="1">
            <a:off x="1331845" y="4987912"/>
            <a:ext cx="0" cy="647700"/>
          </a:xfrm>
          <a:prstGeom prst="line">
            <a:avLst/>
          </a:prstGeom>
          <a:noFill/>
          <a:ln w="38100">
            <a:solidFill>
              <a:schemeClr val="accent5">
                <a:lumMod val="50000"/>
              </a:schemeClr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23" name="Line 62"/>
          <p:cNvSpPr>
            <a:spLocks noChangeShapeType="1"/>
          </p:cNvSpPr>
          <p:nvPr/>
        </p:nvSpPr>
        <p:spPr bwMode="auto">
          <a:xfrm flipV="1">
            <a:off x="1331845" y="4273537"/>
            <a:ext cx="0" cy="647700"/>
          </a:xfrm>
          <a:prstGeom prst="line">
            <a:avLst/>
          </a:prstGeom>
          <a:noFill/>
          <a:ln w="38100">
            <a:solidFill>
              <a:schemeClr val="accent5">
                <a:lumMod val="50000"/>
              </a:schemeClr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24" name="Line 63"/>
          <p:cNvSpPr>
            <a:spLocks noChangeShapeType="1"/>
          </p:cNvSpPr>
          <p:nvPr/>
        </p:nvSpPr>
        <p:spPr bwMode="auto">
          <a:xfrm flipV="1">
            <a:off x="1331845" y="3573449"/>
            <a:ext cx="0" cy="647700"/>
          </a:xfrm>
          <a:prstGeom prst="line">
            <a:avLst/>
          </a:prstGeom>
          <a:noFill/>
          <a:ln w="38100">
            <a:solidFill>
              <a:schemeClr val="accent5">
                <a:lumMod val="50000"/>
              </a:schemeClr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25" name="Line 60"/>
          <p:cNvSpPr>
            <a:spLocks noChangeShapeType="1"/>
          </p:cNvSpPr>
          <p:nvPr/>
        </p:nvSpPr>
        <p:spPr bwMode="auto">
          <a:xfrm>
            <a:off x="1371600" y="3576772"/>
            <a:ext cx="655638" cy="0"/>
          </a:xfrm>
          <a:prstGeom prst="line">
            <a:avLst/>
          </a:prstGeom>
          <a:noFill/>
          <a:ln w="38100">
            <a:solidFill>
              <a:schemeClr val="accent5">
                <a:lumMod val="50000"/>
              </a:schemeClr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32" name="Line 61"/>
          <p:cNvSpPr>
            <a:spLocks noChangeShapeType="1"/>
          </p:cNvSpPr>
          <p:nvPr/>
        </p:nvSpPr>
        <p:spPr bwMode="auto">
          <a:xfrm flipV="1">
            <a:off x="2052638" y="2859155"/>
            <a:ext cx="0" cy="647700"/>
          </a:xfrm>
          <a:prstGeom prst="line">
            <a:avLst/>
          </a:prstGeom>
          <a:noFill/>
          <a:ln w="38100">
            <a:solidFill>
              <a:schemeClr val="accent5">
                <a:lumMod val="50000"/>
              </a:schemeClr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33" name="Line 60"/>
          <p:cNvSpPr>
            <a:spLocks noChangeShapeType="1"/>
          </p:cNvSpPr>
          <p:nvPr/>
        </p:nvSpPr>
        <p:spPr bwMode="auto">
          <a:xfrm>
            <a:off x="2090656" y="2895613"/>
            <a:ext cx="655638" cy="0"/>
          </a:xfrm>
          <a:prstGeom prst="line">
            <a:avLst/>
          </a:prstGeom>
          <a:noFill/>
          <a:ln w="38100">
            <a:solidFill>
              <a:schemeClr val="accent5">
                <a:lumMod val="50000"/>
              </a:schemeClr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34" name="Line 61"/>
          <p:cNvSpPr>
            <a:spLocks noChangeShapeType="1"/>
          </p:cNvSpPr>
          <p:nvPr/>
        </p:nvSpPr>
        <p:spPr bwMode="auto">
          <a:xfrm flipV="1">
            <a:off x="2771694" y="2177996"/>
            <a:ext cx="0" cy="647700"/>
          </a:xfrm>
          <a:prstGeom prst="line">
            <a:avLst/>
          </a:prstGeom>
          <a:noFill/>
          <a:ln w="38100">
            <a:solidFill>
              <a:schemeClr val="accent5">
                <a:lumMod val="50000"/>
              </a:schemeClr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35" name="Line 54"/>
          <p:cNvSpPr>
            <a:spLocks noChangeShapeType="1"/>
          </p:cNvSpPr>
          <p:nvPr/>
        </p:nvSpPr>
        <p:spPr bwMode="auto">
          <a:xfrm>
            <a:off x="2757582" y="2184373"/>
            <a:ext cx="731520" cy="9525"/>
          </a:xfrm>
          <a:prstGeom prst="line">
            <a:avLst/>
          </a:prstGeom>
          <a:noFill/>
          <a:ln w="38100">
            <a:solidFill>
              <a:schemeClr val="accent5">
                <a:lumMod val="50000"/>
              </a:schemeClr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36" name="Line 55"/>
          <p:cNvSpPr>
            <a:spLocks noChangeShapeType="1"/>
          </p:cNvSpPr>
          <p:nvPr/>
        </p:nvSpPr>
        <p:spPr bwMode="auto">
          <a:xfrm>
            <a:off x="3503612" y="2184373"/>
            <a:ext cx="739775" cy="0"/>
          </a:xfrm>
          <a:prstGeom prst="line">
            <a:avLst/>
          </a:prstGeom>
          <a:noFill/>
          <a:ln w="38100">
            <a:solidFill>
              <a:schemeClr val="accent5">
                <a:lumMod val="50000"/>
              </a:schemeClr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37" name="Line 56"/>
          <p:cNvSpPr>
            <a:spLocks noChangeShapeType="1"/>
          </p:cNvSpPr>
          <p:nvPr/>
        </p:nvSpPr>
        <p:spPr bwMode="auto">
          <a:xfrm>
            <a:off x="4297362" y="2184373"/>
            <a:ext cx="655638" cy="0"/>
          </a:xfrm>
          <a:prstGeom prst="line">
            <a:avLst/>
          </a:prstGeom>
          <a:noFill/>
          <a:ln w="38100">
            <a:solidFill>
              <a:schemeClr val="accent5">
                <a:lumMod val="50000"/>
              </a:schemeClr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3160053" y="1764268"/>
            <a:ext cx="573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</a:rPr>
              <a:t>safe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95A36C-E293-F190-33C8-5FC92686AD7A}"/>
              </a:ext>
            </a:extLst>
          </p:cNvPr>
          <p:cNvSpPr>
            <a:spLocks/>
          </p:cNvSpPr>
          <p:nvPr/>
        </p:nvSpPr>
        <p:spPr bwMode="auto">
          <a:xfrm>
            <a:off x="0" y="6636634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6E868C-5DBC-9DDC-7706-D7D26C00705A}"/>
              </a:ext>
            </a:extLst>
          </p:cNvPr>
          <p:cNvSpPr>
            <a:spLocks/>
          </p:cNvSpPr>
          <p:nvPr/>
        </p:nvSpPr>
        <p:spPr bwMode="auto">
          <a:xfrm>
            <a:off x="-6350" y="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animBg="1"/>
      <p:bldP spid="88" grpId="0" animBg="1"/>
      <p:bldP spid="95" grpId="0" animBg="1"/>
      <p:bldP spid="102" grpId="0" animBg="1"/>
      <p:bldP spid="109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/>
      <p:bldP spid="122" grpId="0" animBg="1"/>
      <p:bldP spid="123" grpId="0" animBg="1"/>
      <p:bldP spid="124" grpId="0" animBg="1"/>
      <p:bldP spid="125" grpId="0" animBg="1"/>
      <p:bldP spid="132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37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7759700" cy="573088"/>
          </a:xfrm>
        </p:spPr>
        <p:txBody>
          <a:bodyPr/>
          <a:lstStyle/>
          <a:p>
            <a:r>
              <a:rPr lang="en-US" dirty="0"/>
              <a:t>Enforcing Mutual Exclusion</a:t>
            </a:r>
          </a:p>
        </p:txBody>
      </p:sp>
      <p:sp>
        <p:nvSpPr>
          <p:cNvPr id="954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6875" y="1200150"/>
            <a:ext cx="8442325" cy="4972050"/>
          </a:xfrm>
        </p:spPr>
        <p:txBody>
          <a:bodyPr/>
          <a:lstStyle/>
          <a:p>
            <a:pPr>
              <a:lnSpc>
                <a:spcPct val="85000"/>
              </a:lnSpc>
            </a:pPr>
            <a:r>
              <a:rPr lang="en-US" i="1" dirty="0"/>
              <a:t>Question:</a:t>
            </a:r>
            <a:r>
              <a:rPr lang="en-US" dirty="0"/>
              <a:t> How can we guarantee a safe trajectory?</a:t>
            </a:r>
          </a:p>
          <a:p>
            <a:pPr lvl="1"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Answer: We must </a:t>
            </a:r>
            <a:r>
              <a:rPr lang="en-US" b="1" i="1" dirty="0">
                <a:solidFill>
                  <a:srgbClr val="FF0000"/>
                </a:solidFill>
              </a:rPr>
              <a:t>synchroniz</a:t>
            </a:r>
            <a:r>
              <a:rPr lang="en-US" b="1" i="1" dirty="0">
                <a:solidFill>
                  <a:srgbClr val="9D3E40"/>
                </a:solidFill>
              </a:rPr>
              <a:t>e</a:t>
            </a:r>
            <a:r>
              <a:rPr lang="en-US" i="1" dirty="0"/>
              <a:t> </a:t>
            </a:r>
            <a:r>
              <a:rPr lang="en-US" dirty="0"/>
              <a:t>the execution of the threads so that they can never have an unsafe trajectory.	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i.e., need to guarantee </a:t>
            </a:r>
            <a:r>
              <a:rPr lang="en-US" b="1" i="1" dirty="0">
                <a:solidFill>
                  <a:srgbClr val="FF0000"/>
                </a:solidFill>
              </a:rPr>
              <a:t>mutually exclusive access </a:t>
            </a:r>
            <a:r>
              <a:rPr lang="en-US" dirty="0"/>
              <a:t>for each critical section.</a:t>
            </a:r>
          </a:p>
          <a:p>
            <a:pPr lvl="1"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Classic solution: 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Semaphores (</a:t>
            </a:r>
            <a:r>
              <a:rPr lang="en-US" dirty="0" err="1"/>
              <a:t>Edsger</a:t>
            </a:r>
            <a:r>
              <a:rPr lang="en-US" dirty="0"/>
              <a:t> </a:t>
            </a:r>
            <a:r>
              <a:rPr lang="en-US" dirty="0" err="1"/>
              <a:t>Dijkstra</a:t>
            </a:r>
            <a:r>
              <a:rPr lang="en-US" dirty="0"/>
              <a:t>)</a:t>
            </a:r>
          </a:p>
          <a:p>
            <a:pPr lvl="1">
              <a:lnSpc>
                <a:spcPct val="90000"/>
              </a:lnSpc>
              <a:buNone/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Other approaches (out of our scope)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Mutex and condition variables (</a:t>
            </a:r>
            <a:r>
              <a:rPr lang="en-US" dirty="0" err="1"/>
              <a:t>Pthreads</a:t>
            </a:r>
            <a:r>
              <a:rPr lang="en-US" dirty="0"/>
              <a:t>)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Monitors (Java)</a:t>
            </a:r>
          </a:p>
          <a:p>
            <a:pPr lvl="1">
              <a:lnSpc>
                <a:spcPct val="90000"/>
              </a:lnSpc>
            </a:pPr>
            <a:endParaRPr lang="en-US" dirty="0"/>
          </a:p>
          <a:p>
            <a:pPr lvl="1">
              <a:lnSpc>
                <a:spcPct val="90000"/>
              </a:lnSpc>
            </a:pP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FB53FD-CB7F-E94E-C28C-35EB7783FC50}"/>
              </a:ext>
            </a:extLst>
          </p:cNvPr>
          <p:cNvSpPr>
            <a:spLocks/>
          </p:cNvSpPr>
          <p:nvPr/>
        </p:nvSpPr>
        <p:spPr bwMode="auto">
          <a:xfrm>
            <a:off x="0" y="6636634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945F6D-E0A7-6C1A-0921-150F11D75578}"/>
              </a:ext>
            </a:extLst>
          </p:cNvPr>
          <p:cNvSpPr>
            <a:spLocks/>
          </p:cNvSpPr>
          <p:nvPr/>
        </p:nvSpPr>
        <p:spPr bwMode="auto">
          <a:xfrm>
            <a:off x="-6350" y="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37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7759700" cy="573088"/>
          </a:xfrm>
        </p:spPr>
        <p:txBody>
          <a:bodyPr/>
          <a:lstStyle/>
          <a:p>
            <a:r>
              <a:rPr lang="en-US" dirty="0"/>
              <a:t>Semaphores</a:t>
            </a:r>
          </a:p>
        </p:txBody>
      </p:sp>
      <p:sp>
        <p:nvSpPr>
          <p:cNvPr id="954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6875" y="1200150"/>
            <a:ext cx="8645359" cy="542925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b="1" i="1" dirty="0">
                <a:solidFill>
                  <a:srgbClr val="C00000"/>
                </a:solidFill>
              </a:rPr>
              <a:t>Semaphore:</a:t>
            </a:r>
            <a:r>
              <a:rPr lang="en-US" i="1" dirty="0"/>
              <a:t> </a:t>
            </a:r>
            <a:r>
              <a:rPr lang="en-US" dirty="0"/>
              <a:t> non-negative global integer synchronization variable. Manipulated by </a:t>
            </a:r>
            <a:r>
              <a:rPr lang="en-US" i="1" dirty="0"/>
              <a:t>P</a:t>
            </a:r>
            <a:r>
              <a:rPr lang="en-US" dirty="0"/>
              <a:t> and </a:t>
            </a:r>
            <a:r>
              <a:rPr lang="en-US" i="1" dirty="0"/>
              <a:t>V</a:t>
            </a:r>
            <a:r>
              <a:rPr lang="en-US" dirty="0"/>
              <a:t> operations. </a:t>
            </a:r>
          </a:p>
          <a:p>
            <a:pPr>
              <a:lnSpc>
                <a:spcPct val="90000"/>
              </a:lnSpc>
            </a:pPr>
            <a:r>
              <a:rPr lang="en-US" dirty="0"/>
              <a:t>P(s)</a:t>
            </a:r>
          </a:p>
          <a:p>
            <a:pPr lvl="1">
              <a:lnSpc>
                <a:spcPct val="97000"/>
              </a:lnSpc>
            </a:pPr>
            <a:r>
              <a:rPr lang="en-US" dirty="0"/>
              <a:t>If </a:t>
            </a:r>
            <a:r>
              <a:rPr lang="en-US" i="1" dirty="0"/>
              <a:t>s</a:t>
            </a:r>
            <a:r>
              <a:rPr lang="en-US" dirty="0"/>
              <a:t> is nonzero, then decrement </a:t>
            </a:r>
            <a:r>
              <a:rPr lang="en-US" i="1" dirty="0"/>
              <a:t>s</a:t>
            </a:r>
            <a:r>
              <a:rPr lang="en-US" dirty="0"/>
              <a:t> by 1 and return immediately. </a:t>
            </a:r>
          </a:p>
          <a:p>
            <a:pPr lvl="2">
              <a:lnSpc>
                <a:spcPct val="97000"/>
              </a:lnSpc>
            </a:pPr>
            <a:r>
              <a:rPr lang="en-US" dirty="0"/>
              <a:t>Test and decrement operations occur atomically (indivisibly)</a:t>
            </a:r>
          </a:p>
          <a:p>
            <a:pPr lvl="1">
              <a:lnSpc>
                <a:spcPct val="97000"/>
              </a:lnSpc>
            </a:pPr>
            <a:r>
              <a:rPr lang="en-US" dirty="0"/>
              <a:t>If </a:t>
            </a:r>
            <a:r>
              <a:rPr lang="en-US" i="1" dirty="0"/>
              <a:t>s</a:t>
            </a:r>
            <a:r>
              <a:rPr lang="en-US" dirty="0"/>
              <a:t> is zero, then suspend thread until </a:t>
            </a:r>
            <a:r>
              <a:rPr lang="en-US" i="1" dirty="0"/>
              <a:t>s</a:t>
            </a:r>
            <a:r>
              <a:rPr lang="en-US" dirty="0"/>
              <a:t> becomes nonzero and the thread is restarted by a V operation. </a:t>
            </a:r>
          </a:p>
          <a:p>
            <a:pPr lvl="1">
              <a:lnSpc>
                <a:spcPct val="97000"/>
              </a:lnSpc>
            </a:pPr>
            <a:r>
              <a:rPr lang="en-US" dirty="0"/>
              <a:t>After restarting, the P operation decrements </a:t>
            </a:r>
            <a:r>
              <a:rPr lang="en-US" i="1" dirty="0"/>
              <a:t>s</a:t>
            </a:r>
            <a:r>
              <a:rPr lang="en-US" dirty="0"/>
              <a:t> and returns control to the caller. </a:t>
            </a:r>
          </a:p>
          <a:p>
            <a:pPr>
              <a:lnSpc>
                <a:spcPct val="97000"/>
              </a:lnSpc>
            </a:pPr>
            <a:r>
              <a:rPr lang="en-US" b="1" i="1" dirty="0"/>
              <a:t>V(s): </a:t>
            </a:r>
          </a:p>
          <a:p>
            <a:pPr lvl="1">
              <a:lnSpc>
                <a:spcPct val="97000"/>
              </a:lnSpc>
            </a:pPr>
            <a:r>
              <a:rPr lang="en-US" dirty="0"/>
              <a:t>Increment </a:t>
            </a:r>
            <a:r>
              <a:rPr lang="en-US" i="1" dirty="0"/>
              <a:t>s</a:t>
            </a:r>
            <a:r>
              <a:rPr lang="en-US" dirty="0"/>
              <a:t> by 1. </a:t>
            </a:r>
          </a:p>
          <a:p>
            <a:pPr lvl="2">
              <a:lnSpc>
                <a:spcPct val="97000"/>
              </a:lnSpc>
            </a:pPr>
            <a:r>
              <a:rPr lang="en-US" dirty="0"/>
              <a:t>Increment operation occurs atomically</a:t>
            </a:r>
          </a:p>
          <a:p>
            <a:pPr lvl="1">
              <a:lnSpc>
                <a:spcPct val="97000"/>
              </a:lnSpc>
            </a:pPr>
            <a:r>
              <a:rPr lang="en-US" dirty="0"/>
              <a:t>If there are any threads blocked in a P operation waiting for </a:t>
            </a:r>
            <a:r>
              <a:rPr lang="en-US" i="1" dirty="0"/>
              <a:t>s</a:t>
            </a:r>
            <a:r>
              <a:rPr lang="en-US" dirty="0"/>
              <a:t> to become non-zero, then restart exactly one of those threads, which then completes its P operation by decrementing </a:t>
            </a:r>
            <a:r>
              <a:rPr lang="en-US" i="1" dirty="0"/>
              <a:t>s</a:t>
            </a:r>
            <a:r>
              <a:rPr lang="en-US" dirty="0"/>
              <a:t>. </a:t>
            </a:r>
            <a:endParaRPr lang="en-US" b="1" i="1" dirty="0"/>
          </a:p>
          <a:p>
            <a:pPr marL="457200" lvl="1" indent="0">
              <a:lnSpc>
                <a:spcPct val="97000"/>
              </a:lnSpc>
              <a:buNone/>
            </a:pPr>
            <a:endParaRPr lang="en-US" dirty="0">
              <a:solidFill>
                <a:srgbClr val="C00000"/>
              </a:solidFill>
            </a:endParaRPr>
          </a:p>
          <a:p>
            <a:pPr>
              <a:lnSpc>
                <a:spcPct val="85000"/>
              </a:lnSpc>
            </a:pPr>
            <a:r>
              <a:rPr lang="en-US" dirty="0">
                <a:solidFill>
                  <a:srgbClr val="C00000"/>
                </a:solidFill>
              </a:rPr>
              <a:t>Semaphore invariant: </a:t>
            </a:r>
            <a:r>
              <a:rPr lang="en-US" i="1" dirty="0">
                <a:solidFill>
                  <a:srgbClr val="C00000"/>
                </a:solidFill>
              </a:rPr>
              <a:t>(s &gt;= 0)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91414F-710F-0851-1ABE-3FE167B0E027}"/>
              </a:ext>
            </a:extLst>
          </p:cNvPr>
          <p:cNvSpPr>
            <a:spLocks/>
          </p:cNvSpPr>
          <p:nvPr/>
        </p:nvSpPr>
        <p:spPr bwMode="auto">
          <a:xfrm>
            <a:off x="0" y="6636634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0129D2-2C54-3A30-A63A-D9C16EE6D66A}"/>
              </a:ext>
            </a:extLst>
          </p:cNvPr>
          <p:cNvSpPr>
            <a:spLocks/>
          </p:cNvSpPr>
          <p:nvPr/>
        </p:nvSpPr>
        <p:spPr bwMode="auto">
          <a:xfrm>
            <a:off x="-6350" y="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Semaphore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16754"/>
            <a:ext cx="7896225" cy="542122"/>
          </a:xfrm>
        </p:spPr>
        <p:txBody>
          <a:bodyPr/>
          <a:lstStyle/>
          <a:p>
            <a:pPr>
              <a:buNone/>
            </a:pPr>
            <a:r>
              <a:rPr lang="en-US" dirty="0" err="1"/>
              <a:t>Pthreads</a:t>
            </a:r>
            <a:r>
              <a:rPr lang="en-US" dirty="0"/>
              <a:t> functions: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692" y="1958876"/>
            <a:ext cx="8634508" cy="1754327"/>
          </a:xfrm>
          <a:prstGeom prst="rect">
            <a:avLst/>
          </a:prstGeom>
          <a:solidFill>
            <a:srgbClr val="F6F5BD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/>
                <a:cs typeface="Courier New"/>
              </a:rPr>
              <a:t>#include &lt;</a:t>
            </a:r>
            <a:r>
              <a:rPr lang="en-US" sz="1800" dirty="0" err="1">
                <a:latin typeface="Courier New"/>
                <a:cs typeface="Courier New"/>
              </a:rPr>
              <a:t>semaphore.h</a:t>
            </a:r>
            <a:r>
              <a:rPr lang="en-US" sz="1800" dirty="0">
                <a:latin typeface="Courier New"/>
                <a:cs typeface="Courier New"/>
              </a:rPr>
              <a:t>&gt;</a:t>
            </a:r>
          </a:p>
          <a:p>
            <a:endParaRPr lang="en-US" sz="1800" dirty="0">
              <a:latin typeface="Courier New"/>
              <a:cs typeface="Courier New"/>
            </a:endParaRPr>
          </a:p>
          <a:p>
            <a:r>
              <a:rPr lang="en-US" sz="1800" dirty="0" err="1">
                <a:latin typeface="Courier New"/>
                <a:cs typeface="Courier New"/>
              </a:rPr>
              <a:t>int</a:t>
            </a:r>
            <a:r>
              <a:rPr lang="en-US" sz="1800" dirty="0">
                <a:latin typeface="Courier New"/>
                <a:cs typeface="Courier New"/>
              </a:rPr>
              <a:t> </a:t>
            </a:r>
            <a:r>
              <a:rPr lang="en-US" sz="1800" dirty="0" err="1">
                <a:latin typeface="Courier New"/>
                <a:cs typeface="Courier New"/>
              </a:rPr>
              <a:t>sem_init</a:t>
            </a:r>
            <a:r>
              <a:rPr lang="en-US" sz="1800" dirty="0">
                <a:latin typeface="Courier New"/>
                <a:cs typeface="Courier New"/>
              </a:rPr>
              <a:t>(</a:t>
            </a:r>
            <a:r>
              <a:rPr lang="en-US" sz="1800" dirty="0" err="1">
                <a:latin typeface="Courier New"/>
                <a:cs typeface="Courier New"/>
              </a:rPr>
              <a:t>sem_t</a:t>
            </a:r>
            <a:r>
              <a:rPr lang="en-US" sz="1800" dirty="0">
                <a:latin typeface="Courier New"/>
                <a:cs typeface="Courier New"/>
              </a:rPr>
              <a:t> *s, 0, unsigned </a:t>
            </a:r>
            <a:r>
              <a:rPr lang="en-US" sz="1800" dirty="0" err="1">
                <a:latin typeface="Courier New"/>
                <a:cs typeface="Courier New"/>
              </a:rPr>
              <a:t>int</a:t>
            </a:r>
            <a:r>
              <a:rPr lang="en-US" sz="1800" dirty="0">
                <a:latin typeface="Courier New"/>
                <a:cs typeface="Courier New"/>
              </a:rPr>
              <a:t> </a:t>
            </a:r>
            <a:r>
              <a:rPr lang="en-US" sz="1800" dirty="0" err="1">
                <a:latin typeface="Courier New"/>
                <a:cs typeface="Courier New"/>
              </a:rPr>
              <a:t>val</a:t>
            </a:r>
            <a:r>
              <a:rPr lang="en-US" sz="1800" dirty="0">
                <a:latin typeface="Courier New"/>
                <a:cs typeface="Courier New"/>
              </a:rPr>
              <a:t>);} /* s = </a:t>
            </a:r>
            <a:r>
              <a:rPr lang="en-US" sz="1800" dirty="0" err="1">
                <a:latin typeface="Courier New"/>
                <a:cs typeface="Courier New"/>
              </a:rPr>
              <a:t>val</a:t>
            </a:r>
            <a:r>
              <a:rPr lang="en-US" sz="1800" dirty="0">
                <a:latin typeface="Courier New"/>
                <a:cs typeface="Courier New"/>
              </a:rPr>
              <a:t> */</a:t>
            </a:r>
          </a:p>
          <a:p>
            <a:endParaRPr lang="en-US" sz="1800" dirty="0">
              <a:latin typeface="Courier New"/>
              <a:cs typeface="Courier New"/>
            </a:endParaRPr>
          </a:p>
          <a:p>
            <a:r>
              <a:rPr lang="en-US" sz="1800" dirty="0" err="1">
                <a:latin typeface="Courier New"/>
                <a:cs typeface="Courier New"/>
              </a:rPr>
              <a:t>int</a:t>
            </a:r>
            <a:r>
              <a:rPr lang="en-US" sz="1800" dirty="0">
                <a:latin typeface="Courier New"/>
                <a:cs typeface="Courier New"/>
              </a:rPr>
              <a:t> </a:t>
            </a:r>
            <a:r>
              <a:rPr lang="en-US" sz="1800" dirty="0" err="1">
                <a:latin typeface="Courier New"/>
                <a:cs typeface="Courier New"/>
              </a:rPr>
              <a:t>sem_wait(sem_t</a:t>
            </a:r>
            <a:r>
              <a:rPr lang="en-US" sz="1800" dirty="0">
                <a:latin typeface="Courier New"/>
                <a:cs typeface="Courier New"/>
              </a:rPr>
              <a:t> *</a:t>
            </a:r>
            <a:r>
              <a:rPr lang="en-US" sz="1800" dirty="0" err="1">
                <a:latin typeface="Courier New"/>
                <a:cs typeface="Courier New"/>
              </a:rPr>
              <a:t>s</a:t>
            </a:r>
            <a:r>
              <a:rPr lang="en-US" sz="1800" dirty="0">
                <a:latin typeface="Courier New"/>
                <a:cs typeface="Courier New"/>
              </a:rPr>
              <a:t>);  /* </a:t>
            </a:r>
            <a:r>
              <a:rPr lang="en-US" sz="1800" dirty="0" err="1">
                <a:latin typeface="Courier New"/>
                <a:cs typeface="Courier New"/>
              </a:rPr>
              <a:t>P(s</a:t>
            </a:r>
            <a:r>
              <a:rPr lang="en-US" sz="1800" dirty="0">
                <a:latin typeface="Courier New"/>
                <a:cs typeface="Courier New"/>
              </a:rPr>
              <a:t>) */</a:t>
            </a:r>
          </a:p>
          <a:p>
            <a:r>
              <a:rPr lang="en-US" sz="1800" dirty="0" err="1">
                <a:latin typeface="Courier New"/>
                <a:cs typeface="Courier New"/>
              </a:rPr>
              <a:t>int</a:t>
            </a:r>
            <a:r>
              <a:rPr lang="en-US" sz="1800" dirty="0">
                <a:latin typeface="Courier New"/>
                <a:cs typeface="Courier New"/>
              </a:rPr>
              <a:t> </a:t>
            </a:r>
            <a:r>
              <a:rPr lang="en-US" sz="1800" dirty="0" err="1">
                <a:latin typeface="Courier New"/>
                <a:cs typeface="Courier New"/>
              </a:rPr>
              <a:t>sem_post(sem_t</a:t>
            </a:r>
            <a:r>
              <a:rPr lang="en-US" sz="1800" dirty="0">
                <a:latin typeface="Courier New"/>
                <a:cs typeface="Courier New"/>
              </a:rPr>
              <a:t> *</a:t>
            </a:r>
            <a:r>
              <a:rPr lang="en-US" sz="1800" dirty="0" err="1">
                <a:latin typeface="Courier New"/>
                <a:cs typeface="Courier New"/>
              </a:rPr>
              <a:t>s</a:t>
            </a:r>
            <a:r>
              <a:rPr lang="en-US" sz="1800" dirty="0">
                <a:latin typeface="Courier New"/>
                <a:cs typeface="Courier New"/>
              </a:rPr>
              <a:t>);  /* </a:t>
            </a:r>
            <a:r>
              <a:rPr lang="en-US" sz="1800" dirty="0" err="1">
                <a:latin typeface="Courier New"/>
                <a:cs typeface="Courier New"/>
              </a:rPr>
              <a:t>V(s</a:t>
            </a:r>
            <a:r>
              <a:rPr lang="en-US" sz="1800" dirty="0">
                <a:latin typeface="Courier New"/>
                <a:cs typeface="Courier New"/>
              </a:rPr>
              <a:t>) */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236A82-2160-2468-C5AF-C9C6FBC2C3BB}"/>
              </a:ext>
            </a:extLst>
          </p:cNvPr>
          <p:cNvSpPr>
            <a:spLocks/>
          </p:cNvSpPr>
          <p:nvPr/>
        </p:nvSpPr>
        <p:spPr bwMode="auto">
          <a:xfrm>
            <a:off x="0" y="6636634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9A98A5-7C45-6D9A-305E-90DA87B1BD43}"/>
              </a:ext>
            </a:extLst>
          </p:cNvPr>
          <p:cNvSpPr>
            <a:spLocks/>
          </p:cNvSpPr>
          <p:nvPr/>
        </p:nvSpPr>
        <p:spPr bwMode="auto">
          <a:xfrm>
            <a:off x="-6350" y="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938" name="Rectangle 2"/>
          <p:cNvSpPr>
            <a:spLocks noGrp="1" noChangeArrowheads="1"/>
          </p:cNvSpPr>
          <p:nvPr>
            <p:ph type="title"/>
          </p:nvPr>
        </p:nvSpPr>
        <p:spPr>
          <a:xfrm>
            <a:off x="366007" y="152400"/>
            <a:ext cx="8775700" cy="1095375"/>
          </a:xfrm>
        </p:spPr>
        <p:txBody>
          <a:bodyPr/>
          <a:lstStyle/>
          <a:p>
            <a:r>
              <a:rPr lang="en-US" dirty="0" err="1">
                <a:latin typeface="Courier New" pitchFamily="49" charset="0"/>
              </a:rPr>
              <a:t>badcnt.c</a:t>
            </a:r>
            <a:r>
              <a:rPr lang="en-US" dirty="0"/>
              <a:t>: Improper Synchronization</a:t>
            </a:r>
          </a:p>
        </p:txBody>
      </p:sp>
      <p:sp>
        <p:nvSpPr>
          <p:cNvPr id="935939" name="Rectangle 3"/>
          <p:cNvSpPr>
            <a:spLocks noChangeArrowheads="1"/>
          </p:cNvSpPr>
          <p:nvPr/>
        </p:nvSpPr>
        <p:spPr bwMode="auto">
          <a:xfrm>
            <a:off x="43420" y="1227921"/>
            <a:ext cx="4800600" cy="5401479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sz="1500" dirty="0">
                <a:solidFill>
                  <a:srgbClr val="CB2418"/>
                </a:solidFill>
                <a:latin typeface="Menlo-Regular"/>
              </a:rPr>
              <a:t>/* Global shared variable */</a:t>
            </a:r>
            <a:endParaRPr lang="en-US" sz="1500" dirty="0">
              <a:solidFill>
                <a:srgbClr val="000000"/>
              </a:solidFill>
              <a:latin typeface="Menlo-Regular"/>
            </a:endParaRPr>
          </a:p>
          <a:p>
            <a:r>
              <a:rPr lang="en-US" sz="1500" dirty="0">
                <a:solidFill>
                  <a:srgbClr val="C200FF"/>
                </a:solidFill>
                <a:latin typeface="Menlo-Regular"/>
              </a:rPr>
              <a:t>volatile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500" dirty="0">
                <a:solidFill>
                  <a:srgbClr val="2D961E"/>
                </a:solidFill>
                <a:latin typeface="Menlo-Regular"/>
              </a:rPr>
              <a:t>long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500" dirty="0" err="1">
                <a:solidFill>
                  <a:srgbClr val="C1651C"/>
                </a:solidFill>
                <a:latin typeface="Menlo-Regular"/>
              </a:rPr>
              <a:t>cnt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 = 0; </a:t>
            </a:r>
            <a:r>
              <a:rPr lang="en-US" sz="1500" dirty="0">
                <a:solidFill>
                  <a:srgbClr val="CB2418"/>
                </a:solidFill>
                <a:latin typeface="Menlo-Regular"/>
              </a:rPr>
              <a:t>/* Counter */</a:t>
            </a:r>
            <a:endParaRPr lang="en-US" sz="1500" dirty="0">
              <a:solidFill>
                <a:srgbClr val="000000"/>
              </a:solidFill>
              <a:latin typeface="Menlo-Regular"/>
            </a:endParaRPr>
          </a:p>
          <a:p>
            <a:endParaRPr lang="en-US" sz="1500" dirty="0">
              <a:solidFill>
                <a:srgbClr val="000000"/>
              </a:solidFill>
              <a:latin typeface="Menlo-Regular"/>
            </a:endParaRPr>
          </a:p>
          <a:p>
            <a:r>
              <a:rPr lang="en-US" sz="1500" dirty="0" err="1">
                <a:solidFill>
                  <a:srgbClr val="2D961E"/>
                </a:solidFill>
                <a:latin typeface="Menlo-Regular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500" dirty="0">
                <a:solidFill>
                  <a:srgbClr val="4A00FF"/>
                </a:solidFill>
                <a:latin typeface="Menlo-Regular"/>
              </a:rPr>
              <a:t>main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(</a:t>
            </a:r>
            <a:r>
              <a:rPr lang="en-US" sz="1500" dirty="0" err="1">
                <a:solidFill>
                  <a:srgbClr val="2D961E"/>
                </a:solidFill>
                <a:latin typeface="Menlo-Regular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500" dirty="0" err="1">
                <a:solidFill>
                  <a:srgbClr val="C1651C"/>
                </a:solidFill>
                <a:latin typeface="Menlo-Regular"/>
              </a:rPr>
              <a:t>argc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, </a:t>
            </a:r>
            <a:r>
              <a:rPr lang="en-US" sz="1500" dirty="0">
                <a:solidFill>
                  <a:srgbClr val="2D961E"/>
                </a:solidFill>
                <a:latin typeface="Menlo-Regular"/>
              </a:rPr>
              <a:t>char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 **</a:t>
            </a:r>
            <a:r>
              <a:rPr lang="en-US" sz="1500" dirty="0" err="1">
                <a:solidFill>
                  <a:srgbClr val="C1651C"/>
                </a:solidFill>
                <a:latin typeface="Menlo-Regular"/>
              </a:rPr>
              <a:t>argv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)</a:t>
            </a:r>
          </a:p>
          <a:p>
            <a:r>
              <a:rPr lang="en-US" sz="1500" dirty="0">
                <a:solidFill>
                  <a:srgbClr val="000000"/>
                </a:solidFill>
                <a:latin typeface="Menlo-Regular"/>
              </a:rPr>
              <a:t>{</a:t>
            </a:r>
          </a:p>
          <a:p>
            <a:r>
              <a:rPr lang="en-US" sz="15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en-US" sz="1500" dirty="0">
                <a:solidFill>
                  <a:srgbClr val="2D961E"/>
                </a:solidFill>
                <a:latin typeface="Menlo-Regular"/>
              </a:rPr>
              <a:t>long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500" dirty="0">
                <a:solidFill>
                  <a:srgbClr val="C1651C"/>
                </a:solidFill>
                <a:latin typeface="Menlo-Regular"/>
              </a:rPr>
              <a:t>niters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;</a:t>
            </a:r>
          </a:p>
          <a:p>
            <a:r>
              <a:rPr lang="en-US" sz="15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en-US" sz="1500" dirty="0" err="1">
                <a:solidFill>
                  <a:srgbClr val="2D961E"/>
                </a:solidFill>
                <a:latin typeface="Menlo-Regular"/>
              </a:rPr>
              <a:t>pthread_t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500" dirty="0">
                <a:solidFill>
                  <a:srgbClr val="C1651C"/>
                </a:solidFill>
                <a:latin typeface="Menlo-Regular"/>
              </a:rPr>
              <a:t>tid1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, </a:t>
            </a:r>
            <a:r>
              <a:rPr lang="en-US" sz="1500" dirty="0">
                <a:solidFill>
                  <a:srgbClr val="C1651C"/>
                </a:solidFill>
                <a:latin typeface="Menlo-Regular"/>
              </a:rPr>
              <a:t>tid2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;</a:t>
            </a:r>
          </a:p>
          <a:p>
            <a:endParaRPr lang="en-US" sz="1500" dirty="0">
              <a:solidFill>
                <a:srgbClr val="000000"/>
              </a:solidFill>
              <a:latin typeface="Menlo-Regular"/>
            </a:endParaRPr>
          </a:p>
          <a:p>
            <a:r>
              <a:rPr lang="fi-FI" sz="15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fi-FI" sz="1500" dirty="0" err="1">
                <a:solidFill>
                  <a:srgbClr val="000000"/>
                </a:solidFill>
                <a:latin typeface="Menlo-Regular"/>
              </a:rPr>
              <a:t>niters</a:t>
            </a:r>
            <a:r>
              <a:rPr lang="fi-FI" sz="1500" dirty="0">
                <a:solidFill>
                  <a:srgbClr val="000000"/>
                </a:solidFill>
                <a:latin typeface="Menlo-Regular"/>
              </a:rPr>
              <a:t> = atoi(argv[1]);</a:t>
            </a:r>
          </a:p>
          <a:p>
            <a:r>
              <a:rPr lang="fi-FI" sz="1500" dirty="0">
                <a:solidFill>
                  <a:srgbClr val="000000"/>
                </a:solidFill>
                <a:latin typeface="Menlo-Regular"/>
              </a:rPr>
              <a:t>    Pthread_create(&amp;tid1, </a:t>
            </a:r>
            <a:r>
              <a:rPr lang="fi-FI" sz="1500" dirty="0">
                <a:solidFill>
                  <a:srgbClr val="2C9290"/>
                </a:solidFill>
                <a:latin typeface="Menlo-Regular"/>
              </a:rPr>
              <a:t>NULL</a:t>
            </a:r>
            <a:r>
              <a:rPr lang="fi-FI" sz="1500" dirty="0">
                <a:solidFill>
                  <a:srgbClr val="000000"/>
                </a:solidFill>
                <a:latin typeface="Menlo-Regular"/>
              </a:rPr>
              <a:t>,</a:t>
            </a:r>
          </a:p>
          <a:p>
            <a:r>
              <a:rPr lang="fi-FI" sz="1500" dirty="0">
                <a:solidFill>
                  <a:srgbClr val="000000"/>
                </a:solidFill>
                <a:latin typeface="Menlo-Regular"/>
              </a:rPr>
              <a:t>        </a:t>
            </a:r>
            <a:r>
              <a:rPr lang="fi-FI" sz="1500" dirty="0" err="1">
                <a:solidFill>
                  <a:srgbClr val="000000"/>
                </a:solidFill>
                <a:latin typeface="Menlo-Regular"/>
              </a:rPr>
              <a:t>thread</a:t>
            </a:r>
            <a:r>
              <a:rPr lang="fi-FI" sz="1500" dirty="0">
                <a:solidFill>
                  <a:srgbClr val="000000"/>
                </a:solidFill>
                <a:latin typeface="Menlo-Regular"/>
              </a:rPr>
              <a:t>, &amp;</a:t>
            </a:r>
            <a:r>
              <a:rPr lang="fi-FI" sz="1500" dirty="0" err="1">
                <a:solidFill>
                  <a:srgbClr val="000000"/>
                </a:solidFill>
                <a:latin typeface="Menlo-Regular"/>
              </a:rPr>
              <a:t>niters</a:t>
            </a:r>
            <a:r>
              <a:rPr lang="fi-FI" sz="1500" dirty="0">
                <a:solidFill>
                  <a:srgbClr val="000000"/>
                </a:solidFill>
                <a:latin typeface="Menlo-Regular"/>
              </a:rPr>
              <a:t>);</a:t>
            </a:r>
          </a:p>
          <a:p>
            <a:r>
              <a:rPr lang="fi-FI" sz="1500" dirty="0">
                <a:solidFill>
                  <a:srgbClr val="000000"/>
                </a:solidFill>
                <a:latin typeface="Menlo-Regular"/>
              </a:rPr>
              <a:t>    Pthread_create(&amp;tid2, </a:t>
            </a:r>
            <a:r>
              <a:rPr lang="fi-FI" sz="1500" dirty="0">
                <a:solidFill>
                  <a:srgbClr val="2C9290"/>
                </a:solidFill>
                <a:latin typeface="Menlo-Regular"/>
              </a:rPr>
              <a:t>NULL</a:t>
            </a:r>
            <a:r>
              <a:rPr lang="fi-FI" sz="1500" dirty="0">
                <a:solidFill>
                  <a:srgbClr val="000000"/>
                </a:solidFill>
                <a:latin typeface="Menlo-Regular"/>
              </a:rPr>
              <a:t>,</a:t>
            </a:r>
          </a:p>
          <a:p>
            <a:r>
              <a:rPr lang="fi-FI" sz="1500" dirty="0">
                <a:solidFill>
                  <a:srgbClr val="000000"/>
                </a:solidFill>
                <a:latin typeface="Menlo-Regular"/>
              </a:rPr>
              <a:t>        </a:t>
            </a:r>
            <a:r>
              <a:rPr lang="fi-FI" sz="1500" dirty="0" err="1">
                <a:solidFill>
                  <a:srgbClr val="000000"/>
                </a:solidFill>
                <a:latin typeface="Menlo-Regular"/>
              </a:rPr>
              <a:t>thread</a:t>
            </a:r>
            <a:r>
              <a:rPr lang="fi-FI" sz="1500" dirty="0">
                <a:solidFill>
                  <a:srgbClr val="000000"/>
                </a:solidFill>
                <a:latin typeface="Menlo-Regular"/>
              </a:rPr>
              <a:t>, &amp;</a:t>
            </a:r>
            <a:r>
              <a:rPr lang="fi-FI" sz="1500" dirty="0" err="1">
                <a:solidFill>
                  <a:srgbClr val="000000"/>
                </a:solidFill>
                <a:latin typeface="Menlo-Regular"/>
              </a:rPr>
              <a:t>niters</a:t>
            </a:r>
            <a:r>
              <a:rPr lang="fi-FI" sz="1500" dirty="0">
                <a:solidFill>
                  <a:srgbClr val="000000"/>
                </a:solidFill>
                <a:latin typeface="Menlo-Regular"/>
              </a:rPr>
              <a:t>);</a:t>
            </a:r>
          </a:p>
          <a:p>
            <a:r>
              <a:rPr lang="fi-FI" sz="1500" dirty="0">
                <a:solidFill>
                  <a:srgbClr val="000000"/>
                </a:solidFill>
                <a:latin typeface="Menlo-Regular"/>
              </a:rPr>
              <a:t>    Pthread_join(tid1, </a:t>
            </a:r>
            <a:r>
              <a:rPr lang="fi-FI" sz="1500" dirty="0">
                <a:solidFill>
                  <a:srgbClr val="2C9290"/>
                </a:solidFill>
                <a:latin typeface="Menlo-Regular"/>
              </a:rPr>
              <a:t>NULL</a:t>
            </a:r>
            <a:r>
              <a:rPr lang="fi-FI" sz="1500" dirty="0">
                <a:solidFill>
                  <a:srgbClr val="000000"/>
                </a:solidFill>
                <a:latin typeface="Menlo-Regular"/>
              </a:rPr>
              <a:t>);</a:t>
            </a:r>
          </a:p>
          <a:p>
            <a:r>
              <a:rPr lang="fi-FI" sz="1500" dirty="0">
                <a:solidFill>
                  <a:srgbClr val="000000"/>
                </a:solidFill>
                <a:latin typeface="Menlo-Regular"/>
              </a:rPr>
              <a:t>    Pthread_join(tid2, </a:t>
            </a:r>
            <a:r>
              <a:rPr lang="fi-FI" sz="1500" dirty="0">
                <a:solidFill>
                  <a:srgbClr val="2C9290"/>
                </a:solidFill>
                <a:latin typeface="Menlo-Regular"/>
              </a:rPr>
              <a:t>NULL</a:t>
            </a:r>
            <a:r>
              <a:rPr lang="fi-FI" sz="1500" dirty="0">
                <a:solidFill>
                  <a:srgbClr val="000000"/>
                </a:solidFill>
                <a:latin typeface="Menlo-Regular"/>
              </a:rPr>
              <a:t>);</a:t>
            </a:r>
          </a:p>
          <a:p>
            <a:endParaRPr lang="fi-FI" sz="1500" dirty="0">
              <a:solidFill>
                <a:srgbClr val="000000"/>
              </a:solidFill>
              <a:latin typeface="Menlo-Regular"/>
            </a:endParaRPr>
          </a:p>
          <a:p>
            <a:r>
              <a:rPr lang="pt-BR" sz="15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pt-BR" sz="1500" dirty="0">
                <a:solidFill>
                  <a:srgbClr val="CB2418"/>
                </a:solidFill>
                <a:latin typeface="Menlo-Regular"/>
              </a:rPr>
              <a:t>/* </a:t>
            </a:r>
            <a:r>
              <a:rPr lang="pt-BR" sz="1500" dirty="0" err="1">
                <a:solidFill>
                  <a:srgbClr val="CB2418"/>
                </a:solidFill>
                <a:latin typeface="Menlo-Regular"/>
              </a:rPr>
              <a:t>Check</a:t>
            </a:r>
            <a:r>
              <a:rPr lang="pt-BR" sz="1500" dirty="0">
                <a:solidFill>
                  <a:srgbClr val="CB2418"/>
                </a:solidFill>
                <a:latin typeface="Menlo-Regular"/>
              </a:rPr>
              <a:t> </a:t>
            </a:r>
            <a:r>
              <a:rPr lang="pt-BR" sz="1500" dirty="0" err="1">
                <a:solidFill>
                  <a:srgbClr val="CB2418"/>
                </a:solidFill>
                <a:latin typeface="Menlo-Regular"/>
              </a:rPr>
              <a:t>result</a:t>
            </a:r>
            <a:r>
              <a:rPr lang="pt-BR" sz="1500" dirty="0">
                <a:solidFill>
                  <a:srgbClr val="CB2418"/>
                </a:solidFill>
                <a:latin typeface="Menlo-Regular"/>
              </a:rPr>
              <a:t> */</a:t>
            </a:r>
            <a:endParaRPr lang="pt-BR" sz="1500" dirty="0">
              <a:solidFill>
                <a:srgbClr val="000000"/>
              </a:solidFill>
              <a:latin typeface="Menlo-Regular"/>
            </a:endParaRPr>
          </a:p>
          <a:p>
            <a:r>
              <a:rPr lang="en-US" sz="15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en-US" sz="1500" dirty="0">
                <a:solidFill>
                  <a:srgbClr val="C200FF"/>
                </a:solidFill>
                <a:latin typeface="Menlo-Regular"/>
              </a:rPr>
              <a:t>if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 (</a:t>
            </a:r>
            <a:r>
              <a:rPr lang="en-US" sz="1500" dirty="0" err="1">
                <a:solidFill>
                  <a:srgbClr val="000000"/>
                </a:solidFill>
                <a:latin typeface="Menlo-Regular"/>
              </a:rPr>
              <a:t>cnt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 != (2 * niters))</a:t>
            </a:r>
          </a:p>
          <a:p>
            <a:r>
              <a:rPr lang="ro-RO" sz="1500" dirty="0">
                <a:solidFill>
                  <a:srgbClr val="000000"/>
                </a:solidFill>
                <a:latin typeface="Menlo-Regular"/>
              </a:rPr>
              <a:t>        printf(</a:t>
            </a:r>
            <a:r>
              <a:rPr lang="ro-RO" sz="1500" dirty="0">
                <a:solidFill>
                  <a:srgbClr val="9D206F"/>
                </a:solidFill>
                <a:latin typeface="Menlo-Regular"/>
              </a:rPr>
              <a:t>"BOOM! cnt=%ld\n"</a:t>
            </a:r>
            <a:r>
              <a:rPr lang="ro-RO" sz="1500" dirty="0">
                <a:solidFill>
                  <a:srgbClr val="000000"/>
                </a:solidFill>
                <a:latin typeface="Menlo-Regular"/>
              </a:rPr>
              <a:t>, cnt);</a:t>
            </a:r>
          </a:p>
          <a:p>
            <a:r>
              <a:rPr lang="hu-HU" sz="15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hu-HU" sz="1500" dirty="0">
                <a:solidFill>
                  <a:srgbClr val="C200FF"/>
                </a:solidFill>
                <a:latin typeface="Menlo-Regular"/>
              </a:rPr>
              <a:t>else</a:t>
            </a:r>
            <a:endParaRPr lang="hu-HU" sz="1500" dirty="0">
              <a:solidFill>
                <a:srgbClr val="000000"/>
              </a:solidFill>
              <a:latin typeface="Menlo-Regular"/>
            </a:endParaRPr>
          </a:p>
          <a:p>
            <a:r>
              <a:rPr lang="ro-RO" sz="1500" dirty="0">
                <a:solidFill>
                  <a:srgbClr val="000000"/>
                </a:solidFill>
                <a:latin typeface="Menlo-Regular"/>
              </a:rPr>
              <a:t>        printf(</a:t>
            </a:r>
            <a:r>
              <a:rPr lang="ro-RO" sz="1500" dirty="0">
                <a:solidFill>
                  <a:srgbClr val="9D206F"/>
                </a:solidFill>
                <a:latin typeface="Menlo-Regular"/>
              </a:rPr>
              <a:t>"OK cnt=%ld\n"</a:t>
            </a:r>
            <a:r>
              <a:rPr lang="ro-RO" sz="1500" dirty="0">
                <a:solidFill>
                  <a:srgbClr val="000000"/>
                </a:solidFill>
                <a:latin typeface="Menlo-Regular"/>
              </a:rPr>
              <a:t>, cnt);</a:t>
            </a:r>
          </a:p>
          <a:p>
            <a:r>
              <a:rPr lang="ro-RO" sz="1500" dirty="0">
                <a:solidFill>
                  <a:srgbClr val="000000"/>
                </a:solidFill>
                <a:latin typeface="Menlo-Regular"/>
              </a:rPr>
              <a:t>    exit(0);</a:t>
            </a:r>
          </a:p>
          <a:p>
            <a:r>
              <a:rPr lang="ro-RO" sz="1500" dirty="0">
                <a:solidFill>
                  <a:srgbClr val="000000"/>
                </a:solidFill>
                <a:latin typeface="Menlo-Regular"/>
              </a:rPr>
              <a:t>}</a:t>
            </a:r>
          </a:p>
        </p:txBody>
      </p:sp>
      <p:sp>
        <p:nvSpPr>
          <p:cNvPr id="935940" name="Rectangle 4"/>
          <p:cNvSpPr>
            <a:spLocks noChangeArrowheads="1"/>
          </p:cNvSpPr>
          <p:nvPr/>
        </p:nvSpPr>
        <p:spPr bwMode="auto">
          <a:xfrm>
            <a:off x="4940769" y="1237834"/>
            <a:ext cx="4137671" cy="2800766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600" dirty="0">
                <a:solidFill>
                  <a:srgbClr val="9D0003"/>
                </a:solidFill>
                <a:latin typeface="Menlo-Regular"/>
              </a:rPr>
              <a:t>/* Thread routine */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                                                                                            </a:t>
            </a:r>
          </a:p>
          <a:p>
            <a:r>
              <a:rPr lang="en-US" sz="1600" dirty="0">
                <a:solidFill>
                  <a:srgbClr val="107702"/>
                </a:solidFill>
                <a:latin typeface="Menlo-Regular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*</a:t>
            </a:r>
            <a:r>
              <a:rPr lang="en-US" sz="1600" dirty="0">
                <a:solidFill>
                  <a:srgbClr val="0000FF"/>
                </a:solidFill>
                <a:latin typeface="Menlo-Regular"/>
              </a:rPr>
              <a:t>thread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(</a:t>
            </a:r>
            <a:r>
              <a:rPr lang="en-US" sz="1600" dirty="0">
                <a:solidFill>
                  <a:srgbClr val="107702"/>
                </a:solidFill>
                <a:latin typeface="Menlo-Regular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*</a:t>
            </a:r>
            <a:r>
              <a:rPr lang="en-US" sz="1600" dirty="0" err="1">
                <a:solidFill>
                  <a:srgbClr val="9E4C04"/>
                </a:solidFill>
                <a:latin typeface="Menlo-Regular"/>
              </a:rPr>
              <a:t>vargp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)                                                                                        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{                                                                                                                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en-US" sz="1600" dirty="0">
                <a:solidFill>
                  <a:srgbClr val="107702"/>
                </a:solidFill>
                <a:latin typeface="Menlo-Regular"/>
              </a:rPr>
              <a:t>long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600" dirty="0" err="1">
                <a:solidFill>
                  <a:srgbClr val="9E4C04"/>
                </a:solidFill>
                <a:latin typeface="Menlo-Regular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, </a:t>
            </a:r>
            <a:r>
              <a:rPr lang="en-US" sz="1600" dirty="0">
                <a:solidFill>
                  <a:srgbClr val="9E4C04"/>
                </a:solidFill>
                <a:latin typeface="Menlo-Regular"/>
              </a:rPr>
              <a:t>niters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= 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           *((</a:t>
            </a:r>
            <a:r>
              <a:rPr lang="en-US" sz="1600" dirty="0">
                <a:solidFill>
                  <a:srgbClr val="107702"/>
                </a:solidFill>
                <a:latin typeface="Menlo-Regular"/>
              </a:rPr>
              <a:t>long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*)</a:t>
            </a:r>
            <a:r>
              <a:rPr lang="en-US" sz="1600" dirty="0" err="1">
                <a:solidFill>
                  <a:srgbClr val="000000"/>
                </a:solidFill>
                <a:latin typeface="Menlo-Regular"/>
              </a:rPr>
              <a:t>vargp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);                                                                           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                                                                                                             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en-US" sz="1600" dirty="0">
                <a:solidFill>
                  <a:srgbClr val="9D00FF"/>
                </a:solidFill>
                <a:latin typeface="Menlo-Regular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(</a:t>
            </a:r>
            <a:r>
              <a:rPr lang="en-US" sz="1600" dirty="0" err="1">
                <a:solidFill>
                  <a:srgbClr val="000000"/>
                </a:solidFill>
                <a:latin typeface="Menlo-Regular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= 0; </a:t>
            </a:r>
            <a:r>
              <a:rPr lang="en-US" sz="1600" dirty="0" err="1">
                <a:solidFill>
                  <a:srgbClr val="000000"/>
                </a:solidFill>
                <a:latin typeface="Menlo-Regular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&lt; niters; </a:t>
            </a:r>
            <a:r>
              <a:rPr lang="en-US" sz="1600" dirty="0" err="1">
                <a:solidFill>
                  <a:srgbClr val="000000"/>
                </a:solidFill>
                <a:latin typeface="Menlo-Regular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++)</a:t>
            </a:r>
          </a:p>
          <a:p>
            <a:r>
              <a:rPr lang="nl-NL" sz="1600" dirty="0">
                <a:solidFill>
                  <a:srgbClr val="000000"/>
                </a:solidFill>
                <a:latin typeface="Menlo-Regular"/>
              </a:rPr>
              <a:t>        </a:t>
            </a:r>
            <a:r>
              <a:rPr lang="nl-NL" sz="1600" dirty="0" err="1">
                <a:solidFill>
                  <a:srgbClr val="000000"/>
                </a:solidFill>
                <a:latin typeface="Menlo-Regular"/>
              </a:rPr>
              <a:t>cnt</a:t>
            </a:r>
            <a:r>
              <a:rPr lang="nl-NL" sz="1600" dirty="0">
                <a:solidFill>
                  <a:srgbClr val="000000"/>
                </a:solidFill>
                <a:latin typeface="Menlo-Regular"/>
              </a:rPr>
              <a:t>++;                   </a:t>
            </a:r>
          </a:p>
          <a:p>
            <a:r>
              <a:rPr lang="nl-NL" sz="1600" dirty="0">
                <a:solidFill>
                  <a:srgbClr val="000000"/>
                </a:solidFill>
                <a:latin typeface="Menlo-Regular"/>
              </a:rPr>
              <a:t>                                                                                                                 </a:t>
            </a:r>
          </a:p>
          <a:p>
            <a:r>
              <a:rPr lang="is-IS" sz="16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is-IS" sz="1600" dirty="0">
                <a:solidFill>
                  <a:srgbClr val="9D00FF"/>
                </a:solidFill>
                <a:latin typeface="Menlo-Regular"/>
              </a:rPr>
              <a:t>return</a:t>
            </a:r>
            <a:r>
              <a:rPr lang="is-IS" sz="16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is-IS" sz="1600" dirty="0">
                <a:solidFill>
                  <a:srgbClr val="0F7574"/>
                </a:solidFill>
                <a:latin typeface="Menlo-Regular"/>
              </a:rPr>
              <a:t>NULL</a:t>
            </a:r>
            <a:r>
              <a:rPr lang="is-IS" sz="1600" dirty="0">
                <a:solidFill>
                  <a:srgbClr val="000000"/>
                </a:solidFill>
                <a:latin typeface="Menlo-Regular"/>
              </a:rPr>
              <a:t>;                                                                                                 </a:t>
            </a:r>
          </a:p>
          <a:p>
            <a:r>
              <a:rPr lang="is-IS" sz="1600" dirty="0">
                <a:solidFill>
                  <a:srgbClr val="000000"/>
                </a:solidFill>
                <a:latin typeface="Menlo-Regular"/>
              </a:rPr>
              <a:t>} </a:t>
            </a:r>
            <a:endParaRPr lang="en-US" sz="1600" dirty="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4965700" y="4884003"/>
            <a:ext cx="3959747" cy="83099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dirty="0">
                <a:latin typeface="+mn-lt"/>
              </a:rPr>
              <a:t>How can we fix this using semaphores?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5510" y="6260068"/>
            <a:ext cx="1005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solidFill>
                  <a:srgbClr val="7F7F7F"/>
                </a:solidFill>
                <a:latin typeface="Calibri" pitchFamily="34" charset="0"/>
              </a:rPr>
              <a:t>badcnt.c</a:t>
            </a:r>
            <a:endParaRPr lang="en-US" sz="1800" dirty="0">
              <a:solidFill>
                <a:srgbClr val="7F7F7F"/>
              </a:solidFill>
              <a:latin typeface="Calibri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EA4C93-6B7B-73C6-4B82-79310B5B5D85}"/>
              </a:ext>
            </a:extLst>
          </p:cNvPr>
          <p:cNvSpPr>
            <a:spLocks/>
          </p:cNvSpPr>
          <p:nvPr/>
        </p:nvSpPr>
        <p:spPr bwMode="auto">
          <a:xfrm>
            <a:off x="0" y="6636634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75610E-7CE9-1F85-04C1-4112429482EB}"/>
              </a:ext>
            </a:extLst>
          </p:cNvPr>
          <p:cNvSpPr>
            <a:spLocks/>
          </p:cNvSpPr>
          <p:nvPr/>
        </p:nvSpPr>
        <p:spPr bwMode="auto">
          <a:xfrm>
            <a:off x="-6350" y="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40187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7936082" cy="762000"/>
          </a:xfrm>
        </p:spPr>
        <p:txBody>
          <a:bodyPr/>
          <a:lstStyle/>
          <a:p>
            <a:r>
              <a:rPr lang="en-US" dirty="0"/>
              <a:t>Using Semaphores for Mutual Exclusion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362075"/>
            <a:ext cx="7896225" cy="4972050"/>
          </a:xfrm>
        </p:spPr>
        <p:txBody>
          <a:bodyPr/>
          <a:lstStyle/>
          <a:p>
            <a:r>
              <a:rPr lang="en-US" dirty="0"/>
              <a:t>Basic idea:</a:t>
            </a:r>
          </a:p>
          <a:p>
            <a:pPr lvl="1"/>
            <a:r>
              <a:rPr lang="en-US" dirty="0"/>
              <a:t>Associate a unique semaphore </a:t>
            </a:r>
            <a:r>
              <a:rPr lang="en-US" i="1" dirty="0"/>
              <a:t>mutex</a:t>
            </a:r>
            <a:r>
              <a:rPr lang="en-US" dirty="0"/>
              <a:t>, initially 1, with each shared variable (or related set of shared variables).</a:t>
            </a:r>
          </a:p>
          <a:p>
            <a:pPr lvl="1"/>
            <a:r>
              <a:rPr lang="en-US" dirty="0"/>
              <a:t>Surround corresponding critical sections with </a:t>
            </a:r>
            <a:r>
              <a:rPr lang="en-US" i="1" dirty="0" err="1"/>
              <a:t>P(mutex</a:t>
            </a:r>
            <a:r>
              <a:rPr lang="en-US" i="1" dirty="0"/>
              <a:t>)</a:t>
            </a:r>
            <a:r>
              <a:rPr lang="en-US" dirty="0"/>
              <a:t> and </a:t>
            </a:r>
          </a:p>
          <a:p>
            <a:pPr lvl="1">
              <a:buNone/>
            </a:pPr>
            <a:r>
              <a:rPr lang="en-US" i="1" dirty="0"/>
              <a:t>	</a:t>
            </a:r>
            <a:r>
              <a:rPr lang="en-US" i="1" dirty="0" err="1"/>
              <a:t>V(mutex</a:t>
            </a:r>
            <a:r>
              <a:rPr lang="en-US" i="1" dirty="0"/>
              <a:t>)</a:t>
            </a:r>
            <a:r>
              <a:rPr lang="en-US" dirty="0"/>
              <a:t> operations.</a:t>
            </a:r>
          </a:p>
          <a:p>
            <a:endParaRPr lang="en-US" dirty="0"/>
          </a:p>
          <a:p>
            <a:r>
              <a:rPr lang="en-US" dirty="0"/>
              <a:t>Terminology:</a:t>
            </a:r>
          </a:p>
          <a:p>
            <a:pPr lvl="1"/>
            <a:r>
              <a:rPr lang="en-US" i="1" dirty="0">
                <a:solidFill>
                  <a:srgbClr val="FF0000"/>
                </a:solidFill>
              </a:rPr>
              <a:t>Binary semaphore</a:t>
            </a:r>
            <a:r>
              <a:rPr lang="en-US" dirty="0"/>
              <a:t>: semaphore whose value is always 0 or 1</a:t>
            </a:r>
          </a:p>
          <a:p>
            <a:pPr lvl="1"/>
            <a:r>
              <a:rPr lang="en-US" i="1" dirty="0">
                <a:solidFill>
                  <a:srgbClr val="FF0000"/>
                </a:solidFill>
              </a:rPr>
              <a:t>Mutex: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binary semaphore used for mutual exclusion</a:t>
            </a:r>
          </a:p>
          <a:p>
            <a:pPr lvl="2"/>
            <a:r>
              <a:rPr lang="en-US" dirty="0"/>
              <a:t>P operation: </a:t>
            </a:r>
            <a:r>
              <a:rPr lang="en-US" dirty="0">
                <a:solidFill>
                  <a:srgbClr val="FF0000"/>
                </a:solidFill>
              </a:rPr>
              <a:t>“locking” </a:t>
            </a:r>
            <a:r>
              <a:rPr lang="en-US" dirty="0"/>
              <a:t>the mutex</a:t>
            </a:r>
          </a:p>
          <a:p>
            <a:pPr lvl="2"/>
            <a:r>
              <a:rPr lang="en-US" dirty="0"/>
              <a:t>V operation: </a:t>
            </a:r>
            <a:r>
              <a:rPr lang="en-US" dirty="0">
                <a:solidFill>
                  <a:srgbClr val="FF0000"/>
                </a:solidFill>
              </a:rPr>
              <a:t>“unlocking” </a:t>
            </a:r>
            <a:r>
              <a:rPr lang="en-US" dirty="0"/>
              <a:t>or </a:t>
            </a:r>
            <a:r>
              <a:rPr lang="en-US" dirty="0">
                <a:solidFill>
                  <a:srgbClr val="FF0000"/>
                </a:solidFill>
              </a:rPr>
              <a:t>“releasing” </a:t>
            </a:r>
            <a:r>
              <a:rPr lang="en-US" dirty="0"/>
              <a:t>the mutex</a:t>
            </a:r>
          </a:p>
          <a:p>
            <a:pPr lvl="2"/>
            <a:r>
              <a:rPr lang="en-US" i="1" dirty="0">
                <a:solidFill>
                  <a:srgbClr val="FF0000"/>
                </a:solidFill>
              </a:rPr>
              <a:t>“Holding” </a:t>
            </a:r>
            <a:r>
              <a:rPr lang="en-US" dirty="0"/>
              <a:t>a mutex: locked and not yet unlocked. </a:t>
            </a:r>
          </a:p>
          <a:p>
            <a:pPr lvl="1"/>
            <a:r>
              <a:rPr lang="en-US" i="1" dirty="0">
                <a:solidFill>
                  <a:srgbClr val="FF0000"/>
                </a:solidFill>
              </a:rPr>
              <a:t>Counting semaphore</a:t>
            </a:r>
            <a:r>
              <a:rPr lang="en-US" dirty="0"/>
              <a:t>: used as a counter for set of available resources.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EAE60F-E4DA-276A-7ADB-45F7F212B0CA}"/>
              </a:ext>
            </a:extLst>
          </p:cNvPr>
          <p:cNvSpPr>
            <a:spLocks/>
          </p:cNvSpPr>
          <p:nvPr/>
        </p:nvSpPr>
        <p:spPr bwMode="auto">
          <a:xfrm>
            <a:off x="0" y="6636634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2FBBA7-16BD-400E-FB75-AF93D80240C2}"/>
              </a:ext>
            </a:extLst>
          </p:cNvPr>
          <p:cNvSpPr>
            <a:spLocks/>
          </p:cNvSpPr>
          <p:nvPr/>
        </p:nvSpPr>
        <p:spPr bwMode="auto">
          <a:xfrm>
            <a:off x="-6350" y="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418" name="Rectangle 2"/>
          <p:cNvSpPr>
            <a:spLocks noGrp="1" noChangeArrowheads="1"/>
          </p:cNvSpPr>
          <p:nvPr>
            <p:ph type="title"/>
          </p:nvPr>
        </p:nvSpPr>
        <p:spPr>
          <a:xfrm>
            <a:off x="357018" y="381000"/>
            <a:ext cx="7592093" cy="762000"/>
          </a:xfrm>
        </p:spPr>
        <p:txBody>
          <a:bodyPr/>
          <a:lstStyle/>
          <a:p>
            <a:r>
              <a:rPr lang="en-US" dirty="0" err="1">
                <a:latin typeface="Courier New"/>
                <a:cs typeface="Courier New"/>
              </a:rPr>
              <a:t>goodcnt.c</a:t>
            </a:r>
            <a:r>
              <a:rPr lang="en-US" dirty="0">
                <a:latin typeface="Courier New"/>
                <a:cs typeface="Courier New"/>
              </a:rPr>
              <a:t>:</a:t>
            </a:r>
            <a:r>
              <a:rPr lang="en-US" dirty="0"/>
              <a:t> Proper Synchronization</a:t>
            </a:r>
          </a:p>
        </p:txBody>
      </p:sp>
      <p:sp>
        <p:nvSpPr>
          <p:cNvPr id="956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5904"/>
            <a:ext cx="8307388" cy="460496"/>
          </a:xfrm>
        </p:spPr>
        <p:txBody>
          <a:bodyPr/>
          <a:lstStyle/>
          <a:p>
            <a:r>
              <a:rPr lang="en-US" dirty="0"/>
              <a:t>Define and initialize a mutex for the shared variable </a:t>
            </a:r>
            <a:r>
              <a:rPr lang="en-US" dirty="0" err="1">
                <a:latin typeface="Courier New"/>
                <a:cs typeface="Courier New"/>
              </a:rPr>
              <a:t>cnt</a:t>
            </a:r>
            <a:r>
              <a:rPr lang="en-US" dirty="0">
                <a:latin typeface="Courier New"/>
                <a:cs typeface="Courier New"/>
              </a:rPr>
              <a:t>: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956420" name="Rectangle 4"/>
          <p:cNvSpPr>
            <a:spLocks noChangeArrowheads="1"/>
          </p:cNvSpPr>
          <p:nvPr/>
        </p:nvSpPr>
        <p:spPr bwMode="auto">
          <a:xfrm>
            <a:off x="329083" y="1749304"/>
            <a:ext cx="8485833" cy="1081764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tIns="0" bIns="0" anchor="t" anchorCtr="0">
            <a:no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en-US" sz="17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700" dirty="0">
                <a:solidFill>
                  <a:srgbClr val="C200FF"/>
                </a:solidFill>
                <a:latin typeface="Menlo-Regular"/>
              </a:rPr>
              <a:t>volatile</a:t>
            </a:r>
            <a:r>
              <a:rPr lang="en-US" sz="17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700" dirty="0">
                <a:solidFill>
                  <a:srgbClr val="2D961E"/>
                </a:solidFill>
                <a:latin typeface="Menlo-Regular"/>
              </a:rPr>
              <a:t>long</a:t>
            </a:r>
            <a:r>
              <a:rPr lang="en-US" sz="17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700" dirty="0" err="1">
                <a:solidFill>
                  <a:srgbClr val="C1651C"/>
                </a:solidFill>
                <a:latin typeface="Menlo-Regular"/>
              </a:rPr>
              <a:t>cnt</a:t>
            </a:r>
            <a:r>
              <a:rPr lang="en-US" sz="1700" dirty="0">
                <a:solidFill>
                  <a:srgbClr val="000000"/>
                </a:solidFill>
                <a:latin typeface="Menlo-Regular"/>
              </a:rPr>
              <a:t> = 0;  </a:t>
            </a:r>
            <a:r>
              <a:rPr lang="en-US" sz="1700" dirty="0">
                <a:solidFill>
                  <a:srgbClr val="CB2418"/>
                </a:solidFill>
                <a:latin typeface="Menlo-Regular"/>
              </a:rPr>
              <a:t>/* Counter */</a:t>
            </a:r>
            <a:endParaRPr lang="en-US" sz="1700" dirty="0">
              <a:solidFill>
                <a:srgbClr val="000000"/>
              </a:solidFill>
              <a:latin typeface="Menlo-Regular"/>
            </a:endParaRPr>
          </a:p>
          <a:p>
            <a:r>
              <a:rPr lang="en-US" sz="1700" dirty="0">
                <a:solidFill>
                  <a:srgbClr val="000000"/>
                </a:solidFill>
                <a:latin typeface="Menlo-Regular"/>
              </a:rPr>
              <a:t>  </a:t>
            </a:r>
            <a:r>
              <a:rPr lang="en-US" sz="1700" dirty="0" err="1">
                <a:solidFill>
                  <a:srgbClr val="2D961E"/>
                </a:solidFill>
                <a:latin typeface="Menlo-Regular"/>
              </a:rPr>
              <a:t>sem_t</a:t>
            </a:r>
            <a:r>
              <a:rPr lang="en-US" sz="17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700" dirty="0" err="1">
                <a:solidFill>
                  <a:srgbClr val="C1651C"/>
                </a:solidFill>
                <a:latin typeface="Menlo-Regular"/>
              </a:rPr>
              <a:t>mutex</a:t>
            </a:r>
            <a:r>
              <a:rPr lang="en-US" sz="1700" dirty="0">
                <a:solidFill>
                  <a:srgbClr val="000000"/>
                </a:solidFill>
                <a:latin typeface="Menlo-Regular"/>
              </a:rPr>
              <a:t>;            </a:t>
            </a:r>
            <a:r>
              <a:rPr lang="en-US" sz="1700" dirty="0">
                <a:solidFill>
                  <a:srgbClr val="CB2418"/>
                </a:solidFill>
                <a:latin typeface="Menlo-Regular"/>
              </a:rPr>
              <a:t>/* Semaphore that protects </a:t>
            </a:r>
            <a:r>
              <a:rPr lang="en-US" sz="1700" dirty="0" err="1">
                <a:solidFill>
                  <a:srgbClr val="CB2418"/>
                </a:solidFill>
                <a:latin typeface="Menlo-Regular"/>
              </a:rPr>
              <a:t>cnt</a:t>
            </a:r>
            <a:r>
              <a:rPr lang="en-US" sz="1700" dirty="0">
                <a:solidFill>
                  <a:srgbClr val="CB2418"/>
                </a:solidFill>
                <a:latin typeface="Menlo-Regular"/>
              </a:rPr>
              <a:t> */</a:t>
            </a:r>
            <a:endParaRPr lang="en-US" sz="1700" dirty="0">
              <a:solidFill>
                <a:srgbClr val="000000"/>
              </a:solidFill>
              <a:latin typeface="Courier New" pitchFamily="49" charset="0"/>
            </a:endParaRPr>
          </a:p>
          <a:p>
            <a:r>
              <a:rPr lang="en-US" sz="1700" dirty="0">
                <a:solidFill>
                  <a:srgbClr val="000000"/>
                </a:solidFill>
                <a:latin typeface="Courier New" pitchFamily="49" charset="0"/>
              </a:rPr>
              <a:t> </a:t>
            </a:r>
          </a:p>
          <a:p>
            <a:r>
              <a:rPr lang="fi-FI" sz="1700" dirty="0">
                <a:solidFill>
                  <a:srgbClr val="000000"/>
                </a:solidFill>
                <a:latin typeface="Menlo-Regular"/>
              </a:rPr>
              <a:t>  </a:t>
            </a:r>
            <a:r>
              <a:rPr lang="fi-FI" sz="1700" dirty="0" err="1">
                <a:solidFill>
                  <a:srgbClr val="000000"/>
                </a:solidFill>
                <a:latin typeface="Menlo-Regular"/>
              </a:rPr>
              <a:t>Sem_init(&amp;mutex</a:t>
            </a:r>
            <a:r>
              <a:rPr lang="fi-FI" sz="1700" dirty="0">
                <a:solidFill>
                  <a:srgbClr val="000000"/>
                </a:solidFill>
                <a:latin typeface="Menlo-Regular"/>
              </a:rPr>
              <a:t>, 0, 1); </a:t>
            </a:r>
            <a:r>
              <a:rPr lang="fi-FI" sz="1700" dirty="0">
                <a:solidFill>
                  <a:srgbClr val="CB2418"/>
                </a:solidFill>
                <a:latin typeface="Menlo-Regular"/>
              </a:rPr>
              <a:t>/* </a:t>
            </a:r>
            <a:r>
              <a:rPr lang="fi-FI" sz="1700" dirty="0" err="1">
                <a:solidFill>
                  <a:srgbClr val="CB2418"/>
                </a:solidFill>
                <a:latin typeface="Menlo-Regular"/>
              </a:rPr>
              <a:t>mutex</a:t>
            </a:r>
            <a:r>
              <a:rPr lang="fi-FI" sz="1700" dirty="0">
                <a:solidFill>
                  <a:srgbClr val="CB2418"/>
                </a:solidFill>
                <a:latin typeface="Menlo-Regular"/>
              </a:rPr>
              <a:t> = 1 */</a:t>
            </a:r>
            <a:endParaRPr lang="en-US" sz="1700" dirty="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57018" y="3352800"/>
            <a:ext cx="8307388" cy="460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Surround </a:t>
            </a:r>
            <a:r>
              <a:rPr lang="en-US" kern="0" dirty="0">
                <a:latin typeface="Calibri" pitchFamily="34" charset="0"/>
              </a:rPr>
              <a:t>critical section with </a:t>
            </a:r>
            <a:r>
              <a:rPr lang="en-US" i="1" kern="0" dirty="0">
                <a:latin typeface="Calibri" pitchFamily="34" charset="0"/>
              </a:rPr>
              <a:t>P</a:t>
            </a:r>
            <a:r>
              <a:rPr lang="en-US" kern="0" dirty="0">
                <a:latin typeface="Calibri" pitchFamily="34" charset="0"/>
              </a:rPr>
              <a:t> and </a:t>
            </a:r>
            <a:r>
              <a:rPr lang="en-US" i="1" kern="0" dirty="0">
                <a:latin typeface="Calibri" pitchFamily="34" charset="0"/>
              </a:rPr>
              <a:t>V</a:t>
            </a:r>
            <a:r>
              <a:rPr lang="en-US" kern="0" dirty="0">
                <a:latin typeface="Calibri" pitchFamily="34" charset="0"/>
              </a:rPr>
              <a:t>: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2" charset="2"/>
              <a:buChar char="§"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tabLst/>
              <a:defRPr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83373" y="3962400"/>
            <a:ext cx="4774427" cy="1323439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tIns="0" bIns="0" anchor="t" anchorCtr="0">
            <a:noAutofit/>
          </a:bodyPr>
          <a:lstStyle/>
          <a:p>
            <a:r>
              <a:rPr lang="da-DK" sz="17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da-DK" sz="1700" dirty="0">
                <a:solidFill>
                  <a:srgbClr val="C200FF"/>
                </a:solidFill>
                <a:latin typeface="Menlo-Regular"/>
              </a:rPr>
              <a:t>for</a:t>
            </a:r>
            <a:r>
              <a:rPr lang="da-DK" sz="1700" dirty="0">
                <a:solidFill>
                  <a:srgbClr val="000000"/>
                </a:solidFill>
                <a:latin typeface="Menlo-Regular"/>
              </a:rPr>
              <a:t> (i = 0; i &lt; </a:t>
            </a:r>
            <a:r>
              <a:rPr lang="da-DK" sz="1700" dirty="0" err="1">
                <a:solidFill>
                  <a:srgbClr val="000000"/>
                </a:solidFill>
                <a:latin typeface="Menlo-Regular"/>
              </a:rPr>
              <a:t>niters</a:t>
            </a:r>
            <a:r>
              <a:rPr lang="da-DK" sz="1700" dirty="0">
                <a:solidFill>
                  <a:srgbClr val="000000"/>
                </a:solidFill>
                <a:latin typeface="Menlo-Regular"/>
              </a:rPr>
              <a:t>; i++) {</a:t>
            </a:r>
          </a:p>
          <a:p>
            <a:r>
              <a:rPr lang="da-DK" sz="1700" dirty="0">
                <a:solidFill>
                  <a:srgbClr val="000000"/>
                </a:solidFill>
                <a:latin typeface="Menlo-Regular"/>
              </a:rPr>
              <a:t>     </a:t>
            </a:r>
            <a:r>
              <a:rPr lang="fi-FI" sz="1700" dirty="0" err="1">
                <a:solidFill>
                  <a:srgbClr val="000000"/>
                </a:solidFill>
                <a:latin typeface="Menlo-Regular"/>
              </a:rPr>
              <a:t>P(&amp;mutex</a:t>
            </a:r>
            <a:r>
              <a:rPr lang="fi-FI" sz="1700" dirty="0">
                <a:solidFill>
                  <a:srgbClr val="000000"/>
                </a:solidFill>
                <a:latin typeface="Menlo-Regular"/>
              </a:rPr>
              <a:t>);</a:t>
            </a:r>
          </a:p>
          <a:p>
            <a:r>
              <a:rPr lang="fi-FI" sz="1700" dirty="0">
                <a:solidFill>
                  <a:srgbClr val="000000"/>
                </a:solidFill>
                <a:latin typeface="Menlo-Regular"/>
              </a:rPr>
              <a:t>     </a:t>
            </a:r>
            <a:r>
              <a:rPr lang="fi-FI" sz="1700" dirty="0" err="1">
                <a:solidFill>
                  <a:srgbClr val="000000"/>
                </a:solidFill>
                <a:latin typeface="Menlo-Regular"/>
              </a:rPr>
              <a:t>cnt</a:t>
            </a:r>
            <a:r>
              <a:rPr lang="fi-FI" sz="1700" dirty="0">
                <a:solidFill>
                  <a:srgbClr val="000000"/>
                </a:solidFill>
                <a:latin typeface="Menlo-Regular"/>
              </a:rPr>
              <a:t>++;</a:t>
            </a:r>
          </a:p>
          <a:p>
            <a:r>
              <a:rPr lang="fi-FI" sz="1700" dirty="0">
                <a:solidFill>
                  <a:srgbClr val="000000"/>
                </a:solidFill>
                <a:latin typeface="Menlo-Regular"/>
              </a:rPr>
              <a:t>     </a:t>
            </a:r>
            <a:r>
              <a:rPr lang="fi-FI" sz="1700" dirty="0" err="1">
                <a:solidFill>
                  <a:srgbClr val="000000"/>
                </a:solidFill>
                <a:latin typeface="Menlo-Regular"/>
              </a:rPr>
              <a:t>V(&amp;mutex</a:t>
            </a:r>
            <a:r>
              <a:rPr lang="fi-FI" sz="1700" dirty="0">
                <a:solidFill>
                  <a:srgbClr val="000000"/>
                </a:solidFill>
                <a:latin typeface="Menlo-Regular"/>
              </a:rPr>
              <a:t>);</a:t>
            </a:r>
          </a:p>
          <a:p>
            <a:r>
              <a:rPr lang="fi-FI" sz="1700" dirty="0">
                <a:solidFill>
                  <a:srgbClr val="000000"/>
                </a:solidFill>
                <a:latin typeface="Menlo-Regular"/>
              </a:rPr>
              <a:t>  }</a:t>
            </a:r>
            <a:endParaRPr lang="en-US" sz="1700" dirty="0">
              <a:latin typeface="Courier New" pitchFamily="49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5638800" y="4038600"/>
            <a:ext cx="2893540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600" dirty="0" err="1">
                <a:latin typeface="Courier New" pitchFamily="49" charset="0"/>
              </a:rPr>
              <a:t>linux</a:t>
            </a:r>
            <a:r>
              <a:rPr lang="en-US" sz="1600" dirty="0">
                <a:latin typeface="Courier New" pitchFamily="49" charset="0"/>
              </a:rPr>
              <a:t>&gt; ./</a:t>
            </a:r>
            <a:r>
              <a:rPr lang="en-US" sz="1600" dirty="0" err="1">
                <a:latin typeface="Courier New" pitchFamily="49" charset="0"/>
              </a:rPr>
              <a:t>goodcnt</a:t>
            </a:r>
            <a:r>
              <a:rPr lang="en-US" sz="1600" dirty="0">
                <a:latin typeface="Courier New" pitchFamily="49" charset="0"/>
              </a:rPr>
              <a:t> 10000</a:t>
            </a:r>
          </a:p>
          <a:p>
            <a:r>
              <a:rPr lang="en-US" sz="1600" dirty="0">
                <a:latin typeface="Courier New" pitchFamily="49" charset="0"/>
              </a:rPr>
              <a:t>OK </a:t>
            </a:r>
            <a:r>
              <a:rPr lang="en-US" sz="1600" dirty="0" err="1">
                <a:latin typeface="Courier New" pitchFamily="49" charset="0"/>
              </a:rPr>
              <a:t>cnt</a:t>
            </a:r>
            <a:r>
              <a:rPr lang="en-US" sz="1600" dirty="0">
                <a:latin typeface="Courier New" pitchFamily="49" charset="0"/>
              </a:rPr>
              <a:t>=20000</a:t>
            </a:r>
          </a:p>
          <a:p>
            <a:r>
              <a:rPr lang="en-US" sz="1600" dirty="0" err="1">
                <a:latin typeface="Courier New" pitchFamily="49" charset="0"/>
              </a:rPr>
              <a:t>linux</a:t>
            </a:r>
            <a:r>
              <a:rPr lang="en-US" sz="1600" dirty="0">
                <a:latin typeface="Courier New" pitchFamily="49" charset="0"/>
              </a:rPr>
              <a:t>&gt; ./</a:t>
            </a:r>
            <a:r>
              <a:rPr lang="en-US" sz="1600" dirty="0" err="1">
                <a:latin typeface="Courier New" pitchFamily="49" charset="0"/>
              </a:rPr>
              <a:t>goodcnt</a:t>
            </a:r>
            <a:r>
              <a:rPr lang="en-US" sz="1600" dirty="0">
                <a:latin typeface="Courier New" pitchFamily="49" charset="0"/>
              </a:rPr>
              <a:t> 10000</a:t>
            </a:r>
          </a:p>
          <a:p>
            <a:r>
              <a:rPr lang="en-US" sz="1600" dirty="0">
                <a:latin typeface="Courier New" pitchFamily="49" charset="0"/>
              </a:rPr>
              <a:t>OK </a:t>
            </a:r>
            <a:r>
              <a:rPr lang="en-US" sz="1600" dirty="0" err="1">
                <a:latin typeface="Courier New" pitchFamily="49" charset="0"/>
              </a:rPr>
              <a:t>cnt</a:t>
            </a:r>
            <a:r>
              <a:rPr lang="en-US" sz="1600" dirty="0">
                <a:latin typeface="Courier New" pitchFamily="49" charset="0"/>
              </a:rPr>
              <a:t>=20000</a:t>
            </a:r>
          </a:p>
          <a:p>
            <a:r>
              <a:rPr lang="en-US" sz="1600" dirty="0" err="1">
                <a:latin typeface="Courier New" pitchFamily="49" charset="0"/>
              </a:rPr>
              <a:t>linux</a:t>
            </a:r>
            <a:r>
              <a:rPr lang="en-US" sz="1600" dirty="0">
                <a:latin typeface="Courier New" pitchFamily="49" charset="0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81401" y="5802868"/>
            <a:ext cx="53840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Warning: It’s orders of magnitude slower than </a:t>
            </a:r>
            <a:r>
              <a:rPr lang="en-US" dirty="0" err="1">
                <a:latin typeface="Courier New"/>
                <a:cs typeface="Courier New"/>
              </a:rPr>
              <a:t>badcnt.c</a:t>
            </a:r>
            <a:r>
              <a:rPr lang="en-US" dirty="0">
                <a:latin typeface="Courier New"/>
                <a:cs typeface="Courier New"/>
              </a:rPr>
              <a:t>.</a:t>
            </a:r>
            <a:r>
              <a:rPr lang="en-US" dirty="0">
                <a:latin typeface="Calibri" pitchFamily="34" charset="0"/>
              </a:rP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32898" y="4940736"/>
            <a:ext cx="1124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solidFill>
                  <a:srgbClr val="7F7F7F"/>
                </a:solidFill>
                <a:latin typeface="Calibri" pitchFamily="34" charset="0"/>
              </a:rPr>
              <a:t>goodcnt.c</a:t>
            </a:r>
            <a:endParaRPr lang="en-US" sz="1800" dirty="0">
              <a:solidFill>
                <a:srgbClr val="7F7F7F"/>
              </a:solidFill>
              <a:latin typeface="Calibri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FFBD4D-5174-A5C0-E83E-FD7D7E2A1819}"/>
              </a:ext>
            </a:extLst>
          </p:cNvPr>
          <p:cNvSpPr>
            <a:spLocks/>
          </p:cNvSpPr>
          <p:nvPr/>
        </p:nvSpPr>
        <p:spPr bwMode="auto">
          <a:xfrm>
            <a:off x="0" y="6636634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EBFA11-CD60-C119-06A1-34A83E2021D0}"/>
              </a:ext>
            </a:extLst>
          </p:cNvPr>
          <p:cNvSpPr>
            <a:spLocks/>
          </p:cNvSpPr>
          <p:nvPr/>
        </p:nvSpPr>
        <p:spPr bwMode="auto">
          <a:xfrm>
            <a:off x="-6350" y="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Rectangle 317"/>
          <p:cNvSpPr>
            <a:spLocks noChangeAspect="1"/>
          </p:cNvSpPr>
          <p:nvPr/>
        </p:nvSpPr>
        <p:spPr bwMode="auto">
          <a:xfrm>
            <a:off x="1941445" y="2835302"/>
            <a:ext cx="2011680" cy="1939512"/>
          </a:xfrm>
          <a:prstGeom prst="rect">
            <a:avLst/>
          </a:prstGeom>
          <a:solidFill>
            <a:srgbClr val="E49494"/>
          </a:solidFill>
          <a:ln w="25400">
            <a:noFill/>
            <a:round/>
            <a:headEnd/>
            <a:tailEnd/>
          </a:ln>
          <a:effectLst/>
        </p:spPr>
        <p:txBody>
          <a:bodyPr wrap="none" rtlCol="0" anchor="ctr">
            <a:spAutoFit/>
          </a:bodyPr>
          <a:lstStyle/>
          <a:p>
            <a:pPr algn="ctr"/>
            <a:endParaRPr lang="en-US"/>
          </a:p>
        </p:txBody>
      </p:sp>
      <p:sp>
        <p:nvSpPr>
          <p:cNvPr id="316" name="Rectangle 315"/>
          <p:cNvSpPr>
            <a:spLocks noChangeAspect="1"/>
          </p:cNvSpPr>
          <p:nvPr/>
        </p:nvSpPr>
        <p:spPr bwMode="auto">
          <a:xfrm>
            <a:off x="2081253" y="2985061"/>
            <a:ext cx="1737360" cy="1675032"/>
          </a:xfrm>
          <a:prstGeom prst="rect">
            <a:avLst/>
          </a:prstGeom>
          <a:solidFill>
            <a:srgbClr val="F1C7C7"/>
          </a:solidFill>
          <a:ln w="25400">
            <a:noFill/>
            <a:round/>
            <a:headEnd/>
            <a:tailEnd/>
          </a:ln>
          <a:effectLst/>
        </p:spPr>
        <p:txBody>
          <a:bodyPr wrap="none" rtlCol="0" anchor="ctr">
            <a:spAutoFit/>
          </a:bodyPr>
          <a:lstStyle/>
          <a:p>
            <a:pPr algn="ctr"/>
            <a:endParaRPr lang="en-US"/>
          </a:p>
        </p:txBody>
      </p:sp>
      <p:sp>
        <p:nvSpPr>
          <p:cNvPr id="317" name="TextBox 316"/>
          <p:cNvSpPr txBox="1"/>
          <p:nvPr/>
        </p:nvSpPr>
        <p:spPr>
          <a:xfrm>
            <a:off x="2233653" y="3619798"/>
            <a:ext cx="1525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solidFill>
                  <a:srgbClr val="DB6F6F"/>
                </a:solidFill>
                <a:latin typeface="Calibri" pitchFamily="34" charset="0"/>
              </a:rPr>
              <a:t>Unsafe region</a:t>
            </a:r>
          </a:p>
        </p:txBody>
      </p:sp>
      <p:sp>
        <p:nvSpPr>
          <p:cNvPr id="95846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</a:t>
            </a:r>
            <a:r>
              <a:rPr lang="en-US" dirty="0" err="1"/>
              <a:t>Mutexes</a:t>
            </a:r>
            <a:r>
              <a:rPr lang="en-US" dirty="0"/>
              <a:t> Work</a:t>
            </a:r>
          </a:p>
        </p:txBody>
      </p:sp>
      <p:sp>
        <p:nvSpPr>
          <p:cNvPr id="958468" name="Text Box 4"/>
          <p:cNvSpPr txBox="1">
            <a:spLocks noChangeArrowheads="1"/>
          </p:cNvSpPr>
          <p:nvPr/>
        </p:nvSpPr>
        <p:spPr bwMode="auto">
          <a:xfrm>
            <a:off x="5810250" y="1381125"/>
            <a:ext cx="3105150" cy="332398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Provide mutually exclusive access to shared variable by surrounding critical section with  </a:t>
            </a:r>
            <a:r>
              <a:rPr lang="en-US" sz="1800" i="1" dirty="0">
                <a:latin typeface="Calibri" pitchFamily="34" charset="0"/>
              </a:rPr>
              <a:t>P</a:t>
            </a:r>
            <a:r>
              <a:rPr lang="en-US" sz="1800" dirty="0">
                <a:latin typeface="Calibri" pitchFamily="34" charset="0"/>
              </a:rPr>
              <a:t> and </a:t>
            </a:r>
            <a:r>
              <a:rPr lang="en-US" sz="1800" i="1" dirty="0">
                <a:latin typeface="Calibri" pitchFamily="34" charset="0"/>
              </a:rPr>
              <a:t>V</a:t>
            </a:r>
            <a:r>
              <a:rPr lang="en-US" sz="1800" dirty="0">
                <a:latin typeface="Calibri" pitchFamily="34" charset="0"/>
              </a:rPr>
              <a:t> operations on semaphore </a:t>
            </a:r>
            <a:r>
              <a:rPr lang="en-US" sz="1800" dirty="0">
                <a:latin typeface="Courier New" pitchFamily="49" charset="0"/>
              </a:rPr>
              <a:t>s</a:t>
            </a:r>
            <a:r>
              <a:rPr lang="en-US" sz="1800" dirty="0">
                <a:latin typeface="Calibri" pitchFamily="34" charset="0"/>
              </a:rPr>
              <a:t> (initially set to 1)</a:t>
            </a:r>
          </a:p>
          <a:p>
            <a:endParaRPr lang="en-US" sz="1800" dirty="0">
              <a:latin typeface="Calibri" pitchFamily="34" charset="0"/>
            </a:endParaRPr>
          </a:p>
          <a:p>
            <a:r>
              <a:rPr lang="en-US" sz="1800" dirty="0">
                <a:latin typeface="Calibri" pitchFamily="34" charset="0"/>
              </a:rPr>
              <a:t>Semaphore invariant </a:t>
            </a:r>
          </a:p>
          <a:p>
            <a:r>
              <a:rPr lang="en-US" sz="1800" dirty="0">
                <a:latin typeface="Calibri" pitchFamily="34" charset="0"/>
              </a:rPr>
              <a:t>creates a </a:t>
            </a:r>
            <a:r>
              <a:rPr lang="en-US" sz="1800" i="1" dirty="0">
                <a:solidFill>
                  <a:srgbClr val="FF0000"/>
                </a:solidFill>
                <a:latin typeface="Calibri" pitchFamily="34" charset="0"/>
              </a:rPr>
              <a:t>forbidden region</a:t>
            </a:r>
          </a:p>
          <a:p>
            <a:r>
              <a:rPr lang="en-US" sz="1800" dirty="0">
                <a:latin typeface="Calibri" pitchFamily="34" charset="0"/>
              </a:rPr>
              <a:t>that encloses unsafe region and that cannot be entered by any trajectory.</a:t>
            </a:r>
          </a:p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162" name="Line 6"/>
          <p:cNvSpPr>
            <a:spLocks noChangeAspect="1" noChangeShapeType="1"/>
          </p:cNvSpPr>
          <p:nvPr/>
        </p:nvSpPr>
        <p:spPr bwMode="auto">
          <a:xfrm flipV="1">
            <a:off x="817563" y="5888038"/>
            <a:ext cx="45910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63" name="Line 7"/>
          <p:cNvSpPr>
            <a:spLocks noChangeAspect="1" noChangeShapeType="1"/>
          </p:cNvSpPr>
          <p:nvPr/>
        </p:nvSpPr>
        <p:spPr bwMode="auto">
          <a:xfrm flipH="1" flipV="1">
            <a:off x="827088" y="1533525"/>
            <a:ext cx="0" cy="43545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64" name="Text Box 8"/>
          <p:cNvSpPr txBox="1">
            <a:spLocks noChangeAspect="1" noChangeArrowheads="1"/>
          </p:cNvSpPr>
          <p:nvPr/>
        </p:nvSpPr>
        <p:spPr bwMode="auto">
          <a:xfrm>
            <a:off x="956393" y="5865813"/>
            <a:ext cx="409086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>
                <a:latin typeface="+mn-lt"/>
              </a:rPr>
              <a:t>H</a:t>
            </a:r>
            <a:r>
              <a:rPr lang="en-US" sz="1800" baseline="-25000">
                <a:latin typeface="+mn-lt"/>
              </a:rPr>
              <a:t>1</a:t>
            </a:r>
            <a:endParaRPr lang="en-US" sz="1800">
              <a:latin typeface="+mn-lt"/>
            </a:endParaRPr>
          </a:p>
        </p:txBody>
      </p:sp>
      <p:sp>
        <p:nvSpPr>
          <p:cNvPr id="165" name="Text Box 9"/>
          <p:cNvSpPr txBox="1">
            <a:spLocks noChangeAspect="1" noChangeArrowheads="1"/>
          </p:cNvSpPr>
          <p:nvPr/>
        </p:nvSpPr>
        <p:spPr bwMode="auto">
          <a:xfrm>
            <a:off x="1472331" y="5865813"/>
            <a:ext cx="543739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>
                <a:solidFill>
                  <a:srgbClr val="C00000"/>
                </a:solidFill>
                <a:latin typeface="+mn-lt"/>
              </a:rPr>
              <a:t>P(s)</a:t>
            </a:r>
          </a:p>
        </p:txBody>
      </p:sp>
      <p:sp>
        <p:nvSpPr>
          <p:cNvPr id="166" name="Text Box 10"/>
          <p:cNvSpPr txBox="1">
            <a:spLocks noChangeAspect="1" noChangeArrowheads="1"/>
          </p:cNvSpPr>
          <p:nvPr/>
        </p:nvSpPr>
        <p:spPr bwMode="auto">
          <a:xfrm>
            <a:off x="3923431" y="5865813"/>
            <a:ext cx="556563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>
                <a:solidFill>
                  <a:srgbClr val="C00000"/>
                </a:solidFill>
                <a:latin typeface="+mn-lt"/>
              </a:rPr>
              <a:t>V(s)</a:t>
            </a:r>
          </a:p>
        </p:txBody>
      </p:sp>
      <p:sp>
        <p:nvSpPr>
          <p:cNvPr id="167" name="Text Box 11"/>
          <p:cNvSpPr txBox="1">
            <a:spLocks noChangeAspect="1" noChangeArrowheads="1"/>
          </p:cNvSpPr>
          <p:nvPr/>
        </p:nvSpPr>
        <p:spPr bwMode="auto">
          <a:xfrm>
            <a:off x="4604468" y="5865813"/>
            <a:ext cx="377026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>
                <a:latin typeface="+mn-lt"/>
              </a:rPr>
              <a:t>T</a:t>
            </a:r>
            <a:r>
              <a:rPr lang="en-US" sz="1800" baseline="-25000">
                <a:latin typeface="+mn-lt"/>
              </a:rPr>
              <a:t>1</a:t>
            </a:r>
            <a:endParaRPr lang="en-US" sz="1800">
              <a:latin typeface="+mn-lt"/>
            </a:endParaRPr>
          </a:p>
        </p:txBody>
      </p:sp>
      <p:sp>
        <p:nvSpPr>
          <p:cNvPr id="168" name="Text Box 12"/>
          <p:cNvSpPr txBox="1">
            <a:spLocks noChangeAspect="1" noChangeArrowheads="1"/>
          </p:cNvSpPr>
          <p:nvPr/>
        </p:nvSpPr>
        <p:spPr bwMode="auto">
          <a:xfrm>
            <a:off x="5486400" y="5690223"/>
            <a:ext cx="1023678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800">
                <a:latin typeface="+mn-lt"/>
              </a:rPr>
              <a:t>Thread 1</a:t>
            </a:r>
          </a:p>
        </p:txBody>
      </p:sp>
      <p:sp>
        <p:nvSpPr>
          <p:cNvPr id="169" name="Text Box 13"/>
          <p:cNvSpPr txBox="1">
            <a:spLocks noChangeAspect="1" noChangeArrowheads="1"/>
          </p:cNvSpPr>
          <p:nvPr/>
        </p:nvSpPr>
        <p:spPr bwMode="auto">
          <a:xfrm>
            <a:off x="304800" y="1078468"/>
            <a:ext cx="1023678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800" dirty="0">
                <a:latin typeface="+mn-lt"/>
              </a:rPr>
              <a:t>Thread 2</a:t>
            </a:r>
          </a:p>
        </p:txBody>
      </p:sp>
      <p:sp>
        <p:nvSpPr>
          <p:cNvPr id="170" name="Oval 14"/>
          <p:cNvSpPr>
            <a:spLocks noChangeAspect="1" noChangeArrowheads="1"/>
          </p:cNvSpPr>
          <p:nvPr/>
        </p:nvSpPr>
        <p:spPr bwMode="auto">
          <a:xfrm>
            <a:off x="1420813" y="5273675"/>
            <a:ext cx="33337" cy="33338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71" name="Oval 15"/>
          <p:cNvSpPr>
            <a:spLocks noChangeAspect="1" noChangeArrowheads="1"/>
          </p:cNvSpPr>
          <p:nvPr/>
        </p:nvSpPr>
        <p:spPr bwMode="auto">
          <a:xfrm>
            <a:off x="2024063" y="5273675"/>
            <a:ext cx="34925" cy="33338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72" name="Oval 16"/>
          <p:cNvSpPr>
            <a:spLocks noChangeAspect="1" noChangeArrowheads="1"/>
          </p:cNvSpPr>
          <p:nvPr/>
        </p:nvSpPr>
        <p:spPr bwMode="auto">
          <a:xfrm>
            <a:off x="2630488" y="5273675"/>
            <a:ext cx="33337" cy="33338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73" name="Oval 17"/>
          <p:cNvSpPr>
            <a:spLocks noChangeAspect="1" noChangeArrowheads="1"/>
          </p:cNvSpPr>
          <p:nvPr/>
        </p:nvSpPr>
        <p:spPr bwMode="auto">
          <a:xfrm>
            <a:off x="3235325" y="5273675"/>
            <a:ext cx="31750" cy="33338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74" name="Oval 18"/>
          <p:cNvSpPr>
            <a:spLocks noChangeAspect="1" noChangeArrowheads="1"/>
          </p:cNvSpPr>
          <p:nvPr/>
        </p:nvSpPr>
        <p:spPr bwMode="auto">
          <a:xfrm>
            <a:off x="3840163" y="5273675"/>
            <a:ext cx="33337" cy="33338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75" name="Oval 19"/>
          <p:cNvSpPr>
            <a:spLocks noChangeAspect="1" noChangeArrowheads="1"/>
          </p:cNvSpPr>
          <p:nvPr/>
        </p:nvSpPr>
        <p:spPr bwMode="auto">
          <a:xfrm>
            <a:off x="817563" y="5273675"/>
            <a:ext cx="31750" cy="33338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76" name="Oval 20"/>
          <p:cNvSpPr>
            <a:spLocks noChangeAspect="1" noChangeArrowheads="1"/>
          </p:cNvSpPr>
          <p:nvPr/>
        </p:nvSpPr>
        <p:spPr bwMode="auto">
          <a:xfrm>
            <a:off x="4443413" y="5273675"/>
            <a:ext cx="33337" cy="33338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77" name="Oval 21"/>
          <p:cNvSpPr>
            <a:spLocks noChangeAspect="1" noChangeArrowheads="1"/>
          </p:cNvSpPr>
          <p:nvPr/>
        </p:nvSpPr>
        <p:spPr bwMode="auto">
          <a:xfrm>
            <a:off x="5049838" y="5273675"/>
            <a:ext cx="31750" cy="33338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78" name="Oval 22"/>
          <p:cNvSpPr>
            <a:spLocks noChangeAspect="1" noChangeArrowheads="1"/>
          </p:cNvSpPr>
          <p:nvPr/>
        </p:nvSpPr>
        <p:spPr bwMode="auto">
          <a:xfrm>
            <a:off x="1420813" y="4684713"/>
            <a:ext cx="33337" cy="3175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79" name="Oval 23"/>
          <p:cNvSpPr>
            <a:spLocks noChangeAspect="1" noChangeArrowheads="1"/>
          </p:cNvSpPr>
          <p:nvPr/>
        </p:nvSpPr>
        <p:spPr bwMode="auto">
          <a:xfrm>
            <a:off x="2024063" y="4684713"/>
            <a:ext cx="34925" cy="3175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80" name="Oval 24"/>
          <p:cNvSpPr>
            <a:spLocks noChangeAspect="1" noChangeArrowheads="1"/>
          </p:cNvSpPr>
          <p:nvPr/>
        </p:nvSpPr>
        <p:spPr bwMode="auto">
          <a:xfrm>
            <a:off x="2630488" y="4684713"/>
            <a:ext cx="33337" cy="3175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81" name="Oval 25"/>
          <p:cNvSpPr>
            <a:spLocks noChangeAspect="1" noChangeArrowheads="1"/>
          </p:cNvSpPr>
          <p:nvPr/>
        </p:nvSpPr>
        <p:spPr bwMode="auto">
          <a:xfrm>
            <a:off x="3235325" y="4684713"/>
            <a:ext cx="31750" cy="3175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82" name="Oval 26"/>
          <p:cNvSpPr>
            <a:spLocks noChangeAspect="1" noChangeArrowheads="1"/>
          </p:cNvSpPr>
          <p:nvPr/>
        </p:nvSpPr>
        <p:spPr bwMode="auto">
          <a:xfrm>
            <a:off x="3840163" y="4684713"/>
            <a:ext cx="33337" cy="3175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83" name="Oval 27"/>
          <p:cNvSpPr>
            <a:spLocks noChangeAspect="1" noChangeArrowheads="1"/>
          </p:cNvSpPr>
          <p:nvPr/>
        </p:nvSpPr>
        <p:spPr bwMode="auto">
          <a:xfrm>
            <a:off x="817563" y="4684713"/>
            <a:ext cx="31750" cy="3175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84" name="Oval 28"/>
          <p:cNvSpPr>
            <a:spLocks noChangeAspect="1" noChangeArrowheads="1"/>
          </p:cNvSpPr>
          <p:nvPr/>
        </p:nvSpPr>
        <p:spPr bwMode="auto">
          <a:xfrm>
            <a:off x="4443413" y="4684713"/>
            <a:ext cx="33337" cy="3175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85" name="Oval 29"/>
          <p:cNvSpPr>
            <a:spLocks noChangeAspect="1" noChangeArrowheads="1"/>
          </p:cNvSpPr>
          <p:nvPr/>
        </p:nvSpPr>
        <p:spPr bwMode="auto">
          <a:xfrm>
            <a:off x="5049838" y="4684713"/>
            <a:ext cx="31750" cy="3175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86" name="Oval 30"/>
          <p:cNvSpPr>
            <a:spLocks noChangeAspect="1" noChangeArrowheads="1"/>
          </p:cNvSpPr>
          <p:nvPr/>
        </p:nvSpPr>
        <p:spPr bwMode="auto">
          <a:xfrm>
            <a:off x="1420813" y="4094163"/>
            <a:ext cx="33337" cy="33337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87" name="Oval 31"/>
          <p:cNvSpPr>
            <a:spLocks noChangeAspect="1" noChangeArrowheads="1"/>
          </p:cNvSpPr>
          <p:nvPr/>
        </p:nvSpPr>
        <p:spPr bwMode="auto">
          <a:xfrm>
            <a:off x="2024063" y="4094163"/>
            <a:ext cx="34925" cy="33337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88" name="Oval 32"/>
          <p:cNvSpPr>
            <a:spLocks noChangeAspect="1" noChangeArrowheads="1"/>
          </p:cNvSpPr>
          <p:nvPr/>
        </p:nvSpPr>
        <p:spPr bwMode="auto">
          <a:xfrm>
            <a:off x="2630488" y="4094163"/>
            <a:ext cx="33337" cy="33337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89" name="Oval 33"/>
          <p:cNvSpPr>
            <a:spLocks noChangeAspect="1" noChangeArrowheads="1"/>
          </p:cNvSpPr>
          <p:nvPr/>
        </p:nvSpPr>
        <p:spPr bwMode="auto">
          <a:xfrm>
            <a:off x="3235325" y="4094163"/>
            <a:ext cx="31750" cy="33337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90" name="Oval 34"/>
          <p:cNvSpPr>
            <a:spLocks noChangeAspect="1" noChangeArrowheads="1"/>
          </p:cNvSpPr>
          <p:nvPr/>
        </p:nvSpPr>
        <p:spPr bwMode="auto">
          <a:xfrm>
            <a:off x="3840163" y="4094163"/>
            <a:ext cx="33337" cy="33337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91" name="Oval 35"/>
          <p:cNvSpPr>
            <a:spLocks noChangeAspect="1" noChangeArrowheads="1"/>
          </p:cNvSpPr>
          <p:nvPr/>
        </p:nvSpPr>
        <p:spPr bwMode="auto">
          <a:xfrm>
            <a:off x="817563" y="4094163"/>
            <a:ext cx="31750" cy="33337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92" name="Oval 36"/>
          <p:cNvSpPr>
            <a:spLocks noChangeAspect="1" noChangeArrowheads="1"/>
          </p:cNvSpPr>
          <p:nvPr/>
        </p:nvSpPr>
        <p:spPr bwMode="auto">
          <a:xfrm>
            <a:off x="4443413" y="4094163"/>
            <a:ext cx="33337" cy="33337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93" name="Oval 37"/>
          <p:cNvSpPr>
            <a:spLocks noChangeAspect="1" noChangeArrowheads="1"/>
          </p:cNvSpPr>
          <p:nvPr/>
        </p:nvSpPr>
        <p:spPr bwMode="auto">
          <a:xfrm>
            <a:off x="5049838" y="4094163"/>
            <a:ext cx="31750" cy="33337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94" name="Oval 38"/>
          <p:cNvSpPr>
            <a:spLocks noChangeAspect="1" noChangeArrowheads="1"/>
          </p:cNvSpPr>
          <p:nvPr/>
        </p:nvSpPr>
        <p:spPr bwMode="auto">
          <a:xfrm>
            <a:off x="1420813" y="3505200"/>
            <a:ext cx="33337" cy="33338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95" name="Oval 39"/>
          <p:cNvSpPr>
            <a:spLocks noChangeAspect="1" noChangeArrowheads="1"/>
          </p:cNvSpPr>
          <p:nvPr/>
        </p:nvSpPr>
        <p:spPr bwMode="auto">
          <a:xfrm>
            <a:off x="2024063" y="3505200"/>
            <a:ext cx="34925" cy="33338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96" name="Oval 40"/>
          <p:cNvSpPr>
            <a:spLocks noChangeAspect="1" noChangeArrowheads="1"/>
          </p:cNvSpPr>
          <p:nvPr/>
        </p:nvSpPr>
        <p:spPr bwMode="auto">
          <a:xfrm>
            <a:off x="2630488" y="3505200"/>
            <a:ext cx="33337" cy="33338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97" name="Oval 41"/>
          <p:cNvSpPr>
            <a:spLocks noChangeAspect="1" noChangeArrowheads="1"/>
          </p:cNvSpPr>
          <p:nvPr/>
        </p:nvSpPr>
        <p:spPr bwMode="auto">
          <a:xfrm>
            <a:off x="3235325" y="3505200"/>
            <a:ext cx="31750" cy="33338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98" name="Oval 42"/>
          <p:cNvSpPr>
            <a:spLocks noChangeAspect="1" noChangeArrowheads="1"/>
          </p:cNvSpPr>
          <p:nvPr/>
        </p:nvSpPr>
        <p:spPr bwMode="auto">
          <a:xfrm>
            <a:off x="3840163" y="3505200"/>
            <a:ext cx="33337" cy="33338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99" name="Oval 43"/>
          <p:cNvSpPr>
            <a:spLocks noChangeAspect="1" noChangeArrowheads="1"/>
          </p:cNvSpPr>
          <p:nvPr/>
        </p:nvSpPr>
        <p:spPr bwMode="auto">
          <a:xfrm>
            <a:off x="817563" y="3505200"/>
            <a:ext cx="31750" cy="33338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00" name="Oval 44"/>
          <p:cNvSpPr>
            <a:spLocks noChangeAspect="1" noChangeArrowheads="1"/>
          </p:cNvSpPr>
          <p:nvPr/>
        </p:nvSpPr>
        <p:spPr bwMode="auto">
          <a:xfrm>
            <a:off x="4443413" y="3505200"/>
            <a:ext cx="33337" cy="33338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01" name="Oval 45"/>
          <p:cNvSpPr>
            <a:spLocks noChangeAspect="1" noChangeArrowheads="1"/>
          </p:cNvSpPr>
          <p:nvPr/>
        </p:nvSpPr>
        <p:spPr bwMode="auto">
          <a:xfrm>
            <a:off x="5049838" y="3505200"/>
            <a:ext cx="31750" cy="33338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02" name="Oval 46"/>
          <p:cNvSpPr>
            <a:spLocks noChangeAspect="1" noChangeArrowheads="1"/>
          </p:cNvSpPr>
          <p:nvPr/>
        </p:nvSpPr>
        <p:spPr bwMode="auto">
          <a:xfrm>
            <a:off x="1420813" y="2916238"/>
            <a:ext cx="33337" cy="3175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03" name="Oval 47"/>
          <p:cNvSpPr>
            <a:spLocks noChangeAspect="1" noChangeArrowheads="1"/>
          </p:cNvSpPr>
          <p:nvPr/>
        </p:nvSpPr>
        <p:spPr bwMode="auto">
          <a:xfrm>
            <a:off x="2024063" y="2916238"/>
            <a:ext cx="34925" cy="3175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04" name="Oval 48"/>
          <p:cNvSpPr>
            <a:spLocks noChangeAspect="1" noChangeArrowheads="1"/>
          </p:cNvSpPr>
          <p:nvPr/>
        </p:nvSpPr>
        <p:spPr bwMode="auto">
          <a:xfrm>
            <a:off x="2630488" y="2916238"/>
            <a:ext cx="33337" cy="3175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05" name="Oval 49"/>
          <p:cNvSpPr>
            <a:spLocks noChangeAspect="1" noChangeArrowheads="1"/>
          </p:cNvSpPr>
          <p:nvPr/>
        </p:nvSpPr>
        <p:spPr bwMode="auto">
          <a:xfrm>
            <a:off x="3235325" y="2916238"/>
            <a:ext cx="31750" cy="3175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06" name="Oval 50"/>
          <p:cNvSpPr>
            <a:spLocks noChangeAspect="1" noChangeArrowheads="1"/>
          </p:cNvSpPr>
          <p:nvPr/>
        </p:nvSpPr>
        <p:spPr bwMode="auto">
          <a:xfrm>
            <a:off x="3840163" y="2916238"/>
            <a:ext cx="33337" cy="3175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07" name="Oval 51"/>
          <p:cNvSpPr>
            <a:spLocks noChangeAspect="1" noChangeArrowheads="1"/>
          </p:cNvSpPr>
          <p:nvPr/>
        </p:nvSpPr>
        <p:spPr bwMode="auto">
          <a:xfrm>
            <a:off x="817563" y="2916238"/>
            <a:ext cx="31750" cy="3175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08" name="Oval 52"/>
          <p:cNvSpPr>
            <a:spLocks noChangeAspect="1" noChangeArrowheads="1"/>
          </p:cNvSpPr>
          <p:nvPr/>
        </p:nvSpPr>
        <p:spPr bwMode="auto">
          <a:xfrm>
            <a:off x="4443413" y="2916238"/>
            <a:ext cx="33337" cy="3175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09" name="Oval 53"/>
          <p:cNvSpPr>
            <a:spLocks noChangeAspect="1" noChangeArrowheads="1"/>
          </p:cNvSpPr>
          <p:nvPr/>
        </p:nvSpPr>
        <p:spPr bwMode="auto">
          <a:xfrm>
            <a:off x="5049838" y="2916238"/>
            <a:ext cx="31750" cy="3175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10" name="Oval 54"/>
          <p:cNvSpPr>
            <a:spLocks noChangeAspect="1" noChangeArrowheads="1"/>
          </p:cNvSpPr>
          <p:nvPr/>
        </p:nvSpPr>
        <p:spPr bwMode="auto">
          <a:xfrm>
            <a:off x="1420813" y="5865813"/>
            <a:ext cx="33337" cy="33337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11" name="Oval 55"/>
          <p:cNvSpPr>
            <a:spLocks noChangeAspect="1" noChangeArrowheads="1"/>
          </p:cNvSpPr>
          <p:nvPr/>
        </p:nvSpPr>
        <p:spPr bwMode="auto">
          <a:xfrm>
            <a:off x="2024063" y="5864225"/>
            <a:ext cx="34925" cy="34925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12" name="Oval 56"/>
          <p:cNvSpPr>
            <a:spLocks noChangeAspect="1" noChangeArrowheads="1"/>
          </p:cNvSpPr>
          <p:nvPr/>
        </p:nvSpPr>
        <p:spPr bwMode="auto">
          <a:xfrm>
            <a:off x="2628900" y="5864225"/>
            <a:ext cx="33338" cy="34925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13" name="Oval 57"/>
          <p:cNvSpPr>
            <a:spLocks noChangeAspect="1" noChangeArrowheads="1"/>
          </p:cNvSpPr>
          <p:nvPr/>
        </p:nvSpPr>
        <p:spPr bwMode="auto">
          <a:xfrm>
            <a:off x="3233738" y="5864225"/>
            <a:ext cx="33337" cy="34925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14" name="Oval 58"/>
          <p:cNvSpPr>
            <a:spLocks noChangeAspect="1" noChangeArrowheads="1"/>
          </p:cNvSpPr>
          <p:nvPr/>
        </p:nvSpPr>
        <p:spPr bwMode="auto">
          <a:xfrm>
            <a:off x="3836988" y="5864225"/>
            <a:ext cx="34925" cy="34925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15" name="Oval 59"/>
          <p:cNvSpPr>
            <a:spLocks noChangeAspect="1" noChangeArrowheads="1"/>
          </p:cNvSpPr>
          <p:nvPr/>
        </p:nvSpPr>
        <p:spPr bwMode="auto">
          <a:xfrm>
            <a:off x="817563" y="5864225"/>
            <a:ext cx="31750" cy="34925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16" name="Oval 60"/>
          <p:cNvSpPr>
            <a:spLocks noChangeAspect="1" noChangeArrowheads="1"/>
          </p:cNvSpPr>
          <p:nvPr/>
        </p:nvSpPr>
        <p:spPr bwMode="auto">
          <a:xfrm>
            <a:off x="4441825" y="5864225"/>
            <a:ext cx="34925" cy="34925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17" name="Oval 61"/>
          <p:cNvSpPr>
            <a:spLocks noChangeAspect="1" noChangeArrowheads="1"/>
          </p:cNvSpPr>
          <p:nvPr/>
        </p:nvSpPr>
        <p:spPr bwMode="auto">
          <a:xfrm>
            <a:off x="5048250" y="5864225"/>
            <a:ext cx="33338" cy="34925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18" name="Oval 62"/>
          <p:cNvSpPr>
            <a:spLocks noChangeAspect="1" noChangeArrowheads="1"/>
          </p:cNvSpPr>
          <p:nvPr/>
        </p:nvSpPr>
        <p:spPr bwMode="auto">
          <a:xfrm>
            <a:off x="1420813" y="2325688"/>
            <a:ext cx="33337" cy="33337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19" name="Oval 63"/>
          <p:cNvSpPr>
            <a:spLocks noChangeAspect="1" noChangeArrowheads="1"/>
          </p:cNvSpPr>
          <p:nvPr/>
        </p:nvSpPr>
        <p:spPr bwMode="auto">
          <a:xfrm>
            <a:off x="2024063" y="2325688"/>
            <a:ext cx="34925" cy="33337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20" name="Oval 64"/>
          <p:cNvSpPr>
            <a:spLocks noChangeAspect="1" noChangeArrowheads="1"/>
          </p:cNvSpPr>
          <p:nvPr/>
        </p:nvSpPr>
        <p:spPr bwMode="auto">
          <a:xfrm>
            <a:off x="2628900" y="2325688"/>
            <a:ext cx="33338" cy="33337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21" name="Oval 65"/>
          <p:cNvSpPr>
            <a:spLocks noChangeAspect="1" noChangeArrowheads="1"/>
          </p:cNvSpPr>
          <p:nvPr/>
        </p:nvSpPr>
        <p:spPr bwMode="auto">
          <a:xfrm>
            <a:off x="3235325" y="2325688"/>
            <a:ext cx="31750" cy="33337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22" name="Oval 66"/>
          <p:cNvSpPr>
            <a:spLocks noChangeAspect="1" noChangeArrowheads="1"/>
          </p:cNvSpPr>
          <p:nvPr/>
        </p:nvSpPr>
        <p:spPr bwMode="auto">
          <a:xfrm>
            <a:off x="3838575" y="2325688"/>
            <a:ext cx="33338" cy="33337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23" name="Oval 67"/>
          <p:cNvSpPr>
            <a:spLocks noChangeAspect="1" noChangeArrowheads="1"/>
          </p:cNvSpPr>
          <p:nvPr/>
        </p:nvSpPr>
        <p:spPr bwMode="auto">
          <a:xfrm>
            <a:off x="817563" y="2325688"/>
            <a:ext cx="31750" cy="33337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24" name="Oval 68"/>
          <p:cNvSpPr>
            <a:spLocks noChangeAspect="1" noChangeArrowheads="1"/>
          </p:cNvSpPr>
          <p:nvPr/>
        </p:nvSpPr>
        <p:spPr bwMode="auto">
          <a:xfrm>
            <a:off x="4441825" y="2325688"/>
            <a:ext cx="33338" cy="33337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25" name="Oval 69"/>
          <p:cNvSpPr>
            <a:spLocks noChangeAspect="1" noChangeArrowheads="1"/>
          </p:cNvSpPr>
          <p:nvPr/>
        </p:nvSpPr>
        <p:spPr bwMode="auto">
          <a:xfrm>
            <a:off x="5048250" y="2325688"/>
            <a:ext cx="31750" cy="33337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26" name="Oval 70"/>
          <p:cNvSpPr>
            <a:spLocks noChangeAspect="1" noChangeArrowheads="1"/>
          </p:cNvSpPr>
          <p:nvPr/>
        </p:nvSpPr>
        <p:spPr bwMode="auto">
          <a:xfrm>
            <a:off x="1420813" y="1736725"/>
            <a:ext cx="33337" cy="33338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27" name="Oval 71"/>
          <p:cNvSpPr>
            <a:spLocks noChangeAspect="1" noChangeArrowheads="1"/>
          </p:cNvSpPr>
          <p:nvPr/>
        </p:nvSpPr>
        <p:spPr bwMode="auto">
          <a:xfrm>
            <a:off x="2024063" y="1736725"/>
            <a:ext cx="34925" cy="33338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28" name="Oval 72"/>
          <p:cNvSpPr>
            <a:spLocks noChangeAspect="1" noChangeArrowheads="1"/>
          </p:cNvSpPr>
          <p:nvPr/>
        </p:nvSpPr>
        <p:spPr bwMode="auto">
          <a:xfrm>
            <a:off x="2628900" y="1736725"/>
            <a:ext cx="33338" cy="33338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29" name="Oval 73"/>
          <p:cNvSpPr>
            <a:spLocks noChangeAspect="1" noChangeArrowheads="1"/>
          </p:cNvSpPr>
          <p:nvPr/>
        </p:nvSpPr>
        <p:spPr bwMode="auto">
          <a:xfrm>
            <a:off x="3235325" y="1736725"/>
            <a:ext cx="31750" cy="33338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0" name="Oval 74"/>
          <p:cNvSpPr>
            <a:spLocks noChangeAspect="1" noChangeArrowheads="1"/>
          </p:cNvSpPr>
          <p:nvPr/>
        </p:nvSpPr>
        <p:spPr bwMode="auto">
          <a:xfrm>
            <a:off x="3838575" y="1736725"/>
            <a:ext cx="33338" cy="33338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1" name="Oval 75"/>
          <p:cNvSpPr>
            <a:spLocks noChangeAspect="1" noChangeArrowheads="1"/>
          </p:cNvSpPr>
          <p:nvPr/>
        </p:nvSpPr>
        <p:spPr bwMode="auto">
          <a:xfrm>
            <a:off x="817563" y="1736725"/>
            <a:ext cx="31750" cy="33338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2" name="Oval 76"/>
          <p:cNvSpPr>
            <a:spLocks noChangeAspect="1" noChangeArrowheads="1"/>
          </p:cNvSpPr>
          <p:nvPr/>
        </p:nvSpPr>
        <p:spPr bwMode="auto">
          <a:xfrm>
            <a:off x="4441825" y="1736725"/>
            <a:ext cx="33338" cy="33338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3" name="Oval 77"/>
          <p:cNvSpPr>
            <a:spLocks noChangeAspect="1" noChangeArrowheads="1"/>
          </p:cNvSpPr>
          <p:nvPr/>
        </p:nvSpPr>
        <p:spPr bwMode="auto">
          <a:xfrm>
            <a:off x="5048250" y="1736725"/>
            <a:ext cx="31750" cy="33338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4" name="Text Box 78"/>
          <p:cNvSpPr txBox="1">
            <a:spLocks noChangeAspect="1" noChangeArrowheads="1"/>
          </p:cNvSpPr>
          <p:nvPr/>
        </p:nvSpPr>
        <p:spPr bwMode="auto">
          <a:xfrm>
            <a:off x="2191468" y="5865813"/>
            <a:ext cx="360996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>
                <a:latin typeface="+mn-lt"/>
              </a:rPr>
              <a:t>L</a:t>
            </a:r>
            <a:r>
              <a:rPr lang="en-US" sz="1800" baseline="-25000">
                <a:latin typeface="+mn-lt"/>
              </a:rPr>
              <a:t>1</a:t>
            </a:r>
            <a:endParaRPr lang="en-US" sz="1800">
              <a:latin typeface="+mn-lt"/>
            </a:endParaRPr>
          </a:p>
        </p:txBody>
      </p:sp>
      <p:sp>
        <p:nvSpPr>
          <p:cNvPr id="235" name="Text Box 79"/>
          <p:cNvSpPr txBox="1">
            <a:spLocks noChangeAspect="1" noChangeArrowheads="1"/>
          </p:cNvSpPr>
          <p:nvPr/>
        </p:nvSpPr>
        <p:spPr bwMode="auto">
          <a:xfrm>
            <a:off x="2775668" y="5865813"/>
            <a:ext cx="413896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>
                <a:latin typeface="+mn-lt"/>
              </a:rPr>
              <a:t>U</a:t>
            </a:r>
            <a:r>
              <a:rPr lang="en-US" sz="1800" baseline="-25000">
                <a:latin typeface="+mn-lt"/>
              </a:rPr>
              <a:t>1</a:t>
            </a:r>
            <a:endParaRPr lang="en-US" sz="1800">
              <a:latin typeface="+mn-lt"/>
            </a:endParaRPr>
          </a:p>
        </p:txBody>
      </p:sp>
      <p:sp>
        <p:nvSpPr>
          <p:cNvPr id="236" name="Text Box 80"/>
          <p:cNvSpPr txBox="1">
            <a:spLocks noChangeAspect="1" noChangeArrowheads="1"/>
          </p:cNvSpPr>
          <p:nvPr/>
        </p:nvSpPr>
        <p:spPr bwMode="auto">
          <a:xfrm>
            <a:off x="3388443" y="5865813"/>
            <a:ext cx="372218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>
                <a:latin typeface="+mn-lt"/>
              </a:rPr>
              <a:t>S</a:t>
            </a:r>
            <a:r>
              <a:rPr lang="en-US" sz="1800" baseline="-25000">
                <a:latin typeface="+mn-lt"/>
              </a:rPr>
              <a:t>1</a:t>
            </a:r>
            <a:endParaRPr lang="en-US" sz="1800">
              <a:latin typeface="+mn-lt"/>
            </a:endParaRPr>
          </a:p>
        </p:txBody>
      </p:sp>
      <p:sp>
        <p:nvSpPr>
          <p:cNvPr id="237" name="Text Box 81"/>
          <p:cNvSpPr txBox="1">
            <a:spLocks noChangeAspect="1" noChangeArrowheads="1"/>
          </p:cNvSpPr>
          <p:nvPr/>
        </p:nvSpPr>
        <p:spPr bwMode="auto">
          <a:xfrm>
            <a:off x="444500" y="5384800"/>
            <a:ext cx="409086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>
                <a:latin typeface="+mn-lt"/>
              </a:rPr>
              <a:t>H</a:t>
            </a:r>
            <a:r>
              <a:rPr lang="en-US" sz="1800" baseline="-25000">
                <a:latin typeface="+mn-lt"/>
              </a:rPr>
              <a:t>2</a:t>
            </a:r>
            <a:endParaRPr lang="en-US" sz="1800">
              <a:latin typeface="+mn-lt"/>
            </a:endParaRPr>
          </a:p>
        </p:txBody>
      </p:sp>
      <p:sp>
        <p:nvSpPr>
          <p:cNvPr id="238" name="Text Box 82"/>
          <p:cNvSpPr txBox="1">
            <a:spLocks noChangeAspect="1" noChangeArrowheads="1"/>
          </p:cNvSpPr>
          <p:nvPr/>
        </p:nvSpPr>
        <p:spPr bwMode="auto">
          <a:xfrm>
            <a:off x="298450" y="4813300"/>
            <a:ext cx="543739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>
                <a:solidFill>
                  <a:srgbClr val="C00000"/>
                </a:solidFill>
                <a:latin typeface="+mn-lt"/>
              </a:rPr>
              <a:t>P(s)</a:t>
            </a:r>
          </a:p>
        </p:txBody>
      </p:sp>
      <p:sp>
        <p:nvSpPr>
          <p:cNvPr id="239" name="Text Box 83"/>
          <p:cNvSpPr txBox="1">
            <a:spLocks noChangeAspect="1" noChangeArrowheads="1"/>
          </p:cNvSpPr>
          <p:nvPr/>
        </p:nvSpPr>
        <p:spPr bwMode="auto">
          <a:xfrm>
            <a:off x="298450" y="2466975"/>
            <a:ext cx="556563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>
                <a:solidFill>
                  <a:srgbClr val="C00000"/>
                </a:solidFill>
                <a:latin typeface="+mn-lt"/>
              </a:rPr>
              <a:t>V(s)</a:t>
            </a:r>
          </a:p>
        </p:txBody>
      </p:sp>
      <p:sp>
        <p:nvSpPr>
          <p:cNvPr id="240" name="Text Box 84"/>
          <p:cNvSpPr txBox="1">
            <a:spLocks noChangeAspect="1" noChangeArrowheads="1"/>
          </p:cNvSpPr>
          <p:nvPr/>
        </p:nvSpPr>
        <p:spPr bwMode="auto">
          <a:xfrm>
            <a:off x="465138" y="1847850"/>
            <a:ext cx="377026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>
                <a:latin typeface="+mn-lt"/>
              </a:rPr>
              <a:t>T</a:t>
            </a:r>
            <a:r>
              <a:rPr lang="en-US" sz="1800" baseline="-25000">
                <a:latin typeface="+mn-lt"/>
              </a:rPr>
              <a:t>2</a:t>
            </a:r>
            <a:endParaRPr lang="en-US" sz="1800">
              <a:latin typeface="+mn-lt"/>
            </a:endParaRPr>
          </a:p>
        </p:txBody>
      </p:sp>
      <p:sp>
        <p:nvSpPr>
          <p:cNvPr id="241" name="Text Box 85"/>
          <p:cNvSpPr txBox="1">
            <a:spLocks noChangeAspect="1" noChangeArrowheads="1"/>
          </p:cNvSpPr>
          <p:nvPr/>
        </p:nvSpPr>
        <p:spPr bwMode="auto">
          <a:xfrm>
            <a:off x="471488" y="4217988"/>
            <a:ext cx="360996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>
                <a:latin typeface="+mn-lt"/>
              </a:rPr>
              <a:t>L</a:t>
            </a:r>
            <a:r>
              <a:rPr lang="en-US" sz="1800" baseline="-25000">
                <a:latin typeface="+mn-lt"/>
              </a:rPr>
              <a:t>2</a:t>
            </a:r>
            <a:endParaRPr lang="en-US" sz="1800">
              <a:latin typeface="+mn-lt"/>
            </a:endParaRPr>
          </a:p>
        </p:txBody>
      </p:sp>
      <p:sp>
        <p:nvSpPr>
          <p:cNvPr id="242" name="Text Box 86"/>
          <p:cNvSpPr txBox="1">
            <a:spLocks noChangeAspect="1" noChangeArrowheads="1"/>
          </p:cNvSpPr>
          <p:nvPr/>
        </p:nvSpPr>
        <p:spPr bwMode="auto">
          <a:xfrm>
            <a:off x="444500" y="3656013"/>
            <a:ext cx="413896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>
                <a:latin typeface="+mn-lt"/>
              </a:rPr>
              <a:t>U</a:t>
            </a:r>
            <a:r>
              <a:rPr lang="en-US" sz="1800" baseline="-25000">
                <a:latin typeface="+mn-lt"/>
              </a:rPr>
              <a:t>2</a:t>
            </a:r>
            <a:endParaRPr lang="en-US" sz="1800">
              <a:latin typeface="+mn-lt"/>
            </a:endParaRPr>
          </a:p>
        </p:txBody>
      </p:sp>
      <p:sp>
        <p:nvSpPr>
          <p:cNvPr id="243" name="Text Box 87"/>
          <p:cNvSpPr txBox="1">
            <a:spLocks noChangeAspect="1" noChangeArrowheads="1"/>
          </p:cNvSpPr>
          <p:nvPr/>
        </p:nvSpPr>
        <p:spPr bwMode="auto">
          <a:xfrm>
            <a:off x="455613" y="3049588"/>
            <a:ext cx="372218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>
                <a:latin typeface="+mn-lt"/>
              </a:rPr>
              <a:t>S</a:t>
            </a:r>
            <a:r>
              <a:rPr lang="en-US" sz="1800" baseline="-25000">
                <a:latin typeface="+mn-lt"/>
              </a:rPr>
              <a:t>2</a:t>
            </a:r>
            <a:endParaRPr lang="en-US" sz="1800">
              <a:latin typeface="+mn-lt"/>
            </a:endParaRPr>
          </a:p>
        </p:txBody>
      </p:sp>
      <p:grpSp>
        <p:nvGrpSpPr>
          <p:cNvPr id="247" name="Group 90"/>
          <p:cNvGrpSpPr>
            <a:grpSpLocks noChangeAspect="1"/>
          </p:cNvGrpSpPr>
          <p:nvPr/>
        </p:nvGrpSpPr>
        <p:grpSpPr bwMode="auto">
          <a:xfrm>
            <a:off x="793750" y="5638800"/>
            <a:ext cx="4562475" cy="274638"/>
            <a:chOff x="638" y="3130"/>
            <a:chExt cx="3189" cy="192"/>
          </a:xfrm>
        </p:grpSpPr>
        <p:sp>
          <p:nvSpPr>
            <p:cNvPr id="248" name="Text Box 91"/>
            <p:cNvSpPr txBox="1">
              <a:spLocks noChangeAspect="1" noChangeArrowheads="1"/>
            </p:cNvSpPr>
            <p:nvPr/>
          </p:nvSpPr>
          <p:spPr bwMode="auto">
            <a:xfrm>
              <a:off x="638" y="3130"/>
              <a:ext cx="188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1200"/>
                <a:t>1</a:t>
              </a:r>
            </a:p>
          </p:txBody>
        </p:sp>
        <p:sp>
          <p:nvSpPr>
            <p:cNvPr id="249" name="Text Box 92"/>
            <p:cNvSpPr txBox="1">
              <a:spLocks noChangeAspect="1" noChangeArrowheads="1"/>
            </p:cNvSpPr>
            <p:nvPr/>
          </p:nvSpPr>
          <p:spPr bwMode="auto">
            <a:xfrm>
              <a:off x="1095" y="3130"/>
              <a:ext cx="188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1200"/>
                <a:t>1</a:t>
              </a:r>
            </a:p>
          </p:txBody>
        </p:sp>
        <p:sp>
          <p:nvSpPr>
            <p:cNvPr id="250" name="Text Box 93"/>
            <p:cNvSpPr txBox="1">
              <a:spLocks noChangeAspect="1" noChangeArrowheads="1"/>
            </p:cNvSpPr>
            <p:nvPr/>
          </p:nvSpPr>
          <p:spPr bwMode="auto">
            <a:xfrm>
              <a:off x="1527" y="3130"/>
              <a:ext cx="187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1200"/>
                <a:t>0</a:t>
              </a:r>
            </a:p>
          </p:txBody>
        </p:sp>
        <p:sp>
          <p:nvSpPr>
            <p:cNvPr id="251" name="Text Box 94"/>
            <p:cNvSpPr txBox="1">
              <a:spLocks noChangeAspect="1" noChangeArrowheads="1"/>
            </p:cNvSpPr>
            <p:nvPr/>
          </p:nvSpPr>
          <p:spPr bwMode="auto">
            <a:xfrm>
              <a:off x="1911" y="3130"/>
              <a:ext cx="187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1200"/>
                <a:t>0</a:t>
              </a:r>
            </a:p>
          </p:txBody>
        </p:sp>
        <p:sp>
          <p:nvSpPr>
            <p:cNvPr id="252" name="Text Box 95"/>
            <p:cNvSpPr txBox="1">
              <a:spLocks noChangeAspect="1" noChangeArrowheads="1"/>
            </p:cNvSpPr>
            <p:nvPr/>
          </p:nvSpPr>
          <p:spPr bwMode="auto">
            <a:xfrm>
              <a:off x="2343" y="3130"/>
              <a:ext cx="188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1200"/>
                <a:t>0</a:t>
              </a:r>
            </a:p>
          </p:txBody>
        </p:sp>
        <p:sp>
          <p:nvSpPr>
            <p:cNvPr id="253" name="Text Box 96"/>
            <p:cNvSpPr txBox="1">
              <a:spLocks noChangeAspect="1" noChangeArrowheads="1"/>
            </p:cNvSpPr>
            <p:nvPr/>
          </p:nvSpPr>
          <p:spPr bwMode="auto">
            <a:xfrm>
              <a:off x="2775" y="3130"/>
              <a:ext cx="188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1200"/>
                <a:t>0</a:t>
              </a:r>
            </a:p>
          </p:txBody>
        </p:sp>
        <p:sp>
          <p:nvSpPr>
            <p:cNvPr id="254" name="Text Box 97"/>
            <p:cNvSpPr txBox="1">
              <a:spLocks noChangeAspect="1" noChangeArrowheads="1"/>
            </p:cNvSpPr>
            <p:nvPr/>
          </p:nvSpPr>
          <p:spPr bwMode="auto">
            <a:xfrm>
              <a:off x="3207" y="3130"/>
              <a:ext cx="187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1200"/>
                <a:t>1</a:t>
              </a:r>
            </a:p>
          </p:txBody>
        </p:sp>
        <p:sp>
          <p:nvSpPr>
            <p:cNvPr id="255" name="Text Box 98"/>
            <p:cNvSpPr txBox="1">
              <a:spLocks noChangeAspect="1" noChangeArrowheads="1"/>
            </p:cNvSpPr>
            <p:nvPr/>
          </p:nvSpPr>
          <p:spPr bwMode="auto">
            <a:xfrm>
              <a:off x="3639" y="3130"/>
              <a:ext cx="188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1200"/>
                <a:t>1</a:t>
              </a:r>
            </a:p>
          </p:txBody>
        </p:sp>
      </p:grpSp>
      <p:grpSp>
        <p:nvGrpSpPr>
          <p:cNvPr id="256" name="Group 99"/>
          <p:cNvGrpSpPr>
            <a:grpSpLocks noChangeAspect="1"/>
          </p:cNvGrpSpPr>
          <p:nvPr/>
        </p:nvGrpSpPr>
        <p:grpSpPr bwMode="auto">
          <a:xfrm>
            <a:off x="827088" y="4992688"/>
            <a:ext cx="4562475" cy="274637"/>
            <a:chOff x="615" y="2679"/>
            <a:chExt cx="3189" cy="192"/>
          </a:xfrm>
        </p:grpSpPr>
        <p:sp>
          <p:nvSpPr>
            <p:cNvPr id="257" name="Text Box 100"/>
            <p:cNvSpPr txBox="1">
              <a:spLocks noChangeAspect="1" noChangeArrowheads="1"/>
            </p:cNvSpPr>
            <p:nvPr/>
          </p:nvSpPr>
          <p:spPr bwMode="auto">
            <a:xfrm>
              <a:off x="615" y="2679"/>
              <a:ext cx="188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1200"/>
                <a:t>1</a:t>
              </a:r>
            </a:p>
          </p:txBody>
        </p:sp>
        <p:sp>
          <p:nvSpPr>
            <p:cNvPr id="258" name="Text Box 101"/>
            <p:cNvSpPr txBox="1">
              <a:spLocks noChangeAspect="1" noChangeArrowheads="1"/>
            </p:cNvSpPr>
            <p:nvPr/>
          </p:nvSpPr>
          <p:spPr bwMode="auto">
            <a:xfrm>
              <a:off x="1072" y="2679"/>
              <a:ext cx="188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1200"/>
                <a:t>1</a:t>
              </a:r>
            </a:p>
          </p:txBody>
        </p:sp>
        <p:sp>
          <p:nvSpPr>
            <p:cNvPr id="259" name="Text Box 102"/>
            <p:cNvSpPr txBox="1">
              <a:spLocks noChangeAspect="1" noChangeArrowheads="1"/>
            </p:cNvSpPr>
            <p:nvPr/>
          </p:nvSpPr>
          <p:spPr bwMode="auto">
            <a:xfrm>
              <a:off x="1504" y="2679"/>
              <a:ext cx="187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1200"/>
                <a:t>0</a:t>
              </a:r>
            </a:p>
          </p:txBody>
        </p:sp>
        <p:sp>
          <p:nvSpPr>
            <p:cNvPr id="260" name="Text Box 103"/>
            <p:cNvSpPr txBox="1">
              <a:spLocks noChangeAspect="1" noChangeArrowheads="1"/>
            </p:cNvSpPr>
            <p:nvPr/>
          </p:nvSpPr>
          <p:spPr bwMode="auto">
            <a:xfrm>
              <a:off x="1888" y="2679"/>
              <a:ext cx="187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1200"/>
                <a:t>0</a:t>
              </a:r>
            </a:p>
          </p:txBody>
        </p:sp>
        <p:sp>
          <p:nvSpPr>
            <p:cNvPr id="261" name="Text Box 104"/>
            <p:cNvSpPr txBox="1">
              <a:spLocks noChangeAspect="1" noChangeArrowheads="1"/>
            </p:cNvSpPr>
            <p:nvPr/>
          </p:nvSpPr>
          <p:spPr bwMode="auto">
            <a:xfrm>
              <a:off x="2321" y="2679"/>
              <a:ext cx="187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1200"/>
                <a:t>0</a:t>
              </a:r>
            </a:p>
          </p:txBody>
        </p:sp>
        <p:sp>
          <p:nvSpPr>
            <p:cNvPr id="262" name="Text Box 105"/>
            <p:cNvSpPr txBox="1">
              <a:spLocks noChangeAspect="1" noChangeArrowheads="1"/>
            </p:cNvSpPr>
            <p:nvPr/>
          </p:nvSpPr>
          <p:spPr bwMode="auto">
            <a:xfrm>
              <a:off x="2752" y="2679"/>
              <a:ext cx="188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1200"/>
                <a:t>0</a:t>
              </a:r>
            </a:p>
          </p:txBody>
        </p:sp>
        <p:sp>
          <p:nvSpPr>
            <p:cNvPr id="263" name="Text Box 106"/>
            <p:cNvSpPr txBox="1">
              <a:spLocks noChangeAspect="1" noChangeArrowheads="1"/>
            </p:cNvSpPr>
            <p:nvPr/>
          </p:nvSpPr>
          <p:spPr bwMode="auto">
            <a:xfrm>
              <a:off x="3184" y="2679"/>
              <a:ext cx="187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1200"/>
                <a:t>1</a:t>
              </a:r>
            </a:p>
          </p:txBody>
        </p:sp>
        <p:sp>
          <p:nvSpPr>
            <p:cNvPr id="264" name="Text Box 107"/>
            <p:cNvSpPr txBox="1">
              <a:spLocks noChangeAspect="1" noChangeArrowheads="1"/>
            </p:cNvSpPr>
            <p:nvPr/>
          </p:nvSpPr>
          <p:spPr bwMode="auto">
            <a:xfrm>
              <a:off x="3617" y="2679"/>
              <a:ext cx="187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1200"/>
                <a:t>1</a:t>
              </a:r>
            </a:p>
          </p:txBody>
        </p:sp>
      </p:grpSp>
      <p:sp>
        <p:nvSpPr>
          <p:cNvPr id="265" name="Text Box 108"/>
          <p:cNvSpPr txBox="1">
            <a:spLocks noChangeAspect="1" noChangeArrowheads="1"/>
          </p:cNvSpPr>
          <p:nvPr/>
        </p:nvSpPr>
        <p:spPr bwMode="auto">
          <a:xfrm>
            <a:off x="827088" y="4443413"/>
            <a:ext cx="268287" cy="2746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200"/>
              <a:t>0</a:t>
            </a:r>
          </a:p>
        </p:txBody>
      </p:sp>
      <p:sp>
        <p:nvSpPr>
          <p:cNvPr id="266" name="Text Box 109"/>
          <p:cNvSpPr txBox="1">
            <a:spLocks noChangeAspect="1" noChangeArrowheads="1"/>
          </p:cNvSpPr>
          <p:nvPr/>
        </p:nvSpPr>
        <p:spPr bwMode="auto">
          <a:xfrm>
            <a:off x="1481138" y="4443413"/>
            <a:ext cx="268287" cy="2746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200"/>
              <a:t>0</a:t>
            </a:r>
          </a:p>
        </p:txBody>
      </p:sp>
      <p:sp>
        <p:nvSpPr>
          <p:cNvPr id="267" name="Text Box 110"/>
          <p:cNvSpPr txBox="1">
            <a:spLocks noChangeAspect="1" noChangeArrowheads="1"/>
          </p:cNvSpPr>
          <p:nvPr/>
        </p:nvSpPr>
        <p:spPr bwMode="auto">
          <a:xfrm>
            <a:off x="2043112" y="4402138"/>
            <a:ext cx="319088" cy="2746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200"/>
              <a:t>-1</a:t>
            </a:r>
          </a:p>
        </p:txBody>
      </p:sp>
      <p:sp>
        <p:nvSpPr>
          <p:cNvPr id="268" name="Text Box 111"/>
          <p:cNvSpPr txBox="1">
            <a:spLocks noChangeAspect="1" noChangeArrowheads="1"/>
          </p:cNvSpPr>
          <p:nvPr/>
        </p:nvSpPr>
        <p:spPr bwMode="auto">
          <a:xfrm>
            <a:off x="2625726" y="4402138"/>
            <a:ext cx="319087" cy="2746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200"/>
              <a:t>-1</a:t>
            </a:r>
          </a:p>
        </p:txBody>
      </p:sp>
      <p:sp>
        <p:nvSpPr>
          <p:cNvPr id="269" name="Text Box 112"/>
          <p:cNvSpPr txBox="1">
            <a:spLocks noChangeAspect="1" noChangeArrowheads="1"/>
          </p:cNvSpPr>
          <p:nvPr/>
        </p:nvSpPr>
        <p:spPr bwMode="auto">
          <a:xfrm>
            <a:off x="3243262" y="4402138"/>
            <a:ext cx="319088" cy="2746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200"/>
              <a:t>-1</a:t>
            </a:r>
          </a:p>
        </p:txBody>
      </p:sp>
      <p:sp>
        <p:nvSpPr>
          <p:cNvPr id="270" name="Text Box 113"/>
          <p:cNvSpPr txBox="1">
            <a:spLocks noChangeAspect="1" noChangeArrowheads="1"/>
          </p:cNvSpPr>
          <p:nvPr/>
        </p:nvSpPr>
        <p:spPr bwMode="auto">
          <a:xfrm>
            <a:off x="3560763" y="4402138"/>
            <a:ext cx="319087" cy="2746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200"/>
              <a:t>-1</a:t>
            </a:r>
          </a:p>
        </p:txBody>
      </p:sp>
      <p:sp>
        <p:nvSpPr>
          <p:cNvPr id="271" name="Text Box 114"/>
          <p:cNvSpPr txBox="1">
            <a:spLocks noChangeAspect="1" noChangeArrowheads="1"/>
          </p:cNvSpPr>
          <p:nvPr/>
        </p:nvSpPr>
        <p:spPr bwMode="auto">
          <a:xfrm>
            <a:off x="4502150" y="4443413"/>
            <a:ext cx="268288" cy="2746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200"/>
              <a:t>0</a:t>
            </a:r>
          </a:p>
        </p:txBody>
      </p:sp>
      <p:sp>
        <p:nvSpPr>
          <p:cNvPr id="272" name="Text Box 115"/>
          <p:cNvSpPr txBox="1">
            <a:spLocks noChangeAspect="1" noChangeArrowheads="1"/>
          </p:cNvSpPr>
          <p:nvPr/>
        </p:nvSpPr>
        <p:spPr bwMode="auto">
          <a:xfrm>
            <a:off x="5121275" y="4443413"/>
            <a:ext cx="268288" cy="2746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200"/>
              <a:t>0</a:t>
            </a:r>
          </a:p>
        </p:txBody>
      </p:sp>
      <p:sp>
        <p:nvSpPr>
          <p:cNvPr id="273" name="Text Box 116"/>
          <p:cNvSpPr txBox="1">
            <a:spLocks noChangeAspect="1" noChangeArrowheads="1"/>
          </p:cNvSpPr>
          <p:nvPr/>
        </p:nvSpPr>
        <p:spPr bwMode="auto">
          <a:xfrm>
            <a:off x="831850" y="3825875"/>
            <a:ext cx="268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200"/>
              <a:t>0</a:t>
            </a:r>
          </a:p>
        </p:txBody>
      </p:sp>
      <p:sp>
        <p:nvSpPr>
          <p:cNvPr id="274" name="Text Box 117"/>
          <p:cNvSpPr txBox="1">
            <a:spLocks noChangeAspect="1" noChangeArrowheads="1"/>
          </p:cNvSpPr>
          <p:nvPr/>
        </p:nvSpPr>
        <p:spPr bwMode="auto">
          <a:xfrm>
            <a:off x="1484313" y="3825875"/>
            <a:ext cx="268287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200"/>
              <a:t>0</a:t>
            </a:r>
          </a:p>
        </p:txBody>
      </p:sp>
      <p:sp>
        <p:nvSpPr>
          <p:cNvPr id="275" name="Text Box 118"/>
          <p:cNvSpPr txBox="1">
            <a:spLocks noChangeAspect="1" noChangeArrowheads="1"/>
          </p:cNvSpPr>
          <p:nvPr/>
        </p:nvSpPr>
        <p:spPr bwMode="auto">
          <a:xfrm>
            <a:off x="2043113" y="3962400"/>
            <a:ext cx="319087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200"/>
              <a:t>-1</a:t>
            </a:r>
          </a:p>
        </p:txBody>
      </p:sp>
      <p:sp>
        <p:nvSpPr>
          <p:cNvPr id="276" name="Text Box 119"/>
          <p:cNvSpPr txBox="1">
            <a:spLocks noChangeAspect="1" noChangeArrowheads="1"/>
          </p:cNvSpPr>
          <p:nvPr/>
        </p:nvSpPr>
        <p:spPr bwMode="auto">
          <a:xfrm>
            <a:off x="2625725" y="3962400"/>
            <a:ext cx="3190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200"/>
              <a:t>-1</a:t>
            </a:r>
          </a:p>
        </p:txBody>
      </p:sp>
      <p:sp>
        <p:nvSpPr>
          <p:cNvPr id="277" name="Text Box 120"/>
          <p:cNvSpPr txBox="1">
            <a:spLocks noChangeAspect="1" noChangeArrowheads="1"/>
          </p:cNvSpPr>
          <p:nvPr/>
        </p:nvSpPr>
        <p:spPr bwMode="auto">
          <a:xfrm>
            <a:off x="3243263" y="3962400"/>
            <a:ext cx="319087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200"/>
              <a:t>-1</a:t>
            </a:r>
          </a:p>
        </p:txBody>
      </p:sp>
      <p:sp>
        <p:nvSpPr>
          <p:cNvPr id="278" name="Text Box 121"/>
          <p:cNvSpPr txBox="1">
            <a:spLocks noChangeAspect="1" noChangeArrowheads="1"/>
          </p:cNvSpPr>
          <p:nvPr/>
        </p:nvSpPr>
        <p:spPr bwMode="auto">
          <a:xfrm>
            <a:off x="3560763" y="3962400"/>
            <a:ext cx="319087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200"/>
              <a:t>-1</a:t>
            </a:r>
          </a:p>
        </p:txBody>
      </p:sp>
      <p:sp>
        <p:nvSpPr>
          <p:cNvPr id="279" name="Text Box 122"/>
          <p:cNvSpPr txBox="1">
            <a:spLocks noChangeAspect="1" noChangeArrowheads="1"/>
          </p:cNvSpPr>
          <p:nvPr/>
        </p:nvSpPr>
        <p:spPr bwMode="auto">
          <a:xfrm>
            <a:off x="4505325" y="3825875"/>
            <a:ext cx="268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200"/>
              <a:t>0</a:t>
            </a:r>
          </a:p>
        </p:txBody>
      </p:sp>
      <p:sp>
        <p:nvSpPr>
          <p:cNvPr id="280" name="Text Box 123"/>
          <p:cNvSpPr txBox="1">
            <a:spLocks noChangeAspect="1" noChangeArrowheads="1"/>
          </p:cNvSpPr>
          <p:nvPr/>
        </p:nvSpPr>
        <p:spPr bwMode="auto">
          <a:xfrm>
            <a:off x="5122863" y="3825875"/>
            <a:ext cx="268287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200"/>
              <a:t>0</a:t>
            </a:r>
          </a:p>
        </p:txBody>
      </p:sp>
      <p:sp>
        <p:nvSpPr>
          <p:cNvPr id="281" name="Text Box 124"/>
          <p:cNvSpPr txBox="1">
            <a:spLocks noChangeAspect="1" noChangeArrowheads="1"/>
          </p:cNvSpPr>
          <p:nvPr/>
        </p:nvSpPr>
        <p:spPr bwMode="auto">
          <a:xfrm>
            <a:off x="831850" y="3276600"/>
            <a:ext cx="268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200"/>
              <a:t>0</a:t>
            </a:r>
          </a:p>
        </p:txBody>
      </p:sp>
      <p:sp>
        <p:nvSpPr>
          <p:cNvPr id="282" name="Text Box 125"/>
          <p:cNvSpPr txBox="1">
            <a:spLocks noChangeAspect="1" noChangeArrowheads="1"/>
          </p:cNvSpPr>
          <p:nvPr/>
        </p:nvSpPr>
        <p:spPr bwMode="auto">
          <a:xfrm>
            <a:off x="1484313" y="3276600"/>
            <a:ext cx="268287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200"/>
              <a:t>0</a:t>
            </a:r>
          </a:p>
        </p:txBody>
      </p:sp>
      <p:sp>
        <p:nvSpPr>
          <p:cNvPr id="283" name="Text Box 126"/>
          <p:cNvSpPr txBox="1">
            <a:spLocks noChangeAspect="1" noChangeArrowheads="1"/>
          </p:cNvSpPr>
          <p:nvPr/>
        </p:nvSpPr>
        <p:spPr bwMode="auto">
          <a:xfrm>
            <a:off x="2043113" y="3371850"/>
            <a:ext cx="319087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200"/>
              <a:t>-1</a:t>
            </a:r>
          </a:p>
        </p:txBody>
      </p:sp>
      <p:sp>
        <p:nvSpPr>
          <p:cNvPr id="284" name="Text Box 127"/>
          <p:cNvSpPr txBox="1">
            <a:spLocks noChangeAspect="1" noChangeArrowheads="1"/>
          </p:cNvSpPr>
          <p:nvPr/>
        </p:nvSpPr>
        <p:spPr bwMode="auto">
          <a:xfrm>
            <a:off x="2625725" y="3371850"/>
            <a:ext cx="3190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200"/>
              <a:t>-1</a:t>
            </a:r>
          </a:p>
        </p:txBody>
      </p:sp>
      <p:sp>
        <p:nvSpPr>
          <p:cNvPr id="285" name="Text Box 128"/>
          <p:cNvSpPr txBox="1">
            <a:spLocks noChangeAspect="1" noChangeArrowheads="1"/>
          </p:cNvSpPr>
          <p:nvPr/>
        </p:nvSpPr>
        <p:spPr bwMode="auto">
          <a:xfrm>
            <a:off x="3243263" y="3371850"/>
            <a:ext cx="319087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200"/>
              <a:t>-1</a:t>
            </a:r>
          </a:p>
        </p:txBody>
      </p:sp>
      <p:sp>
        <p:nvSpPr>
          <p:cNvPr id="286" name="Text Box 129"/>
          <p:cNvSpPr txBox="1">
            <a:spLocks noChangeAspect="1" noChangeArrowheads="1"/>
          </p:cNvSpPr>
          <p:nvPr/>
        </p:nvSpPr>
        <p:spPr bwMode="auto">
          <a:xfrm>
            <a:off x="3560763" y="3371850"/>
            <a:ext cx="319087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200"/>
              <a:t>-1</a:t>
            </a:r>
          </a:p>
        </p:txBody>
      </p:sp>
      <p:sp>
        <p:nvSpPr>
          <p:cNvPr id="287" name="Text Box 130"/>
          <p:cNvSpPr txBox="1">
            <a:spLocks noChangeAspect="1" noChangeArrowheads="1"/>
          </p:cNvSpPr>
          <p:nvPr/>
        </p:nvSpPr>
        <p:spPr bwMode="auto">
          <a:xfrm>
            <a:off x="4505325" y="3276600"/>
            <a:ext cx="268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200"/>
              <a:t>0</a:t>
            </a:r>
          </a:p>
        </p:txBody>
      </p:sp>
      <p:sp>
        <p:nvSpPr>
          <p:cNvPr id="288" name="Text Box 131"/>
          <p:cNvSpPr txBox="1">
            <a:spLocks noChangeAspect="1" noChangeArrowheads="1"/>
          </p:cNvSpPr>
          <p:nvPr/>
        </p:nvSpPr>
        <p:spPr bwMode="auto">
          <a:xfrm>
            <a:off x="5122863" y="3276600"/>
            <a:ext cx="268287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200"/>
              <a:t>0</a:t>
            </a:r>
          </a:p>
        </p:txBody>
      </p:sp>
      <p:sp>
        <p:nvSpPr>
          <p:cNvPr id="289" name="Text Box 132"/>
          <p:cNvSpPr txBox="1">
            <a:spLocks noChangeAspect="1" noChangeArrowheads="1"/>
          </p:cNvSpPr>
          <p:nvPr/>
        </p:nvSpPr>
        <p:spPr bwMode="auto">
          <a:xfrm>
            <a:off x="827088" y="2686050"/>
            <a:ext cx="268287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200"/>
              <a:t>0</a:t>
            </a:r>
          </a:p>
        </p:txBody>
      </p:sp>
      <p:sp>
        <p:nvSpPr>
          <p:cNvPr id="290" name="Text Box 133"/>
          <p:cNvSpPr txBox="1">
            <a:spLocks noChangeAspect="1" noChangeArrowheads="1"/>
          </p:cNvSpPr>
          <p:nvPr/>
        </p:nvSpPr>
        <p:spPr bwMode="auto">
          <a:xfrm>
            <a:off x="1481138" y="2686050"/>
            <a:ext cx="268287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200"/>
              <a:t>0</a:t>
            </a:r>
          </a:p>
        </p:txBody>
      </p:sp>
      <p:sp>
        <p:nvSpPr>
          <p:cNvPr id="291" name="Text Box 134"/>
          <p:cNvSpPr txBox="1">
            <a:spLocks noChangeAspect="1" noChangeArrowheads="1"/>
          </p:cNvSpPr>
          <p:nvPr/>
        </p:nvSpPr>
        <p:spPr bwMode="auto">
          <a:xfrm>
            <a:off x="2043113" y="2932113"/>
            <a:ext cx="319087" cy="2746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200"/>
              <a:t>-1</a:t>
            </a:r>
          </a:p>
        </p:txBody>
      </p:sp>
      <p:sp>
        <p:nvSpPr>
          <p:cNvPr id="292" name="Text Box 135"/>
          <p:cNvSpPr txBox="1">
            <a:spLocks noChangeAspect="1" noChangeArrowheads="1"/>
          </p:cNvSpPr>
          <p:nvPr/>
        </p:nvSpPr>
        <p:spPr bwMode="auto">
          <a:xfrm>
            <a:off x="2625726" y="2932113"/>
            <a:ext cx="319087" cy="2746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200"/>
              <a:t>-1</a:t>
            </a:r>
          </a:p>
        </p:txBody>
      </p:sp>
      <p:sp>
        <p:nvSpPr>
          <p:cNvPr id="293" name="Text Box 136"/>
          <p:cNvSpPr txBox="1">
            <a:spLocks noChangeAspect="1" noChangeArrowheads="1"/>
          </p:cNvSpPr>
          <p:nvPr/>
        </p:nvSpPr>
        <p:spPr bwMode="auto">
          <a:xfrm>
            <a:off x="3243262" y="2932113"/>
            <a:ext cx="319088" cy="2746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200"/>
              <a:t>-1</a:t>
            </a:r>
          </a:p>
        </p:txBody>
      </p:sp>
      <p:sp>
        <p:nvSpPr>
          <p:cNvPr id="294" name="Text Box 137"/>
          <p:cNvSpPr txBox="1">
            <a:spLocks noChangeAspect="1" noChangeArrowheads="1"/>
          </p:cNvSpPr>
          <p:nvPr/>
        </p:nvSpPr>
        <p:spPr bwMode="auto">
          <a:xfrm>
            <a:off x="3560763" y="2932113"/>
            <a:ext cx="319087" cy="2746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200"/>
              <a:t>-1</a:t>
            </a:r>
          </a:p>
        </p:txBody>
      </p:sp>
      <p:sp>
        <p:nvSpPr>
          <p:cNvPr id="295" name="Text Box 138"/>
          <p:cNvSpPr txBox="1">
            <a:spLocks noChangeAspect="1" noChangeArrowheads="1"/>
          </p:cNvSpPr>
          <p:nvPr/>
        </p:nvSpPr>
        <p:spPr bwMode="auto">
          <a:xfrm>
            <a:off x="4502150" y="2686050"/>
            <a:ext cx="268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200"/>
              <a:t>0</a:t>
            </a:r>
          </a:p>
        </p:txBody>
      </p:sp>
      <p:sp>
        <p:nvSpPr>
          <p:cNvPr id="296" name="Text Box 139"/>
          <p:cNvSpPr txBox="1">
            <a:spLocks noChangeAspect="1" noChangeArrowheads="1"/>
          </p:cNvSpPr>
          <p:nvPr/>
        </p:nvSpPr>
        <p:spPr bwMode="auto">
          <a:xfrm>
            <a:off x="5121275" y="2686050"/>
            <a:ext cx="2682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200"/>
              <a:t>0</a:t>
            </a:r>
          </a:p>
        </p:txBody>
      </p:sp>
      <p:grpSp>
        <p:nvGrpSpPr>
          <p:cNvPr id="297" name="Group 140"/>
          <p:cNvGrpSpPr>
            <a:grpSpLocks noChangeAspect="1"/>
          </p:cNvGrpSpPr>
          <p:nvPr/>
        </p:nvGrpSpPr>
        <p:grpSpPr bwMode="auto">
          <a:xfrm>
            <a:off x="827088" y="2108200"/>
            <a:ext cx="4562475" cy="274638"/>
            <a:chOff x="661" y="663"/>
            <a:chExt cx="3189" cy="192"/>
          </a:xfrm>
        </p:grpSpPr>
        <p:sp>
          <p:nvSpPr>
            <p:cNvPr id="298" name="Text Box 141"/>
            <p:cNvSpPr txBox="1">
              <a:spLocks noChangeAspect="1" noChangeArrowheads="1"/>
            </p:cNvSpPr>
            <p:nvPr/>
          </p:nvSpPr>
          <p:spPr bwMode="auto">
            <a:xfrm>
              <a:off x="661" y="663"/>
              <a:ext cx="188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1200"/>
                <a:t>1</a:t>
              </a:r>
            </a:p>
          </p:txBody>
        </p:sp>
        <p:sp>
          <p:nvSpPr>
            <p:cNvPr id="299" name="Text Box 142"/>
            <p:cNvSpPr txBox="1">
              <a:spLocks noChangeAspect="1" noChangeArrowheads="1"/>
            </p:cNvSpPr>
            <p:nvPr/>
          </p:nvSpPr>
          <p:spPr bwMode="auto">
            <a:xfrm>
              <a:off x="1118" y="663"/>
              <a:ext cx="188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1200"/>
                <a:t>1</a:t>
              </a:r>
            </a:p>
          </p:txBody>
        </p:sp>
        <p:sp>
          <p:nvSpPr>
            <p:cNvPr id="300" name="Text Box 143"/>
            <p:cNvSpPr txBox="1">
              <a:spLocks noChangeAspect="1" noChangeArrowheads="1"/>
            </p:cNvSpPr>
            <p:nvPr/>
          </p:nvSpPr>
          <p:spPr bwMode="auto">
            <a:xfrm>
              <a:off x="1550" y="663"/>
              <a:ext cx="187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1200"/>
                <a:t>0</a:t>
              </a:r>
            </a:p>
          </p:txBody>
        </p:sp>
        <p:sp>
          <p:nvSpPr>
            <p:cNvPr id="301" name="Text Box 144"/>
            <p:cNvSpPr txBox="1">
              <a:spLocks noChangeAspect="1" noChangeArrowheads="1"/>
            </p:cNvSpPr>
            <p:nvPr/>
          </p:nvSpPr>
          <p:spPr bwMode="auto">
            <a:xfrm>
              <a:off x="1934" y="663"/>
              <a:ext cx="187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1200"/>
                <a:t>0</a:t>
              </a:r>
            </a:p>
          </p:txBody>
        </p:sp>
        <p:sp>
          <p:nvSpPr>
            <p:cNvPr id="302" name="Text Box 145"/>
            <p:cNvSpPr txBox="1">
              <a:spLocks noChangeAspect="1" noChangeArrowheads="1"/>
            </p:cNvSpPr>
            <p:nvPr/>
          </p:nvSpPr>
          <p:spPr bwMode="auto">
            <a:xfrm>
              <a:off x="2367" y="663"/>
              <a:ext cx="187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1200"/>
                <a:t>0</a:t>
              </a:r>
            </a:p>
          </p:txBody>
        </p:sp>
        <p:sp>
          <p:nvSpPr>
            <p:cNvPr id="303" name="Text Box 146"/>
            <p:cNvSpPr txBox="1">
              <a:spLocks noChangeAspect="1" noChangeArrowheads="1"/>
            </p:cNvSpPr>
            <p:nvPr/>
          </p:nvSpPr>
          <p:spPr bwMode="auto">
            <a:xfrm>
              <a:off x="2798" y="663"/>
              <a:ext cx="188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1200"/>
                <a:t>0</a:t>
              </a:r>
            </a:p>
          </p:txBody>
        </p:sp>
        <p:sp>
          <p:nvSpPr>
            <p:cNvPr id="304" name="Text Box 147"/>
            <p:cNvSpPr txBox="1">
              <a:spLocks noChangeAspect="1" noChangeArrowheads="1"/>
            </p:cNvSpPr>
            <p:nvPr/>
          </p:nvSpPr>
          <p:spPr bwMode="auto">
            <a:xfrm>
              <a:off x="3230" y="663"/>
              <a:ext cx="187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1200"/>
                <a:t>1</a:t>
              </a:r>
            </a:p>
          </p:txBody>
        </p:sp>
        <p:sp>
          <p:nvSpPr>
            <p:cNvPr id="305" name="Text Box 148"/>
            <p:cNvSpPr txBox="1">
              <a:spLocks noChangeAspect="1" noChangeArrowheads="1"/>
            </p:cNvSpPr>
            <p:nvPr/>
          </p:nvSpPr>
          <p:spPr bwMode="auto">
            <a:xfrm>
              <a:off x="3663" y="663"/>
              <a:ext cx="187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1200"/>
                <a:t>1</a:t>
              </a:r>
            </a:p>
          </p:txBody>
        </p:sp>
      </p:grpSp>
      <p:grpSp>
        <p:nvGrpSpPr>
          <p:cNvPr id="306" name="Group 149"/>
          <p:cNvGrpSpPr>
            <a:grpSpLocks noChangeAspect="1"/>
          </p:cNvGrpSpPr>
          <p:nvPr/>
        </p:nvGrpSpPr>
        <p:grpSpPr bwMode="auto">
          <a:xfrm>
            <a:off x="827088" y="1490663"/>
            <a:ext cx="4562475" cy="274637"/>
            <a:chOff x="661" y="231"/>
            <a:chExt cx="3189" cy="192"/>
          </a:xfrm>
        </p:grpSpPr>
        <p:sp>
          <p:nvSpPr>
            <p:cNvPr id="307" name="Text Box 150"/>
            <p:cNvSpPr txBox="1">
              <a:spLocks noChangeAspect="1" noChangeArrowheads="1"/>
            </p:cNvSpPr>
            <p:nvPr/>
          </p:nvSpPr>
          <p:spPr bwMode="auto">
            <a:xfrm>
              <a:off x="661" y="231"/>
              <a:ext cx="188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1200"/>
                <a:t>1</a:t>
              </a:r>
            </a:p>
          </p:txBody>
        </p:sp>
        <p:sp>
          <p:nvSpPr>
            <p:cNvPr id="308" name="Text Box 151"/>
            <p:cNvSpPr txBox="1">
              <a:spLocks noChangeAspect="1" noChangeArrowheads="1"/>
            </p:cNvSpPr>
            <p:nvPr/>
          </p:nvSpPr>
          <p:spPr bwMode="auto">
            <a:xfrm>
              <a:off x="1118" y="231"/>
              <a:ext cx="188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1200"/>
                <a:t>1</a:t>
              </a:r>
            </a:p>
          </p:txBody>
        </p:sp>
        <p:sp>
          <p:nvSpPr>
            <p:cNvPr id="309" name="Text Box 152"/>
            <p:cNvSpPr txBox="1">
              <a:spLocks noChangeAspect="1" noChangeArrowheads="1"/>
            </p:cNvSpPr>
            <p:nvPr/>
          </p:nvSpPr>
          <p:spPr bwMode="auto">
            <a:xfrm>
              <a:off x="1550" y="231"/>
              <a:ext cx="187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1200"/>
                <a:t>0</a:t>
              </a:r>
            </a:p>
          </p:txBody>
        </p:sp>
        <p:sp>
          <p:nvSpPr>
            <p:cNvPr id="310" name="Text Box 153"/>
            <p:cNvSpPr txBox="1">
              <a:spLocks noChangeAspect="1" noChangeArrowheads="1"/>
            </p:cNvSpPr>
            <p:nvPr/>
          </p:nvSpPr>
          <p:spPr bwMode="auto">
            <a:xfrm>
              <a:off x="1934" y="231"/>
              <a:ext cx="187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1200"/>
                <a:t>0</a:t>
              </a:r>
            </a:p>
          </p:txBody>
        </p:sp>
        <p:sp>
          <p:nvSpPr>
            <p:cNvPr id="311" name="Text Box 154"/>
            <p:cNvSpPr txBox="1">
              <a:spLocks noChangeAspect="1" noChangeArrowheads="1"/>
            </p:cNvSpPr>
            <p:nvPr/>
          </p:nvSpPr>
          <p:spPr bwMode="auto">
            <a:xfrm>
              <a:off x="2367" y="231"/>
              <a:ext cx="187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1200"/>
                <a:t>0</a:t>
              </a:r>
            </a:p>
          </p:txBody>
        </p:sp>
        <p:sp>
          <p:nvSpPr>
            <p:cNvPr id="312" name="Text Box 155"/>
            <p:cNvSpPr txBox="1">
              <a:spLocks noChangeAspect="1" noChangeArrowheads="1"/>
            </p:cNvSpPr>
            <p:nvPr/>
          </p:nvSpPr>
          <p:spPr bwMode="auto">
            <a:xfrm>
              <a:off x="2798" y="231"/>
              <a:ext cx="188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1200"/>
                <a:t>0</a:t>
              </a:r>
            </a:p>
          </p:txBody>
        </p:sp>
        <p:sp>
          <p:nvSpPr>
            <p:cNvPr id="313" name="Text Box 156"/>
            <p:cNvSpPr txBox="1">
              <a:spLocks noChangeAspect="1" noChangeArrowheads="1"/>
            </p:cNvSpPr>
            <p:nvPr/>
          </p:nvSpPr>
          <p:spPr bwMode="auto">
            <a:xfrm>
              <a:off x="3230" y="231"/>
              <a:ext cx="187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1200"/>
                <a:t>1</a:t>
              </a:r>
            </a:p>
          </p:txBody>
        </p:sp>
        <p:sp>
          <p:nvSpPr>
            <p:cNvPr id="314" name="Text Box 157"/>
            <p:cNvSpPr txBox="1">
              <a:spLocks noChangeAspect="1" noChangeArrowheads="1"/>
            </p:cNvSpPr>
            <p:nvPr/>
          </p:nvSpPr>
          <p:spPr bwMode="auto">
            <a:xfrm>
              <a:off x="3663" y="231"/>
              <a:ext cx="187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1200"/>
                <a:t>1</a:t>
              </a:r>
            </a:p>
          </p:txBody>
        </p:sp>
      </p:grpSp>
      <p:sp>
        <p:nvSpPr>
          <p:cNvPr id="315" name="Text Box 158"/>
          <p:cNvSpPr txBox="1">
            <a:spLocks noChangeArrowheads="1"/>
          </p:cNvSpPr>
          <p:nvPr/>
        </p:nvSpPr>
        <p:spPr bwMode="auto">
          <a:xfrm>
            <a:off x="152400" y="6341963"/>
            <a:ext cx="1358266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/>
            <a:r>
              <a:rPr lang="en-US" sz="1600" dirty="0">
                <a:latin typeface="+mn-lt"/>
              </a:rPr>
              <a:t>Initially s = 1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2057400" y="2514600"/>
            <a:ext cx="1817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solidFill>
                  <a:srgbClr val="990000"/>
                </a:solidFill>
                <a:latin typeface="Calibri" pitchFamily="34" charset="0"/>
              </a:rPr>
              <a:t>Forbidden region</a:t>
            </a:r>
          </a:p>
        </p:txBody>
      </p:sp>
      <p:cxnSp>
        <p:nvCxnSpPr>
          <p:cNvPr id="321" name="Straight Arrow Connector 320"/>
          <p:cNvCxnSpPr>
            <a:cxnSpLocks/>
            <a:stCxn id="315" idx="0"/>
          </p:cNvCxnSpPr>
          <p:nvPr/>
        </p:nvCxnSpPr>
        <p:spPr bwMode="auto">
          <a:xfrm flipH="1" flipV="1">
            <a:off x="817562" y="5913439"/>
            <a:ext cx="13971" cy="428524"/>
          </a:xfrm>
          <a:prstGeom prst="straightConnector1">
            <a:avLst/>
          </a:prstGeom>
          <a:noFill/>
          <a:ln w="38100">
            <a:solidFill>
              <a:srgbClr val="C00000"/>
            </a:solidFill>
            <a:miter lim="800000"/>
            <a:headEnd type="none" w="med" len="med"/>
            <a:tailEnd type="arrow"/>
          </a:ln>
          <a:effectLst/>
        </p:spPr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F92391B-84AF-B3DC-80D1-BF58ECD5C19D}"/>
              </a:ext>
            </a:extLst>
          </p:cNvPr>
          <p:cNvSpPr>
            <a:spLocks/>
          </p:cNvSpPr>
          <p:nvPr/>
        </p:nvSpPr>
        <p:spPr bwMode="auto">
          <a:xfrm>
            <a:off x="0" y="6636634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28F425-2FED-D986-0BCA-81943DBF5BD3}"/>
              </a:ext>
            </a:extLst>
          </p:cNvPr>
          <p:cNvSpPr>
            <a:spLocks/>
          </p:cNvSpPr>
          <p:nvPr/>
        </p:nvSpPr>
        <p:spPr bwMode="auto">
          <a:xfrm>
            <a:off x="-6350" y="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18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861189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Programmers need a clear model of how variables are shared by threads. </a:t>
            </a:r>
          </a:p>
          <a:p>
            <a:endParaRPr lang="en-US" dirty="0"/>
          </a:p>
          <a:p>
            <a:r>
              <a:rPr lang="en-US" dirty="0"/>
              <a:t>Variables shared by multiple threads must be protected to ensure mutually exclusive access.</a:t>
            </a:r>
          </a:p>
          <a:p>
            <a:endParaRPr lang="en-US" dirty="0"/>
          </a:p>
          <a:p>
            <a:r>
              <a:rPr lang="en-US" dirty="0"/>
              <a:t>Semaphores are a fundamental mechanism for enforcing mutual exclusion.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A8E6E1-B9D3-E94B-297D-7B881CA7B978}"/>
              </a:ext>
            </a:extLst>
          </p:cNvPr>
          <p:cNvSpPr>
            <a:spLocks/>
          </p:cNvSpPr>
          <p:nvPr/>
        </p:nvSpPr>
        <p:spPr bwMode="auto">
          <a:xfrm>
            <a:off x="0" y="6636634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219D72-1BCB-1256-E2E0-A3627E5E4663}"/>
              </a:ext>
            </a:extLst>
          </p:cNvPr>
          <p:cNvSpPr>
            <a:spLocks/>
          </p:cNvSpPr>
          <p:nvPr/>
        </p:nvSpPr>
        <p:spPr bwMode="auto">
          <a:xfrm>
            <a:off x="-6350" y="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INIT" val=""/>
  <p:tag name="USEAMSFONTS" val="True"/>
  <p:tag name="EMBEDFONTS" val="False"/>
  <p:tag name="USEBOLDAMS" val="False"/>
  <p:tag name="DEFAULTDISPLAYSOURCE" val="\documentclass{slides}\pagestyle{empty}&#10;\begin{document}&#10;&#10;\end{document}&#10;"/>
  <p:tag name="TEX2PS" val="latex $(base).tex; dvips -D $(res) -E -o $(base).ps $(base).dvi"/>
  <p:tag name="EXTERNALEDITCOMMAND" val="notepad %"/>
  <p:tag name="GHOSTSCRIPTCOMMAND" val="gswin32c"/>
  <p:tag name="DEFAULTBITMAP" val="pngmono"/>
  <p:tag name="DEFAULTBLEND" val="False"/>
  <p:tag name="DEFAULTTRANSPARENT" val="False"/>
  <p:tag name="DEFAULTWORKAROUNDTRANSPARENCYBUG" val="False"/>
  <p:tag name="DEFAULTRESOLUTION" val="1200"/>
  <p:tag name="DEFAULTMAGNIFICATION" val="0.8"/>
  <p:tag name="DEFAULTFONTSIZE" val="10"/>
  <p:tag name="DEFAULTWIDTH" val="418"/>
  <p:tag name="DEFAULTHEIGHT" val="316"/>
</p:tagLst>
</file>

<file path=ppt/theme/theme1.xml><?xml version="1.0" encoding="utf-8"?>
<a:theme xmlns:a="http://schemas.openxmlformats.org/drawingml/2006/main" name="template2007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tx1"/>
        </a:solidFill>
        <a:ln w="25400">
          <a:solidFill>
            <a:schemeClr val="tx1"/>
          </a:solidFill>
          <a:round/>
          <a:headEnd/>
          <a:tailEnd/>
        </a:ln>
        <a:effectLst/>
      </a:spPr>
      <a:bodyPr wrap="none" anchor="ctr">
        <a:spAutoFit/>
      </a:bodyPr>
      <a:lstStyle>
        <a:defPPr>
          <a:defRPr/>
        </a:defPPr>
      </a:lstStyle>
    </a:spDef>
    <a:lnDef>
      <a:spPr bwMode="auto">
        <a:noFill/>
        <a:ln w="12700">
          <a:solidFill>
            <a:srgbClr val="000000"/>
          </a:solidFill>
          <a:miter lim="800000"/>
          <a:headEnd type="none" w="med" len="med"/>
          <a:tailEnd type="triangle" w="med" len="med"/>
        </a:ln>
        <a:effectLst/>
      </a:spPr>
      <a:bodyPr/>
      <a:lstStyle/>
    </a:lnDef>
    <a:txDef>
      <a:spPr>
        <a:noFill/>
      </a:spPr>
      <a:bodyPr wrap="none" rtlCol="0">
        <a:spAutoFit/>
      </a:bodyPr>
      <a:lstStyle>
        <a:defPPr>
          <a:defRPr sz="1800" dirty="0" smtClean="0">
            <a:latin typeface="Calibri" pitchFamily="34" charset="0"/>
          </a:defRPr>
        </a:defPPr>
      </a:lstStyle>
    </a:txDef>
  </a:objectDefaults>
  <a:extraClrSchemeLst>
    <a:extraClrScheme>
      <a:clrScheme name="class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template2007</Template>
  <TotalTime>19105</TotalTime>
  <Words>3406</Words>
  <Application>Microsoft Macintosh PowerPoint</Application>
  <PresentationFormat>On-screen Show (4:3)</PresentationFormat>
  <Paragraphs>869</Paragraphs>
  <Slides>35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Arial</vt:lpstr>
      <vt:lpstr>Arial Narrow</vt:lpstr>
      <vt:lpstr>Calibri</vt:lpstr>
      <vt:lpstr>Courier New</vt:lpstr>
      <vt:lpstr>Menlo-Regular</vt:lpstr>
      <vt:lpstr>Times New Roman</vt:lpstr>
      <vt:lpstr>Wingdings</vt:lpstr>
      <vt:lpstr>Wingdings 2</vt:lpstr>
      <vt:lpstr>template2007</vt:lpstr>
      <vt:lpstr>Synchronization: Basics  Introduction to Computer Systems 10th Lecture, Nov. 17, 2025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Shared Variables in Threaded C Programs</vt:lpstr>
      <vt:lpstr>Threads Memory Model</vt:lpstr>
      <vt:lpstr>Example Program to Illustrate Sharing</vt:lpstr>
      <vt:lpstr>Mapping Variable Instances to Memory</vt:lpstr>
      <vt:lpstr>Mapping Variable Instances to Memory</vt:lpstr>
      <vt:lpstr>Shared Variable Analysis</vt:lpstr>
      <vt:lpstr>Synchronizing Threads  </vt:lpstr>
      <vt:lpstr>badcnt.c: Improper Synchronization</vt:lpstr>
      <vt:lpstr>Assembly Code for Counter Loop</vt:lpstr>
      <vt:lpstr>Concurrent Execution</vt:lpstr>
      <vt:lpstr>Concurrent Execution (cont)</vt:lpstr>
      <vt:lpstr>Concurrent Execution (cont)</vt:lpstr>
      <vt:lpstr>Progress Graphs</vt:lpstr>
      <vt:lpstr>Trajectories in Progress Graphs</vt:lpstr>
      <vt:lpstr>Critical Sections and Unsafe Regions</vt:lpstr>
      <vt:lpstr>Critical Sections and Unsafe Regions</vt:lpstr>
      <vt:lpstr>Enforcing Mutual Exclusion</vt:lpstr>
      <vt:lpstr>Semaphores</vt:lpstr>
      <vt:lpstr>C Semaphore Operations</vt:lpstr>
      <vt:lpstr>badcnt.c: Improper Synchronization</vt:lpstr>
      <vt:lpstr>Using Semaphores for Mutual Exclusion</vt:lpstr>
      <vt:lpstr>goodcnt.c: Proper Synchronization</vt:lpstr>
      <vt:lpstr>Why Mutexes Work</vt:lpstr>
      <vt:lpstr>Summary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Systems 15-213/18-243, spring 2009</dc:title>
  <dc:creator>Markus Pueschel</dc:creator>
  <dc:description>Redesign of slides created by Randal E. Bryant and David R. O'Hallaron</dc:description>
  <cp:lastModifiedBy>Đỗ Uyên</cp:lastModifiedBy>
  <cp:revision>874</cp:revision>
  <cp:lastPrinted>2014-11-12T16:25:33Z</cp:lastPrinted>
  <dcterms:created xsi:type="dcterms:W3CDTF">2012-11-19T20:19:50Z</dcterms:created>
  <dcterms:modified xsi:type="dcterms:W3CDTF">2025-11-16T18:18:50Z</dcterms:modified>
</cp:coreProperties>
</file>