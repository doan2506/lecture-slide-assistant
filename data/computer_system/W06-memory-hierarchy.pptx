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xml" ContentType="application/vnd.openxmlformats-officedocument.drawingml.chart+xml"/>
  <Override PartName="/ppt/theme/themeOverride2.xml" ContentType="application/vnd.openxmlformats-officedocument.themeOverr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2" r:id="rId2"/>
  </p:sldMasterIdLst>
  <p:notesMasterIdLst>
    <p:notesMasterId r:id="rId59"/>
  </p:notesMasterIdLst>
  <p:handoutMasterIdLst>
    <p:handoutMasterId r:id="rId60"/>
  </p:handoutMasterIdLst>
  <p:sldIdLst>
    <p:sldId id="542" r:id="rId3"/>
    <p:sldId id="1085" r:id="rId4"/>
    <p:sldId id="1157" r:id="rId5"/>
    <p:sldId id="1158" r:id="rId6"/>
    <p:sldId id="1164" r:id="rId7"/>
    <p:sldId id="1165" r:id="rId8"/>
    <p:sldId id="1166" r:id="rId9"/>
    <p:sldId id="1167" r:id="rId10"/>
    <p:sldId id="1168" r:id="rId11"/>
    <p:sldId id="1169" r:id="rId12"/>
    <p:sldId id="1170" r:id="rId13"/>
    <p:sldId id="1171" r:id="rId14"/>
    <p:sldId id="1201" r:id="rId15"/>
    <p:sldId id="1173" r:id="rId16"/>
    <p:sldId id="1174" r:id="rId17"/>
    <p:sldId id="1175" r:id="rId18"/>
    <p:sldId id="1240" r:id="rId19"/>
    <p:sldId id="1176" r:id="rId20"/>
    <p:sldId id="1177" r:id="rId21"/>
    <p:sldId id="1178" r:id="rId22"/>
    <p:sldId id="1202" r:id="rId23"/>
    <p:sldId id="1203" r:id="rId24"/>
    <p:sldId id="1204" r:id="rId25"/>
    <p:sldId id="1205" r:id="rId26"/>
    <p:sldId id="1206" r:id="rId27"/>
    <p:sldId id="1207" r:id="rId28"/>
    <p:sldId id="1208" r:id="rId29"/>
    <p:sldId id="1209" r:id="rId30"/>
    <p:sldId id="1210" r:id="rId31"/>
    <p:sldId id="1211" r:id="rId32"/>
    <p:sldId id="1179" r:id="rId33"/>
    <p:sldId id="1180" r:id="rId34"/>
    <p:sldId id="1181" r:id="rId35"/>
    <p:sldId id="1182" r:id="rId36"/>
    <p:sldId id="1183" r:id="rId37"/>
    <p:sldId id="1184" r:id="rId38"/>
    <p:sldId id="1185" r:id="rId39"/>
    <p:sldId id="1214" r:id="rId40"/>
    <p:sldId id="1216" r:id="rId41"/>
    <p:sldId id="1217" r:id="rId42"/>
    <p:sldId id="1188" r:id="rId43"/>
    <p:sldId id="1218" r:id="rId44"/>
    <p:sldId id="1227" r:id="rId45"/>
    <p:sldId id="1231" r:id="rId46"/>
    <p:sldId id="1219" r:id="rId47"/>
    <p:sldId id="1190" r:id="rId48"/>
    <p:sldId id="1191" r:id="rId49"/>
    <p:sldId id="1193" r:id="rId50"/>
    <p:sldId id="1228" r:id="rId51"/>
    <p:sldId id="1225" r:id="rId52"/>
    <p:sldId id="1195" r:id="rId53"/>
    <p:sldId id="1220" r:id="rId54"/>
    <p:sldId id="1221" r:id="rId55"/>
    <p:sldId id="1222" r:id="rId56"/>
    <p:sldId id="1198" r:id="rId57"/>
    <p:sldId id="1200" r:id="rId58"/>
  </p:sldIdLst>
  <p:sldSz cx="9144000" cy="6858000" type="screen4x3"/>
  <p:notesSz cx="7302500" cy="9586913"/>
  <p:custDataLst>
    <p:tags r:id="rId61"/>
  </p:custDataLst>
  <p:defaultTex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1728">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E0E0E0"/>
    <a:srgbClr val="FFFFFF"/>
    <a:srgbClr val="FCFCFC"/>
    <a:srgbClr val="DF9F98"/>
    <a:srgbClr val="D6CDEE"/>
    <a:srgbClr val="F7F5CD"/>
    <a:srgbClr val="FFABAA"/>
    <a:srgbClr val="000000"/>
    <a:srgbClr val="B2E6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autoAdjust="0"/>
    <p:restoredTop sz="94649" autoAdjust="0"/>
  </p:normalViewPr>
  <p:slideViewPr>
    <p:cSldViewPr snapToGrid="0" snapToObjects="1">
      <p:cViewPr varScale="1">
        <p:scale>
          <a:sx n="111" d="100"/>
          <a:sy n="111" d="100"/>
        </p:scale>
        <p:origin x="1680" y="192"/>
      </p:cViewPr>
      <p:guideLst>
        <p:guide orient="horz" pos="1728"/>
        <p:guide pos="2880"/>
      </p:guideLst>
    </p:cSldViewPr>
  </p:slideViewPr>
  <p:notesTextViewPr>
    <p:cViewPr>
      <p:scale>
        <a:sx n="100" d="100"/>
        <a:sy n="100" d="100"/>
      </p:scale>
      <p:origin x="0" y="0"/>
    </p:cViewPr>
  </p:notesTextViewPr>
  <p:sorterViewPr>
    <p:cViewPr>
      <p:scale>
        <a:sx n="80" d="100"/>
        <a:sy n="80" d="100"/>
      </p:scale>
      <p:origin x="0" y="2172"/>
    </p:cViewPr>
  </p:sorterViewPr>
  <p:notesViewPr>
    <p:cSldViewPr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tags" Target="tags/tag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rts/_rels/chart1.xml.rels><?xml version="1.0" encoding="UTF-8" standalone="yes"?>
<Relationships xmlns="http://schemas.openxmlformats.org/package/2006/relationships"><Relationship Id="rId2" Type="http://schemas.openxmlformats.org/officeDocument/2006/relationships/oleObject" Target="Macintosh%20HD:Users:droh:Google%20Drive:ics3:mem:cpumemgap.xlsx" TargetMode="External"/><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8880015299171499"/>
          <c:y val="6.0185185185185203E-2"/>
          <c:w val="0.51180020900165302"/>
          <c:h val="0.80722222222222195"/>
        </c:manualLayout>
      </c:layout>
      <c:lineChart>
        <c:grouping val="standard"/>
        <c:varyColors val="0"/>
        <c:ser>
          <c:idx val="0"/>
          <c:order val="0"/>
          <c:tx>
            <c:strRef>
              <c:f>data!$B$1</c:f>
              <c:strCache>
                <c:ptCount val="1"/>
                <c:pt idx="0">
                  <c:v>Disk seek time</c:v>
                </c:pt>
              </c:strCache>
            </c:strRef>
          </c:tx>
          <c:spPr>
            <a:ln w="12700" cmpd="sng">
              <a:solidFill>
                <a:schemeClr val="tx1"/>
              </a:solidFill>
            </a:ln>
          </c:spPr>
          <c:marker>
            <c:symbol val="diamond"/>
            <c:size val="8"/>
            <c:spPr>
              <a:solidFill>
                <a:schemeClr val="tx1"/>
              </a:solidFill>
              <a:ln>
                <a:noFill/>
              </a:ln>
            </c:spPr>
          </c:marker>
          <c:cat>
            <c:numRef>
              <c:f>data!$A$2:$A$9</c:f>
              <c:numCache>
                <c:formatCode>General</c:formatCode>
                <c:ptCount val="8"/>
                <c:pt idx="0">
                  <c:v>1985</c:v>
                </c:pt>
                <c:pt idx="1">
                  <c:v>1990</c:v>
                </c:pt>
                <c:pt idx="2">
                  <c:v>1995</c:v>
                </c:pt>
                <c:pt idx="3">
                  <c:v>2000</c:v>
                </c:pt>
                <c:pt idx="4">
                  <c:v>2003</c:v>
                </c:pt>
                <c:pt idx="5">
                  <c:v>2005</c:v>
                </c:pt>
                <c:pt idx="6">
                  <c:v>2010</c:v>
                </c:pt>
                <c:pt idx="7">
                  <c:v>2015</c:v>
                </c:pt>
              </c:numCache>
            </c:numRef>
          </c:cat>
          <c:val>
            <c:numRef>
              <c:f>data!$B$2:$B$9</c:f>
              <c:numCache>
                <c:formatCode>#,##0</c:formatCode>
                <c:ptCount val="8"/>
                <c:pt idx="0">
                  <c:v>75000000</c:v>
                </c:pt>
                <c:pt idx="1">
                  <c:v>28000000</c:v>
                </c:pt>
                <c:pt idx="2">
                  <c:v>10000000</c:v>
                </c:pt>
                <c:pt idx="3">
                  <c:v>8000000</c:v>
                </c:pt>
                <c:pt idx="4">
                  <c:v>6000000</c:v>
                </c:pt>
                <c:pt idx="5">
                  <c:v>5000000</c:v>
                </c:pt>
                <c:pt idx="6">
                  <c:v>3000000</c:v>
                </c:pt>
                <c:pt idx="7">
                  <c:v>3000000</c:v>
                </c:pt>
              </c:numCache>
            </c:numRef>
          </c:val>
          <c:smooth val="0"/>
          <c:extLst>
            <c:ext xmlns:c16="http://schemas.microsoft.com/office/drawing/2014/chart" uri="{C3380CC4-5D6E-409C-BE32-E72D297353CC}">
              <c16:uniqueId val="{00000000-C6A9-624F-9EF2-94908C089B58}"/>
            </c:ext>
          </c:extLst>
        </c:ser>
        <c:ser>
          <c:idx val="1"/>
          <c:order val="1"/>
          <c:tx>
            <c:strRef>
              <c:f>data!$C$1</c:f>
              <c:strCache>
                <c:ptCount val="1"/>
                <c:pt idx="0">
                  <c:v>SSD access time</c:v>
                </c:pt>
              </c:strCache>
            </c:strRef>
          </c:tx>
          <c:spPr>
            <a:ln w="12700">
              <a:solidFill>
                <a:schemeClr val="tx1"/>
              </a:solidFill>
            </a:ln>
          </c:spPr>
          <c:marker>
            <c:symbol val="triangle"/>
            <c:size val="8"/>
            <c:spPr>
              <a:solidFill>
                <a:schemeClr val="tx1"/>
              </a:solidFill>
              <a:ln>
                <a:noFill/>
              </a:ln>
            </c:spPr>
          </c:marker>
          <c:cat>
            <c:numRef>
              <c:f>data!$A$2:$A$9</c:f>
              <c:numCache>
                <c:formatCode>General</c:formatCode>
                <c:ptCount val="8"/>
                <c:pt idx="0">
                  <c:v>1985</c:v>
                </c:pt>
                <c:pt idx="1">
                  <c:v>1990</c:v>
                </c:pt>
                <c:pt idx="2">
                  <c:v>1995</c:v>
                </c:pt>
                <c:pt idx="3">
                  <c:v>2000</c:v>
                </c:pt>
                <c:pt idx="4">
                  <c:v>2003</c:v>
                </c:pt>
                <c:pt idx="5">
                  <c:v>2005</c:v>
                </c:pt>
                <c:pt idx="6">
                  <c:v>2010</c:v>
                </c:pt>
                <c:pt idx="7">
                  <c:v>2015</c:v>
                </c:pt>
              </c:numCache>
            </c:numRef>
          </c:cat>
          <c:val>
            <c:numRef>
              <c:f>data!$C$2:$C$9</c:f>
              <c:numCache>
                <c:formatCode>General</c:formatCode>
                <c:ptCount val="8"/>
                <c:pt idx="7" formatCode="#,##0">
                  <c:v>50000</c:v>
                </c:pt>
              </c:numCache>
            </c:numRef>
          </c:val>
          <c:smooth val="0"/>
          <c:extLst>
            <c:ext xmlns:c16="http://schemas.microsoft.com/office/drawing/2014/chart" uri="{C3380CC4-5D6E-409C-BE32-E72D297353CC}">
              <c16:uniqueId val="{00000001-C6A9-624F-9EF2-94908C089B58}"/>
            </c:ext>
          </c:extLst>
        </c:ser>
        <c:ser>
          <c:idx val="3"/>
          <c:order val="2"/>
          <c:tx>
            <c:strRef>
              <c:f>data!$D$1</c:f>
              <c:strCache>
                <c:ptCount val="1"/>
                <c:pt idx="0">
                  <c:v>DRAM access time</c:v>
                </c:pt>
              </c:strCache>
            </c:strRef>
          </c:tx>
          <c:spPr>
            <a:ln w="12700">
              <a:solidFill>
                <a:schemeClr val="tx1"/>
              </a:solidFill>
            </a:ln>
          </c:spPr>
          <c:marker>
            <c:symbol val="square"/>
            <c:size val="8"/>
            <c:spPr>
              <a:solidFill>
                <a:schemeClr val="tx1"/>
              </a:solidFill>
              <a:ln>
                <a:noFill/>
              </a:ln>
            </c:spPr>
          </c:marker>
          <c:cat>
            <c:numRef>
              <c:f>data!$A$2:$A$9</c:f>
              <c:numCache>
                <c:formatCode>General</c:formatCode>
                <c:ptCount val="8"/>
                <c:pt idx="0">
                  <c:v>1985</c:v>
                </c:pt>
                <c:pt idx="1">
                  <c:v>1990</c:v>
                </c:pt>
                <c:pt idx="2">
                  <c:v>1995</c:v>
                </c:pt>
                <c:pt idx="3">
                  <c:v>2000</c:v>
                </c:pt>
                <c:pt idx="4">
                  <c:v>2003</c:v>
                </c:pt>
                <c:pt idx="5">
                  <c:v>2005</c:v>
                </c:pt>
                <c:pt idx="6">
                  <c:v>2010</c:v>
                </c:pt>
                <c:pt idx="7">
                  <c:v>2015</c:v>
                </c:pt>
              </c:numCache>
            </c:numRef>
          </c:cat>
          <c:val>
            <c:numRef>
              <c:f>data!$D$2:$D$9</c:f>
              <c:numCache>
                <c:formatCode>#,##0</c:formatCode>
                <c:ptCount val="8"/>
                <c:pt idx="0" formatCode="General">
                  <c:v>200</c:v>
                </c:pt>
                <c:pt idx="1">
                  <c:v>100</c:v>
                </c:pt>
                <c:pt idx="2" formatCode="General">
                  <c:v>70</c:v>
                </c:pt>
                <c:pt idx="3" formatCode="General">
                  <c:v>60</c:v>
                </c:pt>
                <c:pt idx="4" formatCode="General">
                  <c:v>55</c:v>
                </c:pt>
                <c:pt idx="5" formatCode="General">
                  <c:v>50</c:v>
                </c:pt>
                <c:pt idx="6" formatCode="General">
                  <c:v>40</c:v>
                </c:pt>
                <c:pt idx="7" formatCode="General">
                  <c:v>20</c:v>
                </c:pt>
              </c:numCache>
            </c:numRef>
          </c:val>
          <c:smooth val="0"/>
          <c:extLst>
            <c:ext xmlns:c16="http://schemas.microsoft.com/office/drawing/2014/chart" uri="{C3380CC4-5D6E-409C-BE32-E72D297353CC}">
              <c16:uniqueId val="{00000002-C6A9-624F-9EF2-94908C089B58}"/>
            </c:ext>
          </c:extLst>
        </c:ser>
        <c:ser>
          <c:idx val="4"/>
          <c:order val="3"/>
          <c:tx>
            <c:strRef>
              <c:f>data!$E$1</c:f>
              <c:strCache>
                <c:ptCount val="1"/>
                <c:pt idx="0">
                  <c:v>SRAM access time</c:v>
                </c:pt>
              </c:strCache>
            </c:strRef>
          </c:tx>
          <c:spPr>
            <a:ln w="12700">
              <a:solidFill>
                <a:schemeClr val="tx1"/>
              </a:solidFill>
            </a:ln>
          </c:spPr>
          <c:marker>
            <c:symbol val="circle"/>
            <c:size val="8"/>
            <c:spPr>
              <a:solidFill>
                <a:schemeClr val="tx1"/>
              </a:solidFill>
              <a:ln>
                <a:noFill/>
              </a:ln>
            </c:spPr>
          </c:marker>
          <c:cat>
            <c:numRef>
              <c:f>data!$A$2:$A$9</c:f>
              <c:numCache>
                <c:formatCode>General</c:formatCode>
                <c:ptCount val="8"/>
                <c:pt idx="0">
                  <c:v>1985</c:v>
                </c:pt>
                <c:pt idx="1">
                  <c:v>1990</c:v>
                </c:pt>
                <c:pt idx="2">
                  <c:v>1995</c:v>
                </c:pt>
                <c:pt idx="3">
                  <c:v>2000</c:v>
                </c:pt>
                <c:pt idx="4">
                  <c:v>2003</c:v>
                </c:pt>
                <c:pt idx="5">
                  <c:v>2005</c:v>
                </c:pt>
                <c:pt idx="6">
                  <c:v>2010</c:v>
                </c:pt>
                <c:pt idx="7">
                  <c:v>2015</c:v>
                </c:pt>
              </c:numCache>
            </c:numRef>
          </c:cat>
          <c:val>
            <c:numRef>
              <c:f>data!$E$2:$E$9</c:f>
              <c:numCache>
                <c:formatCode>General</c:formatCode>
                <c:ptCount val="8"/>
                <c:pt idx="0">
                  <c:v>150</c:v>
                </c:pt>
                <c:pt idx="1">
                  <c:v>35</c:v>
                </c:pt>
                <c:pt idx="2">
                  <c:v>15</c:v>
                </c:pt>
                <c:pt idx="3">
                  <c:v>3</c:v>
                </c:pt>
                <c:pt idx="4">
                  <c:v>2.5</c:v>
                </c:pt>
                <c:pt idx="5">
                  <c:v>2</c:v>
                </c:pt>
                <c:pt idx="6">
                  <c:v>1.5</c:v>
                </c:pt>
                <c:pt idx="7">
                  <c:v>1.3</c:v>
                </c:pt>
              </c:numCache>
            </c:numRef>
          </c:val>
          <c:smooth val="0"/>
          <c:extLst>
            <c:ext xmlns:c16="http://schemas.microsoft.com/office/drawing/2014/chart" uri="{C3380CC4-5D6E-409C-BE32-E72D297353CC}">
              <c16:uniqueId val="{00000003-C6A9-624F-9EF2-94908C089B58}"/>
            </c:ext>
          </c:extLst>
        </c:ser>
        <c:ser>
          <c:idx val="5"/>
          <c:order val="4"/>
          <c:tx>
            <c:strRef>
              <c:f>data!$F$1</c:f>
              <c:strCache>
                <c:ptCount val="1"/>
                <c:pt idx="0">
                  <c:v>CPU cycle time</c:v>
                </c:pt>
              </c:strCache>
            </c:strRef>
          </c:tx>
          <c:spPr>
            <a:ln w="12700">
              <a:solidFill>
                <a:schemeClr val="tx1"/>
              </a:solidFill>
            </a:ln>
          </c:spPr>
          <c:marker>
            <c:symbol val="square"/>
            <c:size val="8"/>
            <c:spPr>
              <a:solidFill>
                <a:schemeClr val="bg1"/>
              </a:solidFill>
              <a:ln>
                <a:solidFill>
                  <a:schemeClr val="tx1"/>
                </a:solidFill>
              </a:ln>
            </c:spPr>
          </c:marker>
          <c:cat>
            <c:numRef>
              <c:f>data!$A$2:$A$9</c:f>
              <c:numCache>
                <c:formatCode>General</c:formatCode>
                <c:ptCount val="8"/>
                <c:pt idx="0">
                  <c:v>1985</c:v>
                </c:pt>
                <c:pt idx="1">
                  <c:v>1990</c:v>
                </c:pt>
                <c:pt idx="2">
                  <c:v>1995</c:v>
                </c:pt>
                <c:pt idx="3">
                  <c:v>2000</c:v>
                </c:pt>
                <c:pt idx="4">
                  <c:v>2003</c:v>
                </c:pt>
                <c:pt idx="5">
                  <c:v>2005</c:v>
                </c:pt>
                <c:pt idx="6">
                  <c:v>2010</c:v>
                </c:pt>
                <c:pt idx="7">
                  <c:v>2015</c:v>
                </c:pt>
              </c:numCache>
            </c:numRef>
          </c:cat>
          <c:val>
            <c:numRef>
              <c:f>data!$F$2:$F$9</c:f>
              <c:numCache>
                <c:formatCode>General</c:formatCode>
                <c:ptCount val="8"/>
                <c:pt idx="0">
                  <c:v>166</c:v>
                </c:pt>
                <c:pt idx="1">
                  <c:v>50</c:v>
                </c:pt>
                <c:pt idx="2">
                  <c:v>6</c:v>
                </c:pt>
                <c:pt idx="3">
                  <c:v>1.6</c:v>
                </c:pt>
                <c:pt idx="4">
                  <c:v>0.3</c:v>
                </c:pt>
                <c:pt idx="5">
                  <c:v>0.5</c:v>
                </c:pt>
                <c:pt idx="6">
                  <c:v>0.4</c:v>
                </c:pt>
                <c:pt idx="7">
                  <c:v>0.33</c:v>
                </c:pt>
              </c:numCache>
            </c:numRef>
          </c:val>
          <c:smooth val="0"/>
          <c:extLst>
            <c:ext xmlns:c16="http://schemas.microsoft.com/office/drawing/2014/chart" uri="{C3380CC4-5D6E-409C-BE32-E72D297353CC}">
              <c16:uniqueId val="{00000004-C6A9-624F-9EF2-94908C089B58}"/>
            </c:ext>
          </c:extLst>
        </c:ser>
        <c:ser>
          <c:idx val="6"/>
          <c:order val="5"/>
          <c:tx>
            <c:strRef>
              <c:f>data!$G$1</c:f>
              <c:strCache>
                <c:ptCount val="1"/>
                <c:pt idx="0">
                  <c:v>Effective CPU cycle time</c:v>
                </c:pt>
              </c:strCache>
            </c:strRef>
          </c:tx>
          <c:spPr>
            <a:ln w="12700">
              <a:solidFill>
                <a:schemeClr val="tx1"/>
              </a:solidFill>
            </a:ln>
          </c:spPr>
          <c:marker>
            <c:symbol val="circle"/>
            <c:size val="8"/>
            <c:spPr>
              <a:solidFill>
                <a:schemeClr val="bg1"/>
              </a:solidFill>
              <a:ln>
                <a:solidFill>
                  <a:schemeClr val="tx1"/>
                </a:solidFill>
              </a:ln>
            </c:spPr>
          </c:marker>
          <c:cat>
            <c:numRef>
              <c:f>data!$A$2:$A$9</c:f>
              <c:numCache>
                <c:formatCode>General</c:formatCode>
                <c:ptCount val="8"/>
                <c:pt idx="0">
                  <c:v>1985</c:v>
                </c:pt>
                <c:pt idx="1">
                  <c:v>1990</c:v>
                </c:pt>
                <c:pt idx="2">
                  <c:v>1995</c:v>
                </c:pt>
                <c:pt idx="3">
                  <c:v>2000</c:v>
                </c:pt>
                <c:pt idx="4">
                  <c:v>2003</c:v>
                </c:pt>
                <c:pt idx="5">
                  <c:v>2005</c:v>
                </c:pt>
                <c:pt idx="6">
                  <c:v>2010</c:v>
                </c:pt>
                <c:pt idx="7">
                  <c:v>2015</c:v>
                </c:pt>
              </c:numCache>
            </c:numRef>
          </c:cat>
          <c:val>
            <c:numRef>
              <c:f>data!$G$2:$G$9</c:f>
              <c:numCache>
                <c:formatCode>General</c:formatCode>
                <c:ptCount val="8"/>
                <c:pt idx="4">
                  <c:v>0.3</c:v>
                </c:pt>
                <c:pt idx="5">
                  <c:v>0.25</c:v>
                </c:pt>
                <c:pt idx="6">
                  <c:v>0.1</c:v>
                </c:pt>
                <c:pt idx="7">
                  <c:v>0.08</c:v>
                </c:pt>
              </c:numCache>
            </c:numRef>
          </c:val>
          <c:smooth val="0"/>
          <c:extLst>
            <c:ext xmlns:c16="http://schemas.microsoft.com/office/drawing/2014/chart" uri="{C3380CC4-5D6E-409C-BE32-E72D297353CC}">
              <c16:uniqueId val="{00000005-C6A9-624F-9EF2-94908C089B58}"/>
            </c:ext>
          </c:extLst>
        </c:ser>
        <c:dLbls>
          <c:showLegendKey val="0"/>
          <c:showVal val="0"/>
          <c:showCatName val="0"/>
          <c:showSerName val="0"/>
          <c:showPercent val="0"/>
          <c:showBubbleSize val="0"/>
        </c:dLbls>
        <c:marker val="1"/>
        <c:smooth val="0"/>
        <c:axId val="2122593976"/>
        <c:axId val="2122887992"/>
      </c:lineChart>
      <c:catAx>
        <c:axId val="2122593976"/>
        <c:scaling>
          <c:orientation val="minMax"/>
        </c:scaling>
        <c:delete val="0"/>
        <c:axPos val="b"/>
        <c:title>
          <c:tx>
            <c:rich>
              <a:bodyPr/>
              <a:lstStyle/>
              <a:p>
                <a:pPr>
                  <a:defRPr/>
                </a:pPr>
                <a:r>
                  <a:rPr lang="en-US"/>
                  <a:t>Year</a:t>
                </a:r>
              </a:p>
            </c:rich>
          </c:tx>
          <c:overlay val="0"/>
        </c:title>
        <c:numFmt formatCode="General" sourceLinked="1"/>
        <c:majorTickMark val="out"/>
        <c:minorTickMark val="none"/>
        <c:tickLblPos val="low"/>
        <c:txPr>
          <a:bodyPr rot="0" vert="horz" anchor="ctr" anchorCtr="1"/>
          <a:lstStyle/>
          <a:p>
            <a:pPr>
              <a:defRPr/>
            </a:pPr>
            <a:endParaRPr lang="en-VN"/>
          </a:p>
        </c:txPr>
        <c:crossAx val="2122887992"/>
        <c:crossesAt val="0"/>
        <c:auto val="1"/>
        <c:lblAlgn val="ctr"/>
        <c:lblOffset val="100"/>
        <c:noMultiLvlLbl val="0"/>
      </c:catAx>
      <c:valAx>
        <c:axId val="2122887992"/>
        <c:scaling>
          <c:logBase val="10"/>
          <c:orientation val="minMax"/>
          <c:min val="0.01"/>
        </c:scaling>
        <c:delete val="0"/>
        <c:axPos val="l"/>
        <c:majorGridlines/>
        <c:title>
          <c:tx>
            <c:rich>
              <a:bodyPr rot="-5400000" vert="horz"/>
              <a:lstStyle/>
              <a:p>
                <a:pPr>
                  <a:defRPr/>
                </a:pPr>
                <a:r>
                  <a:rPr lang="en-US"/>
                  <a:t>Time (ns)</a:t>
                </a:r>
              </a:p>
            </c:rich>
          </c:tx>
          <c:overlay val="0"/>
        </c:title>
        <c:numFmt formatCode="#,##0.0" sourceLinked="0"/>
        <c:majorTickMark val="out"/>
        <c:minorTickMark val="none"/>
        <c:tickLblPos val="nextTo"/>
        <c:crossAx val="2122593976"/>
        <c:crosses val="autoZero"/>
        <c:crossBetween val="between"/>
        <c:minorUnit val="10"/>
      </c:valAx>
      <c:spPr>
        <a:ln>
          <a:noFill/>
        </a:ln>
      </c:spPr>
    </c:plotArea>
    <c:legend>
      <c:legendPos val="r"/>
      <c:overlay val="0"/>
      <c:spPr>
        <a:ln>
          <a:solidFill>
            <a:schemeClr val="tx1"/>
          </a:solidFill>
        </a:ln>
      </c:spPr>
    </c:legend>
    <c:plotVisOnly val="1"/>
    <c:dispBlanksAs val="gap"/>
    <c:showDLblsOverMax val="0"/>
  </c:chart>
  <c:txPr>
    <a:bodyPr/>
    <a:lstStyle/>
    <a:p>
      <a:pPr>
        <a:defRPr sz="1200">
          <a:latin typeface="Arial"/>
        </a:defRPr>
      </a:pPr>
      <a:endParaRPr lang="en-VN"/>
    </a:p>
  </c:tx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defTabSz="965200">
              <a:defRPr sz="1200" smtClean="0">
                <a:latin typeface="Times New Roman" pitchFamily="18" charset="0"/>
              </a:defRPr>
            </a:lvl1pPr>
          </a:lstStyle>
          <a:p>
            <a:pPr>
              <a:defRPr/>
            </a:pPr>
            <a:r>
              <a:rPr lang="en-US"/>
              <a:t>DAC 2001 Tutorial</a:t>
            </a:r>
          </a:p>
        </p:txBody>
      </p:sp>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algn="r" defTabSz="965200">
              <a:defRPr sz="1200" smtClean="0">
                <a:latin typeface="Times New Roman" pitchFamily="18" charset="0"/>
              </a:defRPr>
            </a:lvl1pPr>
          </a:lstStyle>
          <a:p>
            <a:pPr>
              <a:defRPr/>
            </a:pPr>
            <a:endParaRPr lang="en-US"/>
          </a:p>
        </p:txBody>
      </p:sp>
      <p:sp>
        <p:nvSpPr>
          <p:cNvPr id="252932" name="Rectangle 4"/>
          <p:cNvSpPr>
            <a:spLocks noGrp="1" noChangeArrowheads="1"/>
          </p:cNvSpPr>
          <p:nvPr>
            <p:ph type="ftr" sz="quarter" idx="2"/>
          </p:nvPr>
        </p:nvSpPr>
        <p:spPr bwMode="auto">
          <a:xfrm>
            <a:off x="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defTabSz="965200">
              <a:defRPr sz="1200" smtClean="0">
                <a:latin typeface="Times New Roman" pitchFamily="18" charset="0"/>
                <a:cs typeface="Times New Roman" pitchFamily="18" charset="0"/>
              </a:defRPr>
            </a:lvl1pPr>
          </a:lstStyle>
          <a:p>
            <a:pPr>
              <a:defRPr/>
            </a:pPr>
            <a:r>
              <a:rPr lang="en-US"/>
              <a:t>©R.A. Rutenbar, 2001</a:t>
            </a:r>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algn="r" defTabSz="965200">
              <a:defRPr sz="1200" smtClean="0">
                <a:latin typeface="Times New Roman" pitchFamily="18" charset="0"/>
              </a:defRPr>
            </a:lvl1pPr>
          </a:lstStyle>
          <a:p>
            <a:pPr>
              <a:defRPr/>
            </a:pPr>
            <a:fld id="{83587096-7852-44F5-9A71-D621B1FF2472}" type="slidenum">
              <a:rPr lang="en-US"/>
              <a:pPr>
                <a:defRPr/>
              </a:pPr>
              <a:t>‹#›</a:t>
            </a:fld>
            <a:endParaRPr lang="en-US"/>
          </a:p>
        </p:txBody>
      </p:sp>
    </p:spTree>
    <p:extLst>
      <p:ext uri="{BB962C8B-B14F-4D97-AF65-F5344CB8AC3E}">
        <p14:creationId xmlns:p14="http://schemas.microsoft.com/office/powerpoint/2010/main" val="34533336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atin typeface="Times New Roman"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219200" y="685800"/>
            <a:ext cx="4876800" cy="3657600"/>
          </a:xfrm>
          <a:prstGeom prst="rect">
            <a:avLst/>
          </a:prstGeom>
          <a:noFill/>
          <a:ln w="9525">
            <a:solidFill>
              <a:srgbClr val="000000"/>
            </a:solidFill>
            <a:miter lim="800000"/>
            <a:headEnd/>
            <a:tailEnd/>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latin typeface="Times New Roman" pitchFamily="18" charset="0"/>
              </a:defRPr>
            </a:lvl1pPr>
          </a:lstStyle>
          <a:p>
            <a:pPr>
              <a:defRPr/>
            </a:pPr>
            <a:fld id="{40F64717-A5A5-4C4E-9291-2F18B7410B06}" type="slidenum">
              <a:rPr lang="en-US"/>
              <a:pPr>
                <a:defRPr/>
              </a:pPr>
              <a:t>‹#›</a:t>
            </a:fld>
            <a:endParaRPr lang="en-US"/>
          </a:p>
        </p:txBody>
      </p:sp>
    </p:spTree>
    <p:extLst>
      <p:ext uri="{BB962C8B-B14F-4D97-AF65-F5344CB8AC3E}">
        <p14:creationId xmlns:p14="http://schemas.microsoft.com/office/powerpoint/2010/main" val="10934828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Slide Number Placeholder 3"/>
          <p:cNvSpPr>
            <a:spLocks noGrp="1"/>
          </p:cNvSpPr>
          <p:nvPr>
            <p:ph type="sldNum" sz="quarter" idx="5"/>
          </p:nvPr>
        </p:nvSpPr>
        <p:spPr>
          <a:noFill/>
        </p:spPr>
        <p:txBody>
          <a:bodyPr/>
          <a:lstStyle/>
          <a:p>
            <a:fld id="{7F803353-72E2-470C-8E67-87750F01FAF1}"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ln/>
        </p:spPr>
      </p:sp>
      <p:sp>
        <p:nvSpPr>
          <p:cNvPr id="157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ln/>
        </p:spPr>
      </p:sp>
      <p:sp>
        <p:nvSpPr>
          <p:cNvPr id="159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Rot="1" noChangeAspect="1" noChangeArrowheads="1" noTextEdit="1"/>
          </p:cNvSpPr>
          <p:nvPr>
            <p:ph type="sldImg"/>
          </p:nvPr>
        </p:nvSpPr>
        <p:spPr>
          <a:ln/>
        </p:spPr>
      </p:sp>
      <p:sp>
        <p:nvSpPr>
          <p:cNvPr id="1617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Rot="1" noChangeAspect="1" noChangeArrowheads="1" noTextEdit="1"/>
          </p:cNvSpPr>
          <p:nvPr>
            <p:ph type="sldImg"/>
          </p:nvPr>
        </p:nvSpPr>
        <p:spPr>
          <a:ln/>
        </p:spPr>
      </p:sp>
      <p:sp>
        <p:nvSpPr>
          <p:cNvPr id="1638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409700" y="400050"/>
            <a:ext cx="4792663" cy="3594100"/>
          </a:xfrm>
        </p:spPr>
      </p:sp>
      <p:sp>
        <p:nvSpPr>
          <p:cNvPr id="107523" name="Rectangle 3"/>
          <p:cNvSpPr>
            <a:spLocks noGrp="1" noChangeArrowheads="1"/>
          </p:cNvSpPr>
          <p:nvPr>
            <p:ph type="body" idx="1"/>
          </p:nvPr>
        </p:nvSpPr>
        <p:spPr>
          <a:xfrm>
            <a:off x="136123" y="4247554"/>
            <a:ext cx="6952232" cy="5180343"/>
          </a:xfrm>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Rot="1" noChangeAspect="1" noChangeArrowheads="1" noTextEdit="1"/>
          </p:cNvSpPr>
          <p:nvPr>
            <p:ph type="sldImg"/>
          </p:nvPr>
        </p:nvSpPr>
        <p:spPr>
          <a:ln/>
        </p:spPr>
      </p:sp>
      <p:sp>
        <p:nvSpPr>
          <p:cNvPr id="1679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ln/>
        </p:spPr>
      </p:sp>
      <p:sp>
        <p:nvSpPr>
          <p:cNvPr id="1699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1230313" y="711200"/>
            <a:ext cx="4833937" cy="3624263"/>
          </a:xfrm>
        </p:spPr>
      </p:sp>
      <p:sp>
        <p:nvSpPr>
          <p:cNvPr id="58371" name="Rectangle 3"/>
          <p:cNvSpPr>
            <a:spLocks noGrp="1" noChangeArrowheads="1"/>
          </p:cNvSpPr>
          <p:nvPr>
            <p:ph type="body" idx="1"/>
          </p:nvPr>
        </p:nvSpPr>
        <p:spPr>
          <a:xfrm>
            <a:off x="951202" y="4572145"/>
            <a:ext cx="5386817" cy="4331160"/>
          </a:xfrm>
          <a:noFill/>
          <a:ln/>
        </p:spPr>
        <p:txBody>
          <a:bodyPr lIns="94886" tIns="47442" rIns="94886" bIns="47442"/>
          <a:lstStyle/>
          <a:p>
            <a:r>
              <a:rPr lang="en-US"/>
              <a:t>Goal:</a:t>
            </a:r>
          </a:p>
          <a:p>
            <a:r>
              <a:rPr lang="en-US"/>
              <a:t>	Show the inefficeincy of current disk requests.</a:t>
            </a:r>
          </a:p>
          <a:p>
            <a:r>
              <a:rPr lang="en-US"/>
              <a:t>Conveyed Ideas:</a:t>
            </a:r>
          </a:p>
          <a:p>
            <a:r>
              <a:rPr lang="en-US"/>
              <a:t>	Rotational latency is wasted time that can be used to service tasks</a:t>
            </a:r>
          </a:p>
          <a:p>
            <a:r>
              <a:rPr lang="en-US"/>
              <a:t>Background Information:</a:t>
            </a:r>
          </a:p>
          <a:p>
            <a:r>
              <a:rPr lang="en-US"/>
              <a:t>	None.</a:t>
            </a:r>
          </a:p>
          <a:p>
            <a:r>
              <a:rPr lang="en-US"/>
              <a:t>Slide Background:</a:t>
            </a:r>
          </a:p>
          <a:p>
            <a:r>
              <a:rPr lang="en-US"/>
              <a:t>	None.</a:t>
            </a:r>
          </a:p>
          <a:p>
            <a:endParaRPr lang="en-US"/>
          </a:p>
          <a:p>
            <a:r>
              <a:rPr lang="en-US"/>
              <a:t>Kill text and arrows</a:t>
            </a:r>
          </a:p>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1230313" y="711200"/>
            <a:ext cx="4833937" cy="3624263"/>
          </a:xfrm>
        </p:spPr>
      </p:sp>
      <p:sp>
        <p:nvSpPr>
          <p:cNvPr id="60419" name="Rectangle 3"/>
          <p:cNvSpPr>
            <a:spLocks noGrp="1" noChangeArrowheads="1"/>
          </p:cNvSpPr>
          <p:nvPr>
            <p:ph type="body" idx="1"/>
          </p:nvPr>
        </p:nvSpPr>
        <p:spPr>
          <a:xfrm>
            <a:off x="951202" y="4572145"/>
            <a:ext cx="5386817" cy="4331160"/>
          </a:xfrm>
          <a:noFill/>
          <a:ln/>
        </p:spPr>
        <p:txBody>
          <a:bodyPr lIns="94886" tIns="47442" rIns="94886" bIns="47442"/>
          <a:lstStyle/>
          <a:p>
            <a:r>
              <a:rPr lang="en-US"/>
              <a:t>Goal:</a:t>
            </a:r>
          </a:p>
          <a:p>
            <a:r>
              <a:rPr lang="en-US"/>
              <a:t>	Show the inefficeincy of current disk requests.</a:t>
            </a:r>
          </a:p>
          <a:p>
            <a:r>
              <a:rPr lang="en-US"/>
              <a:t>Conveyed Ideas:</a:t>
            </a:r>
          </a:p>
          <a:p>
            <a:r>
              <a:rPr lang="en-US"/>
              <a:t>	Rotational latency is wasted time that can be used to service tasks</a:t>
            </a:r>
          </a:p>
          <a:p>
            <a:r>
              <a:rPr lang="en-US"/>
              <a:t>Background Information:</a:t>
            </a:r>
          </a:p>
          <a:p>
            <a:r>
              <a:rPr lang="en-US"/>
              <a:t>	None.</a:t>
            </a:r>
          </a:p>
          <a:p>
            <a:r>
              <a:rPr lang="en-US"/>
              <a:t>Slide Background:</a:t>
            </a:r>
          </a:p>
          <a:p>
            <a:r>
              <a:rPr lang="en-US"/>
              <a:t>	None.</a:t>
            </a:r>
          </a:p>
          <a:p>
            <a:endParaRPr lang="en-US"/>
          </a:p>
          <a:p>
            <a:r>
              <a:rPr lang="en-US"/>
              <a:t>Kill text and arrows</a:t>
            </a:r>
          </a:p>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230313" y="711200"/>
            <a:ext cx="4833937" cy="3624263"/>
          </a:xfrm>
        </p:spPr>
      </p:sp>
      <p:sp>
        <p:nvSpPr>
          <p:cNvPr id="62467" name="Rectangle 3"/>
          <p:cNvSpPr>
            <a:spLocks noGrp="1" noChangeArrowheads="1"/>
          </p:cNvSpPr>
          <p:nvPr>
            <p:ph type="body" idx="1"/>
          </p:nvPr>
        </p:nvSpPr>
        <p:spPr>
          <a:xfrm>
            <a:off x="951202" y="4572145"/>
            <a:ext cx="5386817" cy="4331160"/>
          </a:xfrm>
          <a:noFill/>
          <a:ln/>
        </p:spPr>
        <p:txBody>
          <a:bodyPr lIns="94886" tIns="47442" rIns="94886" bIns="47442"/>
          <a:lstStyle/>
          <a:p>
            <a:r>
              <a:rPr lang="en-US"/>
              <a:t>Goal:</a:t>
            </a:r>
          </a:p>
          <a:p>
            <a:r>
              <a:rPr lang="en-US"/>
              <a:t>	Show the inefficeincy of current disk requests.</a:t>
            </a:r>
          </a:p>
          <a:p>
            <a:r>
              <a:rPr lang="en-US"/>
              <a:t>Conveyed Ideas:</a:t>
            </a:r>
          </a:p>
          <a:p>
            <a:r>
              <a:rPr lang="en-US"/>
              <a:t>	Rotational latency is wasted time that can be used to service tasks</a:t>
            </a:r>
          </a:p>
          <a:p>
            <a:r>
              <a:rPr lang="en-US"/>
              <a:t>Background Information:</a:t>
            </a:r>
          </a:p>
          <a:p>
            <a:r>
              <a:rPr lang="en-US"/>
              <a:t>	None.</a:t>
            </a:r>
          </a:p>
          <a:p>
            <a:r>
              <a:rPr lang="en-US"/>
              <a:t>Slide Background:</a:t>
            </a:r>
          </a:p>
          <a:p>
            <a:r>
              <a:rPr lang="en-US"/>
              <a:t>	None.</a:t>
            </a:r>
          </a:p>
          <a:p>
            <a:endParaRPr lang="en-US"/>
          </a:p>
          <a:p>
            <a:r>
              <a:rPr lang="en-US"/>
              <a:t>Kill text and arrows</a:t>
            </a:r>
          </a:p>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230313" y="711200"/>
            <a:ext cx="4833937" cy="3624263"/>
          </a:xfrm>
        </p:spPr>
      </p:sp>
      <p:sp>
        <p:nvSpPr>
          <p:cNvPr id="64515" name="Rectangle 3"/>
          <p:cNvSpPr>
            <a:spLocks noGrp="1" noChangeArrowheads="1"/>
          </p:cNvSpPr>
          <p:nvPr>
            <p:ph type="body" idx="1"/>
          </p:nvPr>
        </p:nvSpPr>
        <p:spPr>
          <a:xfrm>
            <a:off x="951202" y="4572145"/>
            <a:ext cx="5386817" cy="4331160"/>
          </a:xfrm>
          <a:noFill/>
          <a:ln/>
        </p:spPr>
        <p:txBody>
          <a:bodyPr lIns="94886" tIns="47442" rIns="94886" bIns="47442"/>
          <a:lstStyle/>
          <a:p>
            <a:r>
              <a:rPr lang="en-US"/>
              <a:t>Goal:</a:t>
            </a:r>
          </a:p>
          <a:p>
            <a:r>
              <a:rPr lang="en-US"/>
              <a:t>	Show the inefficeincy of current disk requests.</a:t>
            </a:r>
          </a:p>
          <a:p>
            <a:r>
              <a:rPr lang="en-US"/>
              <a:t>Conveyed Ideas:</a:t>
            </a:r>
          </a:p>
          <a:p>
            <a:r>
              <a:rPr lang="en-US"/>
              <a:t>	Rotational latency is wasted time that can be used to service tasks</a:t>
            </a:r>
          </a:p>
          <a:p>
            <a:r>
              <a:rPr lang="en-US"/>
              <a:t>Background Information:</a:t>
            </a:r>
          </a:p>
          <a:p>
            <a:r>
              <a:rPr lang="en-US"/>
              <a:t>	None.</a:t>
            </a:r>
          </a:p>
          <a:p>
            <a:r>
              <a:rPr lang="en-US"/>
              <a:t>Slide Background:</a:t>
            </a:r>
          </a:p>
          <a:p>
            <a:r>
              <a:rPr lang="en-US"/>
              <a:t>	None.</a:t>
            </a:r>
          </a:p>
          <a:p>
            <a:endParaRPr lang="en-US"/>
          </a:p>
          <a:p>
            <a:r>
              <a:rPr lang="en-US"/>
              <a:t>Kill text and arrows</a:t>
            </a:r>
          </a:p>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230313" y="711200"/>
            <a:ext cx="4833937" cy="3624263"/>
          </a:xfrm>
        </p:spPr>
      </p:sp>
      <p:sp>
        <p:nvSpPr>
          <p:cNvPr id="66563" name="Rectangle 3"/>
          <p:cNvSpPr>
            <a:spLocks noGrp="1" noChangeArrowheads="1"/>
          </p:cNvSpPr>
          <p:nvPr>
            <p:ph type="body" idx="1"/>
          </p:nvPr>
        </p:nvSpPr>
        <p:spPr>
          <a:xfrm>
            <a:off x="951202" y="4572145"/>
            <a:ext cx="5386817" cy="4331160"/>
          </a:xfrm>
          <a:noFill/>
          <a:ln/>
        </p:spPr>
        <p:txBody>
          <a:bodyPr lIns="94886" tIns="47442" rIns="94886" bIns="47442"/>
          <a:lstStyle/>
          <a:p>
            <a:r>
              <a:rPr lang="en-US"/>
              <a:t>Goal:</a:t>
            </a:r>
          </a:p>
          <a:p>
            <a:r>
              <a:rPr lang="en-US"/>
              <a:t>	Show the inefficeincy of current disk requests.</a:t>
            </a:r>
          </a:p>
          <a:p>
            <a:r>
              <a:rPr lang="en-US"/>
              <a:t>Conveyed Ideas:</a:t>
            </a:r>
          </a:p>
          <a:p>
            <a:r>
              <a:rPr lang="en-US"/>
              <a:t>	Rotational latency is wasted time that can be used to service tasks</a:t>
            </a:r>
          </a:p>
          <a:p>
            <a:r>
              <a:rPr lang="en-US"/>
              <a:t>Background Information:</a:t>
            </a:r>
          </a:p>
          <a:p>
            <a:r>
              <a:rPr lang="en-US"/>
              <a:t>	None.</a:t>
            </a:r>
          </a:p>
          <a:p>
            <a:r>
              <a:rPr lang="en-US"/>
              <a:t>Slide Background:</a:t>
            </a:r>
          </a:p>
          <a:p>
            <a:r>
              <a:rPr lang="en-US"/>
              <a:t>	None.</a:t>
            </a:r>
          </a:p>
          <a:p>
            <a:endParaRPr lang="en-US"/>
          </a:p>
          <a:p>
            <a:r>
              <a:rPr lang="en-US"/>
              <a:t>Kill text and arrows</a:t>
            </a:r>
          </a:p>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230313" y="711200"/>
            <a:ext cx="4833937" cy="3624263"/>
          </a:xfrm>
        </p:spPr>
      </p:sp>
      <p:sp>
        <p:nvSpPr>
          <p:cNvPr id="68611" name="Rectangle 3"/>
          <p:cNvSpPr>
            <a:spLocks noGrp="1" noChangeArrowheads="1"/>
          </p:cNvSpPr>
          <p:nvPr>
            <p:ph type="body" idx="1"/>
          </p:nvPr>
        </p:nvSpPr>
        <p:spPr>
          <a:xfrm>
            <a:off x="951202" y="4572145"/>
            <a:ext cx="5386817" cy="4331160"/>
          </a:xfrm>
          <a:noFill/>
          <a:ln/>
        </p:spPr>
        <p:txBody>
          <a:bodyPr lIns="94886" tIns="47442" rIns="94886" bIns="47442"/>
          <a:lstStyle/>
          <a:p>
            <a:r>
              <a:rPr lang="en-US"/>
              <a:t>Goal:</a:t>
            </a:r>
          </a:p>
          <a:p>
            <a:r>
              <a:rPr lang="en-US"/>
              <a:t>	Show the inefficeincy of current disk requests.</a:t>
            </a:r>
          </a:p>
          <a:p>
            <a:r>
              <a:rPr lang="en-US"/>
              <a:t>Conveyed Ideas:</a:t>
            </a:r>
          </a:p>
          <a:p>
            <a:r>
              <a:rPr lang="en-US"/>
              <a:t>	Rotational latency is wasted time that can be used to service tasks</a:t>
            </a:r>
          </a:p>
          <a:p>
            <a:r>
              <a:rPr lang="en-US"/>
              <a:t>Background Information:</a:t>
            </a:r>
          </a:p>
          <a:p>
            <a:r>
              <a:rPr lang="en-US"/>
              <a:t>	None.</a:t>
            </a:r>
          </a:p>
          <a:p>
            <a:r>
              <a:rPr lang="en-US"/>
              <a:t>Slide Background:</a:t>
            </a:r>
          </a:p>
          <a:p>
            <a:r>
              <a:rPr lang="en-US"/>
              <a:t>	None.</a:t>
            </a:r>
          </a:p>
          <a:p>
            <a:endParaRPr lang="en-US"/>
          </a:p>
          <a:p>
            <a:r>
              <a:rPr lang="en-US"/>
              <a:t>Kill text and arrows</a:t>
            </a:r>
          </a:p>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230313" y="711200"/>
            <a:ext cx="4833937" cy="3624263"/>
          </a:xfrm>
        </p:spPr>
      </p:sp>
      <p:sp>
        <p:nvSpPr>
          <p:cNvPr id="70659" name="Rectangle 3"/>
          <p:cNvSpPr>
            <a:spLocks noGrp="1" noChangeArrowheads="1"/>
          </p:cNvSpPr>
          <p:nvPr>
            <p:ph type="body" idx="1"/>
          </p:nvPr>
        </p:nvSpPr>
        <p:spPr>
          <a:xfrm>
            <a:off x="951202" y="4572145"/>
            <a:ext cx="5386817" cy="4331160"/>
          </a:xfrm>
          <a:noFill/>
          <a:ln/>
        </p:spPr>
        <p:txBody>
          <a:bodyPr lIns="94886" tIns="47442" rIns="94886" bIns="47442"/>
          <a:lstStyle/>
          <a:p>
            <a:r>
              <a:rPr lang="en-US"/>
              <a:t>Goal:</a:t>
            </a:r>
          </a:p>
          <a:p>
            <a:r>
              <a:rPr lang="en-US"/>
              <a:t>	Show the inefficeincy of current disk requests.</a:t>
            </a:r>
          </a:p>
          <a:p>
            <a:r>
              <a:rPr lang="en-US"/>
              <a:t>Conveyed Ideas:</a:t>
            </a:r>
          </a:p>
          <a:p>
            <a:r>
              <a:rPr lang="en-US"/>
              <a:t>	Rotational latency is wasted time that can be used to service tasks</a:t>
            </a:r>
          </a:p>
          <a:p>
            <a:r>
              <a:rPr lang="en-US"/>
              <a:t>Background Information:</a:t>
            </a:r>
          </a:p>
          <a:p>
            <a:r>
              <a:rPr lang="en-US"/>
              <a:t>	None.</a:t>
            </a:r>
          </a:p>
          <a:p>
            <a:r>
              <a:rPr lang="en-US"/>
              <a:t>Slide Background:</a:t>
            </a:r>
          </a:p>
          <a:p>
            <a:r>
              <a:rPr lang="en-US"/>
              <a:t>	None.</a:t>
            </a:r>
          </a:p>
          <a:p>
            <a:endParaRPr lang="en-US"/>
          </a:p>
          <a:p>
            <a:r>
              <a:rPr lang="en-US"/>
              <a:t>Kill text and arrows</a:t>
            </a:r>
          </a:p>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230313" y="711200"/>
            <a:ext cx="4833937" cy="3624263"/>
          </a:xfrm>
        </p:spPr>
      </p:sp>
      <p:sp>
        <p:nvSpPr>
          <p:cNvPr id="72707" name="Rectangle 3"/>
          <p:cNvSpPr>
            <a:spLocks noGrp="1" noChangeArrowheads="1"/>
          </p:cNvSpPr>
          <p:nvPr>
            <p:ph type="body" idx="1"/>
          </p:nvPr>
        </p:nvSpPr>
        <p:spPr>
          <a:xfrm>
            <a:off x="951202" y="4572145"/>
            <a:ext cx="5386817" cy="4331160"/>
          </a:xfrm>
          <a:noFill/>
          <a:ln/>
        </p:spPr>
        <p:txBody>
          <a:bodyPr lIns="94886" tIns="47442" rIns="94886" bIns="47442"/>
          <a:lstStyle/>
          <a:p>
            <a:r>
              <a:rPr lang="en-US"/>
              <a:t>Goal:</a:t>
            </a:r>
          </a:p>
          <a:p>
            <a:r>
              <a:rPr lang="en-US"/>
              <a:t>	Show the inefficeincy of current disk requests.</a:t>
            </a:r>
          </a:p>
          <a:p>
            <a:r>
              <a:rPr lang="en-US"/>
              <a:t>Conveyed Ideas:</a:t>
            </a:r>
          </a:p>
          <a:p>
            <a:r>
              <a:rPr lang="en-US"/>
              <a:t>	Rotational latency is wasted time that can be used to service tasks</a:t>
            </a:r>
          </a:p>
          <a:p>
            <a:r>
              <a:rPr lang="en-US"/>
              <a:t>Background Information:</a:t>
            </a:r>
          </a:p>
          <a:p>
            <a:r>
              <a:rPr lang="en-US"/>
              <a:t>	None.</a:t>
            </a:r>
          </a:p>
          <a:p>
            <a:r>
              <a:rPr lang="en-US"/>
              <a:t>Slide Background:</a:t>
            </a:r>
          </a:p>
          <a:p>
            <a:r>
              <a:rPr lang="en-US"/>
              <a:t>	None.</a:t>
            </a:r>
          </a:p>
          <a:p>
            <a:endParaRPr lang="en-US"/>
          </a:p>
          <a:p>
            <a:r>
              <a:rPr lang="en-US"/>
              <a:t>Kill text and arrows</a:t>
            </a:r>
          </a:p>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230313" y="711200"/>
            <a:ext cx="4833937" cy="3624263"/>
          </a:xfrm>
        </p:spPr>
      </p:sp>
      <p:sp>
        <p:nvSpPr>
          <p:cNvPr id="74755" name="Rectangle 3"/>
          <p:cNvSpPr>
            <a:spLocks noGrp="1" noChangeArrowheads="1"/>
          </p:cNvSpPr>
          <p:nvPr>
            <p:ph type="body" idx="1"/>
          </p:nvPr>
        </p:nvSpPr>
        <p:spPr>
          <a:xfrm>
            <a:off x="951202" y="4572145"/>
            <a:ext cx="5386817" cy="4331160"/>
          </a:xfrm>
          <a:noFill/>
          <a:ln/>
        </p:spPr>
        <p:txBody>
          <a:bodyPr lIns="94886" tIns="47442" rIns="94886" bIns="47442"/>
          <a:lstStyle/>
          <a:p>
            <a:r>
              <a:rPr lang="en-US"/>
              <a:t>Goal:</a:t>
            </a:r>
          </a:p>
          <a:p>
            <a:r>
              <a:rPr lang="en-US"/>
              <a:t>	Show the inefficeincy of current disk requests.</a:t>
            </a:r>
          </a:p>
          <a:p>
            <a:r>
              <a:rPr lang="en-US"/>
              <a:t>Conveyed Ideas:</a:t>
            </a:r>
          </a:p>
          <a:p>
            <a:r>
              <a:rPr lang="en-US"/>
              <a:t>	Rotational latency is wasted time that can be used to service tasks</a:t>
            </a:r>
          </a:p>
          <a:p>
            <a:r>
              <a:rPr lang="en-US"/>
              <a:t>Background Information:</a:t>
            </a:r>
          </a:p>
          <a:p>
            <a:r>
              <a:rPr lang="en-US"/>
              <a:t>	None.</a:t>
            </a:r>
          </a:p>
          <a:p>
            <a:r>
              <a:rPr lang="en-US"/>
              <a:t>Slide Background:</a:t>
            </a:r>
          </a:p>
          <a:p>
            <a:r>
              <a:rPr lang="en-US"/>
              <a:t>	None.</a:t>
            </a:r>
          </a:p>
          <a:p>
            <a:endParaRPr lang="en-US"/>
          </a:p>
          <a:p>
            <a:r>
              <a:rPr lang="en-US"/>
              <a:t>Kill text and arrows</a:t>
            </a:r>
          </a:p>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230313" y="711200"/>
            <a:ext cx="4833937" cy="3624263"/>
          </a:xfrm>
        </p:spPr>
      </p:sp>
      <p:sp>
        <p:nvSpPr>
          <p:cNvPr id="76803" name="Rectangle 3"/>
          <p:cNvSpPr>
            <a:spLocks noGrp="1" noChangeArrowheads="1"/>
          </p:cNvSpPr>
          <p:nvPr>
            <p:ph type="body" idx="1"/>
          </p:nvPr>
        </p:nvSpPr>
        <p:spPr>
          <a:xfrm>
            <a:off x="951202" y="4572145"/>
            <a:ext cx="5386817" cy="4331160"/>
          </a:xfrm>
          <a:noFill/>
          <a:ln/>
        </p:spPr>
        <p:txBody>
          <a:bodyPr lIns="94886" tIns="47442" rIns="94886" bIns="47442"/>
          <a:lstStyle/>
          <a:p>
            <a:r>
              <a:rPr lang="en-US"/>
              <a:t>Goal:</a:t>
            </a:r>
          </a:p>
          <a:p>
            <a:r>
              <a:rPr lang="en-US"/>
              <a:t>	Show the inefficeincy of current disk requests.</a:t>
            </a:r>
          </a:p>
          <a:p>
            <a:r>
              <a:rPr lang="en-US"/>
              <a:t>Conveyed Ideas:</a:t>
            </a:r>
          </a:p>
          <a:p>
            <a:r>
              <a:rPr lang="en-US"/>
              <a:t>	Rotational latency is wasted time that can be used to service tasks</a:t>
            </a:r>
          </a:p>
          <a:p>
            <a:r>
              <a:rPr lang="en-US"/>
              <a:t>Background Information:</a:t>
            </a:r>
          </a:p>
          <a:p>
            <a:r>
              <a:rPr lang="en-US"/>
              <a:t>	None.</a:t>
            </a:r>
          </a:p>
          <a:p>
            <a:r>
              <a:rPr lang="en-US"/>
              <a:t>Slide Background:</a:t>
            </a:r>
          </a:p>
          <a:p>
            <a:r>
              <a:rPr lang="en-US"/>
              <a:t>	None.</a:t>
            </a:r>
          </a:p>
          <a:p>
            <a:endParaRPr lang="en-US"/>
          </a:p>
          <a:p>
            <a:r>
              <a:rPr lang="en-US"/>
              <a:t>Kill text and arrows</a:t>
            </a:r>
          </a:p>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Rot="1" noChangeAspect="1" noChangeArrowheads="1" noTextEdit="1"/>
          </p:cNvSpPr>
          <p:nvPr>
            <p:ph type="sldImg"/>
          </p:nvPr>
        </p:nvSpPr>
        <p:spPr>
          <a:ln/>
        </p:spPr>
      </p:sp>
      <p:sp>
        <p:nvSpPr>
          <p:cNvPr id="174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spect="1" noChangeArrowheads="1" noTextEdit="1"/>
          </p:cNvSpPr>
          <p:nvPr>
            <p:ph type="sldImg"/>
          </p:nvPr>
        </p:nvSpPr>
        <p:spPr>
          <a:ln/>
        </p:spPr>
      </p:sp>
      <p:sp>
        <p:nvSpPr>
          <p:cNvPr id="1761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ln/>
        </p:spPr>
      </p:sp>
      <p:sp>
        <p:nvSpPr>
          <p:cNvPr id="1781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spect="1" noChangeArrowheads="1" noTextEdit="1"/>
          </p:cNvSpPr>
          <p:nvPr>
            <p:ph type="sldImg"/>
          </p:nvPr>
        </p:nvSpPr>
        <p:spPr>
          <a:ln/>
        </p:spPr>
      </p:sp>
      <p:sp>
        <p:nvSpPr>
          <p:cNvPr id="1792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ln/>
        </p:spPr>
      </p:sp>
      <p:sp>
        <p:nvSpPr>
          <p:cNvPr id="200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43</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44</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ln/>
        </p:spPr>
      </p:sp>
      <p:sp>
        <p:nvSpPr>
          <p:cNvPr id="184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ChangeArrowheads="1" noTextEdit="1"/>
          </p:cNvSpPr>
          <p:nvPr>
            <p:ph type="sldImg"/>
          </p:nvPr>
        </p:nvSpPr>
        <p:spPr>
          <a:ln/>
        </p:spPr>
      </p:sp>
      <p:sp>
        <p:nvSpPr>
          <p:cNvPr id="185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49</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Text Box 1"/>
          <p:cNvSpPr txBox="1">
            <a:spLocks noChangeArrowheads="1"/>
          </p:cNvSpPr>
          <p:nvPr/>
        </p:nvSpPr>
        <p:spPr bwMode="auto">
          <a:xfrm>
            <a:off x="1233987" y="726094"/>
            <a:ext cx="4835733" cy="3580528"/>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73731" name="Rectangle 2"/>
          <p:cNvSpPr txBox="1">
            <a:spLocks noGrp="1" noChangeArrowheads="1"/>
          </p:cNvSpPr>
          <p:nvPr>
            <p:ph type="body"/>
          </p:nvPr>
        </p:nvSpPr>
        <p:spPr>
          <a:xfrm>
            <a:off x="974391" y="4554201"/>
            <a:ext cx="5354925" cy="4314943"/>
          </a:xfrm>
          <a:noFill/>
          <a:ln/>
        </p:spPr>
        <p:txBody>
          <a:bodyPr wrap="none" lIns="95088" tIns="47544" rIns="95088" bIns="47544" anchor="ct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a:ln/>
        </p:spPr>
      </p:sp>
      <p:sp>
        <p:nvSpPr>
          <p:cNvPr id="189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52</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53</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54</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ln/>
        </p:spPr>
      </p:sp>
      <p:sp>
        <p:nvSpPr>
          <p:cNvPr id="192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spect="1" noChangeArrowheads="1" noTextEdit="1"/>
          </p:cNvSpPr>
          <p:nvPr>
            <p:ph type="sldImg"/>
          </p:nvPr>
        </p:nvSpPr>
        <p:spPr>
          <a:ln/>
        </p:spPr>
      </p:sp>
      <p:sp>
        <p:nvSpPr>
          <p:cNvPr id="194563"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8012"/>
            <a:ext cx="7772400" cy="1470025"/>
          </a:xfrm>
        </p:spPr>
        <p:txBody>
          <a:bodyPr/>
          <a:lstStyle>
            <a:lvl1pPr>
              <a:defRPr>
                <a:latin typeface="Calibri" pitchFamily="34" charset="0"/>
              </a:defRPr>
            </a:lvl1pPr>
          </a:lstStyle>
          <a:p>
            <a:r>
              <a:rPr lang="en-US" dirty="0"/>
              <a:t>Click to edit Master title style</a:t>
            </a:r>
          </a:p>
        </p:txBody>
      </p:sp>
      <p:sp>
        <p:nvSpPr>
          <p:cNvPr id="3" name="Subtitle 2"/>
          <p:cNvSpPr>
            <a:spLocks noGrp="1"/>
          </p:cNvSpPr>
          <p:nvPr>
            <p:ph type="subTitle" idx="1"/>
          </p:nvPr>
        </p:nvSpPr>
        <p:spPr>
          <a:xfrm>
            <a:off x="685800" y="3886200"/>
            <a:ext cx="7677492"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57762" y="445070"/>
            <a:ext cx="7591425" cy="762000"/>
          </a:xfrm>
        </p:spPr>
        <p:txBody>
          <a:bodyPr/>
          <a:lstStyle>
            <a:lvl1pPr>
              <a:defRPr>
                <a:latin typeface="Calibri" pitchFamily="34" charset="0"/>
              </a:defRPr>
            </a:lvl1pPr>
          </a:lstStyle>
          <a:p>
            <a:r>
              <a:rPr lang="en-US"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Calibri" pitchFamily="34"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Calibri" pitchFamily="34"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8013" y="228600"/>
            <a:ext cx="2185987" cy="6105525"/>
          </a:xfrm>
        </p:spPr>
        <p:txBody>
          <a:bodyPr vert="eaVert"/>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396875" y="228600"/>
            <a:ext cx="6408738"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4662488" y="1362075"/>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3"/>
          </p:nvPr>
        </p:nvSpPr>
        <p:spPr>
          <a:xfrm>
            <a:off x="4662488" y="3924300"/>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74090" y="371182"/>
            <a:ext cx="75914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8195" name="Rectangle 3"/>
          <p:cNvSpPr>
            <a:spLocks noGrp="1" noChangeArrowheads="1"/>
          </p:cNvSpPr>
          <p:nvPr>
            <p:ph type="body" idx="1"/>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2" name="Rectangle 8"/>
          <p:cNvSpPr>
            <a:spLocks noChangeArrowheads="1"/>
          </p:cNvSpPr>
          <p:nvPr/>
        </p:nvSpPr>
        <p:spPr bwMode="auto">
          <a:xfrm>
            <a:off x="0" y="0"/>
            <a:ext cx="9144000" cy="228600"/>
          </a:xfrm>
          <a:prstGeom prst="rect">
            <a:avLst/>
          </a:prstGeom>
          <a:solidFill>
            <a:srgbClr val="990000"/>
          </a:solidFill>
          <a:ln w="9525">
            <a:noFill/>
            <a:miter lim="800000"/>
            <a:headEnd/>
            <a:tailEnd/>
          </a:ln>
          <a:effectLst/>
        </p:spPr>
        <p:txBody>
          <a:bodyPr wrap="none" anchor="ctr"/>
          <a:lstStyle/>
          <a:p>
            <a:pPr algn="ctr">
              <a:defRPr/>
            </a:pPr>
            <a:endParaRPr lang="en-US" b="0">
              <a:latin typeface="Times New Roman" pitchFamily="18" charset="0"/>
            </a:endParaRPr>
          </a:p>
        </p:txBody>
      </p:sp>
      <p:sp>
        <p:nvSpPr>
          <p:cNvPr id="7" name="Text Box 5"/>
          <p:cNvSpPr txBox="1">
            <a:spLocks noChangeArrowheads="1"/>
          </p:cNvSpPr>
          <p:nvPr/>
        </p:nvSpPr>
        <p:spPr bwMode="auto">
          <a:xfrm>
            <a:off x="7897813" y="-26988"/>
            <a:ext cx="1309687" cy="277813"/>
          </a:xfrm>
          <a:prstGeom prst="rect">
            <a:avLst/>
          </a:prstGeom>
          <a:noFill/>
          <a:ln w="25400">
            <a:noFill/>
            <a:miter lim="800000"/>
            <a:headEnd/>
            <a:tailEnd/>
          </a:ln>
          <a:effectLst/>
        </p:spPr>
        <p:txBody>
          <a:bodyPr>
            <a:spAutoFit/>
          </a:bodyPr>
          <a:lstStyle/>
          <a:p>
            <a:pPr>
              <a:defRPr/>
            </a:pPr>
            <a:r>
              <a:rPr lang="en-US" sz="1200" dirty="0">
                <a:solidFill>
                  <a:schemeClr val="bg1"/>
                </a:solidFill>
                <a:latin typeface="Times New Roman" pitchFamily="18" charset="0"/>
              </a:rPr>
              <a:t>Carnegie Mellon</a:t>
            </a:r>
          </a:p>
        </p:txBody>
      </p:sp>
      <p:sp>
        <p:nvSpPr>
          <p:cNvPr id="6" name="Rectangle 5"/>
          <p:cNvSpPr/>
          <p:nvPr userDrawn="1"/>
        </p:nvSpPr>
        <p:spPr>
          <a:xfrm>
            <a:off x="8830843" y="6611779"/>
            <a:ext cx="313157"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Arial Narrow" pitchFamily="-96" charset="0"/>
                <a:ea typeface="ＭＳ Ｐゴシック" pitchFamily="-96" charset="-128"/>
                <a:cs typeface="ＭＳ Ｐゴシック" pitchFamily="-96" charset="-128"/>
              </a:rPr>
              <a:pPr/>
              <a:t>‹#›</a:t>
            </a:fld>
            <a:endParaRPr lang="en-US" sz="1000" dirty="0"/>
          </a:p>
        </p:txBody>
      </p:sp>
      <p:sp>
        <p:nvSpPr>
          <p:cNvPr id="9" name="TextBox 8"/>
          <p:cNvSpPr txBox="1"/>
          <p:nvPr userDrawn="1"/>
        </p:nvSpPr>
        <p:spPr>
          <a:xfrm>
            <a:off x="-16031" y="6629400"/>
            <a:ext cx="4649342" cy="246221"/>
          </a:xfrm>
          <a:prstGeom prst="rect">
            <a:avLst/>
          </a:prstGeom>
          <a:noFill/>
        </p:spPr>
        <p:txBody>
          <a:bodyPr wrap="none" rtlCol="0">
            <a:spAutoFit/>
          </a:bodyPr>
          <a:lstStyle/>
          <a:p>
            <a:r>
              <a:rPr lang="en-US" sz="1000" b="0" i="0" dirty="0">
                <a:latin typeface="Calibri" pitchFamily="34" charset="0"/>
              </a:rPr>
              <a:t>Bryant</a:t>
            </a:r>
            <a:r>
              <a:rPr lang="en-US" sz="1000" b="0" i="0" baseline="0" dirty="0">
                <a:latin typeface="Calibri" pitchFamily="34" charset="0"/>
              </a:rPr>
              <a:t> and </a:t>
            </a:r>
            <a:r>
              <a:rPr lang="en-US" sz="1000" b="0" i="0" baseline="0" dirty="0" err="1">
                <a:latin typeface="Calibri" pitchFamily="34" charset="0"/>
              </a:rPr>
              <a:t>O’Hallaron</a:t>
            </a:r>
            <a:r>
              <a:rPr lang="en-US" sz="1000" b="0" i="0" baseline="0" dirty="0">
                <a:latin typeface="Calibri" pitchFamily="34" charset="0"/>
              </a:rPr>
              <a:t>, Computer Systems: A Programmer’s Perspective, Third Edition</a:t>
            </a:r>
            <a:endParaRPr lang="en-US" sz="1000" b="0" i="0" dirty="0">
              <a:latin typeface="Calibri"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0" r:id="rId2"/>
    <p:sldLayoutId id="2147483659" r:id="rId3"/>
    <p:sldLayoutId id="2147483658" r:id="rId4"/>
    <p:sldLayoutId id="2147483657" r:id="rId5"/>
    <p:sldLayoutId id="2147483656" r:id="rId6"/>
    <p:sldLayoutId id="2147483655" r:id="rId7"/>
    <p:sldLayoutId id="2147483654" r:id="rId8"/>
    <p:sldLayoutId id="2147483653" r:id="rId9"/>
    <p:sldLayoutId id="2147483652" r:id="rId10"/>
    <p:sldLayoutId id="2147483651" r:id="rId11"/>
    <p:sldLayoutId id="2147483650" r:id="rId12"/>
    <p:sldLayoutId id="2147483649" r:id="rId13"/>
  </p:sldLayoutIdLst>
  <p:txStyles>
    <p:titleStyle>
      <a:lvl1pPr marL="119063" indent="-119063" algn="l" rtl="0" eaLnBrk="1" fontAlgn="base" hangingPunct="1">
        <a:spcBef>
          <a:spcPct val="0"/>
        </a:spcBef>
        <a:spcAft>
          <a:spcPct val="0"/>
        </a:spcAft>
        <a:defRPr sz="3600" b="1">
          <a:solidFill>
            <a:schemeClr val="tx1"/>
          </a:solidFill>
          <a:latin typeface="Calibri" pitchFamily="34" charset="0"/>
          <a:ea typeface="+mj-ea"/>
          <a:cs typeface="+mj-cs"/>
        </a:defRPr>
      </a:lvl1pPr>
      <a:lvl2pPr marL="119063" indent="-119063" algn="l" rtl="0" eaLnBrk="1" fontAlgn="base" hangingPunct="1">
        <a:spcBef>
          <a:spcPct val="0"/>
        </a:spcBef>
        <a:spcAft>
          <a:spcPct val="0"/>
        </a:spcAft>
        <a:defRPr sz="3600" b="1">
          <a:solidFill>
            <a:schemeClr val="tx1"/>
          </a:solidFill>
          <a:latin typeface="Arial Narrow" pitchFamily="34" charset="0"/>
        </a:defRPr>
      </a:lvl2pPr>
      <a:lvl3pPr marL="119063" indent="-119063" algn="l" rtl="0" eaLnBrk="1" fontAlgn="base" hangingPunct="1">
        <a:spcBef>
          <a:spcPct val="0"/>
        </a:spcBef>
        <a:spcAft>
          <a:spcPct val="0"/>
        </a:spcAft>
        <a:defRPr sz="3600" b="1">
          <a:solidFill>
            <a:schemeClr val="tx1"/>
          </a:solidFill>
          <a:latin typeface="Arial Narrow" pitchFamily="34" charset="0"/>
        </a:defRPr>
      </a:lvl3pPr>
      <a:lvl4pPr marL="119063" indent="-119063" algn="l" rtl="0" eaLnBrk="1" fontAlgn="base" hangingPunct="1">
        <a:spcBef>
          <a:spcPct val="0"/>
        </a:spcBef>
        <a:spcAft>
          <a:spcPct val="0"/>
        </a:spcAft>
        <a:defRPr sz="3600" b="1">
          <a:solidFill>
            <a:schemeClr val="tx1"/>
          </a:solidFill>
          <a:latin typeface="Arial Narrow" pitchFamily="34" charset="0"/>
        </a:defRPr>
      </a:lvl4pPr>
      <a:lvl5pPr marL="119063" indent="-119063" algn="l" rtl="0" eaLnBrk="1" fontAlgn="base" hangingPunct="1">
        <a:spcBef>
          <a:spcPct val="0"/>
        </a:spcBef>
        <a:spcAft>
          <a:spcPct val="0"/>
        </a:spcAft>
        <a:defRPr sz="3600" b="1">
          <a:solidFill>
            <a:schemeClr val="tx1"/>
          </a:solidFill>
          <a:latin typeface="Arial Narrow" pitchFamily="34" charset="0"/>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body" idx="1"/>
          </p:nvPr>
        </p:nvSpPr>
        <p:spPr bwMode="auto">
          <a:xfrm>
            <a:off x="290513" y="1220788"/>
            <a:ext cx="8305800" cy="5222875"/>
          </a:xfrm>
          <a:prstGeom prst="rect">
            <a:avLst/>
          </a:prstGeom>
          <a:noFill/>
          <a:ln w="9525">
            <a:noFill/>
            <a:round/>
            <a:headEnd/>
            <a:tailEnd/>
          </a:ln>
          <a:effectLst/>
        </p:spPr>
        <p:txBody>
          <a:bodyPr vert="horz" wrap="square" lIns="90360" tIns="44280" rIns="90360" bIns="4428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a:p>
            <a:pPr lvl="4"/>
            <a:r>
              <a:rPr lang="en-GB"/>
              <a:t>Eighth Outline Level</a:t>
            </a:r>
          </a:p>
          <a:p>
            <a:pPr lvl="4"/>
            <a:r>
              <a:rPr lang="en-GB"/>
              <a:t>Ninth Outline Level</a:t>
            </a:r>
          </a:p>
        </p:txBody>
      </p:sp>
      <p:sp>
        <p:nvSpPr>
          <p:cNvPr id="1027" name="Rectangle 2"/>
          <p:cNvSpPr>
            <a:spLocks noGrp="1" noChangeArrowheads="1"/>
          </p:cNvSpPr>
          <p:nvPr>
            <p:ph type="title"/>
          </p:nvPr>
        </p:nvSpPr>
        <p:spPr bwMode="auto">
          <a:xfrm>
            <a:off x="404813" y="247650"/>
            <a:ext cx="8715375" cy="781050"/>
          </a:xfrm>
          <a:prstGeom prst="rect">
            <a:avLst/>
          </a:prstGeom>
          <a:noFill/>
          <a:ln w="9525">
            <a:noFill/>
            <a:round/>
            <a:headEnd/>
            <a:tailEnd/>
          </a:ln>
        </p:spPr>
        <p:txBody>
          <a:bodyPr vert="horz" wrap="square" lIns="0" tIns="0" rIns="0" bIns="0" numCol="1" anchor="ctr" anchorCtr="0" compatLnSpc="1">
            <a:prstTxWarp prst="textNoShape">
              <a:avLst/>
            </a:prstTxWarp>
          </a:bodyPr>
          <a:lstStyle/>
          <a:p>
            <a:pPr lvl="0"/>
            <a:r>
              <a:rPr lang="en-GB"/>
              <a:t>Click to edit the title text format</a:t>
            </a:r>
          </a:p>
        </p:txBody>
      </p:sp>
      <p:sp>
        <p:nvSpPr>
          <p:cNvPr id="2" name="Text Box 3"/>
          <p:cNvSpPr txBox="1">
            <a:spLocks noChangeArrowheads="1"/>
          </p:cNvSpPr>
          <p:nvPr/>
        </p:nvSpPr>
        <p:spPr bwMode="auto">
          <a:xfrm>
            <a:off x="442913" y="6345238"/>
            <a:ext cx="447675" cy="395287"/>
          </a:xfrm>
          <a:prstGeom prst="rect">
            <a:avLst/>
          </a:prstGeom>
          <a:noFill/>
          <a:ln w="9525">
            <a:noFill/>
            <a:round/>
            <a:headEnd/>
            <a:tailEnd/>
          </a:ln>
          <a:effectLst/>
        </p:spPr>
        <p:txBody>
          <a:bodyPr wrap="none" lIns="45720" rIns="45720" anchor="ctr">
            <a:prstTxWarp prst="textNoShape">
              <a:avLst/>
            </a:prstTxWarp>
            <a:spAutoFit/>
          </a:bodyPr>
          <a:lstStyle/>
          <a:p>
            <a:pPr algn="ctr" defTabSz="457200">
              <a:lnSpc>
                <a:spcPct val="83000"/>
              </a:lnSpc>
              <a:buClr>
                <a:srgbClr val="000066"/>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BBC07E77-5360-6D43-8AEB-E24B08212AFE}" type="slidenum">
              <a:rPr lang="en-GB" b="0">
                <a:solidFill>
                  <a:srgbClr val="000066"/>
                </a:solidFill>
                <a:latin typeface="Times New Roman" charset="0"/>
              </a:rPr>
              <a:pPr algn="ctr" defTabSz="457200">
                <a:lnSpc>
                  <a:spcPct val="83000"/>
                </a:lnSpc>
                <a:buClr>
                  <a:srgbClr val="000066"/>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a:t>
            </a:fld>
            <a:endParaRPr lang="en-GB" b="0">
              <a:solidFill>
                <a:srgbClr val="000066"/>
              </a:solidFill>
              <a:latin typeface="Times New Roman" charset="0"/>
            </a:endParaRPr>
          </a:p>
        </p:txBody>
      </p:sp>
      <p:sp>
        <p:nvSpPr>
          <p:cNvPr id="1028" name="Rectangle 4"/>
          <p:cNvSpPr>
            <a:spLocks noChangeArrowheads="1"/>
          </p:cNvSpPr>
          <p:nvPr/>
        </p:nvSpPr>
        <p:spPr bwMode="auto">
          <a:xfrm>
            <a:off x="7561263" y="6392863"/>
            <a:ext cx="1085850" cy="279400"/>
          </a:xfrm>
          <a:prstGeom prst="rect">
            <a:avLst/>
          </a:prstGeom>
          <a:noFill/>
          <a:ln w="9525">
            <a:noFill/>
            <a:round/>
            <a:headEnd/>
            <a:tailEnd/>
          </a:ln>
          <a:effectLst/>
        </p:spPr>
        <p:txBody>
          <a:bodyPr wrap="none" lIns="45720" rIns="45720" anchor="ctr">
            <a:prstTxWarp prst="textNoShape">
              <a:avLst/>
            </a:prstTxWarp>
            <a:spAutoFit/>
          </a:bodyPr>
          <a:lstStyle/>
          <a:p>
            <a:pPr algn="ctr" defTabSz="457200">
              <a:lnSpc>
                <a:spcPct val="88000"/>
              </a:lnSpc>
              <a:buClr>
                <a:srgbClr val="000066"/>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400" b="0">
                <a:solidFill>
                  <a:srgbClr val="660033"/>
                </a:solidFill>
                <a:latin typeface="Helvetica" charset="0"/>
              </a:rPr>
              <a:t>15-213, F’08</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mj-lt"/>
          <a:ea typeface="ＭＳ Ｐゴシック" charset="-128"/>
          <a:cs typeface="ＭＳ Ｐゴシック" charset="-128"/>
        </a:defRPr>
      </a:lvl1pPr>
      <a:lvl2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2pPr>
      <a:lvl3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3pPr>
      <a:lvl4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4pPr>
      <a:lvl5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5pPr>
      <a:lvl6pPr marL="15367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6pPr>
      <a:lvl7pPr marL="19939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7pPr>
      <a:lvl8pPr marL="24511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8pPr>
      <a:lvl9pPr marL="29083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9pPr>
    </p:titleStyle>
    <p:bodyStyle>
      <a:lvl1pPr marL="384175" indent="-384175" algn="l" defTabSz="457200" rtl="0" eaLnBrk="0" fontAlgn="base" hangingPunct="0">
        <a:lnSpc>
          <a:spcPct val="93000"/>
        </a:lnSpc>
        <a:spcBef>
          <a:spcPts val="1500"/>
        </a:spcBef>
        <a:spcAft>
          <a:spcPct val="0"/>
        </a:spcAft>
        <a:buClr>
          <a:srgbClr val="660033"/>
        </a:buClr>
        <a:buSzPct val="45000"/>
        <a:buFont typeface="Wingdings" charset="2"/>
        <a:buChar char=""/>
        <a:defRPr sz="2400" b="1">
          <a:solidFill>
            <a:srgbClr val="003300"/>
          </a:solidFill>
          <a:effectLst>
            <a:outerShdw blurRad="38100" dist="38100" dir="2700000" algn="tl">
              <a:srgbClr val="DDDDDD"/>
            </a:outerShdw>
          </a:effectLst>
          <a:latin typeface="+mn-lt"/>
          <a:ea typeface="ＭＳ Ｐゴシック" charset="-128"/>
          <a:cs typeface="ＭＳ Ｐゴシック" charset="-128"/>
        </a:defRPr>
      </a:lvl1pPr>
      <a:lvl2pPr marL="742950" indent="-246063" algn="l" defTabSz="457200" rtl="0" eaLnBrk="0" fontAlgn="base" hangingPunct="0">
        <a:lnSpc>
          <a:spcPct val="98000"/>
        </a:lnSpc>
        <a:spcBef>
          <a:spcPts val="625"/>
        </a:spcBef>
        <a:spcAft>
          <a:spcPct val="0"/>
        </a:spcAft>
        <a:buClr>
          <a:srgbClr val="660033"/>
        </a:buClr>
        <a:buSzPct val="45000"/>
        <a:buFont typeface="Wingdings" charset="2"/>
        <a:buChar char=""/>
        <a:defRPr sz="2000" b="1">
          <a:solidFill>
            <a:srgbClr val="000066"/>
          </a:solidFill>
          <a:latin typeface="+mn-lt"/>
          <a:ea typeface="ＭＳ Ｐゴシック" charset="-128"/>
        </a:defRPr>
      </a:lvl2pPr>
      <a:lvl3pPr marL="1144588" indent="-236538" algn="l" defTabSz="457200" rtl="0" eaLnBrk="0" fontAlgn="base" hangingPunct="0">
        <a:lnSpc>
          <a:spcPct val="104000"/>
        </a:lnSpc>
        <a:spcBef>
          <a:spcPts val="225"/>
        </a:spcBef>
        <a:spcAft>
          <a:spcPct val="0"/>
        </a:spcAft>
        <a:buClr>
          <a:srgbClr val="005400"/>
        </a:buClr>
        <a:buSzPct val="45000"/>
        <a:buFont typeface="Wingdings" charset="2"/>
        <a:buChar char=""/>
        <a:defRPr b="1">
          <a:solidFill>
            <a:srgbClr val="000099"/>
          </a:solidFill>
          <a:latin typeface="+mn-lt"/>
          <a:ea typeface="ＭＳ Ｐゴシック" charset="-128"/>
        </a:defRPr>
      </a:lvl3pPr>
      <a:lvl4pPr marL="1600200" indent="-228600" algn="l" defTabSz="457200" rtl="0" eaLnBrk="0" fontAlgn="base" hangingPunct="0">
        <a:lnSpc>
          <a:spcPct val="98000"/>
        </a:lnSpc>
        <a:spcBef>
          <a:spcPts val="450"/>
        </a:spcBef>
        <a:spcAft>
          <a:spcPct val="0"/>
        </a:spcAft>
        <a:buClr>
          <a:srgbClr val="000066"/>
        </a:buClr>
        <a:buSzPct val="45000"/>
        <a:buFont typeface="Wingdings" charset="2"/>
        <a:buChar char=""/>
        <a:defRPr b="1">
          <a:solidFill>
            <a:srgbClr val="000066"/>
          </a:solidFill>
          <a:latin typeface="+mn-lt"/>
          <a:ea typeface="ＭＳ Ｐゴシック" charset="-128"/>
        </a:defRPr>
      </a:lvl4pPr>
      <a:lvl5pPr marL="2449513" indent="-228600" algn="l" defTabSz="457200" rtl="0" eaLnBrk="0" fontAlgn="base" hangingPunct="0">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5pPr>
      <a:lvl6pPr marL="29067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6pPr>
      <a:lvl7pPr marL="33639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7pPr>
      <a:lvl8pPr marL="38211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8pPr>
      <a:lvl9pPr marL="42783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Title 1"/>
          <p:cNvSpPr>
            <a:spLocks noGrp="1"/>
          </p:cNvSpPr>
          <p:nvPr>
            <p:ph type="ctrTitle"/>
          </p:nvPr>
        </p:nvSpPr>
        <p:spPr>
          <a:xfrm>
            <a:off x="685800" y="1631950"/>
            <a:ext cx="7772400" cy="1644650"/>
          </a:xfrm>
        </p:spPr>
        <p:txBody>
          <a:bodyPr/>
          <a:lstStyle/>
          <a:p>
            <a:pPr marL="0" indent="0"/>
            <a:r>
              <a:rPr lang="en-US" dirty="0"/>
              <a:t>The Memory Hierarchy</a:t>
            </a:r>
            <a:br>
              <a:rPr lang="en-US" dirty="0"/>
            </a:br>
            <a:br>
              <a:rPr lang="en-US" dirty="0"/>
            </a:br>
            <a:r>
              <a:rPr lang="en-US" sz="2000" b="0" dirty="0"/>
              <a:t>Introduction to Computer Systems</a:t>
            </a:r>
            <a:br>
              <a:rPr lang="en-US" b="0" dirty="0"/>
            </a:br>
            <a:r>
              <a:rPr lang="en-US" sz="2000" b="0" dirty="0"/>
              <a:t>6</a:t>
            </a:r>
            <a:r>
              <a:rPr lang="en-US" sz="2000" b="0" baseline="30000" dirty="0"/>
              <a:t>th</a:t>
            </a:r>
            <a:r>
              <a:rPr lang="en-US" sz="2000" b="0" dirty="0"/>
              <a:t> Lecture, Oct. 27, 2025</a:t>
            </a:r>
          </a:p>
        </p:txBody>
      </p:sp>
      <p:sp>
        <p:nvSpPr>
          <p:cNvPr id="5" name="Rectangle 4">
            <a:extLst>
              <a:ext uri="{FF2B5EF4-FFF2-40B4-BE49-F238E27FC236}">
                <a16:creationId xmlns:a16="http://schemas.microsoft.com/office/drawing/2014/main" id="{0BA2C551-0D94-202A-7C6C-A491E79F4147}"/>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6" name="Rectangle 5">
            <a:extLst>
              <a:ext uri="{FF2B5EF4-FFF2-40B4-BE49-F238E27FC236}">
                <a16:creationId xmlns:a16="http://schemas.microsoft.com/office/drawing/2014/main" id="{0D414ABB-DDB6-7696-CB23-834B7A1014ED}"/>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overrideClrMapping bg1="lt1" tx1="dk1" bg2="lt2" tx2="dk2" accent1="accent1" accent2="accent2" accent3="accent3" accent4="accent4" accent5="accent5" accent6="accent6" hlink="hlink" folHlink="folHlink"/>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a:lnSpc>
                <a:spcPct val="80000"/>
              </a:lnSpc>
            </a:pPr>
            <a:r>
              <a:rPr lang="en-US" dirty="0"/>
              <a:t>Storage technologies and trends</a:t>
            </a:r>
          </a:p>
          <a:p>
            <a:pPr>
              <a:lnSpc>
                <a:spcPct val="80000"/>
              </a:lnSpc>
            </a:pPr>
            <a:r>
              <a:rPr lang="en-US" dirty="0">
                <a:solidFill>
                  <a:schemeClr val="bg2">
                    <a:lumMod val="60000"/>
                    <a:lumOff val="40000"/>
                  </a:schemeClr>
                </a:solidFill>
              </a:rPr>
              <a:t>Locality of reference</a:t>
            </a:r>
          </a:p>
          <a:p>
            <a:pPr>
              <a:lnSpc>
                <a:spcPct val="80000"/>
              </a:lnSpc>
            </a:pPr>
            <a:r>
              <a:rPr lang="en-US" dirty="0">
                <a:solidFill>
                  <a:schemeClr val="bg2">
                    <a:lumMod val="60000"/>
                    <a:lumOff val="40000"/>
                  </a:schemeClr>
                </a:solidFill>
              </a:rPr>
              <a:t>Caching in the memory hierarchy</a:t>
            </a: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
        <p:nvSpPr>
          <p:cNvPr id="5" name="Rectangle 4">
            <a:extLst>
              <a:ext uri="{FF2B5EF4-FFF2-40B4-BE49-F238E27FC236}">
                <a16:creationId xmlns:a16="http://schemas.microsoft.com/office/drawing/2014/main" id="{112CF255-CC75-2B0B-E5C1-7541AEEF50C0}"/>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7" name="Rectangle 6">
            <a:extLst>
              <a:ext uri="{FF2B5EF4-FFF2-40B4-BE49-F238E27FC236}">
                <a16:creationId xmlns:a16="http://schemas.microsoft.com/office/drawing/2014/main" id="{4B066157-F60E-EF2A-933A-464BFB22CE66}"/>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Rectangle 1028"/>
          <p:cNvSpPr>
            <a:spLocks noGrp="1" noChangeArrowheads="1"/>
          </p:cNvSpPr>
          <p:nvPr>
            <p:ph type="title"/>
          </p:nvPr>
        </p:nvSpPr>
        <p:spPr/>
        <p:txBody>
          <a:bodyPr/>
          <a:lstStyle/>
          <a:p>
            <a:r>
              <a:rPr lang="en-US"/>
              <a:t>Random-Access Memory (RAM)</a:t>
            </a:r>
          </a:p>
        </p:txBody>
      </p:sp>
      <p:sp>
        <p:nvSpPr>
          <p:cNvPr id="119813" name="Rectangle 1029"/>
          <p:cNvSpPr>
            <a:spLocks noGrp="1" noChangeArrowheads="1"/>
          </p:cNvSpPr>
          <p:nvPr>
            <p:ph type="body" idx="1"/>
          </p:nvPr>
        </p:nvSpPr>
        <p:spPr>
          <a:xfrm>
            <a:off x="396875" y="1362075"/>
            <a:ext cx="8442325" cy="4972050"/>
          </a:xfrm>
        </p:spPr>
        <p:txBody>
          <a:bodyPr/>
          <a:lstStyle/>
          <a:p>
            <a:r>
              <a:rPr lang="en-US" dirty="0"/>
              <a:t>Key features</a:t>
            </a:r>
          </a:p>
          <a:p>
            <a:pPr lvl="1"/>
            <a:r>
              <a:rPr lang="en-US" dirty="0">
                <a:solidFill>
                  <a:srgbClr val="FF0000"/>
                </a:solidFill>
              </a:rPr>
              <a:t>RAM</a:t>
            </a:r>
            <a:r>
              <a:rPr lang="en-US" dirty="0"/>
              <a:t> is traditionally packaged as a chip.</a:t>
            </a:r>
          </a:p>
          <a:p>
            <a:pPr lvl="1"/>
            <a:r>
              <a:rPr lang="en-US" dirty="0"/>
              <a:t>Basic storage unit is normally a </a:t>
            </a:r>
            <a:r>
              <a:rPr lang="en-US" dirty="0">
                <a:solidFill>
                  <a:srgbClr val="FF0000"/>
                </a:solidFill>
              </a:rPr>
              <a:t>cell</a:t>
            </a:r>
            <a:r>
              <a:rPr lang="en-US" dirty="0"/>
              <a:t> (one bit per cell).</a:t>
            </a:r>
          </a:p>
          <a:p>
            <a:pPr lvl="1"/>
            <a:r>
              <a:rPr lang="en-US" dirty="0"/>
              <a:t>Multiple RAM chips form a memory.</a:t>
            </a:r>
          </a:p>
          <a:p>
            <a:endParaRPr lang="en-US" dirty="0"/>
          </a:p>
          <a:p>
            <a:r>
              <a:rPr lang="en-US" dirty="0"/>
              <a:t>RAM comes in two varieties:</a:t>
            </a:r>
          </a:p>
          <a:p>
            <a:pPr lvl="1"/>
            <a:r>
              <a:rPr lang="en-US" dirty="0"/>
              <a:t>SRAM (Static RAM)</a:t>
            </a:r>
          </a:p>
          <a:p>
            <a:pPr lvl="1"/>
            <a:r>
              <a:rPr lang="en-US" dirty="0"/>
              <a:t>DRAM (Dynamic RAM)</a:t>
            </a:r>
          </a:p>
        </p:txBody>
      </p:sp>
      <p:sp>
        <p:nvSpPr>
          <p:cNvPr id="2" name="Rectangle 1">
            <a:extLst>
              <a:ext uri="{FF2B5EF4-FFF2-40B4-BE49-F238E27FC236}">
                <a16:creationId xmlns:a16="http://schemas.microsoft.com/office/drawing/2014/main" id="{88FD7652-7678-35B8-6970-B78652EDBF84}"/>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E3AED61D-34BE-1345-D56B-981A233A4EB0}"/>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8" name="Rectangle 1030"/>
          <p:cNvSpPr>
            <a:spLocks noGrp="1" noChangeArrowheads="1"/>
          </p:cNvSpPr>
          <p:nvPr>
            <p:ph type="title"/>
          </p:nvPr>
        </p:nvSpPr>
        <p:spPr/>
        <p:txBody>
          <a:bodyPr/>
          <a:lstStyle/>
          <a:p>
            <a:r>
              <a:rPr lang="en-US" dirty="0"/>
              <a:t>SRAM </a:t>
            </a:r>
            <a:r>
              <a:rPr lang="en-US" dirty="0" err="1"/>
              <a:t>vs</a:t>
            </a:r>
            <a:r>
              <a:rPr lang="en-US" dirty="0"/>
              <a:t> DRAM Summary</a:t>
            </a:r>
          </a:p>
        </p:txBody>
      </p:sp>
      <p:sp>
        <p:nvSpPr>
          <p:cNvPr id="120836" name="Text Box 1028"/>
          <p:cNvSpPr txBox="1">
            <a:spLocks noChangeArrowheads="1"/>
          </p:cNvSpPr>
          <p:nvPr/>
        </p:nvSpPr>
        <p:spPr bwMode="auto">
          <a:xfrm>
            <a:off x="381000" y="2362200"/>
            <a:ext cx="8610600" cy="2246769"/>
          </a:xfrm>
          <a:prstGeom prst="rect">
            <a:avLst/>
          </a:prstGeom>
          <a:noFill/>
          <a:ln w="25400">
            <a:solidFill>
              <a:schemeClr val="tx1"/>
            </a:solidFill>
            <a:miter lim="800000"/>
            <a:headEnd/>
            <a:tailEnd/>
          </a:ln>
          <a:effectLst/>
        </p:spPr>
        <p:txBody>
          <a:bodyPr wrap="square">
            <a:prstTxWarp prst="textNoShape">
              <a:avLst/>
            </a:prstTxWarp>
            <a:spAutoFit/>
          </a:bodyPr>
          <a:lstStyle/>
          <a:p>
            <a:pPr algn="l">
              <a:lnSpc>
                <a:spcPct val="100000"/>
              </a:lnSpc>
            </a:pPr>
            <a:r>
              <a:rPr lang="en-US" sz="2000" b="0" dirty="0"/>
              <a:t>	</a:t>
            </a:r>
            <a:r>
              <a:rPr lang="en-US" sz="2000" dirty="0"/>
              <a:t>Trans.	Access	Needs	Needs		</a:t>
            </a:r>
          </a:p>
          <a:p>
            <a:pPr algn="l">
              <a:lnSpc>
                <a:spcPct val="100000"/>
              </a:lnSpc>
            </a:pPr>
            <a:r>
              <a:rPr lang="en-US" sz="2000" dirty="0"/>
              <a:t>	per bit	 time	refresh?	EDC?	Cost	Applications</a:t>
            </a:r>
          </a:p>
          <a:p>
            <a:pPr algn="l">
              <a:lnSpc>
                <a:spcPct val="100000"/>
              </a:lnSpc>
            </a:pPr>
            <a:endParaRPr lang="en-US" sz="2000" b="0" dirty="0"/>
          </a:p>
          <a:p>
            <a:pPr algn="l">
              <a:lnSpc>
                <a:spcPct val="100000"/>
              </a:lnSpc>
            </a:pPr>
            <a:r>
              <a:rPr lang="en-US" sz="2000" b="0" dirty="0"/>
              <a:t>SRAM	4 or 6	1X	No	Maybe	100x	Cache memories</a:t>
            </a:r>
          </a:p>
          <a:p>
            <a:pPr algn="l">
              <a:lnSpc>
                <a:spcPct val="100000"/>
              </a:lnSpc>
            </a:pPr>
            <a:endParaRPr lang="en-US" sz="2000" b="0" dirty="0"/>
          </a:p>
          <a:p>
            <a:pPr algn="l">
              <a:lnSpc>
                <a:spcPct val="100000"/>
              </a:lnSpc>
            </a:pPr>
            <a:r>
              <a:rPr lang="en-US" sz="2000" b="0" dirty="0"/>
              <a:t>DRAM	1	10X	Yes	Yes	1X	Main memories,</a:t>
            </a:r>
          </a:p>
          <a:p>
            <a:pPr algn="l">
              <a:lnSpc>
                <a:spcPct val="100000"/>
              </a:lnSpc>
            </a:pPr>
            <a:r>
              <a:rPr lang="en-US" sz="2000" b="0" dirty="0"/>
              <a:t>						frame buffers</a:t>
            </a:r>
          </a:p>
        </p:txBody>
      </p:sp>
      <p:sp>
        <p:nvSpPr>
          <p:cNvPr id="120837" name="Line 1029"/>
          <p:cNvSpPr>
            <a:spLocks noChangeShapeType="1"/>
          </p:cNvSpPr>
          <p:nvPr/>
        </p:nvSpPr>
        <p:spPr bwMode="auto">
          <a:xfrm>
            <a:off x="381000" y="3124200"/>
            <a:ext cx="8610600" cy="0"/>
          </a:xfrm>
          <a:prstGeom prst="line">
            <a:avLst/>
          </a:prstGeom>
          <a:noFill/>
          <a:ln w="25400">
            <a:solidFill>
              <a:schemeClr val="tx1"/>
            </a:solidFill>
            <a:round/>
            <a:headEnd/>
            <a:tailEnd/>
          </a:ln>
          <a:effectLst/>
        </p:spPr>
        <p:txBody>
          <a:bodyPr wrap="none" anchor="ctr">
            <a:prstTxWarp prst="textNoShape">
              <a:avLst/>
            </a:prstTxWarp>
          </a:bodyPr>
          <a:lstStyle/>
          <a:p>
            <a:endParaRPr lang="en-US"/>
          </a:p>
        </p:txBody>
      </p:sp>
      <p:sp>
        <p:nvSpPr>
          <p:cNvPr id="2" name="Rectangle 1">
            <a:extLst>
              <a:ext uri="{FF2B5EF4-FFF2-40B4-BE49-F238E27FC236}">
                <a16:creationId xmlns:a16="http://schemas.microsoft.com/office/drawing/2014/main" id="{68BAD8FF-920D-F763-ACA8-B0FCF85C4E8E}"/>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7B416508-80B3-7EC1-64ED-33ACF0EC84A9}"/>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Rectangle 1028"/>
          <p:cNvSpPr>
            <a:spLocks noGrp="1" noChangeArrowheads="1"/>
          </p:cNvSpPr>
          <p:nvPr>
            <p:ph type="title"/>
          </p:nvPr>
        </p:nvSpPr>
        <p:spPr/>
        <p:txBody>
          <a:bodyPr/>
          <a:lstStyle/>
          <a:p>
            <a:r>
              <a:rPr lang="en-US" dirty="0"/>
              <a:t>Nonvolatile Memories</a:t>
            </a:r>
          </a:p>
        </p:txBody>
      </p:sp>
      <p:sp>
        <p:nvSpPr>
          <p:cNvPr id="122885" name="Rectangle 1029"/>
          <p:cNvSpPr>
            <a:spLocks noGrp="1" noChangeArrowheads="1"/>
          </p:cNvSpPr>
          <p:nvPr>
            <p:ph type="body" idx="1"/>
          </p:nvPr>
        </p:nvSpPr>
        <p:spPr>
          <a:xfrm>
            <a:off x="396875" y="1362074"/>
            <a:ext cx="7896225" cy="5267325"/>
          </a:xfrm>
        </p:spPr>
        <p:txBody>
          <a:bodyPr>
            <a:normAutofit lnSpcReduction="10000"/>
          </a:bodyPr>
          <a:lstStyle/>
          <a:p>
            <a:r>
              <a:rPr lang="en-US" dirty="0"/>
              <a:t>DRAM and SRAM are volatile memories</a:t>
            </a:r>
          </a:p>
          <a:p>
            <a:pPr lvl="1"/>
            <a:r>
              <a:rPr lang="en-US" dirty="0"/>
              <a:t>Lose information if powered off.</a:t>
            </a:r>
          </a:p>
          <a:p>
            <a:r>
              <a:rPr lang="en-US" dirty="0"/>
              <a:t>Nonvolatile memories retain value even if powered off</a:t>
            </a:r>
          </a:p>
          <a:p>
            <a:pPr lvl="1"/>
            <a:r>
              <a:rPr lang="en-US" dirty="0"/>
              <a:t>Read-only memory (</a:t>
            </a:r>
            <a:r>
              <a:rPr lang="en-US" dirty="0">
                <a:solidFill>
                  <a:srgbClr val="FF0000"/>
                </a:solidFill>
              </a:rPr>
              <a:t>ROM</a:t>
            </a:r>
            <a:r>
              <a:rPr lang="en-US" dirty="0"/>
              <a:t>): programmed during production</a:t>
            </a:r>
          </a:p>
          <a:p>
            <a:pPr lvl="1"/>
            <a:r>
              <a:rPr lang="en-US" dirty="0"/>
              <a:t>Programmable ROM (</a:t>
            </a:r>
            <a:r>
              <a:rPr lang="en-US" dirty="0">
                <a:solidFill>
                  <a:srgbClr val="FF0000"/>
                </a:solidFill>
              </a:rPr>
              <a:t>PROM</a:t>
            </a:r>
            <a:r>
              <a:rPr lang="en-US" dirty="0"/>
              <a:t>): can be programmed once</a:t>
            </a:r>
          </a:p>
          <a:p>
            <a:pPr lvl="1"/>
            <a:r>
              <a:rPr lang="en-US" dirty="0" err="1"/>
              <a:t>Eraseable</a:t>
            </a:r>
            <a:r>
              <a:rPr lang="en-US" dirty="0"/>
              <a:t> PROM (</a:t>
            </a:r>
            <a:r>
              <a:rPr lang="en-US" dirty="0">
                <a:solidFill>
                  <a:srgbClr val="FF0000"/>
                </a:solidFill>
              </a:rPr>
              <a:t>EPROM</a:t>
            </a:r>
            <a:r>
              <a:rPr lang="en-US" dirty="0"/>
              <a:t>): can be bulk erased (UV, X-Ray)</a:t>
            </a:r>
          </a:p>
          <a:p>
            <a:pPr lvl="1"/>
            <a:r>
              <a:rPr lang="en-US" dirty="0"/>
              <a:t>Electrically </a:t>
            </a:r>
            <a:r>
              <a:rPr lang="en-US" dirty="0" err="1"/>
              <a:t>eraseable</a:t>
            </a:r>
            <a:r>
              <a:rPr lang="en-US" dirty="0"/>
              <a:t> PROM (</a:t>
            </a:r>
            <a:r>
              <a:rPr lang="en-US" dirty="0">
                <a:solidFill>
                  <a:srgbClr val="FF0000"/>
                </a:solidFill>
              </a:rPr>
              <a:t>EEPROM</a:t>
            </a:r>
            <a:r>
              <a:rPr lang="en-US" dirty="0"/>
              <a:t>): electronic erase capability</a:t>
            </a:r>
          </a:p>
          <a:p>
            <a:pPr lvl="1"/>
            <a:r>
              <a:rPr lang="en-US" dirty="0"/>
              <a:t>Flash memory: EEPROMs. with partial (block-level) erase capability</a:t>
            </a:r>
          </a:p>
          <a:p>
            <a:pPr lvl="2"/>
            <a:r>
              <a:rPr lang="en-US" dirty="0"/>
              <a:t>Wears out after about 100,000 </a:t>
            </a:r>
            <a:r>
              <a:rPr lang="en-US" dirty="0" err="1"/>
              <a:t>erasings</a:t>
            </a:r>
            <a:endParaRPr lang="en-US" dirty="0"/>
          </a:p>
          <a:p>
            <a:r>
              <a:rPr lang="en-US" dirty="0"/>
              <a:t>Uses for Nonvolatile Memories</a:t>
            </a:r>
          </a:p>
          <a:p>
            <a:pPr lvl="1"/>
            <a:r>
              <a:rPr lang="en-US" dirty="0"/>
              <a:t>Firmware programs stored in a ROM (BIOS, controllers for disks, network cards, graphics accelerators, security subsystems,…)</a:t>
            </a:r>
          </a:p>
          <a:p>
            <a:pPr lvl="1"/>
            <a:r>
              <a:rPr lang="en-US" dirty="0"/>
              <a:t>Solid state disks (replace rotating disks in thumb drives, smart phones, mp3 players, tablets, laptops,…)</a:t>
            </a:r>
          </a:p>
          <a:p>
            <a:pPr lvl="1"/>
            <a:r>
              <a:rPr lang="en-US" dirty="0"/>
              <a:t>Disk caches</a:t>
            </a:r>
          </a:p>
          <a:p>
            <a:endParaRPr lang="en-US" dirty="0"/>
          </a:p>
        </p:txBody>
      </p:sp>
      <p:sp>
        <p:nvSpPr>
          <p:cNvPr id="2" name="Rectangle 1">
            <a:extLst>
              <a:ext uri="{FF2B5EF4-FFF2-40B4-BE49-F238E27FC236}">
                <a16:creationId xmlns:a16="http://schemas.microsoft.com/office/drawing/2014/main" id="{5540E035-BB29-2F16-7985-D208C6B8901E}"/>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C23A9502-E9B1-FE19-8BC7-C79CE4AC1E6D}"/>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86" name="Rectangle 26"/>
          <p:cNvSpPr>
            <a:spLocks noGrp="1" noChangeArrowheads="1"/>
          </p:cNvSpPr>
          <p:nvPr>
            <p:ph type="title"/>
          </p:nvPr>
        </p:nvSpPr>
        <p:spPr>
          <a:xfrm>
            <a:off x="357018" y="435678"/>
            <a:ext cx="8786982" cy="762000"/>
          </a:xfrm>
        </p:spPr>
        <p:txBody>
          <a:bodyPr>
            <a:normAutofit fontScale="90000"/>
          </a:bodyPr>
          <a:lstStyle/>
          <a:p>
            <a:r>
              <a:rPr lang="en-US" dirty="0"/>
              <a:t>Traditional Bus Structure Connecting </a:t>
            </a:r>
            <a:br>
              <a:rPr lang="en-US" dirty="0"/>
            </a:br>
            <a:r>
              <a:rPr lang="en-US" dirty="0"/>
              <a:t>CPU and Memory</a:t>
            </a:r>
          </a:p>
        </p:txBody>
      </p:sp>
      <p:sp>
        <p:nvSpPr>
          <p:cNvPr id="66587" name="Rectangle 27"/>
          <p:cNvSpPr>
            <a:spLocks noGrp="1" noChangeArrowheads="1"/>
          </p:cNvSpPr>
          <p:nvPr>
            <p:ph type="body" idx="1"/>
          </p:nvPr>
        </p:nvSpPr>
        <p:spPr>
          <a:xfrm>
            <a:off x="396875" y="1504950"/>
            <a:ext cx="7896225" cy="4972050"/>
          </a:xfrm>
        </p:spPr>
        <p:txBody>
          <a:bodyPr/>
          <a:lstStyle/>
          <a:p>
            <a:r>
              <a:rPr lang="en-US" dirty="0"/>
              <a:t>A </a:t>
            </a:r>
            <a:r>
              <a:rPr lang="en-US" dirty="0">
                <a:solidFill>
                  <a:srgbClr val="FF0000"/>
                </a:solidFill>
              </a:rPr>
              <a:t>bus</a:t>
            </a:r>
            <a:r>
              <a:rPr lang="en-US" dirty="0"/>
              <a:t> is a collection of parallel wires that carry address, data, and control signals.</a:t>
            </a:r>
          </a:p>
          <a:p>
            <a:r>
              <a:rPr lang="en-US" dirty="0"/>
              <a:t>Buses are typically shared by multiple devices.</a:t>
            </a:r>
          </a:p>
        </p:txBody>
      </p:sp>
      <p:sp>
        <p:nvSpPr>
          <p:cNvPr id="66565" name="Rectangle 5"/>
          <p:cNvSpPr>
            <a:spLocks noChangeAspect="1" noChangeArrowheads="1"/>
          </p:cNvSpPr>
          <p:nvPr/>
        </p:nvSpPr>
        <p:spPr bwMode="auto">
          <a:xfrm>
            <a:off x="7637463" y="5337175"/>
            <a:ext cx="1049337" cy="10541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Main</a:t>
            </a:r>
          </a:p>
          <a:p>
            <a:pPr algn="ctr">
              <a:lnSpc>
                <a:spcPct val="100000"/>
              </a:lnSpc>
            </a:pPr>
            <a:r>
              <a:rPr lang="en-US" sz="1600" dirty="0"/>
              <a:t>memory</a:t>
            </a:r>
          </a:p>
        </p:txBody>
      </p:sp>
      <p:sp>
        <p:nvSpPr>
          <p:cNvPr id="66566" name="AutoShape 6"/>
          <p:cNvSpPr>
            <a:spLocks noChangeAspect="1" noChangeArrowheads="1"/>
          </p:cNvSpPr>
          <p:nvPr/>
        </p:nvSpPr>
        <p:spPr bwMode="auto">
          <a:xfrm>
            <a:off x="5880100" y="5511800"/>
            <a:ext cx="1720850" cy="615950"/>
          </a:xfrm>
          <a:prstGeom prst="leftRightArrow">
            <a:avLst>
              <a:gd name="adj1" fmla="val 50000"/>
              <a:gd name="adj2" fmla="val 55876"/>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66567" name="Rectangle 7"/>
          <p:cNvSpPr>
            <a:spLocks noChangeAspect="1" noChangeArrowheads="1"/>
          </p:cNvSpPr>
          <p:nvPr/>
        </p:nvSpPr>
        <p:spPr bwMode="auto">
          <a:xfrm>
            <a:off x="4824413" y="5548313"/>
            <a:ext cx="1049337" cy="66675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I/O </a:t>
            </a:r>
          </a:p>
          <a:p>
            <a:pPr algn="ctr">
              <a:lnSpc>
                <a:spcPct val="100000"/>
              </a:lnSpc>
            </a:pPr>
            <a:r>
              <a:rPr lang="en-US" sz="1600"/>
              <a:t>bridge</a:t>
            </a:r>
          </a:p>
        </p:txBody>
      </p:sp>
      <p:sp>
        <p:nvSpPr>
          <p:cNvPr id="66568" name="AutoShape 8"/>
          <p:cNvSpPr>
            <a:spLocks noChangeAspect="1" noChangeArrowheads="1"/>
          </p:cNvSpPr>
          <p:nvPr/>
        </p:nvSpPr>
        <p:spPr bwMode="auto">
          <a:xfrm>
            <a:off x="3143250" y="5511800"/>
            <a:ext cx="1676400" cy="615950"/>
          </a:xfrm>
          <a:prstGeom prst="leftRightArrow">
            <a:avLst>
              <a:gd name="adj1" fmla="val 50000"/>
              <a:gd name="adj2" fmla="val 54433"/>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66569" name="Rectangle 9"/>
          <p:cNvSpPr>
            <a:spLocks noChangeAspect="1" noChangeArrowheads="1"/>
          </p:cNvSpPr>
          <p:nvPr/>
        </p:nvSpPr>
        <p:spPr bwMode="auto">
          <a:xfrm>
            <a:off x="950913" y="5548313"/>
            <a:ext cx="2162175" cy="66675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Bus interface</a:t>
            </a:r>
          </a:p>
        </p:txBody>
      </p:sp>
      <p:sp>
        <p:nvSpPr>
          <p:cNvPr id="66570" name="Rectangle 10"/>
          <p:cNvSpPr>
            <a:spLocks noChangeAspect="1" noChangeArrowheads="1"/>
          </p:cNvSpPr>
          <p:nvPr/>
        </p:nvSpPr>
        <p:spPr bwMode="auto">
          <a:xfrm>
            <a:off x="2008188" y="4017963"/>
            <a:ext cx="788987" cy="176212"/>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6571" name="Rectangle 11"/>
          <p:cNvSpPr>
            <a:spLocks noChangeAspect="1" noChangeArrowheads="1"/>
          </p:cNvSpPr>
          <p:nvPr/>
        </p:nvSpPr>
        <p:spPr bwMode="auto">
          <a:xfrm>
            <a:off x="2008188" y="4194175"/>
            <a:ext cx="788987" cy="176213"/>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6572" name="Rectangle 12"/>
          <p:cNvSpPr>
            <a:spLocks noChangeAspect="1" noChangeArrowheads="1"/>
          </p:cNvSpPr>
          <p:nvPr/>
        </p:nvSpPr>
        <p:spPr bwMode="auto">
          <a:xfrm>
            <a:off x="2008188" y="4370388"/>
            <a:ext cx="788987" cy="174625"/>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6573" name="Rectangle 13"/>
          <p:cNvSpPr>
            <a:spLocks noChangeAspect="1" noChangeArrowheads="1"/>
          </p:cNvSpPr>
          <p:nvPr/>
        </p:nvSpPr>
        <p:spPr bwMode="auto">
          <a:xfrm>
            <a:off x="2008188" y="4545013"/>
            <a:ext cx="788987" cy="176212"/>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6574" name="Rectangle 14"/>
          <p:cNvSpPr>
            <a:spLocks noChangeAspect="1" noChangeArrowheads="1"/>
          </p:cNvSpPr>
          <p:nvPr/>
        </p:nvSpPr>
        <p:spPr bwMode="auto">
          <a:xfrm>
            <a:off x="2008188" y="4721225"/>
            <a:ext cx="788987" cy="176213"/>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6575" name="AutoShape 15"/>
          <p:cNvSpPr>
            <a:spLocks noChangeAspect="1" noChangeArrowheads="1"/>
          </p:cNvSpPr>
          <p:nvPr/>
        </p:nvSpPr>
        <p:spPr bwMode="auto">
          <a:xfrm>
            <a:off x="2900363" y="4017963"/>
            <a:ext cx="512762" cy="439737"/>
          </a:xfrm>
          <a:prstGeom prst="rightArrow">
            <a:avLst>
              <a:gd name="adj1" fmla="val 50000"/>
              <a:gd name="adj2" fmla="val 29152"/>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6576" name="AutoShape 16"/>
          <p:cNvSpPr>
            <a:spLocks noChangeAspect="1" noChangeArrowheads="1"/>
          </p:cNvSpPr>
          <p:nvPr/>
        </p:nvSpPr>
        <p:spPr bwMode="auto">
          <a:xfrm flipH="1">
            <a:off x="2797175" y="4457700"/>
            <a:ext cx="512763" cy="439738"/>
          </a:xfrm>
          <a:prstGeom prst="rightArrow">
            <a:avLst>
              <a:gd name="adj1" fmla="val 50000"/>
              <a:gd name="adj2" fmla="val 29152"/>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6577" name="Rectangle 17"/>
          <p:cNvSpPr>
            <a:spLocks noChangeAspect="1" noChangeArrowheads="1"/>
          </p:cNvSpPr>
          <p:nvPr/>
        </p:nvSpPr>
        <p:spPr bwMode="auto">
          <a:xfrm>
            <a:off x="3413125" y="3843338"/>
            <a:ext cx="614363" cy="1230312"/>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ALU</a:t>
            </a:r>
          </a:p>
        </p:txBody>
      </p:sp>
      <p:sp>
        <p:nvSpPr>
          <p:cNvPr id="66578" name="Text Box 18"/>
          <p:cNvSpPr txBox="1">
            <a:spLocks noChangeAspect="1" noChangeArrowheads="1"/>
          </p:cNvSpPr>
          <p:nvPr/>
        </p:nvSpPr>
        <p:spPr bwMode="auto">
          <a:xfrm>
            <a:off x="1841500" y="3671680"/>
            <a:ext cx="1147770"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Register file</a:t>
            </a:r>
          </a:p>
        </p:txBody>
      </p:sp>
      <p:sp>
        <p:nvSpPr>
          <p:cNvPr id="66579" name="AutoShape 19"/>
          <p:cNvSpPr>
            <a:spLocks noChangeAspect="1" noChangeArrowheads="1"/>
          </p:cNvSpPr>
          <p:nvPr/>
        </p:nvSpPr>
        <p:spPr bwMode="auto">
          <a:xfrm>
            <a:off x="2093913" y="4984750"/>
            <a:ext cx="703262" cy="52705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6580" name="Rectangle 20"/>
          <p:cNvSpPr>
            <a:spLocks noChangeAspect="1" noChangeArrowheads="1"/>
          </p:cNvSpPr>
          <p:nvPr/>
        </p:nvSpPr>
        <p:spPr bwMode="auto">
          <a:xfrm>
            <a:off x="776288" y="3578225"/>
            <a:ext cx="3427412" cy="2813050"/>
          </a:xfrm>
          <a:prstGeom prst="rect">
            <a:avLst/>
          </a:prstGeom>
          <a:noFill/>
          <a:ln w="12700" cap="rnd">
            <a:solidFill>
              <a:schemeClr val="tx1"/>
            </a:solidFill>
            <a:prstDash val="sysDot"/>
            <a:miter lim="800000"/>
            <a:headEnd/>
            <a:tailEnd/>
          </a:ln>
          <a:effectLst/>
        </p:spPr>
        <p:txBody>
          <a:bodyPr wrap="none" anchor="ctr">
            <a:prstTxWarp prst="textNoShape">
              <a:avLst/>
            </a:prstTxWarp>
          </a:bodyPr>
          <a:lstStyle/>
          <a:p>
            <a:endParaRPr lang="en-US"/>
          </a:p>
        </p:txBody>
      </p:sp>
      <p:sp>
        <p:nvSpPr>
          <p:cNvPr id="66581" name="Text Box 21"/>
          <p:cNvSpPr txBox="1">
            <a:spLocks noChangeAspect="1" noChangeArrowheads="1"/>
          </p:cNvSpPr>
          <p:nvPr/>
        </p:nvSpPr>
        <p:spPr bwMode="auto">
          <a:xfrm>
            <a:off x="744538" y="3251200"/>
            <a:ext cx="108585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CPU chip</a:t>
            </a:r>
          </a:p>
        </p:txBody>
      </p:sp>
      <p:sp>
        <p:nvSpPr>
          <p:cNvPr id="66582" name="Text Box 22"/>
          <p:cNvSpPr txBox="1">
            <a:spLocks noChangeAspect="1" noChangeArrowheads="1"/>
          </p:cNvSpPr>
          <p:nvPr/>
        </p:nvSpPr>
        <p:spPr bwMode="auto">
          <a:xfrm>
            <a:off x="4348163" y="4746417"/>
            <a:ext cx="1129135"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System bus</a:t>
            </a:r>
          </a:p>
        </p:txBody>
      </p:sp>
      <p:sp>
        <p:nvSpPr>
          <p:cNvPr id="66583" name="Line 23"/>
          <p:cNvSpPr>
            <a:spLocks noChangeAspect="1" noChangeShapeType="1"/>
          </p:cNvSpPr>
          <p:nvPr/>
        </p:nvSpPr>
        <p:spPr bwMode="auto">
          <a:xfrm flipH="1">
            <a:off x="4027488" y="5073650"/>
            <a:ext cx="792162" cy="52705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66584" name="Text Box 24"/>
          <p:cNvSpPr txBox="1">
            <a:spLocks noChangeAspect="1" noChangeArrowheads="1"/>
          </p:cNvSpPr>
          <p:nvPr/>
        </p:nvSpPr>
        <p:spPr bwMode="auto">
          <a:xfrm>
            <a:off x="6019800" y="4746417"/>
            <a:ext cx="1175722"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Memory bus</a:t>
            </a:r>
          </a:p>
        </p:txBody>
      </p:sp>
      <p:sp>
        <p:nvSpPr>
          <p:cNvPr id="66585" name="Line 25"/>
          <p:cNvSpPr>
            <a:spLocks noChangeAspect="1" noChangeShapeType="1"/>
          </p:cNvSpPr>
          <p:nvPr/>
        </p:nvSpPr>
        <p:spPr bwMode="auto">
          <a:xfrm>
            <a:off x="6664325" y="5073650"/>
            <a:ext cx="0" cy="52705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2" name="Rectangle 1">
            <a:extLst>
              <a:ext uri="{FF2B5EF4-FFF2-40B4-BE49-F238E27FC236}">
                <a16:creationId xmlns:a16="http://schemas.microsoft.com/office/drawing/2014/main" id="{5FC37BC2-CE8E-B55A-5C5E-6BCA9C7DF4D5}"/>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AACE8DDB-CEAF-D1BB-A2BB-813F148F4676}"/>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16" name="Rectangle 32"/>
          <p:cNvSpPr>
            <a:spLocks noGrp="1" noChangeArrowheads="1"/>
          </p:cNvSpPr>
          <p:nvPr>
            <p:ph type="title"/>
          </p:nvPr>
        </p:nvSpPr>
        <p:spPr/>
        <p:txBody>
          <a:bodyPr/>
          <a:lstStyle/>
          <a:p>
            <a:r>
              <a:rPr lang="en-US" dirty="0"/>
              <a:t>Memory Read Transaction (1)</a:t>
            </a:r>
          </a:p>
        </p:txBody>
      </p:sp>
      <p:sp>
        <p:nvSpPr>
          <p:cNvPr id="67617" name="Rectangle 33"/>
          <p:cNvSpPr>
            <a:spLocks noGrp="1" noChangeArrowheads="1"/>
          </p:cNvSpPr>
          <p:nvPr>
            <p:ph type="body" idx="1"/>
          </p:nvPr>
        </p:nvSpPr>
        <p:spPr/>
        <p:txBody>
          <a:bodyPr/>
          <a:lstStyle/>
          <a:p>
            <a:r>
              <a:rPr lang="en-US" dirty="0"/>
              <a:t>CPU places address A on the memory bus.</a:t>
            </a:r>
          </a:p>
        </p:txBody>
      </p:sp>
      <p:sp>
        <p:nvSpPr>
          <p:cNvPr id="67588" name="Rectangle 4"/>
          <p:cNvSpPr>
            <a:spLocks noChangeArrowheads="1"/>
          </p:cNvSpPr>
          <p:nvPr/>
        </p:nvSpPr>
        <p:spPr bwMode="auto">
          <a:xfrm>
            <a:off x="6767513" y="3810000"/>
            <a:ext cx="909637" cy="9144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67589" name="AutoShape 5"/>
          <p:cNvSpPr>
            <a:spLocks noChangeArrowheads="1"/>
          </p:cNvSpPr>
          <p:nvPr/>
        </p:nvSpPr>
        <p:spPr bwMode="auto">
          <a:xfrm>
            <a:off x="5243513" y="3962400"/>
            <a:ext cx="1492250" cy="533400"/>
          </a:xfrm>
          <a:prstGeom prst="leftRightArrow">
            <a:avLst>
              <a:gd name="adj1" fmla="val 50000"/>
              <a:gd name="adj2" fmla="val 55952"/>
            </a:avLst>
          </a:prstGeom>
          <a:solidFill>
            <a:srgbClr val="F7F5CD"/>
          </a:solid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67590" name="Rectangle 6"/>
          <p:cNvSpPr>
            <a:spLocks noChangeArrowheads="1"/>
          </p:cNvSpPr>
          <p:nvPr/>
        </p:nvSpPr>
        <p:spPr bwMode="auto">
          <a:xfrm>
            <a:off x="4329113" y="3994150"/>
            <a:ext cx="909637" cy="57785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r>
              <a:rPr lang="en-US" sz="1600"/>
              <a:t> </a:t>
            </a:r>
          </a:p>
          <a:p>
            <a:pPr>
              <a:lnSpc>
                <a:spcPct val="100000"/>
              </a:lnSpc>
            </a:pPr>
            <a:endParaRPr lang="en-US" sz="1600"/>
          </a:p>
        </p:txBody>
      </p:sp>
      <p:sp>
        <p:nvSpPr>
          <p:cNvPr id="67591" name="AutoShape 7"/>
          <p:cNvSpPr>
            <a:spLocks noChangeArrowheads="1"/>
          </p:cNvSpPr>
          <p:nvPr/>
        </p:nvSpPr>
        <p:spPr bwMode="auto">
          <a:xfrm>
            <a:off x="2871788" y="3962400"/>
            <a:ext cx="1452562" cy="533400"/>
          </a:xfrm>
          <a:prstGeom prst="leftRightArrow">
            <a:avLst>
              <a:gd name="adj1" fmla="val 50000"/>
              <a:gd name="adj2" fmla="val 54464"/>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67592" name="Rectangle 8"/>
          <p:cNvSpPr>
            <a:spLocks noChangeArrowheads="1"/>
          </p:cNvSpPr>
          <p:nvPr/>
        </p:nvSpPr>
        <p:spPr bwMode="auto">
          <a:xfrm>
            <a:off x="1887538" y="26670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7593" name="Rectangle 9"/>
          <p:cNvSpPr>
            <a:spLocks noChangeArrowheads="1"/>
          </p:cNvSpPr>
          <p:nvPr/>
        </p:nvSpPr>
        <p:spPr bwMode="auto">
          <a:xfrm>
            <a:off x="1887538" y="28194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7594" name="Rectangle 10"/>
          <p:cNvSpPr>
            <a:spLocks noChangeArrowheads="1"/>
          </p:cNvSpPr>
          <p:nvPr/>
        </p:nvSpPr>
        <p:spPr bwMode="auto">
          <a:xfrm>
            <a:off x="1887538" y="29718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7595" name="Rectangle 11"/>
          <p:cNvSpPr>
            <a:spLocks noChangeArrowheads="1"/>
          </p:cNvSpPr>
          <p:nvPr/>
        </p:nvSpPr>
        <p:spPr bwMode="auto">
          <a:xfrm>
            <a:off x="1887538" y="31242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7596" name="Rectangle 12"/>
          <p:cNvSpPr>
            <a:spLocks noChangeArrowheads="1"/>
          </p:cNvSpPr>
          <p:nvPr/>
        </p:nvSpPr>
        <p:spPr bwMode="auto">
          <a:xfrm>
            <a:off x="1887538" y="32766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7597" name="AutoShape 13"/>
          <p:cNvSpPr>
            <a:spLocks noChangeArrowheads="1"/>
          </p:cNvSpPr>
          <p:nvPr/>
        </p:nvSpPr>
        <p:spPr bwMode="auto">
          <a:xfrm>
            <a:off x="2660650" y="26670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7598" name="AutoShape 14"/>
          <p:cNvSpPr>
            <a:spLocks noChangeArrowheads="1"/>
          </p:cNvSpPr>
          <p:nvPr/>
        </p:nvSpPr>
        <p:spPr bwMode="auto">
          <a:xfrm flipH="1">
            <a:off x="2571750" y="30480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7599" name="Rectangle 15"/>
          <p:cNvSpPr>
            <a:spLocks noChangeArrowheads="1"/>
          </p:cNvSpPr>
          <p:nvPr/>
        </p:nvSpPr>
        <p:spPr bwMode="auto">
          <a:xfrm>
            <a:off x="3105150" y="2514600"/>
            <a:ext cx="533400" cy="10668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ALU</a:t>
            </a:r>
          </a:p>
        </p:txBody>
      </p:sp>
      <p:sp>
        <p:nvSpPr>
          <p:cNvPr id="67600" name="Text Box 16"/>
          <p:cNvSpPr txBox="1">
            <a:spLocks noChangeArrowheads="1"/>
          </p:cNvSpPr>
          <p:nvPr/>
        </p:nvSpPr>
        <p:spPr bwMode="auto">
          <a:xfrm>
            <a:off x="1676400" y="2345323"/>
            <a:ext cx="114777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Register file</a:t>
            </a:r>
          </a:p>
        </p:txBody>
      </p:sp>
      <p:sp>
        <p:nvSpPr>
          <p:cNvPr id="67601" name="AutoShape 17"/>
          <p:cNvSpPr>
            <a:spLocks noChangeArrowheads="1"/>
          </p:cNvSpPr>
          <p:nvPr/>
        </p:nvSpPr>
        <p:spPr bwMode="auto">
          <a:xfrm>
            <a:off x="1962150" y="3505200"/>
            <a:ext cx="609600" cy="45720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7602" name="Line 18"/>
          <p:cNvSpPr>
            <a:spLocks noChangeShapeType="1"/>
          </p:cNvSpPr>
          <p:nvPr/>
        </p:nvSpPr>
        <p:spPr bwMode="auto">
          <a:xfrm>
            <a:off x="2800350" y="4191000"/>
            <a:ext cx="3962400" cy="0"/>
          </a:xfrm>
          <a:prstGeom prst="line">
            <a:avLst/>
          </a:prstGeom>
          <a:noFill/>
          <a:ln w="76200">
            <a:solidFill>
              <a:srgbClr val="00FFFF"/>
            </a:solidFill>
            <a:round/>
            <a:headEnd/>
            <a:tailEnd type="triangle" w="med" len="med"/>
          </a:ln>
          <a:effectLst/>
        </p:spPr>
        <p:txBody>
          <a:bodyPr wrap="none" anchor="ctr">
            <a:prstTxWarp prst="textNoShape">
              <a:avLst/>
            </a:prstTxWarp>
          </a:bodyPr>
          <a:lstStyle/>
          <a:p>
            <a:endParaRPr lang="en-US"/>
          </a:p>
        </p:txBody>
      </p:sp>
      <p:sp>
        <p:nvSpPr>
          <p:cNvPr id="67603" name="Rectangle 19"/>
          <p:cNvSpPr>
            <a:spLocks noChangeArrowheads="1"/>
          </p:cNvSpPr>
          <p:nvPr/>
        </p:nvSpPr>
        <p:spPr bwMode="auto">
          <a:xfrm>
            <a:off x="971550" y="3994150"/>
            <a:ext cx="1873250" cy="57785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Bus interface</a:t>
            </a:r>
          </a:p>
        </p:txBody>
      </p:sp>
      <p:sp>
        <p:nvSpPr>
          <p:cNvPr id="67604" name="Text Box 20"/>
          <p:cNvSpPr txBox="1">
            <a:spLocks noChangeArrowheads="1"/>
          </p:cNvSpPr>
          <p:nvPr/>
        </p:nvSpPr>
        <p:spPr bwMode="auto">
          <a:xfrm>
            <a:off x="5757169" y="3808998"/>
            <a:ext cx="337938"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i="1"/>
              <a:t>A</a:t>
            </a:r>
          </a:p>
        </p:txBody>
      </p:sp>
      <p:sp>
        <p:nvSpPr>
          <p:cNvPr id="67605" name="Text Box 21"/>
          <p:cNvSpPr txBox="1">
            <a:spLocks noChangeArrowheads="1"/>
          </p:cNvSpPr>
          <p:nvPr/>
        </p:nvSpPr>
        <p:spPr bwMode="auto">
          <a:xfrm>
            <a:off x="7673975" y="3687763"/>
            <a:ext cx="296863"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0</a:t>
            </a:r>
          </a:p>
        </p:txBody>
      </p:sp>
      <p:sp>
        <p:nvSpPr>
          <p:cNvPr id="67606" name="Text Box 22"/>
          <p:cNvSpPr txBox="1">
            <a:spLocks noChangeArrowheads="1"/>
          </p:cNvSpPr>
          <p:nvPr/>
        </p:nvSpPr>
        <p:spPr bwMode="auto">
          <a:xfrm>
            <a:off x="7658100" y="4191000"/>
            <a:ext cx="33020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A</a:t>
            </a:r>
          </a:p>
        </p:txBody>
      </p:sp>
      <p:sp>
        <p:nvSpPr>
          <p:cNvPr id="67607" name="Rectangle 23"/>
          <p:cNvSpPr>
            <a:spLocks noChangeArrowheads="1"/>
          </p:cNvSpPr>
          <p:nvPr/>
        </p:nvSpPr>
        <p:spPr bwMode="auto">
          <a:xfrm>
            <a:off x="6762750" y="4283075"/>
            <a:ext cx="914400" cy="152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400"/>
              <a:t>x</a:t>
            </a:r>
          </a:p>
        </p:txBody>
      </p:sp>
      <p:sp>
        <p:nvSpPr>
          <p:cNvPr id="67608" name="Text Box 24"/>
          <p:cNvSpPr txBox="1">
            <a:spLocks noChangeArrowheads="1"/>
          </p:cNvSpPr>
          <p:nvPr/>
        </p:nvSpPr>
        <p:spPr bwMode="auto">
          <a:xfrm>
            <a:off x="6553200" y="3472448"/>
            <a:ext cx="1269298"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Main memory</a:t>
            </a:r>
          </a:p>
        </p:txBody>
      </p:sp>
      <p:sp>
        <p:nvSpPr>
          <p:cNvPr id="67609" name="Text Box 25"/>
          <p:cNvSpPr txBox="1">
            <a:spLocks noChangeArrowheads="1"/>
          </p:cNvSpPr>
          <p:nvPr/>
        </p:nvSpPr>
        <p:spPr bwMode="auto">
          <a:xfrm>
            <a:off x="4302038" y="3701048"/>
            <a:ext cx="970137"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I/O bridge</a:t>
            </a:r>
          </a:p>
        </p:txBody>
      </p:sp>
      <p:sp>
        <p:nvSpPr>
          <p:cNvPr id="67610" name="Text Box 26"/>
          <p:cNvSpPr txBox="1">
            <a:spLocks noChangeArrowheads="1"/>
          </p:cNvSpPr>
          <p:nvPr/>
        </p:nvSpPr>
        <p:spPr bwMode="auto">
          <a:xfrm>
            <a:off x="1247259" y="2999373"/>
            <a:ext cx="586819"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a:t>
            </a:r>
            <a:r>
              <a:rPr lang="en-US" sz="1600" dirty="0" err="1"/>
              <a:t>rax</a:t>
            </a:r>
            <a:endParaRPr lang="en-US" sz="1600" dirty="0"/>
          </a:p>
        </p:txBody>
      </p:sp>
      <p:sp>
        <p:nvSpPr>
          <p:cNvPr id="67612" name="Text Box 28"/>
          <p:cNvSpPr txBox="1">
            <a:spLocks noChangeArrowheads="1"/>
          </p:cNvSpPr>
          <p:nvPr/>
        </p:nvSpPr>
        <p:spPr bwMode="auto">
          <a:xfrm>
            <a:off x="4629150" y="2438400"/>
            <a:ext cx="2984811" cy="584776"/>
          </a:xfrm>
          <a:prstGeom prst="rect">
            <a:avLst/>
          </a:prstGeom>
          <a:noFill/>
          <a:ln w="25400">
            <a:noFill/>
            <a:miter lim="800000"/>
            <a:headEnd/>
            <a:tailEnd/>
          </a:ln>
          <a:effectLst/>
        </p:spPr>
        <p:txBody>
          <a:bodyPr wrap="none">
            <a:prstTxWarp prst="textNoShape">
              <a:avLst/>
            </a:prstTxWarp>
            <a:spAutoFit/>
          </a:bodyPr>
          <a:lstStyle/>
          <a:p>
            <a:pPr algn="l">
              <a:lnSpc>
                <a:spcPct val="100000"/>
              </a:lnSpc>
            </a:pPr>
            <a:r>
              <a:rPr lang="en-US" sz="1600" dirty="0">
                <a:solidFill>
                  <a:srgbClr val="FF0000"/>
                </a:solidFill>
              </a:rPr>
              <a:t>Load operation</a:t>
            </a:r>
            <a:r>
              <a:rPr lang="en-US" sz="1600" dirty="0"/>
              <a:t>:</a:t>
            </a:r>
            <a:r>
              <a:rPr lang="en-US" sz="1600" dirty="0">
                <a:latin typeface="Times" charset="0"/>
              </a:rPr>
              <a:t> </a:t>
            </a:r>
            <a:r>
              <a:rPr lang="en-US" sz="1600" dirty="0" err="1">
                <a:latin typeface="Courier New" charset="0"/>
              </a:rPr>
              <a:t>movq</a:t>
            </a:r>
            <a:r>
              <a:rPr lang="en-US" sz="1600" dirty="0">
                <a:latin typeface="Courier New" charset="0"/>
              </a:rPr>
              <a:t> A, %</a:t>
            </a:r>
            <a:r>
              <a:rPr lang="en-US" sz="1600" dirty="0" err="1">
                <a:latin typeface="Courier New" charset="0"/>
              </a:rPr>
              <a:t>rax</a:t>
            </a:r>
            <a:endParaRPr lang="en-US" sz="1600" dirty="0">
              <a:latin typeface="Times" charset="0"/>
            </a:endParaRPr>
          </a:p>
          <a:p>
            <a:pPr algn="l">
              <a:lnSpc>
                <a:spcPct val="100000"/>
              </a:lnSpc>
            </a:pPr>
            <a:endParaRPr lang="en-US" sz="1600" dirty="0"/>
          </a:p>
        </p:txBody>
      </p:sp>
      <p:sp>
        <p:nvSpPr>
          <p:cNvPr id="2" name="Rectangle 1">
            <a:extLst>
              <a:ext uri="{FF2B5EF4-FFF2-40B4-BE49-F238E27FC236}">
                <a16:creationId xmlns:a16="http://schemas.microsoft.com/office/drawing/2014/main" id="{F49AF6B0-0117-B0DC-B5F6-C221ADB85882}"/>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034C6026-190D-3350-0390-061F1B1E2155}"/>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36" name="Rectangle 28"/>
          <p:cNvSpPr>
            <a:spLocks noGrp="1" noChangeArrowheads="1"/>
          </p:cNvSpPr>
          <p:nvPr>
            <p:ph type="title"/>
          </p:nvPr>
        </p:nvSpPr>
        <p:spPr/>
        <p:txBody>
          <a:bodyPr/>
          <a:lstStyle/>
          <a:p>
            <a:r>
              <a:rPr lang="en-US"/>
              <a:t>Memory Read Transaction (2)</a:t>
            </a:r>
          </a:p>
        </p:txBody>
      </p:sp>
      <p:sp>
        <p:nvSpPr>
          <p:cNvPr id="68637" name="Rectangle 29"/>
          <p:cNvSpPr>
            <a:spLocks noGrp="1" noChangeArrowheads="1"/>
          </p:cNvSpPr>
          <p:nvPr>
            <p:ph type="body" idx="1"/>
          </p:nvPr>
        </p:nvSpPr>
        <p:spPr/>
        <p:txBody>
          <a:bodyPr/>
          <a:lstStyle/>
          <a:p>
            <a:r>
              <a:rPr lang="en-US" dirty="0"/>
              <a:t>Main memory reads A from the memory bus, retrieves word </a:t>
            </a:r>
            <a:r>
              <a:rPr lang="en-US" dirty="0" err="1"/>
              <a:t>x</a:t>
            </a:r>
            <a:r>
              <a:rPr lang="en-US" dirty="0"/>
              <a:t>, and places it on the bus.</a:t>
            </a:r>
          </a:p>
        </p:txBody>
      </p:sp>
      <p:sp>
        <p:nvSpPr>
          <p:cNvPr id="68612" name="AutoShape 4"/>
          <p:cNvSpPr>
            <a:spLocks noChangeArrowheads="1"/>
          </p:cNvSpPr>
          <p:nvPr/>
        </p:nvSpPr>
        <p:spPr bwMode="auto">
          <a:xfrm>
            <a:off x="5248275" y="3959225"/>
            <a:ext cx="1492250" cy="533400"/>
          </a:xfrm>
          <a:prstGeom prst="leftRightArrow">
            <a:avLst>
              <a:gd name="adj1" fmla="val 50000"/>
              <a:gd name="adj2" fmla="val 55952"/>
            </a:avLst>
          </a:prstGeom>
          <a:solidFill>
            <a:srgbClr val="F7F5CD"/>
          </a:solid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68613" name="Rectangle 5"/>
          <p:cNvSpPr>
            <a:spLocks noChangeArrowheads="1"/>
          </p:cNvSpPr>
          <p:nvPr/>
        </p:nvSpPr>
        <p:spPr bwMode="auto">
          <a:xfrm>
            <a:off x="4333875" y="3990975"/>
            <a:ext cx="909638" cy="57785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68614" name="AutoShape 6"/>
          <p:cNvSpPr>
            <a:spLocks noChangeArrowheads="1"/>
          </p:cNvSpPr>
          <p:nvPr/>
        </p:nvSpPr>
        <p:spPr bwMode="auto">
          <a:xfrm>
            <a:off x="2876550" y="3959225"/>
            <a:ext cx="1452563" cy="533400"/>
          </a:xfrm>
          <a:prstGeom prst="leftRightArrow">
            <a:avLst>
              <a:gd name="adj1" fmla="val 50000"/>
              <a:gd name="adj2" fmla="val 54464"/>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68615" name="Rectangle 7"/>
          <p:cNvSpPr>
            <a:spLocks noChangeArrowheads="1"/>
          </p:cNvSpPr>
          <p:nvPr/>
        </p:nvSpPr>
        <p:spPr bwMode="auto">
          <a:xfrm>
            <a:off x="1892300" y="2663825"/>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8616" name="Rectangle 8"/>
          <p:cNvSpPr>
            <a:spLocks noChangeArrowheads="1"/>
          </p:cNvSpPr>
          <p:nvPr/>
        </p:nvSpPr>
        <p:spPr bwMode="auto">
          <a:xfrm>
            <a:off x="1892300" y="2816225"/>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8617" name="Rectangle 9"/>
          <p:cNvSpPr>
            <a:spLocks noChangeArrowheads="1"/>
          </p:cNvSpPr>
          <p:nvPr/>
        </p:nvSpPr>
        <p:spPr bwMode="auto">
          <a:xfrm>
            <a:off x="1892300" y="2968625"/>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8618" name="Rectangle 10"/>
          <p:cNvSpPr>
            <a:spLocks noChangeArrowheads="1"/>
          </p:cNvSpPr>
          <p:nvPr/>
        </p:nvSpPr>
        <p:spPr bwMode="auto">
          <a:xfrm>
            <a:off x="1892300" y="3121025"/>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8619" name="Rectangle 11"/>
          <p:cNvSpPr>
            <a:spLocks noChangeArrowheads="1"/>
          </p:cNvSpPr>
          <p:nvPr/>
        </p:nvSpPr>
        <p:spPr bwMode="auto">
          <a:xfrm>
            <a:off x="1892300" y="3273425"/>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8620" name="AutoShape 12"/>
          <p:cNvSpPr>
            <a:spLocks noChangeArrowheads="1"/>
          </p:cNvSpPr>
          <p:nvPr/>
        </p:nvSpPr>
        <p:spPr bwMode="auto">
          <a:xfrm>
            <a:off x="2665413" y="2663825"/>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8621" name="AutoShape 13"/>
          <p:cNvSpPr>
            <a:spLocks noChangeArrowheads="1"/>
          </p:cNvSpPr>
          <p:nvPr/>
        </p:nvSpPr>
        <p:spPr bwMode="auto">
          <a:xfrm flipH="1">
            <a:off x="2576513" y="3044825"/>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8622" name="Rectangle 14"/>
          <p:cNvSpPr>
            <a:spLocks noChangeArrowheads="1"/>
          </p:cNvSpPr>
          <p:nvPr/>
        </p:nvSpPr>
        <p:spPr bwMode="auto">
          <a:xfrm>
            <a:off x="3109913" y="2511425"/>
            <a:ext cx="533400" cy="10668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ALU</a:t>
            </a:r>
          </a:p>
        </p:txBody>
      </p:sp>
      <p:sp>
        <p:nvSpPr>
          <p:cNvPr id="68623" name="Text Box 15"/>
          <p:cNvSpPr txBox="1">
            <a:spLocks noChangeArrowheads="1"/>
          </p:cNvSpPr>
          <p:nvPr/>
        </p:nvSpPr>
        <p:spPr bwMode="auto">
          <a:xfrm>
            <a:off x="1689100" y="2342148"/>
            <a:ext cx="1147770"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Register file</a:t>
            </a:r>
          </a:p>
        </p:txBody>
      </p:sp>
      <p:sp>
        <p:nvSpPr>
          <p:cNvPr id="68624" name="AutoShape 16"/>
          <p:cNvSpPr>
            <a:spLocks noChangeArrowheads="1"/>
          </p:cNvSpPr>
          <p:nvPr/>
        </p:nvSpPr>
        <p:spPr bwMode="auto">
          <a:xfrm>
            <a:off x="1966913" y="3502025"/>
            <a:ext cx="609600" cy="45720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8625" name="Line 17"/>
          <p:cNvSpPr>
            <a:spLocks noChangeShapeType="1"/>
          </p:cNvSpPr>
          <p:nvPr/>
        </p:nvSpPr>
        <p:spPr bwMode="auto">
          <a:xfrm>
            <a:off x="2805113" y="4187825"/>
            <a:ext cx="3962400" cy="0"/>
          </a:xfrm>
          <a:prstGeom prst="line">
            <a:avLst/>
          </a:prstGeom>
          <a:noFill/>
          <a:ln w="76200">
            <a:solidFill>
              <a:srgbClr val="00FFFF"/>
            </a:solidFill>
            <a:round/>
            <a:headEnd type="triangle" w="med" len="med"/>
            <a:tailEnd/>
          </a:ln>
          <a:effectLst/>
        </p:spPr>
        <p:txBody>
          <a:bodyPr wrap="none" anchor="ctr">
            <a:prstTxWarp prst="textNoShape">
              <a:avLst/>
            </a:prstTxWarp>
          </a:bodyPr>
          <a:lstStyle/>
          <a:p>
            <a:endParaRPr lang="en-US"/>
          </a:p>
        </p:txBody>
      </p:sp>
      <p:sp>
        <p:nvSpPr>
          <p:cNvPr id="68626" name="Rectangle 18"/>
          <p:cNvSpPr>
            <a:spLocks noChangeArrowheads="1"/>
          </p:cNvSpPr>
          <p:nvPr/>
        </p:nvSpPr>
        <p:spPr bwMode="auto">
          <a:xfrm>
            <a:off x="976313" y="3990975"/>
            <a:ext cx="1873250" cy="57785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Bus interface</a:t>
            </a:r>
          </a:p>
        </p:txBody>
      </p:sp>
      <p:sp>
        <p:nvSpPr>
          <p:cNvPr id="68627" name="Text Box 19"/>
          <p:cNvSpPr txBox="1">
            <a:spLocks noChangeArrowheads="1"/>
          </p:cNvSpPr>
          <p:nvPr/>
        </p:nvSpPr>
        <p:spPr bwMode="auto">
          <a:xfrm>
            <a:off x="5772844" y="3729623"/>
            <a:ext cx="31770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i="1"/>
              <a:t>x</a:t>
            </a:r>
          </a:p>
        </p:txBody>
      </p:sp>
      <p:sp>
        <p:nvSpPr>
          <p:cNvPr id="68628" name="Rectangle 20"/>
          <p:cNvSpPr>
            <a:spLocks noChangeArrowheads="1"/>
          </p:cNvSpPr>
          <p:nvPr/>
        </p:nvSpPr>
        <p:spPr bwMode="auto">
          <a:xfrm>
            <a:off x="6772275" y="3806825"/>
            <a:ext cx="909638" cy="9144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68629" name="Text Box 21"/>
          <p:cNvSpPr txBox="1">
            <a:spLocks noChangeArrowheads="1"/>
          </p:cNvSpPr>
          <p:nvPr/>
        </p:nvSpPr>
        <p:spPr bwMode="auto">
          <a:xfrm>
            <a:off x="7678738" y="3684588"/>
            <a:ext cx="296862"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0</a:t>
            </a:r>
          </a:p>
        </p:txBody>
      </p:sp>
      <p:sp>
        <p:nvSpPr>
          <p:cNvPr id="68630" name="Text Box 22"/>
          <p:cNvSpPr txBox="1">
            <a:spLocks noChangeArrowheads="1"/>
          </p:cNvSpPr>
          <p:nvPr/>
        </p:nvSpPr>
        <p:spPr bwMode="auto">
          <a:xfrm>
            <a:off x="7662863" y="4187825"/>
            <a:ext cx="33020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A</a:t>
            </a:r>
          </a:p>
        </p:txBody>
      </p:sp>
      <p:sp>
        <p:nvSpPr>
          <p:cNvPr id="68631" name="Rectangle 23"/>
          <p:cNvSpPr>
            <a:spLocks noChangeArrowheads="1"/>
          </p:cNvSpPr>
          <p:nvPr/>
        </p:nvSpPr>
        <p:spPr bwMode="auto">
          <a:xfrm>
            <a:off x="6767513" y="4279900"/>
            <a:ext cx="914400" cy="152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400" dirty="0" err="1"/>
              <a:t>x</a:t>
            </a:r>
            <a:endParaRPr lang="en-US" sz="1000" dirty="0"/>
          </a:p>
        </p:txBody>
      </p:sp>
      <p:sp>
        <p:nvSpPr>
          <p:cNvPr id="68632" name="Text Box 24"/>
          <p:cNvSpPr txBox="1">
            <a:spLocks noChangeArrowheads="1"/>
          </p:cNvSpPr>
          <p:nvPr/>
        </p:nvSpPr>
        <p:spPr bwMode="auto">
          <a:xfrm>
            <a:off x="6553200" y="3471446"/>
            <a:ext cx="1319711" cy="338554"/>
          </a:xfrm>
          <a:prstGeom prst="rect">
            <a:avLst/>
          </a:prstGeom>
          <a:noFill/>
          <a:ln w="12700">
            <a:noFill/>
            <a:miter lim="800000"/>
            <a:headEnd/>
            <a:tailEnd/>
          </a:ln>
          <a:effectLst/>
        </p:spPr>
        <p:txBody>
          <a:bodyPr wrap="square" anchor="ctr">
            <a:prstTxWarp prst="textNoShape">
              <a:avLst/>
            </a:prstTxWarp>
            <a:spAutoFit/>
          </a:bodyPr>
          <a:lstStyle/>
          <a:p>
            <a:pPr algn="ctr">
              <a:lnSpc>
                <a:spcPct val="100000"/>
              </a:lnSpc>
            </a:pPr>
            <a:r>
              <a:rPr lang="en-US" sz="1600" dirty="0"/>
              <a:t>Main memory</a:t>
            </a:r>
          </a:p>
        </p:txBody>
      </p:sp>
      <p:sp>
        <p:nvSpPr>
          <p:cNvPr id="68633" name="Text Box 25"/>
          <p:cNvSpPr txBox="1">
            <a:spLocks noChangeArrowheads="1"/>
          </p:cNvSpPr>
          <p:nvPr/>
        </p:nvSpPr>
        <p:spPr bwMode="auto">
          <a:xfrm>
            <a:off x="1252021" y="3012073"/>
            <a:ext cx="586819"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a:t>
            </a:r>
            <a:r>
              <a:rPr lang="en-US" sz="1600" dirty="0" err="1"/>
              <a:t>rax</a:t>
            </a:r>
            <a:endParaRPr lang="en-US" sz="1600" dirty="0"/>
          </a:p>
        </p:txBody>
      </p:sp>
      <p:sp>
        <p:nvSpPr>
          <p:cNvPr id="68634" name="Text Box 26"/>
          <p:cNvSpPr txBox="1">
            <a:spLocks noChangeArrowheads="1"/>
          </p:cNvSpPr>
          <p:nvPr/>
        </p:nvSpPr>
        <p:spPr bwMode="auto">
          <a:xfrm>
            <a:off x="4306800" y="3713748"/>
            <a:ext cx="970137"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a:t>I/O bridge</a:t>
            </a:r>
          </a:p>
        </p:txBody>
      </p:sp>
      <p:sp>
        <p:nvSpPr>
          <p:cNvPr id="68635" name="Text Box 27"/>
          <p:cNvSpPr txBox="1">
            <a:spLocks noChangeArrowheads="1"/>
          </p:cNvSpPr>
          <p:nvPr/>
        </p:nvSpPr>
        <p:spPr bwMode="auto">
          <a:xfrm>
            <a:off x="4648200" y="2466975"/>
            <a:ext cx="2984811" cy="584776"/>
          </a:xfrm>
          <a:prstGeom prst="rect">
            <a:avLst/>
          </a:prstGeom>
          <a:noFill/>
          <a:ln w="25400">
            <a:noFill/>
            <a:miter lim="800000"/>
            <a:headEnd/>
            <a:tailEnd/>
          </a:ln>
          <a:effectLst/>
        </p:spPr>
        <p:txBody>
          <a:bodyPr wrap="none">
            <a:prstTxWarp prst="textNoShape">
              <a:avLst/>
            </a:prstTxWarp>
            <a:spAutoFit/>
          </a:bodyPr>
          <a:lstStyle/>
          <a:p>
            <a:pPr algn="l">
              <a:lnSpc>
                <a:spcPct val="100000"/>
              </a:lnSpc>
            </a:pPr>
            <a:r>
              <a:rPr lang="en-US" sz="1600" dirty="0">
                <a:solidFill>
                  <a:srgbClr val="FF0000"/>
                </a:solidFill>
              </a:rPr>
              <a:t>Load operation</a:t>
            </a:r>
            <a:r>
              <a:rPr lang="en-US" sz="1600" dirty="0"/>
              <a:t>:</a:t>
            </a:r>
            <a:r>
              <a:rPr lang="en-US" sz="1600" dirty="0">
                <a:latin typeface="Times" charset="0"/>
              </a:rPr>
              <a:t> </a:t>
            </a:r>
            <a:r>
              <a:rPr lang="en-US" sz="1600" dirty="0" err="1">
                <a:latin typeface="Courier New" charset="0"/>
              </a:rPr>
              <a:t>movq</a:t>
            </a:r>
            <a:r>
              <a:rPr lang="en-US" sz="1600" dirty="0">
                <a:latin typeface="Courier New" charset="0"/>
              </a:rPr>
              <a:t> A, %</a:t>
            </a:r>
            <a:r>
              <a:rPr lang="en-US" sz="1600" dirty="0" err="1">
                <a:latin typeface="Courier New" charset="0"/>
              </a:rPr>
              <a:t>rax</a:t>
            </a:r>
            <a:endParaRPr lang="en-US" sz="1600" dirty="0">
              <a:latin typeface="Times" charset="0"/>
            </a:endParaRPr>
          </a:p>
          <a:p>
            <a:pPr algn="l">
              <a:lnSpc>
                <a:spcPct val="100000"/>
              </a:lnSpc>
            </a:pPr>
            <a:endParaRPr lang="en-US" sz="1600" dirty="0"/>
          </a:p>
        </p:txBody>
      </p:sp>
      <p:sp>
        <p:nvSpPr>
          <p:cNvPr id="2" name="Rectangle 1">
            <a:extLst>
              <a:ext uri="{FF2B5EF4-FFF2-40B4-BE49-F238E27FC236}">
                <a16:creationId xmlns:a16="http://schemas.microsoft.com/office/drawing/2014/main" id="{A7FB1658-2F82-7D28-E6A6-9367E890847E}"/>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370802BA-1B19-BEBA-39A0-E8D9BB96959D}"/>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59" name="Rectangle 27"/>
          <p:cNvSpPr>
            <a:spLocks noGrp="1" noChangeArrowheads="1"/>
          </p:cNvSpPr>
          <p:nvPr>
            <p:ph type="title"/>
          </p:nvPr>
        </p:nvSpPr>
        <p:spPr/>
        <p:txBody>
          <a:bodyPr/>
          <a:lstStyle/>
          <a:p>
            <a:r>
              <a:rPr lang="en-US" dirty="0"/>
              <a:t>Memory Read Transaction (3)</a:t>
            </a:r>
          </a:p>
        </p:txBody>
      </p:sp>
      <p:sp>
        <p:nvSpPr>
          <p:cNvPr id="69660" name="Rectangle 28"/>
          <p:cNvSpPr>
            <a:spLocks noGrp="1" noChangeArrowheads="1"/>
          </p:cNvSpPr>
          <p:nvPr>
            <p:ph type="body" idx="1"/>
          </p:nvPr>
        </p:nvSpPr>
        <p:spPr/>
        <p:txBody>
          <a:bodyPr/>
          <a:lstStyle/>
          <a:p>
            <a:r>
              <a:rPr lang="en-US" dirty="0"/>
              <a:t>CPU read word x from the bus and copies it into register %</a:t>
            </a:r>
            <a:r>
              <a:rPr lang="en-US" dirty="0" err="1"/>
              <a:t>rax</a:t>
            </a:r>
            <a:r>
              <a:rPr lang="en-US" dirty="0"/>
              <a:t>.</a:t>
            </a:r>
          </a:p>
        </p:txBody>
      </p:sp>
      <p:sp>
        <p:nvSpPr>
          <p:cNvPr id="69636" name="AutoShape 4"/>
          <p:cNvSpPr>
            <a:spLocks noChangeArrowheads="1"/>
          </p:cNvSpPr>
          <p:nvPr/>
        </p:nvSpPr>
        <p:spPr bwMode="auto">
          <a:xfrm>
            <a:off x="5248275" y="3962400"/>
            <a:ext cx="1492250" cy="533400"/>
          </a:xfrm>
          <a:prstGeom prst="leftRightArrow">
            <a:avLst>
              <a:gd name="adj1" fmla="val 50000"/>
              <a:gd name="adj2" fmla="val 55952"/>
            </a:avLst>
          </a:prstGeom>
          <a:solidFill>
            <a:srgbClr val="F7F5CD"/>
          </a:solid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69637" name="Rectangle 5"/>
          <p:cNvSpPr>
            <a:spLocks noChangeArrowheads="1"/>
          </p:cNvSpPr>
          <p:nvPr/>
        </p:nvSpPr>
        <p:spPr bwMode="auto">
          <a:xfrm>
            <a:off x="4333875" y="3994150"/>
            <a:ext cx="909638" cy="57785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69638" name="AutoShape 6"/>
          <p:cNvSpPr>
            <a:spLocks noChangeArrowheads="1"/>
          </p:cNvSpPr>
          <p:nvPr/>
        </p:nvSpPr>
        <p:spPr bwMode="auto">
          <a:xfrm>
            <a:off x="2876550" y="3962400"/>
            <a:ext cx="1452563" cy="533400"/>
          </a:xfrm>
          <a:prstGeom prst="leftRightArrow">
            <a:avLst>
              <a:gd name="adj1" fmla="val 50000"/>
              <a:gd name="adj2" fmla="val 54464"/>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69639" name="Rectangle 7"/>
          <p:cNvSpPr>
            <a:spLocks noChangeArrowheads="1"/>
          </p:cNvSpPr>
          <p:nvPr/>
        </p:nvSpPr>
        <p:spPr bwMode="auto">
          <a:xfrm>
            <a:off x="1892300" y="266700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9640" name="Rectangle 8"/>
          <p:cNvSpPr>
            <a:spLocks noChangeArrowheads="1"/>
          </p:cNvSpPr>
          <p:nvPr/>
        </p:nvSpPr>
        <p:spPr bwMode="auto">
          <a:xfrm>
            <a:off x="1892300" y="281940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9641" name="Rectangle 9"/>
          <p:cNvSpPr>
            <a:spLocks noChangeArrowheads="1"/>
          </p:cNvSpPr>
          <p:nvPr/>
        </p:nvSpPr>
        <p:spPr bwMode="auto">
          <a:xfrm>
            <a:off x="1892300" y="297180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9642" name="Rectangle 10"/>
          <p:cNvSpPr>
            <a:spLocks noChangeArrowheads="1"/>
          </p:cNvSpPr>
          <p:nvPr/>
        </p:nvSpPr>
        <p:spPr bwMode="auto">
          <a:xfrm>
            <a:off x="1892300" y="312420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400" dirty="0" err="1"/>
              <a:t>x</a:t>
            </a:r>
            <a:endParaRPr lang="en-US" sz="1000" dirty="0"/>
          </a:p>
        </p:txBody>
      </p:sp>
      <p:sp>
        <p:nvSpPr>
          <p:cNvPr id="69643" name="Rectangle 11"/>
          <p:cNvSpPr>
            <a:spLocks noChangeArrowheads="1"/>
          </p:cNvSpPr>
          <p:nvPr/>
        </p:nvSpPr>
        <p:spPr bwMode="auto">
          <a:xfrm>
            <a:off x="1892300" y="327660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9644" name="AutoShape 12"/>
          <p:cNvSpPr>
            <a:spLocks noChangeArrowheads="1"/>
          </p:cNvSpPr>
          <p:nvPr/>
        </p:nvSpPr>
        <p:spPr bwMode="auto">
          <a:xfrm>
            <a:off x="2665413" y="26670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9645" name="AutoShape 13"/>
          <p:cNvSpPr>
            <a:spLocks noChangeArrowheads="1"/>
          </p:cNvSpPr>
          <p:nvPr/>
        </p:nvSpPr>
        <p:spPr bwMode="auto">
          <a:xfrm flipH="1">
            <a:off x="2576513" y="30480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9646" name="Rectangle 14"/>
          <p:cNvSpPr>
            <a:spLocks noChangeArrowheads="1"/>
          </p:cNvSpPr>
          <p:nvPr/>
        </p:nvSpPr>
        <p:spPr bwMode="auto">
          <a:xfrm>
            <a:off x="3109913" y="2514600"/>
            <a:ext cx="533400" cy="10668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r>
              <a:rPr lang="en-US" sz="1600"/>
              <a:t>ALU</a:t>
            </a:r>
          </a:p>
        </p:txBody>
      </p:sp>
      <p:sp>
        <p:nvSpPr>
          <p:cNvPr id="69647" name="Text Box 15"/>
          <p:cNvSpPr txBox="1">
            <a:spLocks noChangeArrowheads="1"/>
          </p:cNvSpPr>
          <p:nvPr/>
        </p:nvSpPr>
        <p:spPr bwMode="auto">
          <a:xfrm>
            <a:off x="1689100" y="2345323"/>
            <a:ext cx="1147770"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Register file</a:t>
            </a:r>
          </a:p>
        </p:txBody>
      </p:sp>
      <p:sp>
        <p:nvSpPr>
          <p:cNvPr id="69648" name="AutoShape 16"/>
          <p:cNvSpPr>
            <a:spLocks noChangeArrowheads="1"/>
          </p:cNvSpPr>
          <p:nvPr/>
        </p:nvSpPr>
        <p:spPr bwMode="auto">
          <a:xfrm>
            <a:off x="1966913" y="3505200"/>
            <a:ext cx="609600" cy="45720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69649" name="Rectangle 17"/>
          <p:cNvSpPr>
            <a:spLocks noChangeArrowheads="1"/>
          </p:cNvSpPr>
          <p:nvPr/>
        </p:nvSpPr>
        <p:spPr bwMode="auto">
          <a:xfrm>
            <a:off x="976313" y="3994150"/>
            <a:ext cx="1873250" cy="57785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Bus interface</a:t>
            </a:r>
          </a:p>
        </p:txBody>
      </p:sp>
      <p:sp>
        <p:nvSpPr>
          <p:cNvPr id="69650" name="Line 18"/>
          <p:cNvSpPr>
            <a:spLocks noChangeShapeType="1"/>
          </p:cNvSpPr>
          <p:nvPr/>
        </p:nvSpPr>
        <p:spPr bwMode="auto">
          <a:xfrm flipV="1">
            <a:off x="2271713" y="3276600"/>
            <a:ext cx="0" cy="762000"/>
          </a:xfrm>
          <a:prstGeom prst="line">
            <a:avLst/>
          </a:prstGeom>
          <a:noFill/>
          <a:ln w="76200">
            <a:solidFill>
              <a:srgbClr val="00FFFF"/>
            </a:solidFill>
            <a:round/>
            <a:headEnd/>
            <a:tailEnd type="triangle" w="med" len="med"/>
          </a:ln>
          <a:effectLst/>
        </p:spPr>
        <p:txBody>
          <a:bodyPr wrap="none" anchor="ctr">
            <a:prstTxWarp prst="textNoShape">
              <a:avLst/>
            </a:prstTxWarp>
          </a:bodyPr>
          <a:lstStyle/>
          <a:p>
            <a:endParaRPr lang="en-US"/>
          </a:p>
        </p:txBody>
      </p:sp>
      <p:sp>
        <p:nvSpPr>
          <p:cNvPr id="69651" name="Rectangle 19"/>
          <p:cNvSpPr>
            <a:spLocks noChangeArrowheads="1"/>
          </p:cNvSpPr>
          <p:nvPr/>
        </p:nvSpPr>
        <p:spPr bwMode="auto">
          <a:xfrm>
            <a:off x="6772275" y="3810000"/>
            <a:ext cx="909638" cy="9144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69652" name="Rectangle 20"/>
          <p:cNvSpPr>
            <a:spLocks noChangeArrowheads="1"/>
          </p:cNvSpPr>
          <p:nvPr/>
        </p:nvSpPr>
        <p:spPr bwMode="auto">
          <a:xfrm>
            <a:off x="6767513" y="4283075"/>
            <a:ext cx="914400" cy="152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400"/>
              <a:t>x</a:t>
            </a:r>
            <a:endParaRPr lang="en-US" sz="1000"/>
          </a:p>
        </p:txBody>
      </p:sp>
      <p:sp>
        <p:nvSpPr>
          <p:cNvPr id="69653" name="Text Box 21"/>
          <p:cNvSpPr txBox="1">
            <a:spLocks noChangeArrowheads="1"/>
          </p:cNvSpPr>
          <p:nvPr/>
        </p:nvSpPr>
        <p:spPr bwMode="auto">
          <a:xfrm>
            <a:off x="6477000" y="3471446"/>
            <a:ext cx="1499097" cy="338554"/>
          </a:xfrm>
          <a:prstGeom prst="rect">
            <a:avLst/>
          </a:prstGeom>
          <a:noFill/>
          <a:ln w="12700">
            <a:noFill/>
            <a:miter lim="800000"/>
            <a:headEnd/>
            <a:tailEnd/>
          </a:ln>
          <a:effectLst/>
        </p:spPr>
        <p:txBody>
          <a:bodyPr wrap="square" anchor="ctr">
            <a:prstTxWarp prst="textNoShape">
              <a:avLst/>
            </a:prstTxWarp>
            <a:spAutoFit/>
          </a:bodyPr>
          <a:lstStyle/>
          <a:p>
            <a:pPr algn="ctr">
              <a:lnSpc>
                <a:spcPct val="100000"/>
              </a:lnSpc>
            </a:pPr>
            <a:r>
              <a:rPr lang="en-US" sz="1600" dirty="0"/>
              <a:t>Main memory</a:t>
            </a:r>
          </a:p>
        </p:txBody>
      </p:sp>
      <p:sp>
        <p:nvSpPr>
          <p:cNvPr id="69654" name="Text Box 22"/>
          <p:cNvSpPr txBox="1">
            <a:spLocks noChangeArrowheads="1"/>
          </p:cNvSpPr>
          <p:nvPr/>
        </p:nvSpPr>
        <p:spPr bwMode="auto">
          <a:xfrm>
            <a:off x="7678738" y="3671888"/>
            <a:ext cx="296862"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0</a:t>
            </a:r>
          </a:p>
        </p:txBody>
      </p:sp>
      <p:sp>
        <p:nvSpPr>
          <p:cNvPr id="69655" name="Text Box 23"/>
          <p:cNvSpPr txBox="1">
            <a:spLocks noChangeArrowheads="1"/>
          </p:cNvSpPr>
          <p:nvPr/>
        </p:nvSpPr>
        <p:spPr bwMode="auto">
          <a:xfrm>
            <a:off x="7662863" y="4175125"/>
            <a:ext cx="33020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A</a:t>
            </a:r>
          </a:p>
        </p:txBody>
      </p:sp>
      <p:sp>
        <p:nvSpPr>
          <p:cNvPr id="69656" name="Text Box 24"/>
          <p:cNvSpPr txBox="1">
            <a:spLocks noChangeArrowheads="1"/>
          </p:cNvSpPr>
          <p:nvPr/>
        </p:nvSpPr>
        <p:spPr bwMode="auto">
          <a:xfrm>
            <a:off x="1252021" y="2999373"/>
            <a:ext cx="586819"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a:t>
            </a:r>
            <a:r>
              <a:rPr lang="en-US" sz="1600" dirty="0" err="1"/>
              <a:t>rax</a:t>
            </a:r>
            <a:endParaRPr lang="en-US" sz="1600" dirty="0"/>
          </a:p>
        </p:txBody>
      </p:sp>
      <p:sp>
        <p:nvSpPr>
          <p:cNvPr id="69657" name="Text Box 25"/>
          <p:cNvSpPr txBox="1">
            <a:spLocks noChangeArrowheads="1"/>
          </p:cNvSpPr>
          <p:nvPr/>
        </p:nvSpPr>
        <p:spPr bwMode="auto">
          <a:xfrm>
            <a:off x="4306800" y="3701048"/>
            <a:ext cx="970137"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I/O bridge</a:t>
            </a:r>
          </a:p>
        </p:txBody>
      </p:sp>
      <p:sp>
        <p:nvSpPr>
          <p:cNvPr id="69658" name="Text Box 26"/>
          <p:cNvSpPr txBox="1">
            <a:spLocks noChangeArrowheads="1"/>
          </p:cNvSpPr>
          <p:nvPr/>
        </p:nvSpPr>
        <p:spPr bwMode="auto">
          <a:xfrm>
            <a:off x="4648200" y="2438400"/>
            <a:ext cx="2984811" cy="338554"/>
          </a:xfrm>
          <a:prstGeom prst="rect">
            <a:avLst/>
          </a:prstGeom>
          <a:noFill/>
          <a:ln w="25400">
            <a:noFill/>
            <a:miter lim="800000"/>
            <a:headEnd/>
            <a:tailEnd/>
          </a:ln>
          <a:effectLst/>
        </p:spPr>
        <p:txBody>
          <a:bodyPr wrap="none">
            <a:prstTxWarp prst="textNoShape">
              <a:avLst/>
            </a:prstTxWarp>
            <a:spAutoFit/>
          </a:bodyPr>
          <a:lstStyle/>
          <a:p>
            <a:pPr algn="l">
              <a:lnSpc>
                <a:spcPct val="100000"/>
              </a:lnSpc>
            </a:pPr>
            <a:r>
              <a:rPr lang="en-US" sz="1600" dirty="0">
                <a:solidFill>
                  <a:srgbClr val="FF0000"/>
                </a:solidFill>
              </a:rPr>
              <a:t>Load operation</a:t>
            </a:r>
            <a:r>
              <a:rPr lang="en-US" sz="1600" dirty="0"/>
              <a:t>:</a:t>
            </a:r>
            <a:r>
              <a:rPr lang="en-US" sz="1600" dirty="0">
                <a:latin typeface="Times" charset="0"/>
              </a:rPr>
              <a:t> </a:t>
            </a:r>
            <a:r>
              <a:rPr lang="en-US" sz="1600" dirty="0" err="1">
                <a:latin typeface="Courier New" charset="0"/>
              </a:rPr>
              <a:t>movq</a:t>
            </a:r>
            <a:r>
              <a:rPr lang="en-US" sz="1600" dirty="0">
                <a:latin typeface="Courier New" charset="0"/>
              </a:rPr>
              <a:t> A, %</a:t>
            </a:r>
            <a:r>
              <a:rPr lang="en-US" sz="1600" dirty="0" err="1">
                <a:latin typeface="Courier New" charset="0"/>
              </a:rPr>
              <a:t>rax</a:t>
            </a:r>
            <a:endParaRPr lang="en-US" sz="1600" dirty="0">
              <a:latin typeface="Times" charset="0"/>
            </a:endParaRPr>
          </a:p>
        </p:txBody>
      </p:sp>
      <p:sp>
        <p:nvSpPr>
          <p:cNvPr id="2" name="Rectangle 1">
            <a:extLst>
              <a:ext uri="{FF2B5EF4-FFF2-40B4-BE49-F238E27FC236}">
                <a16:creationId xmlns:a16="http://schemas.microsoft.com/office/drawing/2014/main" id="{CDED5070-80D6-E4C8-678A-DDFA60FCEC91}"/>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7D169B68-46B9-79D1-CFFF-C9256CDFCADE}"/>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40" name="Rectangle 28"/>
          <p:cNvSpPr>
            <a:spLocks noGrp="1" noChangeArrowheads="1"/>
          </p:cNvSpPr>
          <p:nvPr>
            <p:ph type="title"/>
          </p:nvPr>
        </p:nvSpPr>
        <p:spPr/>
        <p:txBody>
          <a:bodyPr/>
          <a:lstStyle/>
          <a:p>
            <a:r>
              <a:rPr lang="en-US" dirty="0"/>
              <a:t>Memory Write Transaction (1)</a:t>
            </a:r>
          </a:p>
        </p:txBody>
      </p:sp>
      <p:sp>
        <p:nvSpPr>
          <p:cNvPr id="90141" name="Rectangle 29"/>
          <p:cNvSpPr>
            <a:spLocks noGrp="1" noChangeArrowheads="1"/>
          </p:cNvSpPr>
          <p:nvPr>
            <p:ph type="body" idx="1"/>
          </p:nvPr>
        </p:nvSpPr>
        <p:spPr/>
        <p:txBody>
          <a:bodyPr/>
          <a:lstStyle/>
          <a:p>
            <a:r>
              <a:rPr lang="en-US" dirty="0"/>
              <a:t> CPU places address A on bus. Main memory reads it and waits for the corresponding data word to arrive.</a:t>
            </a:r>
          </a:p>
        </p:txBody>
      </p:sp>
      <p:sp>
        <p:nvSpPr>
          <p:cNvPr id="90116" name="AutoShape 4"/>
          <p:cNvSpPr>
            <a:spLocks noChangeArrowheads="1"/>
          </p:cNvSpPr>
          <p:nvPr/>
        </p:nvSpPr>
        <p:spPr bwMode="auto">
          <a:xfrm>
            <a:off x="5248275" y="3962400"/>
            <a:ext cx="1492250" cy="533400"/>
          </a:xfrm>
          <a:prstGeom prst="leftRightArrow">
            <a:avLst>
              <a:gd name="adj1" fmla="val 50000"/>
              <a:gd name="adj2" fmla="val 55952"/>
            </a:avLst>
          </a:prstGeom>
          <a:solidFill>
            <a:srgbClr val="F7F5CD"/>
          </a:solid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0117" name="Rectangle 5"/>
          <p:cNvSpPr>
            <a:spLocks noChangeArrowheads="1"/>
          </p:cNvSpPr>
          <p:nvPr/>
        </p:nvSpPr>
        <p:spPr bwMode="auto">
          <a:xfrm>
            <a:off x="4333875" y="3994150"/>
            <a:ext cx="909638" cy="57785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0118" name="AutoShape 6"/>
          <p:cNvSpPr>
            <a:spLocks noChangeArrowheads="1"/>
          </p:cNvSpPr>
          <p:nvPr/>
        </p:nvSpPr>
        <p:spPr bwMode="auto">
          <a:xfrm>
            <a:off x="2876550" y="3962400"/>
            <a:ext cx="1452563" cy="533400"/>
          </a:xfrm>
          <a:prstGeom prst="leftRightArrow">
            <a:avLst>
              <a:gd name="adj1" fmla="val 50000"/>
              <a:gd name="adj2" fmla="val 54464"/>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0119" name="Rectangle 7"/>
          <p:cNvSpPr>
            <a:spLocks noChangeArrowheads="1"/>
          </p:cNvSpPr>
          <p:nvPr/>
        </p:nvSpPr>
        <p:spPr bwMode="auto">
          <a:xfrm>
            <a:off x="1892300" y="266700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0120" name="Rectangle 8"/>
          <p:cNvSpPr>
            <a:spLocks noChangeArrowheads="1"/>
          </p:cNvSpPr>
          <p:nvPr/>
        </p:nvSpPr>
        <p:spPr bwMode="auto">
          <a:xfrm>
            <a:off x="1892300" y="281940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0121" name="Rectangle 9"/>
          <p:cNvSpPr>
            <a:spLocks noChangeArrowheads="1"/>
          </p:cNvSpPr>
          <p:nvPr/>
        </p:nvSpPr>
        <p:spPr bwMode="auto">
          <a:xfrm>
            <a:off x="1892300" y="297180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0122" name="Rectangle 10"/>
          <p:cNvSpPr>
            <a:spLocks noChangeArrowheads="1"/>
          </p:cNvSpPr>
          <p:nvPr/>
        </p:nvSpPr>
        <p:spPr bwMode="auto">
          <a:xfrm>
            <a:off x="1892300" y="312420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400"/>
              <a:t>y</a:t>
            </a:r>
            <a:endParaRPr lang="en-US" sz="1000"/>
          </a:p>
        </p:txBody>
      </p:sp>
      <p:sp>
        <p:nvSpPr>
          <p:cNvPr id="90123" name="Rectangle 11"/>
          <p:cNvSpPr>
            <a:spLocks noChangeArrowheads="1"/>
          </p:cNvSpPr>
          <p:nvPr/>
        </p:nvSpPr>
        <p:spPr bwMode="auto">
          <a:xfrm>
            <a:off x="1892300" y="327660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0124" name="AutoShape 12"/>
          <p:cNvSpPr>
            <a:spLocks noChangeArrowheads="1"/>
          </p:cNvSpPr>
          <p:nvPr/>
        </p:nvSpPr>
        <p:spPr bwMode="auto">
          <a:xfrm>
            <a:off x="2665413" y="26670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0125" name="AutoShape 13"/>
          <p:cNvSpPr>
            <a:spLocks noChangeArrowheads="1"/>
          </p:cNvSpPr>
          <p:nvPr/>
        </p:nvSpPr>
        <p:spPr bwMode="auto">
          <a:xfrm flipH="1">
            <a:off x="2576513" y="30480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0126" name="Rectangle 14"/>
          <p:cNvSpPr>
            <a:spLocks noChangeArrowheads="1"/>
          </p:cNvSpPr>
          <p:nvPr/>
        </p:nvSpPr>
        <p:spPr bwMode="auto">
          <a:xfrm>
            <a:off x="3109913" y="2514600"/>
            <a:ext cx="533400" cy="10668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ALU</a:t>
            </a:r>
          </a:p>
        </p:txBody>
      </p:sp>
      <p:sp>
        <p:nvSpPr>
          <p:cNvPr id="90127" name="Text Box 15"/>
          <p:cNvSpPr txBox="1">
            <a:spLocks noChangeArrowheads="1"/>
          </p:cNvSpPr>
          <p:nvPr/>
        </p:nvSpPr>
        <p:spPr bwMode="auto">
          <a:xfrm>
            <a:off x="1677190" y="2345323"/>
            <a:ext cx="114777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Register file</a:t>
            </a:r>
          </a:p>
        </p:txBody>
      </p:sp>
      <p:sp>
        <p:nvSpPr>
          <p:cNvPr id="90128" name="AutoShape 16"/>
          <p:cNvSpPr>
            <a:spLocks noChangeArrowheads="1"/>
          </p:cNvSpPr>
          <p:nvPr/>
        </p:nvSpPr>
        <p:spPr bwMode="auto">
          <a:xfrm>
            <a:off x="1966913" y="3505200"/>
            <a:ext cx="609600" cy="45720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0129" name="Line 17"/>
          <p:cNvSpPr>
            <a:spLocks noChangeShapeType="1"/>
          </p:cNvSpPr>
          <p:nvPr/>
        </p:nvSpPr>
        <p:spPr bwMode="auto">
          <a:xfrm>
            <a:off x="2805113" y="4191000"/>
            <a:ext cx="3962400" cy="0"/>
          </a:xfrm>
          <a:prstGeom prst="line">
            <a:avLst/>
          </a:prstGeom>
          <a:noFill/>
          <a:ln w="76200">
            <a:solidFill>
              <a:srgbClr val="00FFFF"/>
            </a:solidFill>
            <a:round/>
            <a:headEnd/>
            <a:tailEnd type="triangle" w="med" len="med"/>
          </a:ln>
          <a:effectLst/>
        </p:spPr>
        <p:txBody>
          <a:bodyPr wrap="none" anchor="ctr">
            <a:prstTxWarp prst="textNoShape">
              <a:avLst/>
            </a:prstTxWarp>
          </a:bodyPr>
          <a:lstStyle/>
          <a:p>
            <a:endParaRPr lang="en-US"/>
          </a:p>
        </p:txBody>
      </p:sp>
      <p:sp>
        <p:nvSpPr>
          <p:cNvPr id="90130" name="Rectangle 18"/>
          <p:cNvSpPr>
            <a:spLocks noChangeArrowheads="1"/>
          </p:cNvSpPr>
          <p:nvPr/>
        </p:nvSpPr>
        <p:spPr bwMode="auto">
          <a:xfrm>
            <a:off x="976313" y="3994150"/>
            <a:ext cx="1873250" cy="57785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Bus interface</a:t>
            </a:r>
          </a:p>
        </p:txBody>
      </p:sp>
      <p:sp>
        <p:nvSpPr>
          <p:cNvPr id="90131" name="Text Box 19"/>
          <p:cNvSpPr txBox="1">
            <a:spLocks noChangeArrowheads="1"/>
          </p:cNvSpPr>
          <p:nvPr/>
        </p:nvSpPr>
        <p:spPr bwMode="auto">
          <a:xfrm>
            <a:off x="5761931" y="3808998"/>
            <a:ext cx="337938"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i="1"/>
              <a:t>A</a:t>
            </a:r>
          </a:p>
        </p:txBody>
      </p:sp>
      <p:sp>
        <p:nvSpPr>
          <p:cNvPr id="90132" name="Rectangle 20"/>
          <p:cNvSpPr>
            <a:spLocks noChangeArrowheads="1"/>
          </p:cNvSpPr>
          <p:nvPr/>
        </p:nvSpPr>
        <p:spPr bwMode="auto">
          <a:xfrm>
            <a:off x="6772275" y="3810000"/>
            <a:ext cx="909638" cy="9144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0133" name="Rectangle 21"/>
          <p:cNvSpPr>
            <a:spLocks noChangeArrowheads="1"/>
          </p:cNvSpPr>
          <p:nvPr/>
        </p:nvSpPr>
        <p:spPr bwMode="auto">
          <a:xfrm>
            <a:off x="6767513" y="4283075"/>
            <a:ext cx="914400" cy="1524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000"/>
          </a:p>
        </p:txBody>
      </p:sp>
      <p:sp>
        <p:nvSpPr>
          <p:cNvPr id="90134" name="Text Box 22"/>
          <p:cNvSpPr txBox="1">
            <a:spLocks noChangeArrowheads="1"/>
          </p:cNvSpPr>
          <p:nvPr/>
        </p:nvSpPr>
        <p:spPr bwMode="auto">
          <a:xfrm>
            <a:off x="6644833" y="3471446"/>
            <a:ext cx="1269298"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Main memory</a:t>
            </a:r>
          </a:p>
        </p:txBody>
      </p:sp>
      <p:sp>
        <p:nvSpPr>
          <p:cNvPr id="90135" name="Text Box 23"/>
          <p:cNvSpPr txBox="1">
            <a:spLocks noChangeArrowheads="1"/>
          </p:cNvSpPr>
          <p:nvPr/>
        </p:nvSpPr>
        <p:spPr bwMode="auto">
          <a:xfrm>
            <a:off x="7678738" y="3671888"/>
            <a:ext cx="296862"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0</a:t>
            </a:r>
          </a:p>
        </p:txBody>
      </p:sp>
      <p:sp>
        <p:nvSpPr>
          <p:cNvPr id="90136" name="Text Box 24"/>
          <p:cNvSpPr txBox="1">
            <a:spLocks noChangeArrowheads="1"/>
          </p:cNvSpPr>
          <p:nvPr/>
        </p:nvSpPr>
        <p:spPr bwMode="auto">
          <a:xfrm>
            <a:off x="7662863" y="4175125"/>
            <a:ext cx="33020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A</a:t>
            </a:r>
          </a:p>
        </p:txBody>
      </p:sp>
      <p:sp>
        <p:nvSpPr>
          <p:cNvPr id="90137" name="Text Box 25"/>
          <p:cNvSpPr txBox="1">
            <a:spLocks noChangeArrowheads="1"/>
          </p:cNvSpPr>
          <p:nvPr/>
        </p:nvSpPr>
        <p:spPr bwMode="auto">
          <a:xfrm>
            <a:off x="1252021" y="2999373"/>
            <a:ext cx="586819"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a:t>
            </a:r>
            <a:r>
              <a:rPr lang="en-US" sz="1600" dirty="0" err="1"/>
              <a:t>rax</a:t>
            </a:r>
            <a:endParaRPr lang="en-US" sz="1600" dirty="0"/>
          </a:p>
        </p:txBody>
      </p:sp>
      <p:sp>
        <p:nvSpPr>
          <p:cNvPr id="90138" name="Text Box 26"/>
          <p:cNvSpPr txBox="1">
            <a:spLocks noChangeArrowheads="1"/>
          </p:cNvSpPr>
          <p:nvPr/>
        </p:nvSpPr>
        <p:spPr bwMode="auto">
          <a:xfrm>
            <a:off x="4306800" y="3701048"/>
            <a:ext cx="970137"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a:t>I/O bridge</a:t>
            </a:r>
          </a:p>
        </p:txBody>
      </p:sp>
      <p:sp>
        <p:nvSpPr>
          <p:cNvPr id="90139" name="Text Box 27"/>
          <p:cNvSpPr txBox="1">
            <a:spLocks noChangeArrowheads="1"/>
          </p:cNvSpPr>
          <p:nvPr/>
        </p:nvSpPr>
        <p:spPr bwMode="auto">
          <a:xfrm>
            <a:off x="4648200" y="2438400"/>
            <a:ext cx="3018775" cy="584776"/>
          </a:xfrm>
          <a:prstGeom prst="rect">
            <a:avLst/>
          </a:prstGeom>
          <a:noFill/>
          <a:ln w="25400">
            <a:noFill/>
            <a:miter lim="800000"/>
            <a:headEnd/>
            <a:tailEnd/>
          </a:ln>
          <a:effectLst/>
        </p:spPr>
        <p:txBody>
          <a:bodyPr wrap="none">
            <a:prstTxWarp prst="textNoShape">
              <a:avLst/>
            </a:prstTxWarp>
            <a:spAutoFit/>
          </a:bodyPr>
          <a:lstStyle/>
          <a:p>
            <a:pPr algn="l">
              <a:lnSpc>
                <a:spcPct val="100000"/>
              </a:lnSpc>
            </a:pPr>
            <a:r>
              <a:rPr lang="en-US" sz="1600" dirty="0">
                <a:solidFill>
                  <a:srgbClr val="FF0000"/>
                </a:solidFill>
              </a:rPr>
              <a:t>Store operation</a:t>
            </a:r>
            <a:r>
              <a:rPr lang="en-US" sz="1600" dirty="0"/>
              <a:t>:</a:t>
            </a:r>
            <a:r>
              <a:rPr lang="en-US" sz="1600" dirty="0">
                <a:latin typeface="Times" charset="0"/>
              </a:rPr>
              <a:t> </a:t>
            </a:r>
            <a:r>
              <a:rPr lang="en-US" sz="1600" dirty="0" err="1">
                <a:latin typeface="Courier New" charset="0"/>
              </a:rPr>
              <a:t>movq</a:t>
            </a:r>
            <a:r>
              <a:rPr lang="en-US" sz="1600" dirty="0">
                <a:latin typeface="Courier New" charset="0"/>
              </a:rPr>
              <a:t> %</a:t>
            </a:r>
            <a:r>
              <a:rPr lang="en-US" sz="1600" dirty="0" err="1">
                <a:latin typeface="Courier New" charset="0"/>
              </a:rPr>
              <a:t>rax</a:t>
            </a:r>
            <a:r>
              <a:rPr lang="en-US" sz="1600" dirty="0">
                <a:latin typeface="Courier New" charset="0"/>
              </a:rPr>
              <a:t>, A</a:t>
            </a:r>
            <a:endParaRPr lang="en-US" sz="1600" dirty="0">
              <a:latin typeface="Times" charset="0"/>
            </a:endParaRPr>
          </a:p>
          <a:p>
            <a:pPr algn="l">
              <a:lnSpc>
                <a:spcPct val="100000"/>
              </a:lnSpc>
            </a:pPr>
            <a:endParaRPr lang="en-US" sz="1600" dirty="0"/>
          </a:p>
        </p:txBody>
      </p:sp>
      <p:sp>
        <p:nvSpPr>
          <p:cNvPr id="2" name="Rectangle 1">
            <a:extLst>
              <a:ext uri="{FF2B5EF4-FFF2-40B4-BE49-F238E27FC236}">
                <a16:creationId xmlns:a16="http://schemas.microsoft.com/office/drawing/2014/main" id="{7BA5C775-89EB-42D5-B396-1EADA37B17CB}"/>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2D9CAED7-68E6-7FCA-B429-BBE0184155F0}"/>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65" name="Rectangle 29"/>
          <p:cNvSpPr>
            <a:spLocks noGrp="1" noChangeArrowheads="1"/>
          </p:cNvSpPr>
          <p:nvPr>
            <p:ph type="title"/>
          </p:nvPr>
        </p:nvSpPr>
        <p:spPr/>
        <p:txBody>
          <a:bodyPr/>
          <a:lstStyle/>
          <a:p>
            <a:r>
              <a:rPr lang="en-US"/>
              <a:t>Memory Write Transaction (2)</a:t>
            </a:r>
          </a:p>
        </p:txBody>
      </p:sp>
      <p:sp>
        <p:nvSpPr>
          <p:cNvPr id="91166" name="Rectangle 30"/>
          <p:cNvSpPr>
            <a:spLocks noGrp="1" noChangeArrowheads="1"/>
          </p:cNvSpPr>
          <p:nvPr>
            <p:ph type="body" idx="1"/>
          </p:nvPr>
        </p:nvSpPr>
        <p:spPr/>
        <p:txBody>
          <a:bodyPr/>
          <a:lstStyle/>
          <a:p>
            <a:r>
              <a:rPr lang="en-US" dirty="0"/>
              <a:t> CPU places data word </a:t>
            </a:r>
            <a:r>
              <a:rPr lang="en-US" dirty="0" err="1"/>
              <a:t>y</a:t>
            </a:r>
            <a:r>
              <a:rPr lang="en-US" dirty="0"/>
              <a:t> on the bus.</a:t>
            </a:r>
          </a:p>
        </p:txBody>
      </p:sp>
      <p:sp>
        <p:nvSpPr>
          <p:cNvPr id="91140" name="Rectangle 4"/>
          <p:cNvSpPr>
            <a:spLocks noChangeArrowheads="1"/>
          </p:cNvSpPr>
          <p:nvPr/>
        </p:nvSpPr>
        <p:spPr bwMode="auto">
          <a:xfrm>
            <a:off x="6767513" y="3810000"/>
            <a:ext cx="909637" cy="9144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1141" name="AutoShape 5"/>
          <p:cNvSpPr>
            <a:spLocks noChangeArrowheads="1"/>
          </p:cNvSpPr>
          <p:nvPr/>
        </p:nvSpPr>
        <p:spPr bwMode="auto">
          <a:xfrm>
            <a:off x="5243513" y="3962400"/>
            <a:ext cx="1492250" cy="533400"/>
          </a:xfrm>
          <a:prstGeom prst="leftRightArrow">
            <a:avLst>
              <a:gd name="adj1" fmla="val 50000"/>
              <a:gd name="adj2" fmla="val 55952"/>
            </a:avLst>
          </a:prstGeom>
          <a:solidFill>
            <a:srgbClr val="F7F5CD"/>
          </a:solid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1142" name="Rectangle 6"/>
          <p:cNvSpPr>
            <a:spLocks noChangeArrowheads="1"/>
          </p:cNvSpPr>
          <p:nvPr/>
        </p:nvSpPr>
        <p:spPr bwMode="auto">
          <a:xfrm>
            <a:off x="4329113" y="3994150"/>
            <a:ext cx="909637" cy="57785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1143" name="AutoShape 7"/>
          <p:cNvSpPr>
            <a:spLocks noChangeArrowheads="1"/>
          </p:cNvSpPr>
          <p:nvPr/>
        </p:nvSpPr>
        <p:spPr bwMode="auto">
          <a:xfrm>
            <a:off x="2871788" y="3962400"/>
            <a:ext cx="1452562" cy="533400"/>
          </a:xfrm>
          <a:prstGeom prst="leftRightArrow">
            <a:avLst>
              <a:gd name="adj1" fmla="val 50000"/>
              <a:gd name="adj2" fmla="val 54464"/>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1144" name="Rectangle 8"/>
          <p:cNvSpPr>
            <a:spLocks noChangeArrowheads="1"/>
          </p:cNvSpPr>
          <p:nvPr/>
        </p:nvSpPr>
        <p:spPr bwMode="auto">
          <a:xfrm>
            <a:off x="1887538" y="26670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1145" name="Rectangle 9"/>
          <p:cNvSpPr>
            <a:spLocks noChangeArrowheads="1"/>
          </p:cNvSpPr>
          <p:nvPr/>
        </p:nvSpPr>
        <p:spPr bwMode="auto">
          <a:xfrm>
            <a:off x="1887538" y="28194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1146" name="Rectangle 10"/>
          <p:cNvSpPr>
            <a:spLocks noChangeArrowheads="1"/>
          </p:cNvSpPr>
          <p:nvPr/>
        </p:nvSpPr>
        <p:spPr bwMode="auto">
          <a:xfrm>
            <a:off x="1887538" y="29718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1147" name="Rectangle 11"/>
          <p:cNvSpPr>
            <a:spLocks noChangeArrowheads="1"/>
          </p:cNvSpPr>
          <p:nvPr/>
        </p:nvSpPr>
        <p:spPr bwMode="auto">
          <a:xfrm>
            <a:off x="1887538" y="31242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400" dirty="0" err="1"/>
              <a:t>y</a:t>
            </a:r>
            <a:endParaRPr lang="en-US" sz="1000" dirty="0"/>
          </a:p>
        </p:txBody>
      </p:sp>
      <p:sp>
        <p:nvSpPr>
          <p:cNvPr id="91148" name="Rectangle 12"/>
          <p:cNvSpPr>
            <a:spLocks noChangeArrowheads="1"/>
          </p:cNvSpPr>
          <p:nvPr/>
        </p:nvSpPr>
        <p:spPr bwMode="auto">
          <a:xfrm>
            <a:off x="1887538" y="32766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1149" name="AutoShape 13"/>
          <p:cNvSpPr>
            <a:spLocks noChangeArrowheads="1"/>
          </p:cNvSpPr>
          <p:nvPr/>
        </p:nvSpPr>
        <p:spPr bwMode="auto">
          <a:xfrm>
            <a:off x="2660650" y="26670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1150" name="AutoShape 14"/>
          <p:cNvSpPr>
            <a:spLocks noChangeArrowheads="1"/>
          </p:cNvSpPr>
          <p:nvPr/>
        </p:nvSpPr>
        <p:spPr bwMode="auto">
          <a:xfrm flipH="1">
            <a:off x="2571750" y="30480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1151" name="Rectangle 15"/>
          <p:cNvSpPr>
            <a:spLocks noChangeArrowheads="1"/>
          </p:cNvSpPr>
          <p:nvPr/>
        </p:nvSpPr>
        <p:spPr bwMode="auto">
          <a:xfrm>
            <a:off x="3105150" y="2514600"/>
            <a:ext cx="533400" cy="10668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r>
              <a:rPr lang="en-US" sz="1600"/>
              <a:t>ALU</a:t>
            </a:r>
          </a:p>
        </p:txBody>
      </p:sp>
      <p:sp>
        <p:nvSpPr>
          <p:cNvPr id="91152" name="Text Box 16"/>
          <p:cNvSpPr txBox="1">
            <a:spLocks noChangeArrowheads="1"/>
          </p:cNvSpPr>
          <p:nvPr/>
        </p:nvSpPr>
        <p:spPr bwMode="auto">
          <a:xfrm>
            <a:off x="1672428" y="2345323"/>
            <a:ext cx="114777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Register file</a:t>
            </a:r>
          </a:p>
        </p:txBody>
      </p:sp>
      <p:sp>
        <p:nvSpPr>
          <p:cNvPr id="91153" name="AutoShape 17"/>
          <p:cNvSpPr>
            <a:spLocks noChangeArrowheads="1"/>
          </p:cNvSpPr>
          <p:nvPr/>
        </p:nvSpPr>
        <p:spPr bwMode="auto">
          <a:xfrm>
            <a:off x="1962150" y="3505200"/>
            <a:ext cx="609600" cy="45720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1154" name="Rectangle 18"/>
          <p:cNvSpPr>
            <a:spLocks noChangeArrowheads="1"/>
          </p:cNvSpPr>
          <p:nvPr/>
        </p:nvSpPr>
        <p:spPr bwMode="auto">
          <a:xfrm>
            <a:off x="971550" y="3994150"/>
            <a:ext cx="1873250" cy="57785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Bus interface</a:t>
            </a:r>
          </a:p>
        </p:txBody>
      </p:sp>
      <p:sp>
        <p:nvSpPr>
          <p:cNvPr id="91155" name="Text Box 19"/>
          <p:cNvSpPr txBox="1">
            <a:spLocks noChangeArrowheads="1"/>
          </p:cNvSpPr>
          <p:nvPr/>
        </p:nvSpPr>
        <p:spPr bwMode="auto">
          <a:xfrm>
            <a:off x="5783263" y="3825875"/>
            <a:ext cx="282575" cy="30480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400" i="1"/>
              <a:t>y</a:t>
            </a:r>
          </a:p>
        </p:txBody>
      </p:sp>
      <p:sp>
        <p:nvSpPr>
          <p:cNvPr id="91156" name="Line 20"/>
          <p:cNvSpPr>
            <a:spLocks noChangeShapeType="1"/>
          </p:cNvSpPr>
          <p:nvPr/>
        </p:nvSpPr>
        <p:spPr bwMode="auto">
          <a:xfrm>
            <a:off x="2266950" y="3276600"/>
            <a:ext cx="0" cy="914400"/>
          </a:xfrm>
          <a:prstGeom prst="line">
            <a:avLst/>
          </a:prstGeom>
          <a:noFill/>
          <a:ln w="76200">
            <a:solidFill>
              <a:srgbClr val="00FFFF"/>
            </a:solidFill>
            <a:round/>
            <a:headEnd/>
            <a:tailEnd/>
          </a:ln>
          <a:effectLst/>
        </p:spPr>
        <p:txBody>
          <a:bodyPr wrap="none" anchor="ctr">
            <a:prstTxWarp prst="textNoShape">
              <a:avLst/>
            </a:prstTxWarp>
          </a:bodyPr>
          <a:lstStyle/>
          <a:p>
            <a:endParaRPr lang="en-US"/>
          </a:p>
        </p:txBody>
      </p:sp>
      <p:sp>
        <p:nvSpPr>
          <p:cNvPr id="91157" name="Line 21"/>
          <p:cNvSpPr>
            <a:spLocks noChangeShapeType="1"/>
          </p:cNvSpPr>
          <p:nvPr/>
        </p:nvSpPr>
        <p:spPr bwMode="auto">
          <a:xfrm>
            <a:off x="2266950" y="4191000"/>
            <a:ext cx="4495800" cy="0"/>
          </a:xfrm>
          <a:prstGeom prst="line">
            <a:avLst/>
          </a:prstGeom>
          <a:noFill/>
          <a:ln w="76200">
            <a:solidFill>
              <a:srgbClr val="00FFFF"/>
            </a:solidFill>
            <a:round/>
            <a:headEnd/>
            <a:tailEnd type="triangle" w="med" len="med"/>
          </a:ln>
          <a:effectLst/>
        </p:spPr>
        <p:txBody>
          <a:bodyPr wrap="none" anchor="ctr">
            <a:prstTxWarp prst="textNoShape">
              <a:avLst/>
            </a:prstTxWarp>
          </a:bodyPr>
          <a:lstStyle/>
          <a:p>
            <a:endParaRPr lang="en-US"/>
          </a:p>
        </p:txBody>
      </p:sp>
      <p:sp>
        <p:nvSpPr>
          <p:cNvPr id="91158" name="Rectangle 22"/>
          <p:cNvSpPr>
            <a:spLocks noChangeArrowheads="1"/>
          </p:cNvSpPr>
          <p:nvPr/>
        </p:nvSpPr>
        <p:spPr bwMode="auto">
          <a:xfrm>
            <a:off x="6762750" y="4267200"/>
            <a:ext cx="914400"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1159" name="Text Box 23"/>
          <p:cNvSpPr txBox="1">
            <a:spLocks noChangeArrowheads="1"/>
          </p:cNvSpPr>
          <p:nvPr/>
        </p:nvSpPr>
        <p:spPr bwMode="auto">
          <a:xfrm>
            <a:off x="6579302" y="3471446"/>
            <a:ext cx="1269298"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Main memory</a:t>
            </a:r>
          </a:p>
        </p:txBody>
      </p:sp>
      <p:sp>
        <p:nvSpPr>
          <p:cNvPr id="91160" name="Text Box 24"/>
          <p:cNvSpPr txBox="1">
            <a:spLocks noChangeArrowheads="1"/>
          </p:cNvSpPr>
          <p:nvPr/>
        </p:nvSpPr>
        <p:spPr bwMode="auto">
          <a:xfrm>
            <a:off x="7673975" y="3687763"/>
            <a:ext cx="296863"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0</a:t>
            </a:r>
          </a:p>
        </p:txBody>
      </p:sp>
      <p:sp>
        <p:nvSpPr>
          <p:cNvPr id="91161" name="Text Box 25"/>
          <p:cNvSpPr txBox="1">
            <a:spLocks noChangeArrowheads="1"/>
          </p:cNvSpPr>
          <p:nvPr/>
        </p:nvSpPr>
        <p:spPr bwMode="auto">
          <a:xfrm>
            <a:off x="7658100" y="4191000"/>
            <a:ext cx="33020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A</a:t>
            </a:r>
          </a:p>
        </p:txBody>
      </p:sp>
      <p:sp>
        <p:nvSpPr>
          <p:cNvPr id="91162" name="Text Box 26"/>
          <p:cNvSpPr txBox="1">
            <a:spLocks noChangeArrowheads="1"/>
          </p:cNvSpPr>
          <p:nvPr/>
        </p:nvSpPr>
        <p:spPr bwMode="auto">
          <a:xfrm>
            <a:off x="1247259" y="3015248"/>
            <a:ext cx="586819"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a:t>
            </a:r>
            <a:r>
              <a:rPr lang="en-US" sz="1600" dirty="0" err="1"/>
              <a:t>rax</a:t>
            </a:r>
            <a:endParaRPr lang="en-US" sz="1600" dirty="0"/>
          </a:p>
        </p:txBody>
      </p:sp>
      <p:sp>
        <p:nvSpPr>
          <p:cNvPr id="91163" name="Text Box 27"/>
          <p:cNvSpPr txBox="1">
            <a:spLocks noChangeArrowheads="1"/>
          </p:cNvSpPr>
          <p:nvPr/>
        </p:nvSpPr>
        <p:spPr bwMode="auto">
          <a:xfrm>
            <a:off x="4302038" y="3716923"/>
            <a:ext cx="970137"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I/O bridge</a:t>
            </a:r>
          </a:p>
        </p:txBody>
      </p:sp>
      <p:sp>
        <p:nvSpPr>
          <p:cNvPr id="91164" name="Text Box 28"/>
          <p:cNvSpPr txBox="1">
            <a:spLocks noChangeArrowheads="1"/>
          </p:cNvSpPr>
          <p:nvPr/>
        </p:nvSpPr>
        <p:spPr bwMode="auto">
          <a:xfrm>
            <a:off x="4652962" y="2438400"/>
            <a:ext cx="3018775" cy="584776"/>
          </a:xfrm>
          <a:prstGeom prst="rect">
            <a:avLst/>
          </a:prstGeom>
          <a:noFill/>
          <a:ln w="25400">
            <a:noFill/>
            <a:miter lim="800000"/>
            <a:headEnd/>
            <a:tailEnd/>
          </a:ln>
          <a:effectLst/>
        </p:spPr>
        <p:txBody>
          <a:bodyPr wrap="none">
            <a:prstTxWarp prst="textNoShape">
              <a:avLst/>
            </a:prstTxWarp>
            <a:spAutoFit/>
          </a:bodyPr>
          <a:lstStyle/>
          <a:p>
            <a:pPr algn="l">
              <a:lnSpc>
                <a:spcPct val="100000"/>
              </a:lnSpc>
            </a:pPr>
            <a:r>
              <a:rPr lang="en-US" sz="1600" dirty="0">
                <a:solidFill>
                  <a:srgbClr val="FF0000"/>
                </a:solidFill>
              </a:rPr>
              <a:t>Store operation</a:t>
            </a:r>
            <a:r>
              <a:rPr lang="en-US" sz="1600" dirty="0"/>
              <a:t>:</a:t>
            </a:r>
            <a:r>
              <a:rPr lang="en-US" sz="1600" dirty="0">
                <a:latin typeface="Times" charset="0"/>
              </a:rPr>
              <a:t> </a:t>
            </a:r>
            <a:r>
              <a:rPr lang="en-US" sz="1600" dirty="0" err="1">
                <a:latin typeface="Courier New" charset="0"/>
              </a:rPr>
              <a:t>movq</a:t>
            </a:r>
            <a:r>
              <a:rPr lang="en-US" sz="1600" dirty="0">
                <a:latin typeface="Courier New" charset="0"/>
              </a:rPr>
              <a:t> %</a:t>
            </a:r>
            <a:r>
              <a:rPr lang="en-US" sz="1600" dirty="0" err="1">
                <a:latin typeface="Courier New" charset="0"/>
              </a:rPr>
              <a:t>rax</a:t>
            </a:r>
            <a:r>
              <a:rPr lang="en-US" sz="1600" dirty="0">
                <a:latin typeface="Courier New" charset="0"/>
              </a:rPr>
              <a:t>, A</a:t>
            </a:r>
            <a:endParaRPr lang="en-US" sz="1600" dirty="0">
              <a:latin typeface="Times" charset="0"/>
            </a:endParaRPr>
          </a:p>
          <a:p>
            <a:pPr algn="l">
              <a:lnSpc>
                <a:spcPct val="100000"/>
              </a:lnSpc>
            </a:pPr>
            <a:endParaRPr lang="en-US" sz="1600" dirty="0"/>
          </a:p>
        </p:txBody>
      </p:sp>
      <p:sp>
        <p:nvSpPr>
          <p:cNvPr id="2" name="Rectangle 1">
            <a:extLst>
              <a:ext uri="{FF2B5EF4-FFF2-40B4-BE49-F238E27FC236}">
                <a16:creationId xmlns:a16="http://schemas.microsoft.com/office/drawing/2014/main" id="{D1350238-1842-B50F-D8A7-569BA01E76FA}"/>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2CA93DF7-4D66-648E-E89B-A3CE988E5712}"/>
              </a:ext>
            </a:extLst>
          </p:cNvPr>
          <p:cNvSpPr>
            <a:spLocks/>
          </p:cNvSpPr>
          <p:nvPr/>
        </p:nvSpPr>
        <p:spPr bwMode="auto">
          <a:xfrm>
            <a:off x="139700" y="67818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4" name="Rectangle 3">
            <a:extLst>
              <a:ext uri="{FF2B5EF4-FFF2-40B4-BE49-F238E27FC236}">
                <a16:creationId xmlns:a16="http://schemas.microsoft.com/office/drawing/2014/main" id="{3951031A-1E16-DB92-42C0-BE674DA1F690}"/>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6" name="Rectangle 26"/>
          <p:cNvSpPr>
            <a:spLocks noGrp="1" noChangeArrowheads="1"/>
          </p:cNvSpPr>
          <p:nvPr>
            <p:ph type="title"/>
          </p:nvPr>
        </p:nvSpPr>
        <p:spPr/>
        <p:txBody>
          <a:bodyPr/>
          <a:lstStyle/>
          <a:p>
            <a:r>
              <a:rPr lang="en-US"/>
              <a:t>Memory Write Transaction (3)</a:t>
            </a:r>
          </a:p>
        </p:txBody>
      </p:sp>
      <p:sp>
        <p:nvSpPr>
          <p:cNvPr id="92187" name="Rectangle 27"/>
          <p:cNvSpPr>
            <a:spLocks noGrp="1" noChangeArrowheads="1"/>
          </p:cNvSpPr>
          <p:nvPr>
            <p:ph type="body" idx="1"/>
          </p:nvPr>
        </p:nvSpPr>
        <p:spPr/>
        <p:txBody>
          <a:bodyPr/>
          <a:lstStyle/>
          <a:p>
            <a:r>
              <a:rPr lang="en-US" dirty="0"/>
              <a:t> Main memory reads data word </a:t>
            </a:r>
            <a:r>
              <a:rPr lang="en-US" dirty="0" err="1"/>
              <a:t>y</a:t>
            </a:r>
            <a:r>
              <a:rPr lang="en-US" dirty="0"/>
              <a:t> from the bus and stores it at address A.</a:t>
            </a:r>
          </a:p>
        </p:txBody>
      </p:sp>
      <p:sp>
        <p:nvSpPr>
          <p:cNvPr id="92164" name="Rectangle 4"/>
          <p:cNvSpPr>
            <a:spLocks noChangeArrowheads="1"/>
          </p:cNvSpPr>
          <p:nvPr/>
        </p:nvSpPr>
        <p:spPr bwMode="auto">
          <a:xfrm>
            <a:off x="6772275" y="3806825"/>
            <a:ext cx="909638" cy="9144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2165" name="AutoShape 5"/>
          <p:cNvSpPr>
            <a:spLocks noChangeArrowheads="1"/>
          </p:cNvSpPr>
          <p:nvPr/>
        </p:nvSpPr>
        <p:spPr bwMode="auto">
          <a:xfrm>
            <a:off x="5248275" y="3959225"/>
            <a:ext cx="1492250" cy="533400"/>
          </a:xfrm>
          <a:prstGeom prst="leftRightArrow">
            <a:avLst>
              <a:gd name="adj1" fmla="val 50000"/>
              <a:gd name="adj2" fmla="val 55952"/>
            </a:avLst>
          </a:prstGeom>
          <a:solidFill>
            <a:srgbClr val="F7F5CD"/>
          </a:solid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2166" name="Rectangle 6"/>
          <p:cNvSpPr>
            <a:spLocks noChangeArrowheads="1"/>
          </p:cNvSpPr>
          <p:nvPr/>
        </p:nvSpPr>
        <p:spPr bwMode="auto">
          <a:xfrm>
            <a:off x="4333875" y="3990975"/>
            <a:ext cx="909638" cy="57785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2167" name="AutoShape 7"/>
          <p:cNvSpPr>
            <a:spLocks noChangeArrowheads="1"/>
          </p:cNvSpPr>
          <p:nvPr/>
        </p:nvSpPr>
        <p:spPr bwMode="auto">
          <a:xfrm>
            <a:off x="2876550" y="3959225"/>
            <a:ext cx="1452563" cy="533400"/>
          </a:xfrm>
          <a:prstGeom prst="leftRightArrow">
            <a:avLst>
              <a:gd name="adj1" fmla="val 50000"/>
              <a:gd name="adj2" fmla="val 54464"/>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2168" name="Rectangle 8"/>
          <p:cNvSpPr>
            <a:spLocks noChangeArrowheads="1"/>
          </p:cNvSpPr>
          <p:nvPr/>
        </p:nvSpPr>
        <p:spPr bwMode="auto">
          <a:xfrm>
            <a:off x="1892300" y="2663825"/>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2169" name="Rectangle 9"/>
          <p:cNvSpPr>
            <a:spLocks noChangeArrowheads="1"/>
          </p:cNvSpPr>
          <p:nvPr/>
        </p:nvSpPr>
        <p:spPr bwMode="auto">
          <a:xfrm>
            <a:off x="1892300" y="2816225"/>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2170" name="Rectangle 10"/>
          <p:cNvSpPr>
            <a:spLocks noChangeArrowheads="1"/>
          </p:cNvSpPr>
          <p:nvPr/>
        </p:nvSpPr>
        <p:spPr bwMode="auto">
          <a:xfrm>
            <a:off x="1892300" y="2968625"/>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2171" name="Rectangle 11"/>
          <p:cNvSpPr>
            <a:spLocks noChangeArrowheads="1"/>
          </p:cNvSpPr>
          <p:nvPr/>
        </p:nvSpPr>
        <p:spPr bwMode="auto">
          <a:xfrm>
            <a:off x="1892300" y="3121025"/>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400" dirty="0" err="1"/>
              <a:t>y</a:t>
            </a:r>
            <a:endParaRPr lang="en-US" sz="1000" dirty="0"/>
          </a:p>
        </p:txBody>
      </p:sp>
      <p:sp>
        <p:nvSpPr>
          <p:cNvPr id="92172" name="Rectangle 12"/>
          <p:cNvSpPr>
            <a:spLocks noChangeArrowheads="1"/>
          </p:cNvSpPr>
          <p:nvPr/>
        </p:nvSpPr>
        <p:spPr bwMode="auto">
          <a:xfrm>
            <a:off x="1892300" y="3273425"/>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2173" name="AutoShape 13"/>
          <p:cNvSpPr>
            <a:spLocks noChangeArrowheads="1"/>
          </p:cNvSpPr>
          <p:nvPr/>
        </p:nvSpPr>
        <p:spPr bwMode="auto">
          <a:xfrm>
            <a:off x="2665413" y="2663825"/>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2174" name="AutoShape 14"/>
          <p:cNvSpPr>
            <a:spLocks noChangeArrowheads="1"/>
          </p:cNvSpPr>
          <p:nvPr/>
        </p:nvSpPr>
        <p:spPr bwMode="auto">
          <a:xfrm flipH="1">
            <a:off x="2576513" y="3044825"/>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2175" name="Rectangle 15"/>
          <p:cNvSpPr>
            <a:spLocks noChangeArrowheads="1"/>
          </p:cNvSpPr>
          <p:nvPr/>
        </p:nvSpPr>
        <p:spPr bwMode="auto">
          <a:xfrm>
            <a:off x="3109913" y="2511425"/>
            <a:ext cx="533400" cy="10668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r>
              <a:rPr lang="en-US" sz="1600"/>
              <a:t>ALU</a:t>
            </a:r>
          </a:p>
        </p:txBody>
      </p:sp>
      <p:sp>
        <p:nvSpPr>
          <p:cNvPr id="92176" name="Text Box 16"/>
          <p:cNvSpPr txBox="1">
            <a:spLocks noChangeArrowheads="1"/>
          </p:cNvSpPr>
          <p:nvPr/>
        </p:nvSpPr>
        <p:spPr bwMode="auto">
          <a:xfrm>
            <a:off x="1609725" y="2342148"/>
            <a:ext cx="1147770"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Register file</a:t>
            </a:r>
          </a:p>
        </p:txBody>
      </p:sp>
      <p:sp>
        <p:nvSpPr>
          <p:cNvPr id="92177" name="AutoShape 17"/>
          <p:cNvSpPr>
            <a:spLocks noChangeArrowheads="1"/>
          </p:cNvSpPr>
          <p:nvPr/>
        </p:nvSpPr>
        <p:spPr bwMode="auto">
          <a:xfrm>
            <a:off x="1966913" y="3502025"/>
            <a:ext cx="609600" cy="45720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2178" name="Rectangle 18"/>
          <p:cNvSpPr>
            <a:spLocks noChangeArrowheads="1"/>
          </p:cNvSpPr>
          <p:nvPr/>
        </p:nvSpPr>
        <p:spPr bwMode="auto">
          <a:xfrm>
            <a:off x="976313" y="3990975"/>
            <a:ext cx="1873250" cy="57785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pPr lvl="0" algn="ctr"/>
            <a:r>
              <a:rPr lang="en-US" sz="1600" dirty="0">
                <a:solidFill>
                  <a:srgbClr val="000000"/>
                </a:solidFill>
              </a:rPr>
              <a:t>Bus interface</a:t>
            </a:r>
          </a:p>
        </p:txBody>
      </p:sp>
      <p:sp>
        <p:nvSpPr>
          <p:cNvPr id="92179" name="Rectangle 19"/>
          <p:cNvSpPr>
            <a:spLocks noChangeArrowheads="1"/>
          </p:cNvSpPr>
          <p:nvPr/>
        </p:nvSpPr>
        <p:spPr bwMode="auto">
          <a:xfrm>
            <a:off x="6767513" y="4264025"/>
            <a:ext cx="914400" cy="152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400" dirty="0" err="1">
                <a:solidFill>
                  <a:srgbClr val="000000"/>
                </a:solidFill>
              </a:rPr>
              <a:t>y</a:t>
            </a:r>
            <a:endParaRPr lang="en-US" sz="1000" dirty="0">
              <a:solidFill>
                <a:srgbClr val="000000"/>
              </a:solidFill>
            </a:endParaRPr>
          </a:p>
        </p:txBody>
      </p:sp>
      <p:sp>
        <p:nvSpPr>
          <p:cNvPr id="92180" name="Text Box 20"/>
          <p:cNvSpPr txBox="1">
            <a:spLocks noChangeArrowheads="1"/>
          </p:cNvSpPr>
          <p:nvPr/>
        </p:nvSpPr>
        <p:spPr bwMode="auto">
          <a:xfrm>
            <a:off x="6526213" y="3409950"/>
            <a:ext cx="1506537"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main memory</a:t>
            </a:r>
          </a:p>
        </p:txBody>
      </p:sp>
      <p:sp>
        <p:nvSpPr>
          <p:cNvPr id="92181" name="Text Box 21"/>
          <p:cNvSpPr txBox="1">
            <a:spLocks noChangeArrowheads="1"/>
          </p:cNvSpPr>
          <p:nvPr/>
        </p:nvSpPr>
        <p:spPr bwMode="auto">
          <a:xfrm>
            <a:off x="7678738" y="3668713"/>
            <a:ext cx="296862"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0</a:t>
            </a:r>
          </a:p>
        </p:txBody>
      </p:sp>
      <p:sp>
        <p:nvSpPr>
          <p:cNvPr id="92182" name="Text Box 22"/>
          <p:cNvSpPr txBox="1">
            <a:spLocks noChangeArrowheads="1"/>
          </p:cNvSpPr>
          <p:nvPr/>
        </p:nvSpPr>
        <p:spPr bwMode="auto">
          <a:xfrm>
            <a:off x="7662863" y="4171950"/>
            <a:ext cx="33020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A</a:t>
            </a:r>
          </a:p>
        </p:txBody>
      </p:sp>
      <p:sp>
        <p:nvSpPr>
          <p:cNvPr id="92183" name="Text Box 23"/>
          <p:cNvSpPr txBox="1">
            <a:spLocks noChangeArrowheads="1"/>
          </p:cNvSpPr>
          <p:nvPr/>
        </p:nvSpPr>
        <p:spPr bwMode="auto">
          <a:xfrm>
            <a:off x="1241981" y="3014246"/>
            <a:ext cx="586819"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a:t>
            </a:r>
            <a:r>
              <a:rPr lang="en-US" sz="1600" dirty="0" err="1"/>
              <a:t>rax</a:t>
            </a:r>
            <a:endParaRPr lang="en-US" sz="1600" dirty="0"/>
          </a:p>
        </p:txBody>
      </p:sp>
      <p:sp>
        <p:nvSpPr>
          <p:cNvPr id="92184" name="Text Box 24"/>
          <p:cNvSpPr txBox="1">
            <a:spLocks noChangeArrowheads="1"/>
          </p:cNvSpPr>
          <p:nvPr/>
        </p:nvSpPr>
        <p:spPr bwMode="auto">
          <a:xfrm>
            <a:off x="4224338" y="3698875"/>
            <a:ext cx="1135062"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I/O bridge</a:t>
            </a:r>
          </a:p>
        </p:txBody>
      </p:sp>
      <p:sp>
        <p:nvSpPr>
          <p:cNvPr id="92185" name="Text Box 25"/>
          <p:cNvSpPr txBox="1">
            <a:spLocks noChangeArrowheads="1"/>
          </p:cNvSpPr>
          <p:nvPr/>
        </p:nvSpPr>
        <p:spPr bwMode="auto">
          <a:xfrm>
            <a:off x="4638675" y="2466975"/>
            <a:ext cx="3018775" cy="584776"/>
          </a:xfrm>
          <a:prstGeom prst="rect">
            <a:avLst/>
          </a:prstGeom>
          <a:noFill/>
          <a:ln w="25400">
            <a:noFill/>
            <a:miter lim="800000"/>
            <a:headEnd/>
            <a:tailEnd/>
          </a:ln>
          <a:effectLst/>
        </p:spPr>
        <p:txBody>
          <a:bodyPr wrap="none">
            <a:prstTxWarp prst="textNoShape">
              <a:avLst/>
            </a:prstTxWarp>
            <a:spAutoFit/>
          </a:bodyPr>
          <a:lstStyle/>
          <a:p>
            <a:pPr algn="l">
              <a:lnSpc>
                <a:spcPct val="100000"/>
              </a:lnSpc>
            </a:pPr>
            <a:r>
              <a:rPr lang="en-US" sz="1600" dirty="0">
                <a:solidFill>
                  <a:srgbClr val="FF0000"/>
                </a:solidFill>
              </a:rPr>
              <a:t>Store operation</a:t>
            </a:r>
            <a:r>
              <a:rPr lang="en-US" sz="1600" dirty="0"/>
              <a:t>:</a:t>
            </a:r>
            <a:r>
              <a:rPr lang="en-US" sz="1600" dirty="0">
                <a:latin typeface="Times" charset="0"/>
              </a:rPr>
              <a:t> </a:t>
            </a:r>
            <a:r>
              <a:rPr lang="en-US" sz="1600" dirty="0" err="1">
                <a:latin typeface="Courier New" charset="0"/>
              </a:rPr>
              <a:t>movq</a:t>
            </a:r>
            <a:r>
              <a:rPr lang="en-US" sz="1600" dirty="0">
                <a:latin typeface="Courier New" charset="0"/>
              </a:rPr>
              <a:t> %</a:t>
            </a:r>
            <a:r>
              <a:rPr lang="en-US" sz="1600" dirty="0" err="1">
                <a:latin typeface="Courier New" charset="0"/>
              </a:rPr>
              <a:t>rax</a:t>
            </a:r>
            <a:r>
              <a:rPr lang="en-US" sz="1600" dirty="0">
                <a:latin typeface="Courier New" charset="0"/>
              </a:rPr>
              <a:t>, A</a:t>
            </a:r>
            <a:endParaRPr lang="en-US" sz="1600" dirty="0">
              <a:latin typeface="Times" charset="0"/>
            </a:endParaRPr>
          </a:p>
          <a:p>
            <a:pPr algn="l">
              <a:lnSpc>
                <a:spcPct val="100000"/>
              </a:lnSpc>
            </a:pPr>
            <a:endParaRPr lang="en-US" sz="1600" dirty="0"/>
          </a:p>
        </p:txBody>
      </p:sp>
      <p:sp>
        <p:nvSpPr>
          <p:cNvPr id="2" name="Rectangle 1">
            <a:extLst>
              <a:ext uri="{FF2B5EF4-FFF2-40B4-BE49-F238E27FC236}">
                <a16:creationId xmlns:a16="http://schemas.microsoft.com/office/drawing/2014/main" id="{47D1284C-3321-FBB6-B2E4-1F7D76E5E48D}"/>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7A5C3B2C-96DD-37CD-9EAD-A1CBAA9DCFC9}"/>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2" descr="disk"/>
          <p:cNvPicPr>
            <a:picLocks noChangeAspect="1" noChangeArrowheads="1"/>
          </p:cNvPicPr>
          <p:nvPr/>
        </p:nvPicPr>
        <p:blipFill>
          <a:blip r:embed="rId3"/>
          <a:srcRect l="11427" t="11632" b="8240"/>
          <a:stretch>
            <a:fillRect/>
          </a:stretch>
        </p:blipFill>
        <p:spPr bwMode="auto">
          <a:xfrm>
            <a:off x="1828800" y="1219200"/>
            <a:ext cx="6496050" cy="4724400"/>
          </a:xfrm>
          <a:prstGeom prst="rect">
            <a:avLst/>
          </a:prstGeom>
          <a:noFill/>
        </p:spPr>
      </p:pic>
      <p:sp>
        <p:nvSpPr>
          <p:cNvPr id="106499" name="Rectangle 3"/>
          <p:cNvSpPr>
            <a:spLocks noGrp="1" noChangeArrowheads="1"/>
          </p:cNvSpPr>
          <p:nvPr>
            <p:ph type="title"/>
          </p:nvPr>
        </p:nvSpPr>
        <p:spPr/>
        <p:txBody>
          <a:bodyPr/>
          <a:lstStyle/>
          <a:p>
            <a:r>
              <a:rPr lang="en-US" dirty="0"/>
              <a:t>What’s Inside A Disk Drive?</a:t>
            </a:r>
          </a:p>
        </p:txBody>
      </p:sp>
      <p:sp>
        <p:nvSpPr>
          <p:cNvPr id="106500" name="Text Box 4"/>
          <p:cNvSpPr txBox="1">
            <a:spLocks noChangeArrowheads="1"/>
          </p:cNvSpPr>
          <p:nvPr/>
        </p:nvSpPr>
        <p:spPr bwMode="auto">
          <a:xfrm>
            <a:off x="3733800" y="1219200"/>
            <a:ext cx="1203325" cy="457200"/>
          </a:xfrm>
          <a:prstGeom prst="rect">
            <a:avLst/>
          </a:prstGeom>
          <a:noFill/>
          <a:ln w="12700">
            <a:noFill/>
            <a:miter lim="800000"/>
            <a:headEnd/>
            <a:tailEnd/>
          </a:ln>
          <a:effectLst/>
        </p:spPr>
        <p:txBody>
          <a:bodyPr wrap="none">
            <a:prstTxWarp prst="textNoShape">
              <a:avLst/>
            </a:prstTxWarp>
            <a:spAutoFit/>
          </a:bodyPr>
          <a:lstStyle/>
          <a:p>
            <a:pPr>
              <a:lnSpc>
                <a:spcPct val="100000"/>
              </a:lnSpc>
              <a:buClrTx/>
              <a:buSzTx/>
              <a:buFontTx/>
              <a:buNone/>
            </a:pPr>
            <a:r>
              <a:rPr lang="en-US">
                <a:solidFill>
                  <a:schemeClr val="tx1"/>
                </a:solidFill>
                <a:latin typeface="Arial" charset="0"/>
              </a:rPr>
              <a:t>Spindle</a:t>
            </a:r>
          </a:p>
        </p:txBody>
      </p:sp>
      <p:sp>
        <p:nvSpPr>
          <p:cNvPr id="106501" name="Line 5"/>
          <p:cNvSpPr>
            <a:spLocks noChangeShapeType="1"/>
          </p:cNvSpPr>
          <p:nvPr/>
        </p:nvSpPr>
        <p:spPr bwMode="auto">
          <a:xfrm>
            <a:off x="2590800" y="1752600"/>
            <a:ext cx="1828800" cy="1600200"/>
          </a:xfrm>
          <a:prstGeom prst="line">
            <a:avLst/>
          </a:prstGeom>
          <a:noFill/>
          <a:ln w="38100">
            <a:solidFill>
              <a:schemeClr val="accent1"/>
            </a:solidFill>
            <a:round/>
            <a:headEnd/>
            <a:tailEnd type="triangle" w="med" len="med"/>
          </a:ln>
          <a:effectLst/>
        </p:spPr>
        <p:txBody>
          <a:bodyPr wrap="none" anchor="ctr">
            <a:prstTxWarp prst="textNoShape">
              <a:avLst/>
            </a:prstTxWarp>
          </a:bodyPr>
          <a:lstStyle/>
          <a:p>
            <a:endParaRPr lang="en-US"/>
          </a:p>
        </p:txBody>
      </p:sp>
      <p:sp>
        <p:nvSpPr>
          <p:cNvPr id="106502" name="Text Box 6"/>
          <p:cNvSpPr txBox="1">
            <a:spLocks noChangeArrowheads="1"/>
          </p:cNvSpPr>
          <p:nvPr/>
        </p:nvSpPr>
        <p:spPr bwMode="auto">
          <a:xfrm>
            <a:off x="2286000" y="1371600"/>
            <a:ext cx="742950" cy="457200"/>
          </a:xfrm>
          <a:prstGeom prst="rect">
            <a:avLst/>
          </a:prstGeom>
          <a:noFill/>
          <a:ln w="12700">
            <a:noFill/>
            <a:miter lim="800000"/>
            <a:headEnd/>
            <a:tailEnd/>
          </a:ln>
          <a:effectLst/>
        </p:spPr>
        <p:txBody>
          <a:bodyPr wrap="none">
            <a:prstTxWarp prst="textNoShape">
              <a:avLst/>
            </a:prstTxWarp>
            <a:spAutoFit/>
          </a:bodyPr>
          <a:lstStyle/>
          <a:p>
            <a:pPr>
              <a:lnSpc>
                <a:spcPct val="100000"/>
              </a:lnSpc>
              <a:buClrTx/>
              <a:buSzTx/>
              <a:buFontTx/>
              <a:buNone/>
            </a:pPr>
            <a:r>
              <a:rPr lang="en-US">
                <a:solidFill>
                  <a:schemeClr val="tx1"/>
                </a:solidFill>
                <a:latin typeface="Arial" charset="0"/>
              </a:rPr>
              <a:t>Arm</a:t>
            </a:r>
          </a:p>
        </p:txBody>
      </p:sp>
      <p:sp>
        <p:nvSpPr>
          <p:cNvPr id="106503" name="Line 7"/>
          <p:cNvSpPr>
            <a:spLocks noChangeShapeType="1"/>
          </p:cNvSpPr>
          <p:nvPr/>
        </p:nvSpPr>
        <p:spPr bwMode="auto">
          <a:xfrm>
            <a:off x="1600200" y="2819400"/>
            <a:ext cx="2209800" cy="609600"/>
          </a:xfrm>
          <a:prstGeom prst="line">
            <a:avLst/>
          </a:prstGeom>
          <a:noFill/>
          <a:ln w="38100">
            <a:solidFill>
              <a:schemeClr val="accent1"/>
            </a:solidFill>
            <a:round/>
            <a:headEnd/>
            <a:tailEnd type="triangle" w="med" len="med"/>
          </a:ln>
          <a:effectLst/>
        </p:spPr>
        <p:txBody>
          <a:bodyPr wrap="none" anchor="ctr">
            <a:prstTxWarp prst="textNoShape">
              <a:avLst/>
            </a:prstTxWarp>
          </a:bodyPr>
          <a:lstStyle/>
          <a:p>
            <a:endParaRPr lang="en-US"/>
          </a:p>
        </p:txBody>
      </p:sp>
      <p:sp>
        <p:nvSpPr>
          <p:cNvPr id="106504" name="Text Box 8"/>
          <p:cNvSpPr txBox="1">
            <a:spLocks noChangeArrowheads="1"/>
          </p:cNvSpPr>
          <p:nvPr/>
        </p:nvSpPr>
        <p:spPr bwMode="auto">
          <a:xfrm>
            <a:off x="914400" y="2362200"/>
            <a:ext cx="1319213" cy="457200"/>
          </a:xfrm>
          <a:prstGeom prst="rect">
            <a:avLst/>
          </a:prstGeom>
          <a:noFill/>
          <a:ln w="12700">
            <a:noFill/>
            <a:miter lim="800000"/>
            <a:headEnd/>
            <a:tailEnd/>
          </a:ln>
          <a:effectLst/>
        </p:spPr>
        <p:txBody>
          <a:bodyPr wrap="none">
            <a:prstTxWarp prst="textNoShape">
              <a:avLst/>
            </a:prstTxWarp>
            <a:spAutoFit/>
          </a:bodyPr>
          <a:lstStyle/>
          <a:p>
            <a:pPr>
              <a:lnSpc>
                <a:spcPct val="100000"/>
              </a:lnSpc>
              <a:buClrTx/>
              <a:buSzTx/>
              <a:buFontTx/>
              <a:buNone/>
            </a:pPr>
            <a:r>
              <a:rPr lang="en-US">
                <a:solidFill>
                  <a:schemeClr val="tx1"/>
                </a:solidFill>
                <a:latin typeface="Arial" charset="0"/>
              </a:rPr>
              <a:t>Actuator</a:t>
            </a:r>
          </a:p>
        </p:txBody>
      </p:sp>
      <p:sp>
        <p:nvSpPr>
          <p:cNvPr id="106505" name="Line 9"/>
          <p:cNvSpPr>
            <a:spLocks noChangeShapeType="1"/>
          </p:cNvSpPr>
          <p:nvPr/>
        </p:nvSpPr>
        <p:spPr bwMode="auto">
          <a:xfrm flipH="1">
            <a:off x="6629400" y="1981200"/>
            <a:ext cx="914400" cy="609600"/>
          </a:xfrm>
          <a:prstGeom prst="line">
            <a:avLst/>
          </a:prstGeom>
          <a:noFill/>
          <a:ln w="38100">
            <a:solidFill>
              <a:schemeClr val="accent1"/>
            </a:solidFill>
            <a:round/>
            <a:headEnd/>
            <a:tailEnd type="triangle" w="med" len="med"/>
          </a:ln>
          <a:effectLst/>
        </p:spPr>
        <p:txBody>
          <a:bodyPr wrap="none" anchor="ctr">
            <a:prstTxWarp prst="textNoShape">
              <a:avLst/>
            </a:prstTxWarp>
          </a:bodyPr>
          <a:lstStyle/>
          <a:p>
            <a:endParaRPr lang="en-US"/>
          </a:p>
        </p:txBody>
      </p:sp>
      <p:sp>
        <p:nvSpPr>
          <p:cNvPr id="106506" name="Text Box 10"/>
          <p:cNvSpPr txBox="1">
            <a:spLocks noChangeArrowheads="1"/>
          </p:cNvSpPr>
          <p:nvPr/>
        </p:nvSpPr>
        <p:spPr bwMode="auto">
          <a:xfrm>
            <a:off x="7315200" y="1524000"/>
            <a:ext cx="1217613" cy="457200"/>
          </a:xfrm>
          <a:prstGeom prst="rect">
            <a:avLst/>
          </a:prstGeom>
          <a:noFill/>
          <a:ln w="12700">
            <a:noFill/>
            <a:miter lim="800000"/>
            <a:headEnd/>
            <a:tailEnd/>
          </a:ln>
          <a:effectLst/>
        </p:spPr>
        <p:txBody>
          <a:bodyPr wrap="none">
            <a:prstTxWarp prst="textNoShape">
              <a:avLst/>
            </a:prstTxWarp>
            <a:spAutoFit/>
          </a:bodyPr>
          <a:lstStyle/>
          <a:p>
            <a:pPr>
              <a:lnSpc>
                <a:spcPct val="100000"/>
              </a:lnSpc>
              <a:buClrTx/>
              <a:buSzTx/>
              <a:buFontTx/>
              <a:buNone/>
            </a:pPr>
            <a:r>
              <a:rPr lang="en-US">
                <a:solidFill>
                  <a:schemeClr val="tx1"/>
                </a:solidFill>
                <a:latin typeface="Arial" charset="0"/>
              </a:rPr>
              <a:t>Platters</a:t>
            </a:r>
          </a:p>
        </p:txBody>
      </p:sp>
      <p:sp>
        <p:nvSpPr>
          <p:cNvPr id="106507" name="Line 11"/>
          <p:cNvSpPr>
            <a:spLocks noChangeShapeType="1"/>
          </p:cNvSpPr>
          <p:nvPr/>
        </p:nvSpPr>
        <p:spPr bwMode="auto">
          <a:xfrm flipV="1">
            <a:off x="2286000" y="4572000"/>
            <a:ext cx="228600" cy="609600"/>
          </a:xfrm>
          <a:prstGeom prst="line">
            <a:avLst/>
          </a:prstGeom>
          <a:noFill/>
          <a:ln w="38100">
            <a:solidFill>
              <a:schemeClr val="accent1"/>
            </a:solidFill>
            <a:round/>
            <a:headEnd/>
            <a:tailEnd type="triangle" w="med" len="med"/>
          </a:ln>
          <a:effectLst/>
        </p:spPr>
        <p:txBody>
          <a:bodyPr wrap="none" anchor="ctr">
            <a:prstTxWarp prst="textNoShape">
              <a:avLst/>
            </a:prstTxWarp>
          </a:bodyPr>
          <a:lstStyle/>
          <a:p>
            <a:endParaRPr lang="en-US"/>
          </a:p>
        </p:txBody>
      </p:sp>
      <p:sp>
        <p:nvSpPr>
          <p:cNvPr id="106508" name="AutoShape 12"/>
          <p:cNvSpPr>
            <a:spLocks noChangeArrowheads="1"/>
          </p:cNvSpPr>
          <p:nvPr/>
        </p:nvSpPr>
        <p:spPr bwMode="auto">
          <a:xfrm flipH="1">
            <a:off x="5638800" y="4724400"/>
            <a:ext cx="1200498" cy="609600"/>
          </a:xfrm>
          <a:prstGeom prst="curvedUpArrow">
            <a:avLst>
              <a:gd name="adj1" fmla="val 57500"/>
              <a:gd name="adj2" fmla="val 98466"/>
              <a:gd name="adj3" fmla="val 33333"/>
            </a:avLst>
          </a:prstGeom>
          <a:solidFill>
            <a:srgbClr val="CCFFCC"/>
          </a:solidFill>
          <a:ln w="12700">
            <a:solidFill>
              <a:schemeClr val="tx1"/>
            </a:solidFill>
            <a:miter lim="800000"/>
            <a:headEnd/>
            <a:tailEnd/>
          </a:ln>
          <a:effectLst/>
        </p:spPr>
        <p:txBody>
          <a:bodyPr wrap="none" anchor="ctr">
            <a:prstTxWarp prst="textNoShape">
              <a:avLst/>
            </a:prstTxWarp>
          </a:bodyPr>
          <a:lstStyle/>
          <a:p>
            <a:endParaRPr lang="en-US"/>
          </a:p>
        </p:txBody>
      </p:sp>
      <p:sp>
        <p:nvSpPr>
          <p:cNvPr id="106509" name="Text Box 13"/>
          <p:cNvSpPr txBox="1">
            <a:spLocks noChangeArrowheads="1"/>
          </p:cNvSpPr>
          <p:nvPr/>
        </p:nvSpPr>
        <p:spPr bwMode="auto">
          <a:xfrm>
            <a:off x="6839298" y="4192588"/>
            <a:ext cx="2219778" cy="1569660"/>
          </a:xfrm>
          <a:prstGeom prst="rect">
            <a:avLst/>
          </a:prstGeom>
          <a:noFill/>
          <a:ln w="12700">
            <a:noFill/>
            <a:miter lim="800000"/>
            <a:headEnd/>
            <a:tailEnd/>
          </a:ln>
          <a:effectLst/>
        </p:spPr>
        <p:txBody>
          <a:bodyPr wrap="none">
            <a:prstTxWarp prst="textNoShape">
              <a:avLst/>
            </a:prstTxWarp>
            <a:spAutoFit/>
          </a:bodyPr>
          <a:lstStyle/>
          <a:p>
            <a:pPr>
              <a:lnSpc>
                <a:spcPct val="100000"/>
              </a:lnSpc>
              <a:buClrTx/>
              <a:buSzTx/>
              <a:buFontTx/>
              <a:buNone/>
            </a:pPr>
            <a:r>
              <a:rPr lang="en-US" dirty="0">
                <a:solidFill>
                  <a:schemeClr val="tx1"/>
                </a:solidFill>
                <a:latin typeface="Arial" charset="0"/>
              </a:rPr>
              <a:t>Electronics</a:t>
            </a:r>
          </a:p>
          <a:p>
            <a:pPr>
              <a:lnSpc>
                <a:spcPct val="100000"/>
              </a:lnSpc>
              <a:buClrTx/>
              <a:buSzTx/>
              <a:buFontTx/>
              <a:buNone/>
            </a:pPr>
            <a:r>
              <a:rPr lang="en-US" dirty="0">
                <a:latin typeface="Arial" charset="0"/>
              </a:rPr>
              <a:t>(including a </a:t>
            </a:r>
          </a:p>
          <a:p>
            <a:pPr>
              <a:lnSpc>
                <a:spcPct val="100000"/>
              </a:lnSpc>
              <a:buClrTx/>
              <a:buSzTx/>
              <a:buFontTx/>
              <a:buNone/>
            </a:pPr>
            <a:r>
              <a:rPr lang="en-US" dirty="0">
                <a:latin typeface="Arial" charset="0"/>
              </a:rPr>
              <a:t>processor </a:t>
            </a:r>
          </a:p>
          <a:p>
            <a:pPr>
              <a:lnSpc>
                <a:spcPct val="100000"/>
              </a:lnSpc>
              <a:buClrTx/>
              <a:buSzTx/>
              <a:buFontTx/>
              <a:buNone/>
            </a:pPr>
            <a:r>
              <a:rPr lang="en-US" dirty="0">
                <a:latin typeface="Arial" charset="0"/>
              </a:rPr>
              <a:t>and memory!)</a:t>
            </a:r>
            <a:endParaRPr lang="en-US" dirty="0">
              <a:solidFill>
                <a:schemeClr val="tx1"/>
              </a:solidFill>
              <a:latin typeface="Arial" charset="0"/>
            </a:endParaRPr>
          </a:p>
        </p:txBody>
      </p:sp>
      <p:sp>
        <p:nvSpPr>
          <p:cNvPr id="106510" name="Line 14"/>
          <p:cNvSpPr>
            <a:spLocks noChangeShapeType="1"/>
          </p:cNvSpPr>
          <p:nvPr/>
        </p:nvSpPr>
        <p:spPr bwMode="auto">
          <a:xfrm>
            <a:off x="4419600" y="1676400"/>
            <a:ext cx="1219200" cy="1066800"/>
          </a:xfrm>
          <a:prstGeom prst="line">
            <a:avLst/>
          </a:prstGeom>
          <a:noFill/>
          <a:ln w="38100">
            <a:solidFill>
              <a:schemeClr val="accent1"/>
            </a:solidFill>
            <a:round/>
            <a:headEnd/>
            <a:tailEnd type="triangle" w="med" len="med"/>
          </a:ln>
          <a:effectLst/>
        </p:spPr>
        <p:txBody>
          <a:bodyPr wrap="none" anchor="ctr">
            <a:prstTxWarp prst="textNoShape">
              <a:avLst/>
            </a:prstTxWarp>
          </a:bodyPr>
          <a:lstStyle/>
          <a:p>
            <a:endParaRPr lang="en-US"/>
          </a:p>
        </p:txBody>
      </p:sp>
      <p:sp>
        <p:nvSpPr>
          <p:cNvPr id="106511" name="Text Box 15"/>
          <p:cNvSpPr txBox="1">
            <a:spLocks noChangeArrowheads="1"/>
          </p:cNvSpPr>
          <p:nvPr/>
        </p:nvSpPr>
        <p:spPr bwMode="auto">
          <a:xfrm>
            <a:off x="1524000" y="5181600"/>
            <a:ext cx="1524000" cy="822325"/>
          </a:xfrm>
          <a:prstGeom prst="rect">
            <a:avLst/>
          </a:prstGeom>
          <a:noFill/>
          <a:ln w="12700">
            <a:noFill/>
            <a:miter lim="800000"/>
            <a:headEnd/>
            <a:tailEnd/>
          </a:ln>
          <a:effectLst/>
        </p:spPr>
        <p:txBody>
          <a:bodyPr wrap="none">
            <a:prstTxWarp prst="textNoShape">
              <a:avLst/>
            </a:prstTxWarp>
            <a:spAutoFit/>
          </a:bodyPr>
          <a:lstStyle/>
          <a:p>
            <a:pPr algn="ctr">
              <a:lnSpc>
                <a:spcPct val="100000"/>
              </a:lnSpc>
              <a:buClrTx/>
              <a:buSzTx/>
              <a:buFontTx/>
              <a:buNone/>
            </a:pPr>
            <a:r>
              <a:rPr lang="en-US">
                <a:solidFill>
                  <a:schemeClr val="tx1"/>
                </a:solidFill>
                <a:latin typeface="Arial" charset="0"/>
              </a:rPr>
              <a:t>SCSI</a:t>
            </a:r>
          </a:p>
          <a:p>
            <a:pPr algn="ctr">
              <a:lnSpc>
                <a:spcPct val="100000"/>
              </a:lnSpc>
              <a:buClrTx/>
              <a:buSzTx/>
              <a:buFontTx/>
              <a:buNone/>
            </a:pPr>
            <a:r>
              <a:rPr lang="en-US">
                <a:solidFill>
                  <a:schemeClr val="tx1"/>
                </a:solidFill>
                <a:latin typeface="Arial" charset="0"/>
              </a:rPr>
              <a:t>connector</a:t>
            </a:r>
          </a:p>
        </p:txBody>
      </p:sp>
      <p:sp>
        <p:nvSpPr>
          <p:cNvPr id="106512" name="Text Box 16"/>
          <p:cNvSpPr txBox="1">
            <a:spLocks noChangeArrowheads="1"/>
          </p:cNvSpPr>
          <p:nvPr/>
        </p:nvSpPr>
        <p:spPr bwMode="auto">
          <a:xfrm>
            <a:off x="5410200" y="6216650"/>
            <a:ext cx="3338513" cy="336550"/>
          </a:xfrm>
          <a:prstGeom prst="rect">
            <a:avLst/>
          </a:prstGeom>
          <a:noFill/>
          <a:ln w="12700">
            <a:noFill/>
            <a:miter lim="800000"/>
            <a:headEnd/>
            <a:tailEnd/>
          </a:ln>
          <a:effectLst/>
        </p:spPr>
        <p:txBody>
          <a:bodyPr wrap="none">
            <a:prstTxWarp prst="textNoShape">
              <a:avLst/>
            </a:prstTxWarp>
            <a:spAutoFit/>
          </a:bodyPr>
          <a:lstStyle/>
          <a:p>
            <a:pPr>
              <a:lnSpc>
                <a:spcPct val="100000"/>
              </a:lnSpc>
              <a:buClrTx/>
              <a:buSzTx/>
              <a:buFontTx/>
              <a:buNone/>
            </a:pPr>
            <a:r>
              <a:rPr lang="en-US" sz="1600" i="1" dirty="0">
                <a:solidFill>
                  <a:schemeClr val="tx1"/>
                </a:solidFill>
              </a:rPr>
              <a:t>Image courtesy of Seagate Technology</a:t>
            </a:r>
          </a:p>
        </p:txBody>
      </p:sp>
      <p:sp>
        <p:nvSpPr>
          <p:cNvPr id="2" name="Rectangle 1">
            <a:extLst>
              <a:ext uri="{FF2B5EF4-FFF2-40B4-BE49-F238E27FC236}">
                <a16:creationId xmlns:a16="http://schemas.microsoft.com/office/drawing/2014/main" id="{B4E3762C-3258-20DA-3328-809996CC4FEF}"/>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1151DD2A-9818-595B-CAEF-E8468A3B4243}"/>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29" name="Rectangle 45"/>
          <p:cNvSpPr>
            <a:spLocks noGrp="1" noChangeArrowheads="1"/>
          </p:cNvSpPr>
          <p:nvPr>
            <p:ph type="title"/>
          </p:nvPr>
        </p:nvSpPr>
        <p:spPr/>
        <p:txBody>
          <a:bodyPr/>
          <a:lstStyle/>
          <a:p>
            <a:r>
              <a:rPr lang="en-US" dirty="0"/>
              <a:t>Disk Geometry</a:t>
            </a:r>
          </a:p>
        </p:txBody>
      </p:sp>
      <p:sp>
        <p:nvSpPr>
          <p:cNvPr id="93230" name="Rectangle 46"/>
          <p:cNvSpPr>
            <a:spLocks noGrp="1" noChangeArrowheads="1"/>
          </p:cNvSpPr>
          <p:nvPr>
            <p:ph type="body" idx="1"/>
          </p:nvPr>
        </p:nvSpPr>
        <p:spPr>
          <a:xfrm>
            <a:off x="396875" y="1371600"/>
            <a:ext cx="7896225" cy="4972050"/>
          </a:xfrm>
        </p:spPr>
        <p:txBody>
          <a:bodyPr/>
          <a:lstStyle/>
          <a:p>
            <a:r>
              <a:rPr lang="en-US"/>
              <a:t>Disks consist of </a:t>
            </a:r>
            <a:r>
              <a:rPr lang="en-US">
                <a:solidFill>
                  <a:srgbClr val="FF0000"/>
                </a:solidFill>
              </a:rPr>
              <a:t>platters</a:t>
            </a:r>
            <a:r>
              <a:rPr lang="en-US"/>
              <a:t>, each with two </a:t>
            </a:r>
            <a:r>
              <a:rPr lang="en-US">
                <a:solidFill>
                  <a:srgbClr val="FF0000"/>
                </a:solidFill>
              </a:rPr>
              <a:t>surfaces</a:t>
            </a:r>
            <a:r>
              <a:rPr lang="en-US"/>
              <a:t>.</a:t>
            </a:r>
          </a:p>
          <a:p>
            <a:r>
              <a:rPr lang="en-US"/>
              <a:t>Each surface consists of concentric rings called </a:t>
            </a:r>
            <a:r>
              <a:rPr lang="en-US">
                <a:solidFill>
                  <a:srgbClr val="FF0000"/>
                </a:solidFill>
              </a:rPr>
              <a:t>tracks</a:t>
            </a:r>
            <a:r>
              <a:rPr lang="en-US"/>
              <a:t>.</a:t>
            </a:r>
          </a:p>
          <a:p>
            <a:r>
              <a:rPr lang="en-US"/>
              <a:t>Each track consists of </a:t>
            </a:r>
            <a:r>
              <a:rPr lang="en-US">
                <a:solidFill>
                  <a:srgbClr val="FF0000"/>
                </a:solidFill>
              </a:rPr>
              <a:t>sectors</a:t>
            </a:r>
            <a:r>
              <a:rPr lang="en-US"/>
              <a:t> separated by </a:t>
            </a:r>
            <a:r>
              <a:rPr lang="en-US">
                <a:solidFill>
                  <a:srgbClr val="FF0000"/>
                </a:solidFill>
              </a:rPr>
              <a:t>gaps</a:t>
            </a:r>
            <a:r>
              <a:rPr lang="en-US"/>
              <a:t>.</a:t>
            </a:r>
          </a:p>
        </p:txBody>
      </p:sp>
      <p:sp>
        <p:nvSpPr>
          <p:cNvPr id="93188" name="Oval 4"/>
          <p:cNvSpPr>
            <a:spLocks noChangeArrowheads="1"/>
          </p:cNvSpPr>
          <p:nvPr/>
        </p:nvSpPr>
        <p:spPr bwMode="auto">
          <a:xfrm>
            <a:off x="2036763" y="3941762"/>
            <a:ext cx="1851025" cy="1812925"/>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3189" name="Oval 5"/>
          <p:cNvSpPr>
            <a:spLocks noChangeArrowheads="1"/>
          </p:cNvSpPr>
          <p:nvPr/>
        </p:nvSpPr>
        <p:spPr bwMode="auto">
          <a:xfrm>
            <a:off x="1066800" y="2992437"/>
            <a:ext cx="3790950" cy="3713163"/>
          </a:xfrm>
          <a:prstGeom prst="ellipse">
            <a:avLst/>
          </a:prstGeom>
          <a:noFill/>
          <a:ln w="38100">
            <a:solidFill>
              <a:schemeClr val="tx1"/>
            </a:solidFill>
            <a:round/>
            <a:headEnd/>
            <a:tailEnd/>
          </a:ln>
          <a:effectLst/>
        </p:spPr>
        <p:txBody>
          <a:bodyPr wrap="none" anchor="ctr">
            <a:prstTxWarp prst="textNoShape">
              <a:avLst/>
            </a:prstTxWarp>
          </a:bodyPr>
          <a:lstStyle/>
          <a:p>
            <a:endParaRPr lang="en-US"/>
          </a:p>
        </p:txBody>
      </p:sp>
      <p:sp>
        <p:nvSpPr>
          <p:cNvPr id="93190" name="Oval 6"/>
          <p:cNvSpPr>
            <a:spLocks noChangeArrowheads="1"/>
          </p:cNvSpPr>
          <p:nvPr/>
        </p:nvSpPr>
        <p:spPr bwMode="auto">
          <a:xfrm>
            <a:off x="1257300" y="3178175"/>
            <a:ext cx="3409950" cy="3340100"/>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3191" name="Oval 7"/>
          <p:cNvSpPr>
            <a:spLocks noChangeArrowheads="1"/>
          </p:cNvSpPr>
          <p:nvPr/>
        </p:nvSpPr>
        <p:spPr bwMode="auto">
          <a:xfrm>
            <a:off x="1447800" y="3363912"/>
            <a:ext cx="3030538" cy="2968625"/>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3192" name="Oval 8"/>
          <p:cNvSpPr>
            <a:spLocks noChangeArrowheads="1"/>
          </p:cNvSpPr>
          <p:nvPr/>
        </p:nvSpPr>
        <p:spPr bwMode="auto">
          <a:xfrm>
            <a:off x="1638300" y="3551237"/>
            <a:ext cx="2649538" cy="2595563"/>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3193" name="Oval 9"/>
          <p:cNvSpPr>
            <a:spLocks noChangeArrowheads="1"/>
          </p:cNvSpPr>
          <p:nvPr/>
        </p:nvSpPr>
        <p:spPr bwMode="auto">
          <a:xfrm>
            <a:off x="1827213" y="3736975"/>
            <a:ext cx="2270125" cy="2222500"/>
          </a:xfrm>
          <a:prstGeom prst="ellipse">
            <a:avLst/>
          </a:prstGeom>
          <a:noFill/>
          <a:ln w="38100">
            <a:solidFill>
              <a:schemeClr val="tx1"/>
            </a:solidFill>
            <a:round/>
            <a:headEnd/>
            <a:tailEnd/>
          </a:ln>
          <a:effectLst/>
        </p:spPr>
        <p:txBody>
          <a:bodyPr wrap="none" anchor="ctr">
            <a:prstTxWarp prst="textNoShape">
              <a:avLst/>
            </a:prstTxWarp>
          </a:bodyPr>
          <a:lstStyle/>
          <a:p>
            <a:endParaRPr lang="en-US"/>
          </a:p>
        </p:txBody>
      </p:sp>
      <p:sp>
        <p:nvSpPr>
          <p:cNvPr id="93194" name="Oval 10"/>
          <p:cNvSpPr>
            <a:spLocks noChangeArrowheads="1"/>
          </p:cNvSpPr>
          <p:nvPr/>
        </p:nvSpPr>
        <p:spPr bwMode="auto">
          <a:xfrm>
            <a:off x="2208213" y="4110037"/>
            <a:ext cx="1508125" cy="1477963"/>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3195" name="Oval 11"/>
          <p:cNvSpPr>
            <a:spLocks noChangeArrowheads="1"/>
          </p:cNvSpPr>
          <p:nvPr/>
        </p:nvSpPr>
        <p:spPr bwMode="auto">
          <a:xfrm>
            <a:off x="2408238" y="4275137"/>
            <a:ext cx="1128712" cy="1104900"/>
          </a:xfrm>
          <a:prstGeom prst="ellipse">
            <a:avLst/>
          </a:prstGeom>
          <a:solidFill>
            <a:srgbClr val="00FFFF"/>
          </a:solidFill>
          <a:ln w="38100">
            <a:solidFill>
              <a:schemeClr val="tx1"/>
            </a:solidFill>
            <a:round/>
            <a:headEnd/>
            <a:tailEnd/>
          </a:ln>
          <a:effectLst/>
        </p:spPr>
        <p:txBody>
          <a:bodyPr wrap="none" anchor="ctr">
            <a:prstTxWarp prst="textNoShape">
              <a:avLst/>
            </a:prstTxWarp>
          </a:bodyPr>
          <a:lstStyle/>
          <a:p>
            <a:pPr>
              <a:lnSpc>
                <a:spcPct val="100000"/>
              </a:lnSpc>
            </a:pPr>
            <a:r>
              <a:rPr lang="en-US" sz="1600" dirty="0"/>
              <a:t>Spindle</a:t>
            </a:r>
          </a:p>
        </p:txBody>
      </p:sp>
      <p:sp>
        <p:nvSpPr>
          <p:cNvPr id="93196" name="Text Box 12"/>
          <p:cNvSpPr txBox="1">
            <a:spLocks noChangeArrowheads="1"/>
          </p:cNvSpPr>
          <p:nvPr/>
        </p:nvSpPr>
        <p:spPr bwMode="auto">
          <a:xfrm>
            <a:off x="2535238" y="3319462"/>
            <a:ext cx="801822" cy="338554"/>
          </a:xfrm>
          <a:prstGeom prst="rect">
            <a:avLst/>
          </a:prstGeom>
          <a:solidFill>
            <a:schemeClr val="bg1"/>
          </a:solidFill>
          <a:ln w="25400">
            <a:noFill/>
            <a:miter lim="800000"/>
            <a:headEnd/>
            <a:tailEnd/>
          </a:ln>
          <a:effectLst/>
        </p:spPr>
        <p:txBody>
          <a:bodyPr wrap="none">
            <a:prstTxWarp prst="textNoShape">
              <a:avLst/>
            </a:prstTxWarp>
            <a:spAutoFit/>
          </a:bodyPr>
          <a:lstStyle/>
          <a:p>
            <a:pPr algn="l">
              <a:lnSpc>
                <a:spcPct val="100000"/>
              </a:lnSpc>
            </a:pPr>
            <a:r>
              <a:rPr lang="en-US" sz="1600" dirty="0"/>
              <a:t>Surface</a:t>
            </a:r>
          </a:p>
        </p:txBody>
      </p:sp>
      <p:sp>
        <p:nvSpPr>
          <p:cNvPr id="93197" name="Line 13"/>
          <p:cNvSpPr>
            <a:spLocks noChangeShapeType="1"/>
          </p:cNvSpPr>
          <p:nvPr/>
        </p:nvSpPr>
        <p:spPr bwMode="auto">
          <a:xfrm>
            <a:off x="1163638" y="3400425"/>
            <a:ext cx="990600" cy="676275"/>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3198" name="Line 14"/>
          <p:cNvSpPr>
            <a:spLocks noChangeShapeType="1"/>
          </p:cNvSpPr>
          <p:nvPr/>
        </p:nvSpPr>
        <p:spPr bwMode="auto">
          <a:xfrm>
            <a:off x="1436688" y="3400425"/>
            <a:ext cx="673100" cy="444500"/>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3199" name="Text Box 15"/>
          <p:cNvSpPr txBox="1">
            <a:spLocks noChangeArrowheads="1"/>
          </p:cNvSpPr>
          <p:nvPr/>
        </p:nvSpPr>
        <p:spPr bwMode="auto">
          <a:xfrm>
            <a:off x="793750" y="3110498"/>
            <a:ext cx="717965"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Tracks</a:t>
            </a:r>
          </a:p>
        </p:txBody>
      </p:sp>
      <p:sp>
        <p:nvSpPr>
          <p:cNvPr id="93200" name="Oval 16"/>
          <p:cNvSpPr>
            <a:spLocks noChangeArrowheads="1"/>
          </p:cNvSpPr>
          <p:nvPr/>
        </p:nvSpPr>
        <p:spPr bwMode="auto">
          <a:xfrm>
            <a:off x="5675313" y="3970337"/>
            <a:ext cx="1851025" cy="1812925"/>
          </a:xfrm>
          <a:prstGeom prst="ellipse">
            <a:avLst/>
          </a:prstGeom>
          <a:noFill/>
          <a:ln w="57150">
            <a:solidFill>
              <a:schemeClr val="tx1"/>
            </a:solidFill>
            <a:round/>
            <a:headEnd/>
            <a:tailEnd/>
          </a:ln>
          <a:effectLst/>
        </p:spPr>
        <p:txBody>
          <a:bodyPr wrap="none" anchor="ctr">
            <a:prstTxWarp prst="textNoShape">
              <a:avLst/>
            </a:prstTxWarp>
          </a:bodyPr>
          <a:lstStyle/>
          <a:p>
            <a:endParaRPr lang="en-US"/>
          </a:p>
        </p:txBody>
      </p:sp>
      <p:sp>
        <p:nvSpPr>
          <p:cNvPr id="93201" name="Text Box 17"/>
          <p:cNvSpPr txBox="1">
            <a:spLocks noChangeArrowheads="1"/>
          </p:cNvSpPr>
          <p:nvPr/>
        </p:nvSpPr>
        <p:spPr bwMode="auto">
          <a:xfrm>
            <a:off x="6224588" y="3548062"/>
            <a:ext cx="797635" cy="338554"/>
          </a:xfrm>
          <a:prstGeom prst="rect">
            <a:avLst/>
          </a:prstGeom>
          <a:noFill/>
          <a:ln w="25400">
            <a:noFill/>
            <a:miter lim="800000"/>
            <a:headEnd/>
            <a:tailEnd/>
          </a:ln>
          <a:effectLst/>
        </p:spPr>
        <p:txBody>
          <a:bodyPr wrap="none">
            <a:prstTxWarp prst="textNoShape">
              <a:avLst/>
            </a:prstTxWarp>
            <a:spAutoFit/>
          </a:bodyPr>
          <a:lstStyle/>
          <a:p>
            <a:pPr algn="l">
              <a:lnSpc>
                <a:spcPct val="100000"/>
              </a:lnSpc>
            </a:pPr>
            <a:r>
              <a:rPr lang="en-US" sz="1600" dirty="0"/>
              <a:t>Track </a:t>
            </a:r>
            <a:r>
              <a:rPr lang="en-US" sz="1600" i="1" dirty="0" err="1"/>
              <a:t>k</a:t>
            </a:r>
            <a:endParaRPr lang="en-US" sz="1600" i="1" dirty="0"/>
          </a:p>
        </p:txBody>
      </p:sp>
      <p:grpSp>
        <p:nvGrpSpPr>
          <p:cNvPr id="2" name="Group 18"/>
          <p:cNvGrpSpPr>
            <a:grpSpLocks/>
          </p:cNvGrpSpPr>
          <p:nvPr/>
        </p:nvGrpSpPr>
        <p:grpSpPr bwMode="auto">
          <a:xfrm>
            <a:off x="6611938" y="3914775"/>
            <a:ext cx="1066800" cy="990600"/>
            <a:chOff x="4320" y="690"/>
            <a:chExt cx="672" cy="624"/>
          </a:xfrm>
        </p:grpSpPr>
        <p:sp>
          <p:nvSpPr>
            <p:cNvPr id="93203" name="Line 19"/>
            <p:cNvSpPr>
              <a:spLocks noChangeShapeType="1"/>
            </p:cNvSpPr>
            <p:nvPr/>
          </p:nvSpPr>
          <p:spPr bwMode="auto">
            <a:xfrm flipV="1">
              <a:off x="4320" y="690"/>
              <a:ext cx="0" cy="624"/>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04" name="Line 20"/>
            <p:cNvSpPr>
              <a:spLocks noChangeShapeType="1"/>
            </p:cNvSpPr>
            <p:nvPr/>
          </p:nvSpPr>
          <p:spPr bwMode="auto">
            <a:xfrm flipV="1">
              <a:off x="4320" y="720"/>
              <a:ext cx="336" cy="570"/>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05" name="Line 21"/>
            <p:cNvSpPr>
              <a:spLocks noChangeShapeType="1"/>
            </p:cNvSpPr>
            <p:nvPr/>
          </p:nvSpPr>
          <p:spPr bwMode="auto">
            <a:xfrm flipV="1">
              <a:off x="4320" y="1296"/>
              <a:ext cx="672" cy="0"/>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06" name="Line 22"/>
            <p:cNvSpPr>
              <a:spLocks noChangeShapeType="1"/>
            </p:cNvSpPr>
            <p:nvPr/>
          </p:nvSpPr>
          <p:spPr bwMode="auto">
            <a:xfrm flipV="1">
              <a:off x="4320" y="960"/>
              <a:ext cx="576" cy="336"/>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grpSp>
      <p:grpSp>
        <p:nvGrpSpPr>
          <p:cNvPr id="3" name="Group 23"/>
          <p:cNvGrpSpPr>
            <a:grpSpLocks/>
          </p:cNvGrpSpPr>
          <p:nvPr/>
        </p:nvGrpSpPr>
        <p:grpSpPr bwMode="auto">
          <a:xfrm flipV="1">
            <a:off x="6611938" y="4848225"/>
            <a:ext cx="1066800" cy="990600"/>
            <a:chOff x="4320" y="690"/>
            <a:chExt cx="672" cy="624"/>
          </a:xfrm>
        </p:grpSpPr>
        <p:sp>
          <p:nvSpPr>
            <p:cNvPr id="93208" name="Line 24"/>
            <p:cNvSpPr>
              <a:spLocks noChangeShapeType="1"/>
            </p:cNvSpPr>
            <p:nvPr/>
          </p:nvSpPr>
          <p:spPr bwMode="auto">
            <a:xfrm flipV="1">
              <a:off x="4320" y="690"/>
              <a:ext cx="0" cy="624"/>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09" name="Line 25"/>
            <p:cNvSpPr>
              <a:spLocks noChangeShapeType="1"/>
            </p:cNvSpPr>
            <p:nvPr/>
          </p:nvSpPr>
          <p:spPr bwMode="auto">
            <a:xfrm flipV="1">
              <a:off x="4320" y="720"/>
              <a:ext cx="336" cy="570"/>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10" name="Line 26"/>
            <p:cNvSpPr>
              <a:spLocks noChangeShapeType="1"/>
            </p:cNvSpPr>
            <p:nvPr/>
          </p:nvSpPr>
          <p:spPr bwMode="auto">
            <a:xfrm flipV="1">
              <a:off x="4320" y="1296"/>
              <a:ext cx="672" cy="0"/>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11" name="Line 27"/>
            <p:cNvSpPr>
              <a:spLocks noChangeShapeType="1"/>
            </p:cNvSpPr>
            <p:nvPr/>
          </p:nvSpPr>
          <p:spPr bwMode="auto">
            <a:xfrm flipV="1">
              <a:off x="4320" y="960"/>
              <a:ext cx="576" cy="336"/>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grpSp>
      <p:grpSp>
        <p:nvGrpSpPr>
          <p:cNvPr id="4" name="Group 28"/>
          <p:cNvGrpSpPr>
            <a:grpSpLocks/>
          </p:cNvGrpSpPr>
          <p:nvPr/>
        </p:nvGrpSpPr>
        <p:grpSpPr bwMode="auto">
          <a:xfrm flipH="1" flipV="1">
            <a:off x="5545138" y="4848225"/>
            <a:ext cx="1066800" cy="990600"/>
            <a:chOff x="4320" y="690"/>
            <a:chExt cx="672" cy="624"/>
          </a:xfrm>
        </p:grpSpPr>
        <p:sp>
          <p:nvSpPr>
            <p:cNvPr id="93213" name="Line 29"/>
            <p:cNvSpPr>
              <a:spLocks noChangeShapeType="1"/>
            </p:cNvSpPr>
            <p:nvPr/>
          </p:nvSpPr>
          <p:spPr bwMode="auto">
            <a:xfrm flipV="1">
              <a:off x="4320" y="690"/>
              <a:ext cx="0" cy="624"/>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14" name="Line 30"/>
            <p:cNvSpPr>
              <a:spLocks noChangeShapeType="1"/>
            </p:cNvSpPr>
            <p:nvPr/>
          </p:nvSpPr>
          <p:spPr bwMode="auto">
            <a:xfrm flipV="1">
              <a:off x="4320" y="720"/>
              <a:ext cx="336" cy="570"/>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15" name="Line 31"/>
            <p:cNvSpPr>
              <a:spLocks noChangeShapeType="1"/>
            </p:cNvSpPr>
            <p:nvPr/>
          </p:nvSpPr>
          <p:spPr bwMode="auto">
            <a:xfrm flipV="1">
              <a:off x="4320" y="1296"/>
              <a:ext cx="672" cy="0"/>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16" name="Line 32"/>
            <p:cNvSpPr>
              <a:spLocks noChangeShapeType="1"/>
            </p:cNvSpPr>
            <p:nvPr/>
          </p:nvSpPr>
          <p:spPr bwMode="auto">
            <a:xfrm flipV="1">
              <a:off x="4320" y="960"/>
              <a:ext cx="576" cy="336"/>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grpSp>
      <p:grpSp>
        <p:nvGrpSpPr>
          <p:cNvPr id="5" name="Group 33"/>
          <p:cNvGrpSpPr>
            <a:grpSpLocks/>
          </p:cNvGrpSpPr>
          <p:nvPr/>
        </p:nvGrpSpPr>
        <p:grpSpPr bwMode="auto">
          <a:xfrm flipH="1">
            <a:off x="5545138" y="3914775"/>
            <a:ext cx="1066800" cy="990600"/>
            <a:chOff x="4320" y="690"/>
            <a:chExt cx="672" cy="624"/>
          </a:xfrm>
        </p:grpSpPr>
        <p:sp>
          <p:nvSpPr>
            <p:cNvPr id="93218" name="Line 34"/>
            <p:cNvSpPr>
              <a:spLocks noChangeShapeType="1"/>
            </p:cNvSpPr>
            <p:nvPr/>
          </p:nvSpPr>
          <p:spPr bwMode="auto">
            <a:xfrm flipV="1">
              <a:off x="4320" y="690"/>
              <a:ext cx="0" cy="624"/>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19" name="Line 35"/>
            <p:cNvSpPr>
              <a:spLocks noChangeShapeType="1"/>
            </p:cNvSpPr>
            <p:nvPr/>
          </p:nvSpPr>
          <p:spPr bwMode="auto">
            <a:xfrm flipV="1">
              <a:off x="4320" y="720"/>
              <a:ext cx="336" cy="570"/>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20" name="Line 36"/>
            <p:cNvSpPr>
              <a:spLocks noChangeShapeType="1"/>
            </p:cNvSpPr>
            <p:nvPr/>
          </p:nvSpPr>
          <p:spPr bwMode="auto">
            <a:xfrm flipV="1">
              <a:off x="4320" y="1296"/>
              <a:ext cx="672" cy="0"/>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sp>
          <p:nvSpPr>
            <p:cNvPr id="93221" name="Line 37"/>
            <p:cNvSpPr>
              <a:spLocks noChangeShapeType="1"/>
            </p:cNvSpPr>
            <p:nvPr/>
          </p:nvSpPr>
          <p:spPr bwMode="auto">
            <a:xfrm flipV="1">
              <a:off x="4320" y="960"/>
              <a:ext cx="576" cy="336"/>
            </a:xfrm>
            <a:prstGeom prst="line">
              <a:avLst/>
            </a:prstGeom>
            <a:noFill/>
            <a:ln w="76200">
              <a:solidFill>
                <a:schemeClr val="bg1"/>
              </a:solidFill>
              <a:round/>
              <a:headEnd/>
              <a:tailEnd/>
            </a:ln>
            <a:effectLst/>
          </p:spPr>
          <p:txBody>
            <a:bodyPr anchor="ctr">
              <a:prstTxWarp prst="textNoShape">
                <a:avLst/>
              </a:prstTxWarp>
              <a:spAutoFit/>
            </a:bodyPr>
            <a:lstStyle/>
            <a:p>
              <a:endParaRPr lang="en-US"/>
            </a:p>
          </p:txBody>
        </p:sp>
      </p:grpSp>
      <p:sp>
        <p:nvSpPr>
          <p:cNvPr id="93222" name="Text Box 38"/>
          <p:cNvSpPr txBox="1">
            <a:spLocks noChangeArrowheads="1"/>
          </p:cNvSpPr>
          <p:nvPr/>
        </p:nvSpPr>
        <p:spPr bwMode="auto">
          <a:xfrm>
            <a:off x="6149975" y="6247398"/>
            <a:ext cx="801822"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Sectors</a:t>
            </a:r>
          </a:p>
        </p:txBody>
      </p:sp>
      <p:sp>
        <p:nvSpPr>
          <p:cNvPr id="93223" name="Line 39"/>
          <p:cNvSpPr>
            <a:spLocks noChangeShapeType="1"/>
          </p:cNvSpPr>
          <p:nvPr/>
        </p:nvSpPr>
        <p:spPr bwMode="auto">
          <a:xfrm flipV="1">
            <a:off x="6383338" y="5791200"/>
            <a:ext cx="0" cy="457200"/>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3224" name="Line 40"/>
          <p:cNvSpPr>
            <a:spLocks noChangeShapeType="1"/>
          </p:cNvSpPr>
          <p:nvPr/>
        </p:nvSpPr>
        <p:spPr bwMode="auto">
          <a:xfrm flipV="1">
            <a:off x="6840538" y="5791200"/>
            <a:ext cx="0" cy="457200"/>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3225" name="AutoShape 41"/>
          <p:cNvSpPr>
            <a:spLocks noChangeArrowheads="1"/>
          </p:cNvSpPr>
          <p:nvPr/>
        </p:nvSpPr>
        <p:spPr bwMode="auto">
          <a:xfrm>
            <a:off x="4097338" y="4724400"/>
            <a:ext cx="1524000" cy="304800"/>
          </a:xfrm>
          <a:prstGeom prst="rightArrow">
            <a:avLst>
              <a:gd name="adj1" fmla="val 50000"/>
              <a:gd name="adj2" fmla="val 125000"/>
            </a:avLst>
          </a:prstGeom>
          <a:solidFill>
            <a:srgbClr val="FFFFFF"/>
          </a:solidFill>
          <a:ln w="12700">
            <a:solidFill>
              <a:schemeClr val="tx1"/>
            </a:solidFill>
            <a:miter lim="800000"/>
            <a:headEnd/>
            <a:tailEnd/>
          </a:ln>
          <a:effectLst/>
        </p:spPr>
        <p:txBody>
          <a:bodyPr anchor="ctr">
            <a:prstTxWarp prst="textNoShape">
              <a:avLst/>
            </a:prstTxWarp>
            <a:spAutoFit/>
          </a:bodyPr>
          <a:lstStyle/>
          <a:p>
            <a:endParaRPr lang="en-US"/>
          </a:p>
        </p:txBody>
      </p:sp>
      <p:sp>
        <p:nvSpPr>
          <p:cNvPr id="93226" name="Text Box 42"/>
          <p:cNvSpPr txBox="1">
            <a:spLocks noChangeArrowheads="1"/>
          </p:cNvSpPr>
          <p:nvPr/>
        </p:nvSpPr>
        <p:spPr bwMode="auto">
          <a:xfrm>
            <a:off x="7286625" y="3551823"/>
            <a:ext cx="605554"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Gaps</a:t>
            </a:r>
          </a:p>
        </p:txBody>
      </p:sp>
      <p:sp>
        <p:nvSpPr>
          <p:cNvPr id="93227" name="Line 43"/>
          <p:cNvSpPr>
            <a:spLocks noChangeShapeType="1"/>
          </p:cNvSpPr>
          <p:nvPr/>
        </p:nvSpPr>
        <p:spPr bwMode="auto">
          <a:xfrm flipH="1">
            <a:off x="7097713" y="3857625"/>
            <a:ext cx="247650" cy="219075"/>
          </a:xfrm>
          <a:prstGeom prst="line">
            <a:avLst/>
          </a:prstGeom>
          <a:noFill/>
          <a:ln w="12700">
            <a:solidFill>
              <a:schemeClr val="tx1"/>
            </a:solidFill>
            <a:round/>
            <a:headEnd/>
            <a:tailEnd type="triangle" w="med" len="med"/>
          </a:ln>
          <a:effectLst/>
        </p:spPr>
        <p:txBody>
          <a:bodyPr wrap="none" anchor="ctr">
            <a:prstTxWarp prst="textNoShape">
              <a:avLst/>
            </a:prstTxWarp>
            <a:spAutoFit/>
          </a:bodyPr>
          <a:lstStyle/>
          <a:p>
            <a:endParaRPr lang="en-US"/>
          </a:p>
        </p:txBody>
      </p:sp>
      <p:sp>
        <p:nvSpPr>
          <p:cNvPr id="93228" name="Line 44"/>
          <p:cNvSpPr>
            <a:spLocks noChangeShapeType="1"/>
          </p:cNvSpPr>
          <p:nvPr/>
        </p:nvSpPr>
        <p:spPr bwMode="auto">
          <a:xfrm flipV="1">
            <a:off x="7421563" y="3905250"/>
            <a:ext cx="190500" cy="514350"/>
          </a:xfrm>
          <a:prstGeom prst="line">
            <a:avLst/>
          </a:prstGeom>
          <a:noFill/>
          <a:ln w="12700">
            <a:solidFill>
              <a:schemeClr val="tx1"/>
            </a:solidFill>
            <a:round/>
            <a:headEnd type="triangle" w="med" len="med"/>
            <a:tailEnd/>
          </a:ln>
          <a:effectLst/>
        </p:spPr>
        <p:txBody>
          <a:bodyPr anchor="ctr">
            <a:prstTxWarp prst="textNoShape">
              <a:avLst/>
            </a:prstTxWarp>
            <a:spAutoFit/>
          </a:bodyPr>
          <a:lstStyle/>
          <a:p>
            <a:endParaRPr lang="en-US"/>
          </a:p>
        </p:txBody>
      </p:sp>
      <p:sp>
        <p:nvSpPr>
          <p:cNvPr id="6" name="Rectangle 5">
            <a:extLst>
              <a:ext uri="{FF2B5EF4-FFF2-40B4-BE49-F238E27FC236}">
                <a16:creationId xmlns:a16="http://schemas.microsoft.com/office/drawing/2014/main" id="{A734B680-988F-5611-C458-775EE9646D33}"/>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7" name="Rectangle 6">
            <a:extLst>
              <a:ext uri="{FF2B5EF4-FFF2-40B4-BE49-F238E27FC236}">
                <a16:creationId xmlns:a16="http://schemas.microsoft.com/office/drawing/2014/main" id="{56C8B41C-2B4C-D696-A6CD-D01CC320C2B9}"/>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42" name="Rectangle 34"/>
          <p:cNvSpPr>
            <a:spLocks noGrp="1" noChangeArrowheads="1"/>
          </p:cNvSpPr>
          <p:nvPr>
            <p:ph type="title"/>
          </p:nvPr>
        </p:nvSpPr>
        <p:spPr/>
        <p:txBody>
          <a:bodyPr/>
          <a:lstStyle/>
          <a:p>
            <a:r>
              <a:rPr lang="en-US" dirty="0"/>
              <a:t>Disk Geometry (</a:t>
            </a:r>
            <a:r>
              <a:rPr lang="en-US" dirty="0" err="1"/>
              <a:t>Muliple</a:t>
            </a:r>
            <a:r>
              <a:rPr lang="en-US" dirty="0"/>
              <a:t>-Platter View)</a:t>
            </a:r>
          </a:p>
        </p:txBody>
      </p:sp>
      <p:sp>
        <p:nvSpPr>
          <p:cNvPr id="94243" name="Rectangle 35"/>
          <p:cNvSpPr>
            <a:spLocks noGrp="1" noChangeArrowheads="1"/>
          </p:cNvSpPr>
          <p:nvPr>
            <p:ph type="body" idx="1"/>
          </p:nvPr>
        </p:nvSpPr>
        <p:spPr/>
        <p:txBody>
          <a:bodyPr/>
          <a:lstStyle/>
          <a:p>
            <a:r>
              <a:rPr lang="en-US" dirty="0"/>
              <a:t> Aligned tracks form a cylinder.</a:t>
            </a:r>
          </a:p>
        </p:txBody>
      </p:sp>
      <p:sp>
        <p:nvSpPr>
          <p:cNvPr id="94212" name="Line 4"/>
          <p:cNvSpPr>
            <a:spLocks noChangeShapeType="1"/>
          </p:cNvSpPr>
          <p:nvPr/>
        </p:nvSpPr>
        <p:spPr bwMode="auto">
          <a:xfrm flipV="1">
            <a:off x="2914650" y="3502025"/>
            <a:ext cx="520700" cy="127000"/>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4213" name="Line 5"/>
          <p:cNvSpPr>
            <a:spLocks noChangeShapeType="1"/>
          </p:cNvSpPr>
          <p:nvPr/>
        </p:nvSpPr>
        <p:spPr bwMode="auto">
          <a:xfrm flipV="1">
            <a:off x="2914650" y="4086225"/>
            <a:ext cx="520700" cy="127000"/>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4214" name="AutoShape 6"/>
          <p:cNvSpPr>
            <a:spLocks noChangeArrowheads="1"/>
          </p:cNvSpPr>
          <p:nvPr/>
        </p:nvSpPr>
        <p:spPr bwMode="auto">
          <a:xfrm>
            <a:off x="4146550" y="4035425"/>
            <a:ext cx="381000" cy="635000"/>
          </a:xfrm>
          <a:prstGeom prst="can">
            <a:avLst>
              <a:gd name="adj" fmla="val 14244"/>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4215" name="Oval 7"/>
          <p:cNvSpPr>
            <a:spLocks noChangeArrowheads="1"/>
          </p:cNvSpPr>
          <p:nvPr/>
        </p:nvSpPr>
        <p:spPr bwMode="auto">
          <a:xfrm>
            <a:off x="3117850" y="3844925"/>
            <a:ext cx="2387600" cy="431800"/>
          </a:xfrm>
          <a:prstGeom prst="ellipse">
            <a:avLst/>
          </a:prstGeom>
          <a:solidFill>
            <a:schemeClr val="bg1"/>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4216" name="Line 8"/>
          <p:cNvSpPr>
            <a:spLocks noChangeShapeType="1"/>
          </p:cNvSpPr>
          <p:nvPr/>
        </p:nvSpPr>
        <p:spPr bwMode="auto">
          <a:xfrm flipV="1">
            <a:off x="2914650" y="2930525"/>
            <a:ext cx="520700" cy="127000"/>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4217" name="Text Box 9"/>
          <p:cNvSpPr txBox="1">
            <a:spLocks noChangeArrowheads="1"/>
          </p:cNvSpPr>
          <p:nvPr/>
        </p:nvSpPr>
        <p:spPr bwMode="auto">
          <a:xfrm>
            <a:off x="1866900" y="2529473"/>
            <a:ext cx="942185"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Surface 0</a:t>
            </a:r>
          </a:p>
        </p:txBody>
      </p:sp>
      <p:sp>
        <p:nvSpPr>
          <p:cNvPr id="94218" name="Text Box 10"/>
          <p:cNvSpPr txBox="1">
            <a:spLocks noChangeArrowheads="1"/>
          </p:cNvSpPr>
          <p:nvPr/>
        </p:nvSpPr>
        <p:spPr bwMode="auto">
          <a:xfrm>
            <a:off x="1866900" y="2875548"/>
            <a:ext cx="942185"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Surface 1</a:t>
            </a:r>
          </a:p>
        </p:txBody>
      </p:sp>
      <p:sp>
        <p:nvSpPr>
          <p:cNvPr id="94219" name="Text Box 11"/>
          <p:cNvSpPr txBox="1">
            <a:spLocks noChangeArrowheads="1"/>
          </p:cNvSpPr>
          <p:nvPr/>
        </p:nvSpPr>
        <p:spPr bwMode="auto">
          <a:xfrm>
            <a:off x="1866900" y="3100973"/>
            <a:ext cx="942185"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Surface 2</a:t>
            </a:r>
          </a:p>
        </p:txBody>
      </p:sp>
      <p:sp>
        <p:nvSpPr>
          <p:cNvPr id="94220" name="Text Box 12"/>
          <p:cNvSpPr txBox="1">
            <a:spLocks noChangeArrowheads="1"/>
          </p:cNvSpPr>
          <p:nvPr/>
        </p:nvSpPr>
        <p:spPr bwMode="auto">
          <a:xfrm>
            <a:off x="1866900" y="3447048"/>
            <a:ext cx="942185"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Surface 3</a:t>
            </a:r>
          </a:p>
        </p:txBody>
      </p:sp>
      <p:sp>
        <p:nvSpPr>
          <p:cNvPr id="94221" name="Text Box 13"/>
          <p:cNvSpPr txBox="1">
            <a:spLocks noChangeArrowheads="1"/>
          </p:cNvSpPr>
          <p:nvPr/>
        </p:nvSpPr>
        <p:spPr bwMode="auto">
          <a:xfrm>
            <a:off x="1866900" y="3685173"/>
            <a:ext cx="942185"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Surface 4</a:t>
            </a:r>
          </a:p>
        </p:txBody>
      </p:sp>
      <p:sp>
        <p:nvSpPr>
          <p:cNvPr id="94222" name="Text Box 14"/>
          <p:cNvSpPr txBox="1">
            <a:spLocks noChangeArrowheads="1"/>
          </p:cNvSpPr>
          <p:nvPr/>
        </p:nvSpPr>
        <p:spPr bwMode="auto">
          <a:xfrm>
            <a:off x="1866900" y="4031248"/>
            <a:ext cx="942185"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Surface 5</a:t>
            </a:r>
          </a:p>
        </p:txBody>
      </p:sp>
      <p:sp>
        <p:nvSpPr>
          <p:cNvPr id="94223" name="Line 15"/>
          <p:cNvSpPr>
            <a:spLocks noChangeShapeType="1"/>
          </p:cNvSpPr>
          <p:nvPr/>
        </p:nvSpPr>
        <p:spPr bwMode="auto">
          <a:xfrm>
            <a:off x="2914650" y="3844925"/>
            <a:ext cx="520700" cy="127000"/>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4224" name="Oval 16"/>
          <p:cNvSpPr>
            <a:spLocks noChangeArrowheads="1"/>
          </p:cNvSpPr>
          <p:nvPr/>
        </p:nvSpPr>
        <p:spPr bwMode="auto">
          <a:xfrm>
            <a:off x="3765550" y="3997325"/>
            <a:ext cx="1193800" cy="165100"/>
          </a:xfrm>
          <a:prstGeom prst="ellipse">
            <a:avLst/>
          </a:prstGeom>
          <a:noFill/>
          <a:ln w="12700">
            <a:solidFill>
              <a:schemeClr val="tx1"/>
            </a:solidFill>
            <a:round/>
            <a:headEnd/>
            <a:tailEnd/>
          </a:ln>
          <a:effectLst/>
        </p:spPr>
        <p:txBody>
          <a:bodyPr wrap="none" anchor="ctr">
            <a:prstTxWarp prst="textNoShape">
              <a:avLst/>
            </a:prstTxWarp>
            <a:spAutoFit/>
          </a:bodyPr>
          <a:lstStyle/>
          <a:p>
            <a:endParaRPr lang="en-US"/>
          </a:p>
        </p:txBody>
      </p:sp>
      <p:sp>
        <p:nvSpPr>
          <p:cNvPr id="94225" name="AutoShape 17"/>
          <p:cNvSpPr>
            <a:spLocks noChangeArrowheads="1"/>
          </p:cNvSpPr>
          <p:nvPr/>
        </p:nvSpPr>
        <p:spPr bwMode="auto">
          <a:xfrm>
            <a:off x="4146550" y="3463925"/>
            <a:ext cx="381000" cy="635000"/>
          </a:xfrm>
          <a:prstGeom prst="can">
            <a:avLst>
              <a:gd name="adj" fmla="val 14244"/>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4226" name="Oval 18"/>
          <p:cNvSpPr>
            <a:spLocks noChangeArrowheads="1"/>
          </p:cNvSpPr>
          <p:nvPr/>
        </p:nvSpPr>
        <p:spPr bwMode="auto">
          <a:xfrm>
            <a:off x="3143250" y="3235325"/>
            <a:ext cx="2387600" cy="431800"/>
          </a:xfrm>
          <a:prstGeom prst="ellipse">
            <a:avLst/>
          </a:prstGeom>
          <a:solidFill>
            <a:schemeClr val="bg1"/>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4227" name="Oval 19"/>
          <p:cNvSpPr>
            <a:spLocks noChangeArrowheads="1"/>
          </p:cNvSpPr>
          <p:nvPr/>
        </p:nvSpPr>
        <p:spPr bwMode="auto">
          <a:xfrm>
            <a:off x="3752850" y="3425825"/>
            <a:ext cx="1193800" cy="165100"/>
          </a:xfrm>
          <a:prstGeom prst="ellipse">
            <a:avLst/>
          </a:prstGeom>
          <a:noFill/>
          <a:ln w="12700">
            <a:solidFill>
              <a:schemeClr val="tx1"/>
            </a:solidFill>
            <a:round/>
            <a:headEnd/>
            <a:tailEnd/>
          </a:ln>
          <a:effectLst/>
        </p:spPr>
        <p:txBody>
          <a:bodyPr wrap="none" anchor="ctr">
            <a:prstTxWarp prst="textNoShape">
              <a:avLst/>
            </a:prstTxWarp>
            <a:spAutoFit/>
          </a:bodyPr>
          <a:lstStyle/>
          <a:p>
            <a:endParaRPr lang="en-US"/>
          </a:p>
        </p:txBody>
      </p:sp>
      <p:sp>
        <p:nvSpPr>
          <p:cNvPr id="94228" name="AutoShape 20"/>
          <p:cNvSpPr>
            <a:spLocks noChangeArrowheads="1"/>
          </p:cNvSpPr>
          <p:nvPr/>
        </p:nvSpPr>
        <p:spPr bwMode="auto">
          <a:xfrm>
            <a:off x="4146550" y="2892425"/>
            <a:ext cx="381000" cy="635000"/>
          </a:xfrm>
          <a:prstGeom prst="can">
            <a:avLst>
              <a:gd name="adj" fmla="val 14244"/>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4229" name="Oval 21"/>
          <p:cNvSpPr>
            <a:spLocks noChangeArrowheads="1"/>
          </p:cNvSpPr>
          <p:nvPr/>
        </p:nvSpPr>
        <p:spPr bwMode="auto">
          <a:xfrm>
            <a:off x="3105150" y="2689225"/>
            <a:ext cx="2387600" cy="431800"/>
          </a:xfrm>
          <a:prstGeom prst="ellipse">
            <a:avLst/>
          </a:prstGeom>
          <a:solidFill>
            <a:schemeClr val="bg1"/>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4230" name="Oval 22"/>
          <p:cNvSpPr>
            <a:spLocks noChangeArrowheads="1"/>
          </p:cNvSpPr>
          <p:nvPr/>
        </p:nvSpPr>
        <p:spPr bwMode="auto">
          <a:xfrm>
            <a:off x="3752850" y="2816225"/>
            <a:ext cx="1193800" cy="165100"/>
          </a:xfrm>
          <a:prstGeom prst="ellipse">
            <a:avLst/>
          </a:prstGeom>
          <a:noFill/>
          <a:ln w="12700">
            <a:solidFill>
              <a:schemeClr val="tx1"/>
            </a:solidFill>
            <a:round/>
            <a:headEnd/>
            <a:tailEnd/>
          </a:ln>
          <a:effectLst/>
        </p:spPr>
        <p:txBody>
          <a:bodyPr wrap="none" anchor="ctr">
            <a:prstTxWarp prst="textNoShape">
              <a:avLst/>
            </a:prstTxWarp>
            <a:spAutoFit/>
          </a:bodyPr>
          <a:lstStyle/>
          <a:p>
            <a:endParaRPr lang="en-US"/>
          </a:p>
        </p:txBody>
      </p:sp>
      <p:sp>
        <p:nvSpPr>
          <p:cNvPr id="94231" name="AutoShape 23"/>
          <p:cNvSpPr>
            <a:spLocks noChangeArrowheads="1"/>
          </p:cNvSpPr>
          <p:nvPr/>
        </p:nvSpPr>
        <p:spPr bwMode="auto">
          <a:xfrm>
            <a:off x="4146550" y="2295525"/>
            <a:ext cx="381000" cy="635000"/>
          </a:xfrm>
          <a:prstGeom prst="can">
            <a:avLst>
              <a:gd name="adj" fmla="val 14244"/>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4232" name="Line 24"/>
          <p:cNvSpPr>
            <a:spLocks noChangeShapeType="1"/>
          </p:cNvSpPr>
          <p:nvPr/>
        </p:nvSpPr>
        <p:spPr bwMode="auto">
          <a:xfrm>
            <a:off x="2914650" y="2689225"/>
            <a:ext cx="520700" cy="127000"/>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4233" name="Line 25"/>
          <p:cNvSpPr>
            <a:spLocks noChangeShapeType="1"/>
          </p:cNvSpPr>
          <p:nvPr/>
        </p:nvSpPr>
        <p:spPr bwMode="auto">
          <a:xfrm>
            <a:off x="2914650" y="3260725"/>
            <a:ext cx="520700" cy="127000"/>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4234" name="Line 26"/>
          <p:cNvSpPr>
            <a:spLocks noChangeShapeType="1"/>
          </p:cNvSpPr>
          <p:nvPr/>
        </p:nvSpPr>
        <p:spPr bwMode="auto">
          <a:xfrm>
            <a:off x="3765550" y="2892425"/>
            <a:ext cx="0" cy="1193800"/>
          </a:xfrm>
          <a:prstGeom prst="line">
            <a:avLst/>
          </a:prstGeom>
          <a:noFill/>
          <a:ln w="12700" cap="rnd">
            <a:solidFill>
              <a:schemeClr val="tx1"/>
            </a:solidFill>
            <a:prstDash val="sysDot"/>
            <a:round/>
            <a:headEnd/>
            <a:tailEnd/>
          </a:ln>
          <a:effectLst/>
        </p:spPr>
        <p:txBody>
          <a:bodyPr wrap="none" anchor="ctr">
            <a:prstTxWarp prst="textNoShape">
              <a:avLst/>
            </a:prstTxWarp>
            <a:spAutoFit/>
          </a:bodyPr>
          <a:lstStyle/>
          <a:p>
            <a:endParaRPr lang="en-US"/>
          </a:p>
        </p:txBody>
      </p:sp>
      <p:sp>
        <p:nvSpPr>
          <p:cNvPr id="94235" name="Line 27"/>
          <p:cNvSpPr>
            <a:spLocks noChangeShapeType="1"/>
          </p:cNvSpPr>
          <p:nvPr/>
        </p:nvSpPr>
        <p:spPr bwMode="auto">
          <a:xfrm>
            <a:off x="4946650" y="2905125"/>
            <a:ext cx="0" cy="1193800"/>
          </a:xfrm>
          <a:prstGeom prst="line">
            <a:avLst/>
          </a:prstGeom>
          <a:noFill/>
          <a:ln w="12700" cap="rnd">
            <a:solidFill>
              <a:schemeClr val="tx1"/>
            </a:solidFill>
            <a:prstDash val="sysDot"/>
            <a:round/>
            <a:headEnd/>
            <a:tailEnd/>
          </a:ln>
          <a:effectLst/>
        </p:spPr>
        <p:txBody>
          <a:bodyPr wrap="none" anchor="ctr">
            <a:prstTxWarp prst="textNoShape">
              <a:avLst/>
            </a:prstTxWarp>
            <a:spAutoFit/>
          </a:bodyPr>
          <a:lstStyle/>
          <a:p>
            <a:endParaRPr lang="en-US"/>
          </a:p>
        </p:txBody>
      </p:sp>
      <p:sp>
        <p:nvSpPr>
          <p:cNvPr id="94236" name="Text Box 28"/>
          <p:cNvSpPr txBox="1">
            <a:spLocks noChangeArrowheads="1"/>
          </p:cNvSpPr>
          <p:nvPr/>
        </p:nvSpPr>
        <p:spPr bwMode="auto">
          <a:xfrm>
            <a:off x="4395788" y="1897648"/>
            <a:ext cx="1184940"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latin typeface="Arial" charset="0"/>
              </a:rPr>
              <a:t>Cylinder </a:t>
            </a:r>
            <a:r>
              <a:rPr lang="en-US" sz="1600" i="1" dirty="0" err="1">
                <a:latin typeface="Arial" charset="0"/>
              </a:rPr>
              <a:t>k</a:t>
            </a:r>
            <a:endParaRPr lang="en-US" sz="1600" dirty="0">
              <a:latin typeface="Arial" charset="0"/>
            </a:endParaRPr>
          </a:p>
        </p:txBody>
      </p:sp>
      <p:sp>
        <p:nvSpPr>
          <p:cNvPr id="94237" name="Line 29"/>
          <p:cNvSpPr>
            <a:spLocks noChangeShapeType="1"/>
          </p:cNvSpPr>
          <p:nvPr/>
        </p:nvSpPr>
        <p:spPr bwMode="auto">
          <a:xfrm flipH="1">
            <a:off x="4768850" y="2295525"/>
            <a:ext cx="177800" cy="520700"/>
          </a:xfrm>
          <a:prstGeom prst="line">
            <a:avLst/>
          </a:prstGeom>
          <a:noFill/>
          <a:ln w="12700">
            <a:solidFill>
              <a:schemeClr val="tx1"/>
            </a:solidFill>
            <a:round/>
            <a:headEnd/>
            <a:tailEnd type="triangle" w="med" len="med"/>
          </a:ln>
          <a:effectLst/>
        </p:spPr>
        <p:txBody>
          <a:bodyPr wrap="none" anchor="ctr">
            <a:prstTxWarp prst="textNoShape">
              <a:avLst/>
            </a:prstTxWarp>
            <a:spAutoFit/>
          </a:bodyPr>
          <a:lstStyle/>
          <a:p>
            <a:endParaRPr lang="en-US"/>
          </a:p>
        </p:txBody>
      </p:sp>
      <p:sp>
        <p:nvSpPr>
          <p:cNvPr id="94238" name="Text Box 30"/>
          <p:cNvSpPr txBox="1">
            <a:spLocks noChangeArrowheads="1"/>
          </p:cNvSpPr>
          <p:nvPr/>
        </p:nvSpPr>
        <p:spPr bwMode="auto">
          <a:xfrm>
            <a:off x="3905250" y="4615448"/>
            <a:ext cx="792404"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Spindle</a:t>
            </a:r>
          </a:p>
        </p:txBody>
      </p:sp>
      <p:sp>
        <p:nvSpPr>
          <p:cNvPr id="94239" name="Text Box 31"/>
          <p:cNvSpPr txBox="1">
            <a:spLocks noChangeArrowheads="1"/>
          </p:cNvSpPr>
          <p:nvPr/>
        </p:nvSpPr>
        <p:spPr bwMode="auto">
          <a:xfrm>
            <a:off x="5529263" y="2723148"/>
            <a:ext cx="848610"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Platter 0</a:t>
            </a:r>
          </a:p>
        </p:txBody>
      </p:sp>
      <p:sp>
        <p:nvSpPr>
          <p:cNvPr id="94240" name="Text Box 32"/>
          <p:cNvSpPr txBox="1">
            <a:spLocks noChangeArrowheads="1"/>
          </p:cNvSpPr>
          <p:nvPr/>
        </p:nvSpPr>
        <p:spPr bwMode="auto">
          <a:xfrm>
            <a:off x="5529263" y="3281948"/>
            <a:ext cx="848610"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Platter 1</a:t>
            </a:r>
          </a:p>
        </p:txBody>
      </p:sp>
      <p:sp>
        <p:nvSpPr>
          <p:cNvPr id="94241" name="Text Box 33"/>
          <p:cNvSpPr txBox="1">
            <a:spLocks noChangeArrowheads="1"/>
          </p:cNvSpPr>
          <p:nvPr/>
        </p:nvSpPr>
        <p:spPr bwMode="auto">
          <a:xfrm>
            <a:off x="5529263" y="3891548"/>
            <a:ext cx="848610"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Platter 2</a:t>
            </a:r>
          </a:p>
        </p:txBody>
      </p:sp>
      <p:sp>
        <p:nvSpPr>
          <p:cNvPr id="2" name="Rectangle 1">
            <a:extLst>
              <a:ext uri="{FF2B5EF4-FFF2-40B4-BE49-F238E27FC236}">
                <a16:creationId xmlns:a16="http://schemas.microsoft.com/office/drawing/2014/main" id="{70A5ED90-E3CA-B717-17F9-7B56DBAFE20E}"/>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E90D2BAE-E459-543E-5B62-7B3790D20D7B}"/>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8" name="Rectangle 4"/>
          <p:cNvSpPr>
            <a:spLocks noGrp="1" noChangeArrowheads="1"/>
          </p:cNvSpPr>
          <p:nvPr>
            <p:ph type="title"/>
          </p:nvPr>
        </p:nvSpPr>
        <p:spPr>
          <a:xfrm>
            <a:off x="357018" y="457200"/>
            <a:ext cx="7592093" cy="762000"/>
          </a:xfrm>
        </p:spPr>
        <p:txBody>
          <a:bodyPr/>
          <a:lstStyle/>
          <a:p>
            <a:r>
              <a:rPr lang="en-US" dirty="0"/>
              <a:t>Disk Capacity</a:t>
            </a:r>
          </a:p>
        </p:txBody>
      </p:sp>
      <p:sp>
        <p:nvSpPr>
          <p:cNvPr id="123909" name="Rectangle 5"/>
          <p:cNvSpPr>
            <a:spLocks noGrp="1" noChangeArrowheads="1"/>
          </p:cNvSpPr>
          <p:nvPr>
            <p:ph type="body" idx="1"/>
          </p:nvPr>
        </p:nvSpPr>
        <p:spPr/>
        <p:txBody>
          <a:bodyPr/>
          <a:lstStyle/>
          <a:p>
            <a:r>
              <a:rPr lang="en-US" dirty="0">
                <a:solidFill>
                  <a:srgbClr val="FF0000"/>
                </a:solidFill>
              </a:rPr>
              <a:t>Capacity</a:t>
            </a:r>
            <a:r>
              <a:rPr lang="en-US" dirty="0"/>
              <a:t>: maximum number of bits that can be stored.</a:t>
            </a:r>
          </a:p>
          <a:p>
            <a:pPr lvl="1"/>
            <a:r>
              <a:rPr lang="en-US" dirty="0"/>
              <a:t>Vendors express capacity in units of gigabytes (GB),  where</a:t>
            </a:r>
            <a:br>
              <a:rPr lang="en-US" dirty="0"/>
            </a:br>
            <a:r>
              <a:rPr lang="en-US" dirty="0"/>
              <a:t>1 GB = 10</a:t>
            </a:r>
            <a:r>
              <a:rPr lang="en-US" baseline="30000" dirty="0"/>
              <a:t>9</a:t>
            </a:r>
            <a:r>
              <a:rPr lang="en-US" dirty="0"/>
              <a:t> Bytes. </a:t>
            </a:r>
          </a:p>
          <a:p>
            <a:r>
              <a:rPr lang="en-US" dirty="0"/>
              <a:t>Capacity is determined by these technology factors:</a:t>
            </a:r>
          </a:p>
          <a:p>
            <a:pPr lvl="1"/>
            <a:r>
              <a:rPr lang="en-US" dirty="0">
                <a:solidFill>
                  <a:srgbClr val="FF0000"/>
                </a:solidFill>
              </a:rPr>
              <a:t>Recording density</a:t>
            </a:r>
            <a:r>
              <a:rPr lang="en-US" dirty="0"/>
              <a:t> (bits/in): number of bits that can be squeezed into a 1 inch segment of a track.</a:t>
            </a:r>
          </a:p>
          <a:p>
            <a:pPr lvl="1"/>
            <a:r>
              <a:rPr lang="en-US" dirty="0">
                <a:solidFill>
                  <a:srgbClr val="FF0000"/>
                </a:solidFill>
              </a:rPr>
              <a:t>Track density </a:t>
            </a:r>
            <a:r>
              <a:rPr lang="en-US" dirty="0"/>
              <a:t>(tracks/in): number of tracks that can be squeezed into a 1 inch radial segment.</a:t>
            </a:r>
          </a:p>
          <a:p>
            <a:pPr lvl="1"/>
            <a:r>
              <a:rPr lang="en-US" dirty="0">
                <a:solidFill>
                  <a:srgbClr val="FF0000"/>
                </a:solidFill>
              </a:rPr>
              <a:t>Areal density </a:t>
            </a:r>
            <a:r>
              <a:rPr lang="en-US" dirty="0"/>
              <a:t>(bits/in2): product of recording and track density.</a:t>
            </a:r>
          </a:p>
        </p:txBody>
      </p:sp>
      <p:sp>
        <p:nvSpPr>
          <p:cNvPr id="2" name="Rectangle 1">
            <a:extLst>
              <a:ext uri="{FF2B5EF4-FFF2-40B4-BE49-F238E27FC236}">
                <a16:creationId xmlns:a16="http://schemas.microsoft.com/office/drawing/2014/main" id="{2061709A-3324-73F8-139E-0CFCC6E76962}"/>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7FCE53B7-4DFF-E695-274B-F4C94F0E5D3B}"/>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Recording zones	</a:t>
            </a:r>
          </a:p>
        </p:txBody>
      </p:sp>
      <p:sp>
        <p:nvSpPr>
          <p:cNvPr id="3" name="Content Placeholder 2"/>
          <p:cNvSpPr>
            <a:spLocks noGrp="1"/>
          </p:cNvSpPr>
          <p:nvPr>
            <p:ph idx="1"/>
          </p:nvPr>
        </p:nvSpPr>
        <p:spPr>
          <a:xfrm>
            <a:off x="396875" y="1362075"/>
            <a:ext cx="4416425" cy="5064125"/>
          </a:xfrm>
        </p:spPr>
        <p:txBody>
          <a:bodyPr>
            <a:normAutofit/>
          </a:bodyPr>
          <a:lstStyle/>
          <a:p>
            <a:r>
              <a:rPr lang="en-US" dirty="0"/>
              <a:t>Modern disks partition tracks into disjoint subsets called </a:t>
            </a:r>
            <a:r>
              <a:rPr lang="en-US" dirty="0">
                <a:solidFill>
                  <a:srgbClr val="FF0000"/>
                </a:solidFill>
              </a:rPr>
              <a:t>recording zones</a:t>
            </a:r>
            <a:r>
              <a:rPr lang="en-US" dirty="0"/>
              <a:t>	</a:t>
            </a:r>
          </a:p>
          <a:p>
            <a:pPr lvl="1"/>
            <a:r>
              <a:rPr lang="en-US" dirty="0"/>
              <a:t>Each track in a zone has the same number of sectors, determined by the circumference of innermost track.</a:t>
            </a:r>
          </a:p>
          <a:p>
            <a:pPr lvl="1"/>
            <a:r>
              <a:rPr lang="en-US" dirty="0"/>
              <a:t>Each zone has a different number of sectors/track, outer zones have more sectors/track than inner zones.</a:t>
            </a:r>
          </a:p>
          <a:p>
            <a:pPr lvl="1"/>
            <a:r>
              <a:rPr lang="en-US" dirty="0"/>
              <a:t>So we use </a:t>
            </a:r>
            <a:r>
              <a:rPr lang="en-US" b="1" dirty="0">
                <a:solidFill>
                  <a:srgbClr val="FF0000"/>
                </a:solidFill>
              </a:rPr>
              <a:t>average</a:t>
            </a:r>
            <a:r>
              <a:rPr lang="en-US" dirty="0"/>
              <a:t> number of sectors/track when computing capacity. 		</a:t>
            </a:r>
          </a:p>
          <a:p>
            <a:pPr marL="0" indent="0">
              <a:buNone/>
            </a:pPr>
            <a:endParaRPr lang="en-US" dirty="0"/>
          </a:p>
        </p:txBody>
      </p:sp>
      <p:grpSp>
        <p:nvGrpSpPr>
          <p:cNvPr id="100" name="Group 99"/>
          <p:cNvGrpSpPr/>
          <p:nvPr/>
        </p:nvGrpSpPr>
        <p:grpSpPr>
          <a:xfrm>
            <a:off x="5074992" y="2094211"/>
            <a:ext cx="3218108" cy="3152177"/>
            <a:chOff x="761519" y="3629623"/>
            <a:chExt cx="3218108" cy="3152177"/>
          </a:xfrm>
        </p:grpSpPr>
        <p:sp>
          <p:nvSpPr>
            <p:cNvPr id="12" name="Oval 8"/>
            <p:cNvSpPr>
              <a:spLocks noChangeArrowheads="1"/>
            </p:cNvSpPr>
            <p:nvPr/>
          </p:nvSpPr>
          <p:spPr bwMode="auto">
            <a:xfrm>
              <a:off x="1121084" y="3981695"/>
              <a:ext cx="2500477" cy="2449529"/>
            </a:xfrm>
            <a:prstGeom prst="ellipse">
              <a:avLst/>
            </a:prstGeom>
            <a:solidFill>
              <a:schemeClr val="bg1">
                <a:lumMod val="85000"/>
              </a:schemeClr>
            </a:solidFill>
            <a:ln w="12700">
              <a:solidFill>
                <a:schemeClr val="tx1"/>
              </a:solidFill>
              <a:round/>
              <a:headEnd/>
              <a:tailEnd/>
            </a:ln>
            <a:effectLst/>
          </p:spPr>
          <p:txBody>
            <a:bodyPr wrap="none" anchor="ctr">
              <a:prstTxWarp prst="textNoShape">
                <a:avLst/>
              </a:prstTxWarp>
            </a:bodyPr>
            <a:lstStyle/>
            <a:p>
              <a:endParaRPr lang="en-US"/>
            </a:p>
          </p:txBody>
        </p:sp>
        <p:sp>
          <p:nvSpPr>
            <p:cNvPr id="8" name="Oval 4"/>
            <p:cNvSpPr>
              <a:spLocks noChangeArrowheads="1"/>
            </p:cNvSpPr>
            <p:nvPr/>
          </p:nvSpPr>
          <p:spPr bwMode="auto">
            <a:xfrm>
              <a:off x="1497130" y="4350248"/>
              <a:ext cx="1746888" cy="1710925"/>
            </a:xfrm>
            <a:prstGeom prst="ellipse">
              <a:avLst/>
            </a:prstGeom>
            <a:solidFill>
              <a:schemeClr val="bg1"/>
            </a:solidFill>
            <a:ln w="12700">
              <a:solidFill>
                <a:schemeClr val="tx1"/>
              </a:solidFill>
              <a:round/>
              <a:headEnd/>
              <a:tailEnd/>
            </a:ln>
            <a:effectLst/>
          </p:spPr>
          <p:txBody>
            <a:bodyPr wrap="none" anchor="ctr">
              <a:prstTxWarp prst="textNoShape">
                <a:avLst/>
              </a:prstTxWarp>
            </a:bodyPr>
            <a:lstStyle/>
            <a:p>
              <a:endParaRPr lang="en-US"/>
            </a:p>
          </p:txBody>
        </p:sp>
        <p:sp>
          <p:nvSpPr>
            <p:cNvPr id="10" name="Oval 6"/>
            <p:cNvSpPr>
              <a:spLocks noChangeArrowheads="1"/>
            </p:cNvSpPr>
            <p:nvPr/>
          </p:nvSpPr>
          <p:spPr bwMode="auto">
            <a:xfrm>
              <a:off x="761519" y="3629623"/>
              <a:ext cx="3218108" cy="3152177"/>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15" name="Oval 11"/>
            <p:cNvSpPr>
              <a:spLocks noChangeArrowheads="1"/>
            </p:cNvSpPr>
            <p:nvPr/>
          </p:nvSpPr>
          <p:spPr bwMode="auto">
            <a:xfrm>
              <a:off x="1847706" y="4664867"/>
              <a:ext cx="1065211" cy="1042735"/>
            </a:xfrm>
            <a:prstGeom prst="ellipse">
              <a:avLst/>
            </a:prstGeom>
            <a:solidFill>
              <a:srgbClr val="00FFFF"/>
            </a:solidFill>
            <a:ln w="38100">
              <a:solidFill>
                <a:schemeClr val="tx1"/>
              </a:solidFill>
              <a:round/>
              <a:headEnd/>
              <a:tailEnd/>
            </a:ln>
            <a:effectLst/>
          </p:spPr>
          <p:txBody>
            <a:bodyPr wrap="none" anchor="ctr">
              <a:prstTxWarp prst="textNoShape">
                <a:avLst/>
              </a:prstTxWarp>
            </a:bodyPr>
            <a:lstStyle/>
            <a:p>
              <a:pPr>
                <a:lnSpc>
                  <a:spcPct val="100000"/>
                </a:lnSpc>
              </a:pPr>
              <a:r>
                <a:rPr lang="en-US" sz="1600" dirty="0"/>
                <a:t>Spindle</a:t>
              </a:r>
            </a:p>
          </p:txBody>
        </p:sp>
        <p:cxnSp>
          <p:nvCxnSpPr>
            <p:cNvPr id="22" name="Straight Connector 21"/>
            <p:cNvCxnSpPr>
              <a:stCxn id="8" idx="0"/>
              <a:endCxn id="15" idx="0"/>
            </p:cNvCxnSpPr>
            <p:nvPr/>
          </p:nvCxnSpPr>
          <p:spPr bwMode="auto">
            <a:xfrm>
              <a:off x="2370574" y="4350248"/>
              <a:ext cx="9738" cy="314619"/>
            </a:xfrm>
            <a:prstGeom prst="line">
              <a:avLst/>
            </a:prstGeom>
            <a:noFill/>
            <a:ln w="25400" cap="flat" cmpd="sng" algn="ctr">
              <a:solidFill>
                <a:schemeClr val="tx1"/>
              </a:solidFill>
              <a:prstDash val="solid"/>
              <a:round/>
              <a:headEnd type="none" w="med" len="med"/>
              <a:tailEnd type="none" w="med" len="med"/>
            </a:ln>
            <a:effectLst/>
          </p:spPr>
        </p:cxnSp>
        <p:cxnSp>
          <p:nvCxnSpPr>
            <p:cNvPr id="24" name="Straight Connector 23"/>
            <p:cNvCxnSpPr>
              <a:stCxn id="8" idx="7"/>
              <a:endCxn id="15" idx="7"/>
            </p:cNvCxnSpPr>
            <p:nvPr/>
          </p:nvCxnSpPr>
          <p:spPr bwMode="auto">
            <a:xfrm flipH="1">
              <a:off x="2756920" y="4600807"/>
              <a:ext cx="231272" cy="216765"/>
            </a:xfrm>
            <a:prstGeom prst="line">
              <a:avLst/>
            </a:prstGeom>
            <a:noFill/>
            <a:ln w="25400" cap="flat" cmpd="sng" algn="ctr">
              <a:solidFill>
                <a:schemeClr val="tx1"/>
              </a:solidFill>
              <a:prstDash val="solid"/>
              <a:round/>
              <a:headEnd type="none" w="med" len="med"/>
              <a:tailEnd type="none" w="med" len="med"/>
            </a:ln>
            <a:effectLst/>
          </p:spPr>
        </p:cxnSp>
        <p:cxnSp>
          <p:nvCxnSpPr>
            <p:cNvPr id="26" name="Straight Connector 25"/>
            <p:cNvCxnSpPr>
              <a:stCxn id="8" idx="6"/>
              <a:endCxn id="15" idx="6"/>
            </p:cNvCxnSpPr>
            <p:nvPr/>
          </p:nvCxnSpPr>
          <p:spPr bwMode="auto">
            <a:xfrm flipH="1" flipV="1">
              <a:off x="2912917" y="5186235"/>
              <a:ext cx="331101" cy="19476"/>
            </a:xfrm>
            <a:prstGeom prst="line">
              <a:avLst/>
            </a:prstGeom>
            <a:noFill/>
            <a:ln w="25400" cap="flat" cmpd="sng" algn="ctr">
              <a:solidFill>
                <a:schemeClr val="tx1"/>
              </a:solidFill>
              <a:prstDash val="solid"/>
              <a:round/>
              <a:headEnd type="none" w="med" len="med"/>
              <a:tailEnd type="none" w="med" len="med"/>
            </a:ln>
            <a:effectLst/>
          </p:spPr>
        </p:cxnSp>
        <p:cxnSp>
          <p:nvCxnSpPr>
            <p:cNvPr id="28" name="Straight Connector 27"/>
            <p:cNvCxnSpPr>
              <a:stCxn id="8" idx="5"/>
              <a:endCxn id="15" idx="5"/>
            </p:cNvCxnSpPr>
            <p:nvPr/>
          </p:nvCxnSpPr>
          <p:spPr bwMode="auto">
            <a:xfrm flipH="1" flipV="1">
              <a:off x="2756920" y="5554897"/>
              <a:ext cx="231272" cy="255717"/>
            </a:xfrm>
            <a:prstGeom prst="line">
              <a:avLst/>
            </a:prstGeom>
            <a:noFill/>
            <a:ln w="25400" cap="flat" cmpd="sng" algn="ctr">
              <a:solidFill>
                <a:schemeClr val="tx1"/>
              </a:solidFill>
              <a:prstDash val="solid"/>
              <a:round/>
              <a:headEnd type="none" w="med" len="med"/>
              <a:tailEnd type="none" w="med" len="med"/>
            </a:ln>
            <a:effectLst/>
          </p:spPr>
        </p:cxnSp>
        <p:cxnSp>
          <p:nvCxnSpPr>
            <p:cNvPr id="30" name="Straight Connector 29"/>
            <p:cNvCxnSpPr>
              <a:stCxn id="8" idx="4"/>
              <a:endCxn id="15" idx="4"/>
            </p:cNvCxnSpPr>
            <p:nvPr/>
          </p:nvCxnSpPr>
          <p:spPr bwMode="auto">
            <a:xfrm flipV="1">
              <a:off x="2370574" y="5707602"/>
              <a:ext cx="9738" cy="353571"/>
            </a:xfrm>
            <a:prstGeom prst="line">
              <a:avLst/>
            </a:prstGeom>
            <a:noFill/>
            <a:ln w="25400" cap="flat" cmpd="sng" algn="ctr">
              <a:solidFill>
                <a:schemeClr val="tx1"/>
              </a:solidFill>
              <a:prstDash val="solid"/>
              <a:round/>
              <a:headEnd type="none" w="med" len="med"/>
              <a:tailEnd type="none" w="med" len="med"/>
            </a:ln>
            <a:effectLst/>
          </p:spPr>
        </p:cxnSp>
        <p:cxnSp>
          <p:nvCxnSpPr>
            <p:cNvPr id="32" name="Straight Connector 31"/>
            <p:cNvCxnSpPr>
              <a:stCxn id="15" idx="3"/>
              <a:endCxn id="8" idx="3"/>
            </p:cNvCxnSpPr>
            <p:nvPr/>
          </p:nvCxnSpPr>
          <p:spPr bwMode="auto">
            <a:xfrm flipH="1">
              <a:off x="1752956" y="5554897"/>
              <a:ext cx="250747" cy="255717"/>
            </a:xfrm>
            <a:prstGeom prst="line">
              <a:avLst/>
            </a:prstGeom>
            <a:noFill/>
            <a:ln w="25400" cap="flat" cmpd="sng" algn="ctr">
              <a:solidFill>
                <a:schemeClr val="tx1"/>
              </a:solidFill>
              <a:prstDash val="solid"/>
              <a:round/>
              <a:headEnd type="none" w="med" len="med"/>
              <a:tailEnd type="none" w="med" len="med"/>
            </a:ln>
            <a:effectLst/>
          </p:spPr>
        </p:cxnSp>
        <p:cxnSp>
          <p:nvCxnSpPr>
            <p:cNvPr id="34" name="Straight Connector 33"/>
            <p:cNvCxnSpPr>
              <a:stCxn id="15" idx="2"/>
              <a:endCxn id="8" idx="2"/>
            </p:cNvCxnSpPr>
            <p:nvPr/>
          </p:nvCxnSpPr>
          <p:spPr bwMode="auto">
            <a:xfrm flipH="1">
              <a:off x="1497130" y="5186235"/>
              <a:ext cx="350576" cy="19476"/>
            </a:xfrm>
            <a:prstGeom prst="line">
              <a:avLst/>
            </a:prstGeom>
            <a:noFill/>
            <a:ln w="25400" cap="flat" cmpd="sng" algn="ctr">
              <a:solidFill>
                <a:schemeClr val="tx1"/>
              </a:solidFill>
              <a:prstDash val="solid"/>
              <a:round/>
              <a:headEnd type="none" w="med" len="med"/>
              <a:tailEnd type="none" w="med" len="med"/>
            </a:ln>
            <a:effectLst/>
          </p:spPr>
        </p:cxnSp>
        <p:cxnSp>
          <p:nvCxnSpPr>
            <p:cNvPr id="37" name="Straight Connector 36"/>
            <p:cNvCxnSpPr>
              <a:stCxn id="8" idx="1"/>
              <a:endCxn id="15" idx="1"/>
            </p:cNvCxnSpPr>
            <p:nvPr/>
          </p:nvCxnSpPr>
          <p:spPr bwMode="auto">
            <a:xfrm>
              <a:off x="1752956" y="4600807"/>
              <a:ext cx="250747" cy="216765"/>
            </a:xfrm>
            <a:prstGeom prst="line">
              <a:avLst/>
            </a:prstGeom>
            <a:noFill/>
            <a:ln w="25400" cap="flat" cmpd="sng" algn="ctr">
              <a:solidFill>
                <a:schemeClr val="tx1"/>
              </a:solidFill>
              <a:prstDash val="solid"/>
              <a:round/>
              <a:headEnd type="none" w="med" len="med"/>
              <a:tailEnd type="none" w="med" len="med"/>
            </a:ln>
            <a:effectLst/>
          </p:spPr>
        </p:cxnSp>
        <p:sp>
          <p:nvSpPr>
            <p:cNvPr id="38" name="TextBox 37"/>
            <p:cNvSpPr txBox="1"/>
            <p:nvPr/>
          </p:nvSpPr>
          <p:spPr>
            <a:xfrm>
              <a:off x="2057400" y="4028223"/>
              <a:ext cx="461665" cy="256553"/>
            </a:xfrm>
            <a:prstGeom prst="rect">
              <a:avLst/>
            </a:prstGeom>
            <a:noFill/>
          </p:spPr>
          <p:txBody>
            <a:bodyPr vert="vert270" wrap="none" rtlCol="0">
              <a:spAutoFit/>
            </a:bodyPr>
            <a:lstStyle/>
            <a:p>
              <a:r>
                <a:rPr lang="en-US" sz="1800" dirty="0">
                  <a:latin typeface="Calibri" pitchFamily="34" charset="0"/>
                </a:rPr>
                <a:t>…</a:t>
              </a:r>
            </a:p>
          </p:txBody>
        </p:sp>
        <p:cxnSp>
          <p:nvCxnSpPr>
            <p:cNvPr id="40" name="Straight Connector 39"/>
            <p:cNvCxnSpPr>
              <a:stCxn id="10" idx="0"/>
              <a:endCxn id="12" idx="0"/>
            </p:cNvCxnSpPr>
            <p:nvPr/>
          </p:nvCxnSpPr>
          <p:spPr bwMode="auto">
            <a:xfrm>
              <a:off x="2370573" y="3629623"/>
              <a:ext cx="750" cy="352072"/>
            </a:xfrm>
            <a:prstGeom prst="line">
              <a:avLst/>
            </a:prstGeom>
            <a:noFill/>
            <a:ln w="25400" cap="flat" cmpd="sng" algn="ctr">
              <a:solidFill>
                <a:schemeClr val="tx1"/>
              </a:solidFill>
              <a:prstDash val="solid"/>
              <a:round/>
              <a:headEnd type="none" w="med" len="med"/>
              <a:tailEnd type="none" w="med" len="med"/>
            </a:ln>
            <a:effectLst/>
          </p:spPr>
        </p:cxnSp>
        <p:cxnSp>
          <p:nvCxnSpPr>
            <p:cNvPr id="41" name="Straight Connector 40"/>
            <p:cNvCxnSpPr>
              <a:stCxn id="10" idx="6"/>
              <a:endCxn id="12" idx="6"/>
            </p:cNvCxnSpPr>
            <p:nvPr/>
          </p:nvCxnSpPr>
          <p:spPr bwMode="auto">
            <a:xfrm flipH="1">
              <a:off x="3621561" y="5205712"/>
              <a:ext cx="358066" cy="748"/>
            </a:xfrm>
            <a:prstGeom prst="line">
              <a:avLst/>
            </a:prstGeom>
            <a:noFill/>
            <a:ln w="25400" cap="flat" cmpd="sng" algn="ctr">
              <a:solidFill>
                <a:schemeClr val="tx1"/>
              </a:solidFill>
              <a:prstDash val="solid"/>
              <a:round/>
              <a:headEnd type="none" w="med" len="med"/>
              <a:tailEnd type="none" w="med" len="med"/>
            </a:ln>
            <a:effectLst/>
          </p:spPr>
        </p:cxnSp>
        <p:cxnSp>
          <p:nvCxnSpPr>
            <p:cNvPr id="45" name="Straight Connector 44"/>
            <p:cNvCxnSpPr>
              <a:stCxn id="10" idx="7"/>
              <a:endCxn id="12" idx="7"/>
            </p:cNvCxnSpPr>
            <p:nvPr/>
          </p:nvCxnSpPr>
          <p:spPr bwMode="auto">
            <a:xfrm flipH="1">
              <a:off x="3255375" y="4091249"/>
              <a:ext cx="252971" cy="249171"/>
            </a:xfrm>
            <a:prstGeom prst="line">
              <a:avLst/>
            </a:prstGeom>
            <a:noFill/>
            <a:ln w="25400" cap="flat" cmpd="sng" algn="ctr">
              <a:solidFill>
                <a:schemeClr val="tx1"/>
              </a:solidFill>
              <a:prstDash val="solid"/>
              <a:round/>
              <a:headEnd type="none" w="med" len="med"/>
              <a:tailEnd type="none" w="med" len="med"/>
            </a:ln>
            <a:effectLst/>
          </p:spPr>
        </p:cxnSp>
        <p:cxnSp>
          <p:nvCxnSpPr>
            <p:cNvPr id="48" name="Straight Connector 47"/>
            <p:cNvCxnSpPr>
              <a:stCxn id="10" idx="5"/>
              <a:endCxn id="12" idx="5"/>
            </p:cNvCxnSpPr>
            <p:nvPr/>
          </p:nvCxnSpPr>
          <p:spPr bwMode="auto">
            <a:xfrm flipH="1" flipV="1">
              <a:off x="3255375" y="6072499"/>
              <a:ext cx="252971" cy="247675"/>
            </a:xfrm>
            <a:prstGeom prst="line">
              <a:avLst/>
            </a:prstGeom>
            <a:noFill/>
            <a:ln w="25400" cap="flat" cmpd="sng" algn="ctr">
              <a:solidFill>
                <a:schemeClr val="tx1"/>
              </a:solidFill>
              <a:prstDash val="solid"/>
              <a:round/>
              <a:headEnd type="none" w="med" len="med"/>
              <a:tailEnd type="none" w="med" len="med"/>
            </a:ln>
            <a:effectLst/>
          </p:spPr>
        </p:cxnSp>
        <p:cxnSp>
          <p:nvCxnSpPr>
            <p:cNvPr id="52" name="Straight Connector 51"/>
            <p:cNvCxnSpPr>
              <a:stCxn id="10" idx="4"/>
              <a:endCxn id="12" idx="4"/>
            </p:cNvCxnSpPr>
            <p:nvPr/>
          </p:nvCxnSpPr>
          <p:spPr bwMode="auto">
            <a:xfrm flipV="1">
              <a:off x="2370573" y="6431224"/>
              <a:ext cx="750" cy="350576"/>
            </a:xfrm>
            <a:prstGeom prst="line">
              <a:avLst/>
            </a:prstGeom>
            <a:noFill/>
            <a:ln w="25400" cap="flat" cmpd="sng" algn="ctr">
              <a:solidFill>
                <a:schemeClr val="tx1"/>
              </a:solidFill>
              <a:prstDash val="solid"/>
              <a:round/>
              <a:headEnd type="none" w="med" len="med"/>
              <a:tailEnd type="none" w="med" len="med"/>
            </a:ln>
            <a:effectLst/>
          </p:spPr>
        </p:cxnSp>
        <p:cxnSp>
          <p:nvCxnSpPr>
            <p:cNvPr id="55" name="Straight Connector 54"/>
            <p:cNvCxnSpPr>
              <a:stCxn id="12" idx="3"/>
              <a:endCxn id="10" idx="3"/>
            </p:cNvCxnSpPr>
            <p:nvPr/>
          </p:nvCxnSpPr>
          <p:spPr bwMode="auto">
            <a:xfrm flipH="1">
              <a:off x="1232800" y="6072499"/>
              <a:ext cx="254470" cy="247675"/>
            </a:xfrm>
            <a:prstGeom prst="line">
              <a:avLst/>
            </a:prstGeom>
            <a:noFill/>
            <a:ln w="25400" cap="flat" cmpd="sng" algn="ctr">
              <a:solidFill>
                <a:schemeClr val="tx1"/>
              </a:solidFill>
              <a:prstDash val="solid"/>
              <a:round/>
              <a:headEnd type="none" w="med" len="med"/>
              <a:tailEnd type="none" w="med" len="med"/>
            </a:ln>
            <a:effectLst/>
          </p:spPr>
        </p:cxnSp>
        <p:cxnSp>
          <p:nvCxnSpPr>
            <p:cNvPr id="58" name="Straight Connector 57"/>
            <p:cNvCxnSpPr>
              <a:stCxn id="12" idx="2"/>
              <a:endCxn id="10" idx="2"/>
            </p:cNvCxnSpPr>
            <p:nvPr/>
          </p:nvCxnSpPr>
          <p:spPr bwMode="auto">
            <a:xfrm flipH="1" flipV="1">
              <a:off x="761519" y="5205712"/>
              <a:ext cx="359565" cy="748"/>
            </a:xfrm>
            <a:prstGeom prst="line">
              <a:avLst/>
            </a:prstGeom>
            <a:noFill/>
            <a:ln w="25400" cap="flat" cmpd="sng" algn="ctr">
              <a:solidFill>
                <a:schemeClr val="tx1"/>
              </a:solidFill>
              <a:prstDash val="solid"/>
              <a:round/>
              <a:headEnd type="none" w="med" len="med"/>
              <a:tailEnd type="none" w="med" len="med"/>
            </a:ln>
            <a:effectLst/>
          </p:spPr>
        </p:cxnSp>
        <p:cxnSp>
          <p:nvCxnSpPr>
            <p:cNvPr id="61" name="Straight Connector 60"/>
            <p:cNvCxnSpPr>
              <a:stCxn id="10" idx="1"/>
              <a:endCxn id="12" idx="1"/>
            </p:cNvCxnSpPr>
            <p:nvPr/>
          </p:nvCxnSpPr>
          <p:spPr bwMode="auto">
            <a:xfrm>
              <a:off x="1232800" y="4091249"/>
              <a:ext cx="254470" cy="249171"/>
            </a:xfrm>
            <a:prstGeom prst="line">
              <a:avLst/>
            </a:prstGeom>
            <a:noFill/>
            <a:ln w="25400" cap="flat" cmpd="sng" algn="ctr">
              <a:solidFill>
                <a:schemeClr val="tx1"/>
              </a:solidFill>
              <a:prstDash val="solid"/>
              <a:round/>
              <a:headEnd type="none" w="med" len="med"/>
              <a:tailEnd type="none" w="med" len="med"/>
            </a:ln>
            <a:effectLst/>
          </p:spPr>
        </p:cxnSp>
        <p:cxnSp>
          <p:nvCxnSpPr>
            <p:cNvPr id="67" name="Straight Connector 66"/>
            <p:cNvCxnSpPr/>
            <p:nvPr/>
          </p:nvCxnSpPr>
          <p:spPr bwMode="auto">
            <a:xfrm flipH="1">
              <a:off x="2836334" y="3733800"/>
              <a:ext cx="151858" cy="357449"/>
            </a:xfrm>
            <a:prstGeom prst="line">
              <a:avLst/>
            </a:prstGeom>
            <a:noFill/>
            <a:ln w="25400" cap="flat" cmpd="sng" algn="ctr">
              <a:solidFill>
                <a:schemeClr val="tx1"/>
              </a:solidFill>
              <a:prstDash val="solid"/>
              <a:round/>
              <a:headEnd type="none" w="med" len="med"/>
              <a:tailEnd type="none" w="med" len="med"/>
            </a:ln>
            <a:effectLst/>
          </p:spPr>
        </p:cxnSp>
        <p:cxnSp>
          <p:nvCxnSpPr>
            <p:cNvPr id="80" name="Straight Connector 79"/>
            <p:cNvCxnSpPr/>
            <p:nvPr/>
          </p:nvCxnSpPr>
          <p:spPr bwMode="auto">
            <a:xfrm flipV="1">
              <a:off x="3508346" y="4600807"/>
              <a:ext cx="335521" cy="140526"/>
            </a:xfrm>
            <a:prstGeom prst="line">
              <a:avLst/>
            </a:prstGeom>
            <a:noFill/>
            <a:ln w="25400" cap="flat" cmpd="sng" algn="ctr">
              <a:solidFill>
                <a:schemeClr val="tx1"/>
              </a:solidFill>
              <a:prstDash val="solid"/>
              <a:round/>
              <a:headEnd type="none" w="med" len="med"/>
              <a:tailEnd type="none" w="med" len="med"/>
            </a:ln>
            <a:effectLst/>
          </p:spPr>
        </p:cxnSp>
        <p:cxnSp>
          <p:nvCxnSpPr>
            <p:cNvPr id="82" name="Straight Connector 81"/>
            <p:cNvCxnSpPr/>
            <p:nvPr/>
          </p:nvCxnSpPr>
          <p:spPr bwMode="auto">
            <a:xfrm>
              <a:off x="3508346" y="5647267"/>
              <a:ext cx="335521" cy="163347"/>
            </a:xfrm>
            <a:prstGeom prst="line">
              <a:avLst/>
            </a:prstGeom>
            <a:noFill/>
            <a:ln w="25400" cap="flat" cmpd="sng" algn="ctr">
              <a:solidFill>
                <a:schemeClr val="tx1"/>
              </a:solidFill>
              <a:prstDash val="solid"/>
              <a:round/>
              <a:headEnd type="none" w="med" len="med"/>
              <a:tailEnd type="none" w="med" len="med"/>
            </a:ln>
            <a:effectLst/>
          </p:spPr>
        </p:cxnSp>
        <p:cxnSp>
          <p:nvCxnSpPr>
            <p:cNvPr id="84" name="Straight Connector 83"/>
            <p:cNvCxnSpPr/>
            <p:nvPr/>
          </p:nvCxnSpPr>
          <p:spPr bwMode="auto">
            <a:xfrm>
              <a:off x="2912917" y="6320174"/>
              <a:ext cx="152016" cy="292293"/>
            </a:xfrm>
            <a:prstGeom prst="line">
              <a:avLst/>
            </a:prstGeom>
            <a:noFill/>
            <a:ln w="25400" cap="flat" cmpd="sng" algn="ctr">
              <a:solidFill>
                <a:schemeClr val="tx1"/>
              </a:solidFill>
              <a:prstDash val="solid"/>
              <a:round/>
              <a:headEnd type="none" w="med" len="med"/>
              <a:tailEnd type="none" w="med" len="med"/>
            </a:ln>
            <a:effectLst/>
          </p:spPr>
        </p:cxnSp>
        <p:cxnSp>
          <p:nvCxnSpPr>
            <p:cNvPr id="90" name="Straight Connector 89"/>
            <p:cNvCxnSpPr/>
            <p:nvPr/>
          </p:nvCxnSpPr>
          <p:spPr bwMode="auto">
            <a:xfrm flipH="1">
              <a:off x="1727555" y="6345575"/>
              <a:ext cx="177444" cy="292293"/>
            </a:xfrm>
            <a:prstGeom prst="line">
              <a:avLst/>
            </a:prstGeom>
            <a:noFill/>
            <a:ln w="25400" cap="flat" cmpd="sng" algn="ctr">
              <a:solidFill>
                <a:schemeClr val="tx1"/>
              </a:solidFill>
              <a:prstDash val="solid"/>
              <a:round/>
              <a:headEnd type="none" w="med" len="med"/>
              <a:tailEnd type="none" w="med" len="med"/>
            </a:ln>
            <a:effectLst/>
          </p:spPr>
        </p:cxnSp>
        <p:cxnSp>
          <p:nvCxnSpPr>
            <p:cNvPr id="95" name="Straight Connector 94"/>
            <p:cNvCxnSpPr/>
            <p:nvPr/>
          </p:nvCxnSpPr>
          <p:spPr bwMode="auto">
            <a:xfrm flipV="1">
              <a:off x="872067" y="5707602"/>
              <a:ext cx="360733" cy="103012"/>
            </a:xfrm>
            <a:prstGeom prst="line">
              <a:avLst/>
            </a:prstGeom>
            <a:noFill/>
            <a:ln w="25400" cap="flat" cmpd="sng" algn="ctr">
              <a:solidFill>
                <a:schemeClr val="tx1"/>
              </a:solidFill>
              <a:prstDash val="solid"/>
              <a:round/>
              <a:headEnd type="none" w="med" len="med"/>
              <a:tailEnd type="none" w="med" len="med"/>
            </a:ln>
            <a:effectLst/>
          </p:spPr>
        </p:cxnSp>
        <p:cxnSp>
          <p:nvCxnSpPr>
            <p:cNvPr id="97" name="Straight Connector 96"/>
            <p:cNvCxnSpPr/>
            <p:nvPr/>
          </p:nvCxnSpPr>
          <p:spPr bwMode="auto">
            <a:xfrm>
              <a:off x="872067" y="4600807"/>
              <a:ext cx="360733" cy="140526"/>
            </a:xfrm>
            <a:prstGeom prst="line">
              <a:avLst/>
            </a:prstGeom>
            <a:noFill/>
            <a:ln w="25400" cap="flat" cmpd="sng" algn="ctr">
              <a:solidFill>
                <a:schemeClr val="tx1"/>
              </a:solidFill>
              <a:prstDash val="solid"/>
              <a:round/>
              <a:headEnd type="none" w="med" len="med"/>
              <a:tailEnd type="none" w="med" len="med"/>
            </a:ln>
            <a:effectLst/>
          </p:spPr>
        </p:cxnSp>
        <p:cxnSp>
          <p:nvCxnSpPr>
            <p:cNvPr id="99" name="Straight Connector 98"/>
            <p:cNvCxnSpPr/>
            <p:nvPr/>
          </p:nvCxnSpPr>
          <p:spPr bwMode="auto">
            <a:xfrm>
              <a:off x="1727555" y="3733800"/>
              <a:ext cx="177444" cy="294423"/>
            </a:xfrm>
            <a:prstGeom prst="line">
              <a:avLst/>
            </a:prstGeom>
            <a:noFill/>
            <a:ln w="25400" cap="flat" cmpd="sng" algn="ctr">
              <a:solidFill>
                <a:schemeClr val="tx1"/>
              </a:solidFill>
              <a:prstDash val="solid"/>
              <a:round/>
              <a:headEnd type="none" w="med" len="med"/>
              <a:tailEnd type="none" w="med" len="med"/>
            </a:ln>
            <a:effectLst/>
          </p:spPr>
        </p:cxnSp>
      </p:grpSp>
      <p:sp>
        <p:nvSpPr>
          <p:cNvPr id="4" name="Rectangle 3">
            <a:extLst>
              <a:ext uri="{FF2B5EF4-FFF2-40B4-BE49-F238E27FC236}">
                <a16:creationId xmlns:a16="http://schemas.microsoft.com/office/drawing/2014/main" id="{F1FF1616-C161-4F2C-6152-EF2388C59D85}"/>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5" name="Rectangle 4">
            <a:extLst>
              <a:ext uri="{FF2B5EF4-FFF2-40B4-BE49-F238E27FC236}">
                <a16:creationId xmlns:a16="http://schemas.microsoft.com/office/drawing/2014/main" id="{017E9609-D8D1-B7C7-BD64-42D20FABFE13}"/>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extLst>
      <p:ext uri="{BB962C8B-B14F-4D97-AF65-F5344CB8AC3E}">
        <p14:creationId xmlns:p14="http://schemas.microsoft.com/office/powerpoint/2010/main" val="2760756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Rectangle 4"/>
          <p:cNvSpPr>
            <a:spLocks noGrp="1" noChangeArrowheads="1"/>
          </p:cNvSpPr>
          <p:nvPr>
            <p:ph type="title"/>
          </p:nvPr>
        </p:nvSpPr>
        <p:spPr/>
        <p:txBody>
          <a:bodyPr/>
          <a:lstStyle/>
          <a:p>
            <a:r>
              <a:rPr lang="en-US" dirty="0"/>
              <a:t> Computing Disk Capacity</a:t>
            </a:r>
          </a:p>
        </p:txBody>
      </p:sp>
      <p:sp>
        <p:nvSpPr>
          <p:cNvPr id="124933" name="Rectangle 5"/>
          <p:cNvSpPr>
            <a:spLocks noGrp="1" noChangeArrowheads="1"/>
          </p:cNvSpPr>
          <p:nvPr>
            <p:ph type="body" idx="1"/>
          </p:nvPr>
        </p:nvSpPr>
        <p:spPr/>
        <p:txBody>
          <a:bodyPr/>
          <a:lstStyle/>
          <a:p>
            <a:pPr>
              <a:buNone/>
            </a:pPr>
            <a:r>
              <a:rPr lang="en-US" sz="2000" dirty="0"/>
              <a:t>Capacity =  (# bytes/sector) </a:t>
            </a:r>
            <a:r>
              <a:rPr lang="en-US" sz="2000" dirty="0" err="1"/>
              <a:t>x</a:t>
            </a:r>
            <a:r>
              <a:rPr lang="en-US" sz="2000" dirty="0"/>
              <a:t> (avg. # sectors/track) </a:t>
            </a:r>
            <a:r>
              <a:rPr lang="en-US" sz="2000" dirty="0" err="1"/>
              <a:t>x</a:t>
            </a:r>
            <a:endParaRPr lang="en-US" sz="2000" dirty="0"/>
          </a:p>
          <a:p>
            <a:pPr>
              <a:buNone/>
            </a:pPr>
            <a:r>
              <a:rPr lang="en-US" sz="2000" dirty="0"/>
              <a:t>		    (# tracks/surface) </a:t>
            </a:r>
            <a:r>
              <a:rPr lang="en-US" sz="2000" dirty="0" err="1"/>
              <a:t>x</a:t>
            </a:r>
            <a:r>
              <a:rPr lang="en-US" sz="2000" dirty="0"/>
              <a:t> (# surfaces/platter) </a:t>
            </a:r>
            <a:r>
              <a:rPr lang="en-US" sz="2000" dirty="0" err="1"/>
              <a:t>x</a:t>
            </a:r>
            <a:endParaRPr lang="en-US" sz="2000" dirty="0"/>
          </a:p>
          <a:p>
            <a:pPr>
              <a:buNone/>
            </a:pPr>
            <a:r>
              <a:rPr lang="en-US" sz="2000" dirty="0"/>
              <a:t>  		    (# platters/disk)</a:t>
            </a:r>
          </a:p>
          <a:p>
            <a:pPr>
              <a:buNone/>
            </a:pPr>
            <a:r>
              <a:rPr lang="en-US" sz="2000" dirty="0"/>
              <a:t>Example:</a:t>
            </a:r>
          </a:p>
          <a:p>
            <a:pPr lvl="1"/>
            <a:r>
              <a:rPr lang="en-US" sz="1800" dirty="0"/>
              <a:t>512 bytes/sector</a:t>
            </a:r>
          </a:p>
          <a:p>
            <a:pPr lvl="1"/>
            <a:r>
              <a:rPr lang="en-US" sz="1800" dirty="0"/>
              <a:t>300 sectors/track (on average)</a:t>
            </a:r>
          </a:p>
          <a:p>
            <a:pPr lvl="1"/>
            <a:r>
              <a:rPr lang="en-US" sz="1800" dirty="0"/>
              <a:t>20,000 tracks/surface</a:t>
            </a:r>
          </a:p>
          <a:p>
            <a:pPr lvl="1"/>
            <a:r>
              <a:rPr lang="en-US" sz="1800" dirty="0"/>
              <a:t>2 surfaces/platter</a:t>
            </a:r>
          </a:p>
          <a:p>
            <a:pPr lvl="1"/>
            <a:r>
              <a:rPr lang="en-US" sz="1800" dirty="0"/>
              <a:t>5 platters/disk</a:t>
            </a:r>
          </a:p>
          <a:p>
            <a:pPr lvl="1"/>
            <a:endParaRPr lang="en-US" sz="1800" dirty="0"/>
          </a:p>
          <a:p>
            <a:pPr>
              <a:buNone/>
            </a:pPr>
            <a:r>
              <a:rPr lang="en-US" sz="2000" dirty="0"/>
              <a:t>Capacity = 512 </a:t>
            </a:r>
            <a:r>
              <a:rPr lang="en-US" sz="2000" dirty="0" err="1"/>
              <a:t>x</a:t>
            </a:r>
            <a:r>
              <a:rPr lang="en-US" sz="2000" dirty="0"/>
              <a:t> 300 </a:t>
            </a:r>
            <a:r>
              <a:rPr lang="en-US" sz="2000" dirty="0" err="1"/>
              <a:t>x</a:t>
            </a:r>
            <a:r>
              <a:rPr lang="en-US" sz="2000" dirty="0"/>
              <a:t> 20000 </a:t>
            </a:r>
            <a:r>
              <a:rPr lang="en-US" sz="2000" dirty="0" err="1"/>
              <a:t>x</a:t>
            </a:r>
            <a:r>
              <a:rPr lang="en-US" sz="2000" dirty="0"/>
              <a:t> 2 </a:t>
            </a:r>
            <a:r>
              <a:rPr lang="en-US" sz="2000" dirty="0" err="1"/>
              <a:t>x</a:t>
            </a:r>
            <a:r>
              <a:rPr lang="en-US" sz="2000" dirty="0"/>
              <a:t> 5</a:t>
            </a:r>
          </a:p>
          <a:p>
            <a:pPr>
              <a:buNone/>
            </a:pPr>
            <a:r>
              <a:rPr lang="en-US" sz="2000" dirty="0"/>
              <a:t>		 = 30,720,000,000</a:t>
            </a:r>
          </a:p>
          <a:p>
            <a:pPr>
              <a:buNone/>
            </a:pPr>
            <a:r>
              <a:rPr lang="en-US" sz="2000" dirty="0"/>
              <a:t>                = 30.72 GB </a:t>
            </a:r>
          </a:p>
          <a:p>
            <a:pPr lvl="1"/>
            <a:endParaRPr lang="en-US" sz="1800" dirty="0"/>
          </a:p>
        </p:txBody>
      </p:sp>
      <p:sp>
        <p:nvSpPr>
          <p:cNvPr id="2" name="Rectangle 1">
            <a:extLst>
              <a:ext uri="{FF2B5EF4-FFF2-40B4-BE49-F238E27FC236}">
                <a16:creationId xmlns:a16="http://schemas.microsoft.com/office/drawing/2014/main" id="{B11496CF-9AE4-69E8-34D3-D68FCFD74E0A}"/>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0913622C-B599-3C27-1612-03579C2E4E48}"/>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59" name="Rectangle 27"/>
          <p:cNvSpPr>
            <a:spLocks noGrp="1" noChangeArrowheads="1"/>
          </p:cNvSpPr>
          <p:nvPr>
            <p:ph type="title"/>
          </p:nvPr>
        </p:nvSpPr>
        <p:spPr/>
        <p:txBody>
          <a:bodyPr/>
          <a:lstStyle/>
          <a:p>
            <a:r>
              <a:rPr lang="en-US" dirty="0"/>
              <a:t>Disk Operation (Single-Platter View)</a:t>
            </a:r>
          </a:p>
        </p:txBody>
      </p:sp>
      <p:sp>
        <p:nvSpPr>
          <p:cNvPr id="95236" name="Oval 4"/>
          <p:cNvSpPr>
            <a:spLocks noChangeArrowheads="1"/>
          </p:cNvSpPr>
          <p:nvPr/>
        </p:nvSpPr>
        <p:spPr bwMode="auto">
          <a:xfrm>
            <a:off x="2962275" y="2722563"/>
            <a:ext cx="1851025" cy="1812925"/>
          </a:xfrm>
          <a:prstGeom prst="ellipse">
            <a:avLst/>
          </a:prstGeom>
          <a:solidFill>
            <a:schemeClr val="bg1"/>
          </a:solidFill>
          <a:ln w="12700">
            <a:solidFill>
              <a:schemeClr val="tx1"/>
            </a:solidFill>
            <a:round/>
            <a:headEnd/>
            <a:tailEnd/>
          </a:ln>
          <a:effectLst/>
        </p:spPr>
        <p:txBody>
          <a:bodyPr wrap="none" anchor="ctr">
            <a:prstTxWarp prst="textNoShape">
              <a:avLst/>
            </a:prstTxWarp>
          </a:bodyPr>
          <a:lstStyle/>
          <a:p>
            <a:endParaRPr lang="en-US"/>
          </a:p>
        </p:txBody>
      </p:sp>
      <p:sp>
        <p:nvSpPr>
          <p:cNvPr id="95238" name="Oval 6"/>
          <p:cNvSpPr>
            <a:spLocks noChangeArrowheads="1"/>
          </p:cNvSpPr>
          <p:nvPr/>
        </p:nvSpPr>
        <p:spPr bwMode="auto">
          <a:xfrm>
            <a:off x="1992313" y="1773238"/>
            <a:ext cx="3790950" cy="3713162"/>
          </a:xfrm>
          <a:prstGeom prst="ellipse">
            <a:avLst/>
          </a:prstGeom>
          <a:noFill/>
          <a:ln w="38100">
            <a:solidFill>
              <a:schemeClr val="tx1"/>
            </a:solidFill>
            <a:round/>
            <a:headEnd/>
            <a:tailEnd/>
          </a:ln>
          <a:effectLst/>
        </p:spPr>
        <p:txBody>
          <a:bodyPr wrap="none" anchor="ctr">
            <a:prstTxWarp prst="textNoShape">
              <a:avLst/>
            </a:prstTxWarp>
          </a:bodyPr>
          <a:lstStyle/>
          <a:p>
            <a:endParaRPr lang="en-US"/>
          </a:p>
        </p:txBody>
      </p:sp>
      <p:sp>
        <p:nvSpPr>
          <p:cNvPr id="95239" name="Oval 7"/>
          <p:cNvSpPr>
            <a:spLocks noChangeArrowheads="1"/>
          </p:cNvSpPr>
          <p:nvPr/>
        </p:nvSpPr>
        <p:spPr bwMode="auto">
          <a:xfrm>
            <a:off x="2182813" y="1958975"/>
            <a:ext cx="3409950" cy="3340100"/>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5240" name="Oval 8"/>
          <p:cNvSpPr>
            <a:spLocks noChangeArrowheads="1"/>
          </p:cNvSpPr>
          <p:nvPr/>
        </p:nvSpPr>
        <p:spPr bwMode="auto">
          <a:xfrm>
            <a:off x="2373313" y="2144713"/>
            <a:ext cx="3030537" cy="2968625"/>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5241" name="Oval 9"/>
          <p:cNvSpPr>
            <a:spLocks noChangeArrowheads="1"/>
          </p:cNvSpPr>
          <p:nvPr/>
        </p:nvSpPr>
        <p:spPr bwMode="auto">
          <a:xfrm>
            <a:off x="2563813" y="2332038"/>
            <a:ext cx="2649537" cy="2595562"/>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5242" name="Oval 10"/>
          <p:cNvSpPr>
            <a:spLocks noChangeArrowheads="1"/>
          </p:cNvSpPr>
          <p:nvPr/>
        </p:nvSpPr>
        <p:spPr bwMode="auto">
          <a:xfrm>
            <a:off x="2752725" y="2517775"/>
            <a:ext cx="2270125" cy="2222500"/>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5243" name="Oval 11"/>
          <p:cNvSpPr>
            <a:spLocks noChangeArrowheads="1"/>
          </p:cNvSpPr>
          <p:nvPr/>
        </p:nvSpPr>
        <p:spPr bwMode="auto">
          <a:xfrm>
            <a:off x="3133725" y="2890838"/>
            <a:ext cx="1508125" cy="1477962"/>
          </a:xfrm>
          <a:prstGeom prst="ellipse">
            <a:avLst/>
          </a:prstGeom>
          <a:noFill/>
          <a:ln w="12700">
            <a:solidFill>
              <a:schemeClr val="tx1"/>
            </a:solidFill>
            <a:round/>
            <a:headEnd/>
            <a:tailEnd/>
          </a:ln>
          <a:effectLst/>
        </p:spPr>
        <p:txBody>
          <a:bodyPr wrap="none" anchor="ctr">
            <a:prstTxWarp prst="textNoShape">
              <a:avLst/>
            </a:prstTxWarp>
          </a:bodyPr>
          <a:lstStyle/>
          <a:p>
            <a:endParaRPr lang="en-US"/>
          </a:p>
        </p:txBody>
      </p:sp>
      <p:sp>
        <p:nvSpPr>
          <p:cNvPr id="95245" name="Arc 13"/>
          <p:cNvSpPr>
            <a:spLocks/>
          </p:cNvSpPr>
          <p:nvPr/>
        </p:nvSpPr>
        <p:spPr bwMode="auto">
          <a:xfrm rot="-1879939">
            <a:off x="1814513" y="2114550"/>
            <a:ext cx="1231900" cy="508000"/>
          </a:xfrm>
          <a:custGeom>
            <a:avLst/>
            <a:gdLst>
              <a:gd name="G0" fmla="+- 19775 0 0"/>
              <a:gd name="G1" fmla="+- 21600 0 0"/>
              <a:gd name="G2" fmla="+- 21600 0 0"/>
              <a:gd name="T0" fmla="*/ 0 w 19775"/>
              <a:gd name="T1" fmla="*/ 12910 h 21600"/>
              <a:gd name="T2" fmla="*/ 19750 w 19775"/>
              <a:gd name="T3" fmla="*/ 0 h 21600"/>
              <a:gd name="T4" fmla="*/ 19775 w 19775"/>
              <a:gd name="T5" fmla="*/ 21600 h 21600"/>
            </a:gdLst>
            <a:ahLst/>
            <a:cxnLst>
              <a:cxn ang="0">
                <a:pos x="T0" y="T1"/>
              </a:cxn>
              <a:cxn ang="0">
                <a:pos x="T2" y="T3"/>
              </a:cxn>
              <a:cxn ang="0">
                <a:pos x="T4" y="T5"/>
              </a:cxn>
            </a:cxnLst>
            <a:rect l="0" t="0" r="r" b="b"/>
            <a:pathLst>
              <a:path w="19775" h="21600" fill="none" extrusionOk="0">
                <a:moveTo>
                  <a:pt x="0" y="12910"/>
                </a:moveTo>
                <a:cubicBezTo>
                  <a:pt x="3443" y="5073"/>
                  <a:pt x="11190" y="9"/>
                  <a:pt x="19750" y="0"/>
                </a:cubicBezTo>
              </a:path>
              <a:path w="19775" h="21600" stroke="0" extrusionOk="0">
                <a:moveTo>
                  <a:pt x="0" y="12910"/>
                </a:moveTo>
                <a:cubicBezTo>
                  <a:pt x="3443" y="5073"/>
                  <a:pt x="11190" y="9"/>
                  <a:pt x="19750" y="0"/>
                </a:cubicBezTo>
                <a:lnTo>
                  <a:pt x="19775" y="21600"/>
                </a:lnTo>
                <a:close/>
              </a:path>
            </a:pathLst>
          </a:custGeom>
          <a:noFill/>
          <a:ln w="28575">
            <a:solidFill>
              <a:srgbClr val="00FFFF"/>
            </a:solidFill>
            <a:prstDash val="dash"/>
            <a:round/>
            <a:headEnd/>
            <a:tailEnd type="triangle" w="med" len="med"/>
          </a:ln>
          <a:effectLst/>
        </p:spPr>
        <p:txBody>
          <a:bodyPr wrap="none" anchor="ctr">
            <a:prstTxWarp prst="textNoShape">
              <a:avLst/>
            </a:prstTxWarp>
          </a:bodyPr>
          <a:lstStyle/>
          <a:p>
            <a:endParaRPr lang="en-US"/>
          </a:p>
        </p:txBody>
      </p:sp>
      <p:sp>
        <p:nvSpPr>
          <p:cNvPr id="95246" name="Rectangle 14"/>
          <p:cNvSpPr>
            <a:spLocks noChangeArrowheads="1"/>
          </p:cNvSpPr>
          <p:nvPr/>
        </p:nvSpPr>
        <p:spPr bwMode="auto">
          <a:xfrm>
            <a:off x="457200" y="1647825"/>
            <a:ext cx="1735138" cy="1066800"/>
          </a:xfrm>
          <a:prstGeom prst="rect">
            <a:avLst/>
          </a:prstGeom>
          <a:noFill/>
          <a:ln w="12700">
            <a:noFill/>
            <a:miter lim="800000"/>
            <a:headEnd/>
            <a:tailEnd/>
          </a:ln>
          <a:effectLst/>
        </p:spPr>
        <p:txBody>
          <a:bodyPr lIns="90487" tIns="44450" rIns="90487" bIns="44450">
            <a:prstTxWarp prst="textNoShape">
              <a:avLst/>
            </a:prstTxWarp>
            <a:spAutoFit/>
          </a:bodyPr>
          <a:lstStyle/>
          <a:p>
            <a:pPr algn="l">
              <a:lnSpc>
                <a:spcPct val="100000"/>
              </a:lnSpc>
            </a:pPr>
            <a:r>
              <a:rPr lang="en-US" sz="1600" dirty="0"/>
              <a:t>The disk surface </a:t>
            </a:r>
          </a:p>
          <a:p>
            <a:pPr algn="l">
              <a:lnSpc>
                <a:spcPct val="100000"/>
              </a:lnSpc>
            </a:pPr>
            <a:r>
              <a:rPr lang="en-US" sz="1600" dirty="0"/>
              <a:t>spins at a fixed</a:t>
            </a:r>
          </a:p>
          <a:p>
            <a:pPr algn="l">
              <a:lnSpc>
                <a:spcPct val="100000"/>
              </a:lnSpc>
            </a:pPr>
            <a:r>
              <a:rPr lang="en-US" sz="1600" dirty="0"/>
              <a:t>rotational rate</a:t>
            </a:r>
          </a:p>
        </p:txBody>
      </p:sp>
      <p:sp>
        <p:nvSpPr>
          <p:cNvPr id="95264" name="Oval 32"/>
          <p:cNvSpPr>
            <a:spLocks noChangeArrowheads="1"/>
          </p:cNvSpPr>
          <p:nvPr/>
        </p:nvSpPr>
        <p:spPr bwMode="auto">
          <a:xfrm rot="21600000">
            <a:off x="3302793" y="3098800"/>
            <a:ext cx="1128713" cy="1104900"/>
          </a:xfrm>
          <a:prstGeom prst="ellipse">
            <a:avLst/>
          </a:prstGeom>
          <a:solidFill>
            <a:srgbClr val="00FFFF"/>
          </a:solidFill>
          <a:ln w="38100">
            <a:solidFill>
              <a:schemeClr val="tx1"/>
            </a:solidFill>
            <a:round/>
            <a:headEnd/>
            <a:tailEnd/>
          </a:ln>
          <a:effectLst/>
        </p:spPr>
        <p:txBody>
          <a:bodyPr wrap="none" anchor="ctr">
            <a:prstTxWarp prst="textNoShape">
              <a:avLst/>
            </a:prstTxWarp>
          </a:bodyPr>
          <a:lstStyle/>
          <a:p>
            <a:pPr>
              <a:lnSpc>
                <a:spcPct val="100000"/>
              </a:lnSpc>
            </a:pPr>
            <a:endParaRPr lang="en-US" sz="1600" dirty="0"/>
          </a:p>
        </p:txBody>
      </p:sp>
      <p:grpSp>
        <p:nvGrpSpPr>
          <p:cNvPr id="2" name="Group 98"/>
          <p:cNvGrpSpPr>
            <a:grpSpLocks/>
          </p:cNvGrpSpPr>
          <p:nvPr/>
        </p:nvGrpSpPr>
        <p:grpSpPr bwMode="auto">
          <a:xfrm>
            <a:off x="4394200" y="1787525"/>
            <a:ext cx="4140200" cy="3629025"/>
            <a:chOff x="2768" y="1126"/>
            <a:chExt cx="2608" cy="2286"/>
          </a:xfrm>
        </p:grpSpPr>
        <p:grpSp>
          <p:nvGrpSpPr>
            <p:cNvPr id="3" name="Group 67"/>
            <p:cNvGrpSpPr>
              <a:grpSpLocks/>
            </p:cNvGrpSpPr>
            <p:nvPr/>
          </p:nvGrpSpPr>
          <p:grpSpPr bwMode="auto">
            <a:xfrm>
              <a:off x="2768" y="2607"/>
              <a:ext cx="2608" cy="805"/>
              <a:chOff x="2768" y="2607"/>
              <a:chExt cx="2608" cy="805"/>
            </a:xfrm>
          </p:grpSpPr>
          <p:sp>
            <p:nvSpPr>
              <p:cNvPr id="95237" name="Rectangle 5"/>
              <p:cNvSpPr>
                <a:spLocks noChangeArrowheads="1"/>
              </p:cNvSpPr>
              <p:nvPr/>
            </p:nvSpPr>
            <p:spPr bwMode="auto">
              <a:xfrm>
                <a:off x="3520" y="2894"/>
                <a:ext cx="1856" cy="518"/>
              </a:xfrm>
              <a:prstGeom prst="rect">
                <a:avLst/>
              </a:prstGeom>
              <a:noFill/>
              <a:ln w="12700">
                <a:noFill/>
                <a:miter lim="800000"/>
                <a:headEnd/>
                <a:tailEnd/>
              </a:ln>
              <a:effectLst/>
            </p:spPr>
            <p:txBody>
              <a:bodyPr lIns="90487" tIns="44450" rIns="90487" bIns="44450">
                <a:prstTxWarp prst="textNoShape">
                  <a:avLst/>
                </a:prstTxWarp>
                <a:spAutoFit/>
              </a:bodyPr>
              <a:lstStyle/>
              <a:p>
                <a:pPr algn="l">
                  <a:lnSpc>
                    <a:spcPct val="100000"/>
                  </a:lnSpc>
                </a:pPr>
                <a:r>
                  <a:rPr lang="en-US" sz="1600"/>
                  <a:t>By moving radially, the arm can position the read/write head over any track.</a:t>
                </a:r>
              </a:p>
            </p:txBody>
          </p:sp>
          <p:sp>
            <p:nvSpPr>
              <p:cNvPr id="95248" name="Arc 16"/>
              <p:cNvSpPr>
                <a:spLocks noChangeAspect="1"/>
              </p:cNvSpPr>
              <p:nvPr/>
            </p:nvSpPr>
            <p:spPr bwMode="auto">
              <a:xfrm rot="2822162" flipV="1">
                <a:off x="2493" y="2882"/>
                <a:ext cx="713" cy="163"/>
              </a:xfrm>
              <a:custGeom>
                <a:avLst/>
                <a:gdLst>
                  <a:gd name="G0" fmla="+- 18756 0 0"/>
                  <a:gd name="G1" fmla="+- 21600 0 0"/>
                  <a:gd name="G2" fmla="+- 21600 0 0"/>
                  <a:gd name="T0" fmla="*/ 0 w 37393"/>
                  <a:gd name="T1" fmla="*/ 10887 h 21600"/>
                  <a:gd name="T2" fmla="*/ 37393 w 37393"/>
                  <a:gd name="T3" fmla="*/ 10681 h 21600"/>
                  <a:gd name="T4" fmla="*/ 18756 w 37393"/>
                  <a:gd name="T5" fmla="*/ 21600 h 21600"/>
                </a:gdLst>
                <a:ahLst/>
                <a:cxnLst>
                  <a:cxn ang="0">
                    <a:pos x="T0" y="T1"/>
                  </a:cxn>
                  <a:cxn ang="0">
                    <a:pos x="T2" y="T3"/>
                  </a:cxn>
                  <a:cxn ang="0">
                    <a:pos x="T4" y="T5"/>
                  </a:cxn>
                </a:cxnLst>
                <a:rect l="0" t="0" r="r" b="b"/>
                <a:pathLst>
                  <a:path w="37393" h="21600" fill="none" extrusionOk="0">
                    <a:moveTo>
                      <a:pt x="-1" y="10886"/>
                    </a:moveTo>
                    <a:cubicBezTo>
                      <a:pt x="3845" y="4154"/>
                      <a:pt x="11003" y="-1"/>
                      <a:pt x="18756" y="-1"/>
                    </a:cubicBezTo>
                    <a:cubicBezTo>
                      <a:pt x="26423" y="-1"/>
                      <a:pt x="33516" y="4065"/>
                      <a:pt x="37392" y="10681"/>
                    </a:cubicBezTo>
                  </a:path>
                  <a:path w="37393" h="21600" stroke="0" extrusionOk="0">
                    <a:moveTo>
                      <a:pt x="-1" y="10886"/>
                    </a:moveTo>
                    <a:cubicBezTo>
                      <a:pt x="3845" y="4154"/>
                      <a:pt x="11003" y="-1"/>
                      <a:pt x="18756" y="-1"/>
                    </a:cubicBezTo>
                    <a:cubicBezTo>
                      <a:pt x="26423" y="-1"/>
                      <a:pt x="33516" y="4065"/>
                      <a:pt x="37392" y="10681"/>
                    </a:cubicBezTo>
                    <a:lnTo>
                      <a:pt x="18756" y="21600"/>
                    </a:lnTo>
                    <a:close/>
                  </a:path>
                </a:pathLst>
              </a:custGeom>
              <a:noFill/>
              <a:ln w="28575">
                <a:solidFill>
                  <a:srgbClr val="00FFFF"/>
                </a:solidFill>
                <a:prstDash val="dash"/>
                <a:round/>
                <a:headEnd type="triangle" w="med" len="med"/>
                <a:tailEnd type="triangle" w="med" len="med"/>
              </a:ln>
              <a:effectLst/>
            </p:spPr>
            <p:txBody>
              <a:bodyPr anchor="ctr">
                <a:prstTxWarp prst="textNoShape">
                  <a:avLst/>
                </a:prstTxWarp>
                <a:spAutoFit/>
              </a:bodyPr>
              <a:lstStyle/>
              <a:p>
                <a:endParaRPr lang="en-US"/>
              </a:p>
            </p:txBody>
          </p:sp>
        </p:grpSp>
        <p:sp>
          <p:nvSpPr>
            <p:cNvPr id="95247" name="Rectangle 15"/>
            <p:cNvSpPr>
              <a:spLocks noChangeArrowheads="1"/>
            </p:cNvSpPr>
            <p:nvPr/>
          </p:nvSpPr>
          <p:spPr bwMode="auto">
            <a:xfrm>
              <a:off x="3604" y="1126"/>
              <a:ext cx="1594" cy="826"/>
            </a:xfrm>
            <a:prstGeom prst="rect">
              <a:avLst/>
            </a:prstGeom>
            <a:noFill/>
            <a:ln w="12700">
              <a:noFill/>
              <a:miter lim="800000"/>
              <a:headEnd/>
              <a:tailEnd/>
            </a:ln>
            <a:effectLst/>
          </p:spPr>
          <p:txBody>
            <a:bodyPr wrap="none" lIns="90487" tIns="44450" rIns="90487" bIns="44450">
              <a:prstTxWarp prst="textNoShape">
                <a:avLst/>
              </a:prstTxWarp>
              <a:spAutoFit/>
            </a:bodyPr>
            <a:lstStyle/>
            <a:p>
              <a:pPr algn="l">
                <a:lnSpc>
                  <a:spcPct val="100000"/>
                </a:lnSpc>
              </a:pPr>
              <a:r>
                <a:rPr lang="en-US" sz="1600"/>
                <a:t>The read/write </a:t>
              </a:r>
              <a:r>
                <a:rPr lang="en-US" sz="1600" i="1"/>
                <a:t>head</a:t>
              </a:r>
            </a:p>
            <a:p>
              <a:pPr algn="l">
                <a:lnSpc>
                  <a:spcPct val="100000"/>
                </a:lnSpc>
              </a:pPr>
              <a:r>
                <a:rPr lang="en-US" sz="1600"/>
                <a:t>is attached to the end</a:t>
              </a:r>
            </a:p>
            <a:p>
              <a:pPr algn="l">
                <a:lnSpc>
                  <a:spcPct val="100000"/>
                </a:lnSpc>
              </a:pPr>
              <a:r>
                <a:rPr lang="en-US" sz="1600"/>
                <a:t>of the </a:t>
              </a:r>
              <a:r>
                <a:rPr lang="en-US" sz="1600" i="1"/>
                <a:t>arm</a:t>
              </a:r>
              <a:r>
                <a:rPr lang="en-US" sz="1600"/>
                <a:t> and flies over</a:t>
              </a:r>
            </a:p>
            <a:p>
              <a:pPr algn="l">
                <a:lnSpc>
                  <a:spcPct val="100000"/>
                </a:lnSpc>
              </a:pPr>
              <a:r>
                <a:rPr lang="en-US" sz="1600"/>
                <a:t> the disk surface on</a:t>
              </a:r>
            </a:p>
            <a:p>
              <a:pPr algn="l">
                <a:lnSpc>
                  <a:spcPct val="100000"/>
                </a:lnSpc>
              </a:pPr>
              <a:r>
                <a:rPr lang="en-US" sz="1600"/>
                <a:t>a thin cushion of air.</a:t>
              </a:r>
            </a:p>
          </p:txBody>
        </p:sp>
      </p:grpSp>
      <p:grpSp>
        <p:nvGrpSpPr>
          <p:cNvPr id="4" name="Group 46"/>
          <p:cNvGrpSpPr>
            <a:grpSpLocks/>
          </p:cNvGrpSpPr>
          <p:nvPr/>
        </p:nvGrpSpPr>
        <p:grpSpPr bwMode="auto">
          <a:xfrm>
            <a:off x="4287838" y="3209925"/>
            <a:ext cx="2205037" cy="850900"/>
            <a:chOff x="2701" y="2022"/>
            <a:chExt cx="1389" cy="536"/>
          </a:xfrm>
        </p:grpSpPr>
        <p:grpSp>
          <p:nvGrpSpPr>
            <p:cNvPr id="5" name="Group 23"/>
            <p:cNvGrpSpPr>
              <a:grpSpLocks/>
            </p:cNvGrpSpPr>
            <p:nvPr/>
          </p:nvGrpSpPr>
          <p:grpSpPr bwMode="auto">
            <a:xfrm rot="-2659851">
              <a:off x="2701" y="2430"/>
              <a:ext cx="1389" cy="128"/>
              <a:chOff x="2264" y="2992"/>
              <a:chExt cx="1389" cy="128"/>
            </a:xfrm>
          </p:grpSpPr>
          <p:sp>
            <p:nvSpPr>
              <p:cNvPr id="95256" name="Oval 24"/>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5257" name="Rectangle 25"/>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a:effectLst/>
            </p:spPr>
            <p:txBody>
              <a:bodyPr wrap="none" anchor="ctr">
                <a:prstTxWarp prst="textNoShape">
                  <a:avLst/>
                </a:prstTxWarp>
              </a:bodyPr>
              <a:lstStyle/>
              <a:p>
                <a:endParaRPr lang="en-US"/>
              </a:p>
            </p:txBody>
          </p:sp>
        </p:grpSp>
        <p:sp>
          <p:nvSpPr>
            <p:cNvPr id="95258" name="Oval 26"/>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a:effectLst/>
          </p:spPr>
          <p:txBody>
            <a:bodyPr wrap="none" anchor="ctr">
              <a:prstTxWarp prst="textNoShape">
                <a:avLst/>
              </a:prstTxWarp>
              <a:spAutoFit/>
            </a:bodyPr>
            <a:lstStyle/>
            <a:p>
              <a:endParaRPr lang="en-US"/>
            </a:p>
          </p:txBody>
        </p:sp>
      </p:grpSp>
      <p:grpSp>
        <p:nvGrpSpPr>
          <p:cNvPr id="6" name="Group 47"/>
          <p:cNvGrpSpPr>
            <a:grpSpLocks/>
          </p:cNvGrpSpPr>
          <p:nvPr/>
        </p:nvGrpSpPr>
        <p:grpSpPr bwMode="auto">
          <a:xfrm rot="-809166">
            <a:off x="4383088" y="3343275"/>
            <a:ext cx="2205037" cy="850900"/>
            <a:chOff x="2701" y="2022"/>
            <a:chExt cx="1389" cy="536"/>
          </a:xfrm>
        </p:grpSpPr>
        <p:grpSp>
          <p:nvGrpSpPr>
            <p:cNvPr id="7" name="Group 48"/>
            <p:cNvGrpSpPr>
              <a:grpSpLocks/>
            </p:cNvGrpSpPr>
            <p:nvPr/>
          </p:nvGrpSpPr>
          <p:grpSpPr bwMode="auto">
            <a:xfrm rot="-2659851">
              <a:off x="2701" y="2430"/>
              <a:ext cx="1389" cy="128"/>
              <a:chOff x="2264" y="2992"/>
              <a:chExt cx="1389" cy="128"/>
            </a:xfrm>
          </p:grpSpPr>
          <p:sp>
            <p:nvSpPr>
              <p:cNvPr id="95281" name="Oval 49"/>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5282" name="Rectangle 50"/>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a:effectLst/>
            </p:spPr>
            <p:txBody>
              <a:bodyPr wrap="none" anchor="ctr">
                <a:prstTxWarp prst="textNoShape">
                  <a:avLst/>
                </a:prstTxWarp>
              </a:bodyPr>
              <a:lstStyle/>
              <a:p>
                <a:endParaRPr lang="en-US"/>
              </a:p>
            </p:txBody>
          </p:sp>
        </p:grpSp>
        <p:sp>
          <p:nvSpPr>
            <p:cNvPr id="95283" name="Oval 51"/>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a:effectLst/>
          </p:spPr>
          <p:txBody>
            <a:bodyPr wrap="none" anchor="ctr">
              <a:prstTxWarp prst="textNoShape">
                <a:avLst/>
              </a:prstTxWarp>
              <a:spAutoFit/>
            </a:bodyPr>
            <a:lstStyle/>
            <a:p>
              <a:endParaRPr lang="en-US"/>
            </a:p>
          </p:txBody>
        </p:sp>
      </p:grpSp>
      <p:grpSp>
        <p:nvGrpSpPr>
          <p:cNvPr id="8" name="Group 62"/>
          <p:cNvGrpSpPr>
            <a:grpSpLocks/>
          </p:cNvGrpSpPr>
          <p:nvPr/>
        </p:nvGrpSpPr>
        <p:grpSpPr bwMode="auto">
          <a:xfrm rot="905387">
            <a:off x="4211638" y="2960688"/>
            <a:ext cx="2205037" cy="850900"/>
            <a:chOff x="2701" y="2022"/>
            <a:chExt cx="1389" cy="536"/>
          </a:xfrm>
        </p:grpSpPr>
        <p:grpSp>
          <p:nvGrpSpPr>
            <p:cNvPr id="9" name="Group 63"/>
            <p:cNvGrpSpPr>
              <a:grpSpLocks/>
            </p:cNvGrpSpPr>
            <p:nvPr/>
          </p:nvGrpSpPr>
          <p:grpSpPr bwMode="auto">
            <a:xfrm rot="-2659851">
              <a:off x="2701" y="2430"/>
              <a:ext cx="1389" cy="128"/>
              <a:chOff x="2264" y="2992"/>
              <a:chExt cx="1389" cy="128"/>
            </a:xfrm>
          </p:grpSpPr>
          <p:sp>
            <p:nvSpPr>
              <p:cNvPr id="95296" name="Oval 64"/>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5297" name="Rectangle 65"/>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a:effectLst/>
            </p:spPr>
            <p:txBody>
              <a:bodyPr wrap="none" anchor="ctr">
                <a:prstTxWarp prst="textNoShape">
                  <a:avLst/>
                </a:prstTxWarp>
              </a:bodyPr>
              <a:lstStyle/>
              <a:p>
                <a:endParaRPr lang="en-US"/>
              </a:p>
            </p:txBody>
          </p:sp>
        </p:grpSp>
        <p:sp>
          <p:nvSpPr>
            <p:cNvPr id="95298" name="Oval 66"/>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a:effectLst/>
          </p:spPr>
          <p:txBody>
            <a:bodyPr wrap="none" anchor="ctr">
              <a:prstTxWarp prst="textNoShape">
                <a:avLst/>
              </a:prstTxWarp>
              <a:spAutoFit/>
            </a:bodyPr>
            <a:lstStyle/>
            <a:p>
              <a:endParaRPr lang="en-US"/>
            </a:p>
          </p:txBody>
        </p:sp>
      </p:grpSp>
      <p:sp>
        <p:nvSpPr>
          <p:cNvPr id="95261" name="Oval 29"/>
          <p:cNvSpPr>
            <a:spLocks noChangeArrowheads="1"/>
          </p:cNvSpPr>
          <p:nvPr/>
        </p:nvSpPr>
        <p:spPr bwMode="auto">
          <a:xfrm rot="5400000">
            <a:off x="3302793" y="3098800"/>
            <a:ext cx="1128712" cy="1104900"/>
          </a:xfrm>
          <a:prstGeom prst="ellipse">
            <a:avLst/>
          </a:prstGeom>
          <a:solidFill>
            <a:srgbClr val="00FFFF"/>
          </a:solidFill>
          <a:ln w="38100">
            <a:solidFill>
              <a:schemeClr val="tx1"/>
            </a:solidFill>
            <a:round/>
            <a:headEnd/>
            <a:tailEnd/>
          </a:ln>
          <a:effectLst/>
        </p:spPr>
        <p:txBody>
          <a:bodyPr wrap="none" anchor="ctr">
            <a:prstTxWarp prst="textNoShape">
              <a:avLst/>
            </a:prstTxWarp>
          </a:bodyPr>
          <a:lstStyle/>
          <a:p>
            <a:pPr>
              <a:lnSpc>
                <a:spcPct val="100000"/>
              </a:lnSpc>
            </a:pPr>
            <a:r>
              <a:rPr lang="en-US" sz="1600" dirty="0"/>
              <a:t>spindle</a:t>
            </a:r>
          </a:p>
        </p:txBody>
      </p:sp>
      <p:sp>
        <p:nvSpPr>
          <p:cNvPr id="95262" name="Oval 30"/>
          <p:cNvSpPr>
            <a:spLocks noChangeArrowheads="1"/>
          </p:cNvSpPr>
          <p:nvPr/>
        </p:nvSpPr>
        <p:spPr bwMode="auto">
          <a:xfrm rot="10800000">
            <a:off x="3302793" y="3098800"/>
            <a:ext cx="1128713" cy="1104900"/>
          </a:xfrm>
          <a:prstGeom prst="ellipse">
            <a:avLst/>
          </a:prstGeom>
          <a:solidFill>
            <a:srgbClr val="00FFFF"/>
          </a:solidFill>
          <a:ln w="38100">
            <a:solidFill>
              <a:schemeClr val="tx1"/>
            </a:solidFill>
            <a:round/>
            <a:headEnd/>
            <a:tailEnd/>
          </a:ln>
          <a:effectLst/>
        </p:spPr>
        <p:txBody>
          <a:bodyPr wrap="none" anchor="ctr">
            <a:prstTxWarp prst="textNoShape">
              <a:avLst/>
            </a:prstTxWarp>
          </a:bodyPr>
          <a:lstStyle/>
          <a:p>
            <a:pPr>
              <a:lnSpc>
                <a:spcPct val="100000"/>
              </a:lnSpc>
            </a:pPr>
            <a:r>
              <a:rPr lang="en-US" sz="1600" dirty="0"/>
              <a:t>spindle</a:t>
            </a:r>
          </a:p>
        </p:txBody>
      </p:sp>
      <p:sp>
        <p:nvSpPr>
          <p:cNvPr id="95263" name="Oval 31"/>
          <p:cNvSpPr>
            <a:spLocks noChangeArrowheads="1"/>
          </p:cNvSpPr>
          <p:nvPr/>
        </p:nvSpPr>
        <p:spPr bwMode="auto">
          <a:xfrm rot="16200000">
            <a:off x="3302793" y="3098801"/>
            <a:ext cx="1128712" cy="1104900"/>
          </a:xfrm>
          <a:prstGeom prst="ellipse">
            <a:avLst/>
          </a:prstGeom>
          <a:solidFill>
            <a:srgbClr val="00FFFF"/>
          </a:solidFill>
          <a:ln w="38100">
            <a:solidFill>
              <a:schemeClr val="tx1"/>
            </a:solidFill>
            <a:round/>
            <a:headEnd/>
            <a:tailEnd/>
          </a:ln>
          <a:effectLst/>
        </p:spPr>
        <p:txBody>
          <a:bodyPr wrap="none" anchor="ctr">
            <a:prstTxWarp prst="textNoShape">
              <a:avLst/>
            </a:prstTxWarp>
          </a:bodyPr>
          <a:lstStyle/>
          <a:p>
            <a:pPr>
              <a:lnSpc>
                <a:spcPct val="100000"/>
              </a:lnSpc>
            </a:pPr>
            <a:r>
              <a:rPr lang="en-US" sz="1600" dirty="0"/>
              <a:t>spindle</a:t>
            </a:r>
          </a:p>
        </p:txBody>
      </p:sp>
      <p:sp>
        <p:nvSpPr>
          <p:cNvPr id="95244" name="Oval 12"/>
          <p:cNvSpPr>
            <a:spLocks noChangeArrowheads="1"/>
          </p:cNvSpPr>
          <p:nvPr/>
        </p:nvSpPr>
        <p:spPr bwMode="auto">
          <a:xfrm>
            <a:off x="3302793" y="3098800"/>
            <a:ext cx="1128713" cy="1104900"/>
          </a:xfrm>
          <a:prstGeom prst="ellipse">
            <a:avLst/>
          </a:prstGeom>
          <a:solidFill>
            <a:srgbClr val="00FFFF"/>
          </a:solidFill>
          <a:ln w="38100">
            <a:solidFill>
              <a:schemeClr val="tx1"/>
            </a:solidFill>
            <a:round/>
            <a:headEnd/>
            <a:tailEnd/>
          </a:ln>
          <a:effectLst/>
        </p:spPr>
        <p:txBody>
          <a:bodyPr wrap="none" anchor="ctr">
            <a:prstTxWarp prst="textNoShape">
              <a:avLst/>
            </a:prstTxWarp>
          </a:bodyPr>
          <a:lstStyle/>
          <a:p>
            <a:pPr>
              <a:lnSpc>
                <a:spcPct val="100000"/>
              </a:lnSpc>
            </a:pPr>
            <a:r>
              <a:rPr lang="en-US" sz="1600" dirty="0"/>
              <a:t>spindle</a:t>
            </a:r>
          </a:p>
        </p:txBody>
      </p:sp>
      <p:grpSp>
        <p:nvGrpSpPr>
          <p:cNvPr id="10" name="Group 68"/>
          <p:cNvGrpSpPr>
            <a:grpSpLocks/>
          </p:cNvGrpSpPr>
          <p:nvPr/>
        </p:nvGrpSpPr>
        <p:grpSpPr bwMode="auto">
          <a:xfrm rot="905387">
            <a:off x="4202113" y="2960688"/>
            <a:ext cx="2205037" cy="850900"/>
            <a:chOff x="2701" y="2022"/>
            <a:chExt cx="1389" cy="536"/>
          </a:xfrm>
        </p:grpSpPr>
        <p:grpSp>
          <p:nvGrpSpPr>
            <p:cNvPr id="11" name="Group 69"/>
            <p:cNvGrpSpPr>
              <a:grpSpLocks/>
            </p:cNvGrpSpPr>
            <p:nvPr/>
          </p:nvGrpSpPr>
          <p:grpSpPr bwMode="auto">
            <a:xfrm rot="-2659851">
              <a:off x="2701" y="2430"/>
              <a:ext cx="1389" cy="128"/>
              <a:chOff x="2264" y="2992"/>
              <a:chExt cx="1389" cy="128"/>
            </a:xfrm>
          </p:grpSpPr>
          <p:sp>
            <p:nvSpPr>
              <p:cNvPr id="95302" name="Oval 70"/>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5303" name="Rectangle 71"/>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a:effectLst/>
            </p:spPr>
            <p:txBody>
              <a:bodyPr wrap="none" anchor="ctr">
                <a:prstTxWarp prst="textNoShape">
                  <a:avLst/>
                </a:prstTxWarp>
              </a:bodyPr>
              <a:lstStyle/>
              <a:p>
                <a:endParaRPr lang="en-US"/>
              </a:p>
            </p:txBody>
          </p:sp>
        </p:grpSp>
        <p:sp>
          <p:nvSpPr>
            <p:cNvPr id="95304" name="Oval 72"/>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a:effectLst/>
          </p:spPr>
          <p:txBody>
            <a:bodyPr wrap="none" anchor="ctr">
              <a:prstTxWarp prst="textNoShape">
                <a:avLst/>
              </a:prstTxWarp>
              <a:spAutoFit/>
            </a:bodyPr>
            <a:lstStyle/>
            <a:p>
              <a:endParaRPr lang="en-US"/>
            </a:p>
          </p:txBody>
        </p:sp>
      </p:grpSp>
      <p:grpSp>
        <p:nvGrpSpPr>
          <p:cNvPr id="12" name="Group 73"/>
          <p:cNvGrpSpPr>
            <a:grpSpLocks/>
          </p:cNvGrpSpPr>
          <p:nvPr/>
        </p:nvGrpSpPr>
        <p:grpSpPr bwMode="auto">
          <a:xfrm rot="905387">
            <a:off x="4202113" y="2960688"/>
            <a:ext cx="2205037" cy="850900"/>
            <a:chOff x="2701" y="2022"/>
            <a:chExt cx="1389" cy="536"/>
          </a:xfrm>
        </p:grpSpPr>
        <p:grpSp>
          <p:nvGrpSpPr>
            <p:cNvPr id="13" name="Group 74"/>
            <p:cNvGrpSpPr>
              <a:grpSpLocks/>
            </p:cNvGrpSpPr>
            <p:nvPr/>
          </p:nvGrpSpPr>
          <p:grpSpPr bwMode="auto">
            <a:xfrm rot="-2659851">
              <a:off x="2701" y="2430"/>
              <a:ext cx="1389" cy="128"/>
              <a:chOff x="2264" y="2992"/>
              <a:chExt cx="1389" cy="128"/>
            </a:xfrm>
          </p:grpSpPr>
          <p:sp>
            <p:nvSpPr>
              <p:cNvPr id="95307" name="Oval 75"/>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5308" name="Rectangle 76"/>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a:effectLst/>
            </p:spPr>
            <p:txBody>
              <a:bodyPr wrap="none" anchor="ctr">
                <a:prstTxWarp prst="textNoShape">
                  <a:avLst/>
                </a:prstTxWarp>
              </a:bodyPr>
              <a:lstStyle/>
              <a:p>
                <a:endParaRPr lang="en-US"/>
              </a:p>
            </p:txBody>
          </p:sp>
        </p:grpSp>
        <p:sp>
          <p:nvSpPr>
            <p:cNvPr id="95309" name="Oval 77"/>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a:effectLst/>
          </p:spPr>
          <p:txBody>
            <a:bodyPr wrap="none" anchor="ctr">
              <a:prstTxWarp prst="textNoShape">
                <a:avLst/>
              </a:prstTxWarp>
              <a:spAutoFit/>
            </a:bodyPr>
            <a:lstStyle/>
            <a:p>
              <a:endParaRPr lang="en-US"/>
            </a:p>
          </p:txBody>
        </p:sp>
      </p:grpSp>
      <p:grpSp>
        <p:nvGrpSpPr>
          <p:cNvPr id="14" name="Group 83"/>
          <p:cNvGrpSpPr>
            <a:grpSpLocks/>
          </p:cNvGrpSpPr>
          <p:nvPr/>
        </p:nvGrpSpPr>
        <p:grpSpPr bwMode="auto">
          <a:xfrm rot="-809166">
            <a:off x="4384675" y="3341688"/>
            <a:ext cx="2205038" cy="850900"/>
            <a:chOff x="2701" y="2022"/>
            <a:chExt cx="1389" cy="536"/>
          </a:xfrm>
        </p:grpSpPr>
        <p:grpSp>
          <p:nvGrpSpPr>
            <p:cNvPr id="15" name="Group 84"/>
            <p:cNvGrpSpPr>
              <a:grpSpLocks/>
            </p:cNvGrpSpPr>
            <p:nvPr/>
          </p:nvGrpSpPr>
          <p:grpSpPr bwMode="auto">
            <a:xfrm rot="-2659851">
              <a:off x="2701" y="2430"/>
              <a:ext cx="1389" cy="128"/>
              <a:chOff x="2264" y="2992"/>
              <a:chExt cx="1389" cy="128"/>
            </a:xfrm>
          </p:grpSpPr>
          <p:sp>
            <p:nvSpPr>
              <p:cNvPr id="95317" name="Oval 85"/>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5318" name="Rectangle 86"/>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a:effectLst/>
            </p:spPr>
            <p:txBody>
              <a:bodyPr wrap="none" anchor="ctr">
                <a:prstTxWarp prst="textNoShape">
                  <a:avLst/>
                </a:prstTxWarp>
              </a:bodyPr>
              <a:lstStyle/>
              <a:p>
                <a:endParaRPr lang="en-US"/>
              </a:p>
            </p:txBody>
          </p:sp>
        </p:grpSp>
        <p:sp>
          <p:nvSpPr>
            <p:cNvPr id="95319" name="Oval 87"/>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a:effectLst/>
          </p:spPr>
          <p:txBody>
            <a:bodyPr wrap="none" anchor="ctr">
              <a:prstTxWarp prst="textNoShape">
                <a:avLst/>
              </a:prstTxWarp>
              <a:spAutoFit/>
            </a:bodyPr>
            <a:lstStyle/>
            <a:p>
              <a:endParaRPr lang="en-US"/>
            </a:p>
          </p:txBody>
        </p:sp>
      </p:grpSp>
      <p:grpSp>
        <p:nvGrpSpPr>
          <p:cNvPr id="16" name="Group 88"/>
          <p:cNvGrpSpPr>
            <a:grpSpLocks/>
          </p:cNvGrpSpPr>
          <p:nvPr/>
        </p:nvGrpSpPr>
        <p:grpSpPr bwMode="auto">
          <a:xfrm rot="-809166">
            <a:off x="4383088" y="3341688"/>
            <a:ext cx="2205037" cy="850900"/>
            <a:chOff x="2701" y="2022"/>
            <a:chExt cx="1389" cy="536"/>
          </a:xfrm>
        </p:grpSpPr>
        <p:grpSp>
          <p:nvGrpSpPr>
            <p:cNvPr id="17" name="Group 89"/>
            <p:cNvGrpSpPr>
              <a:grpSpLocks/>
            </p:cNvGrpSpPr>
            <p:nvPr/>
          </p:nvGrpSpPr>
          <p:grpSpPr bwMode="auto">
            <a:xfrm rot="-2659851">
              <a:off x="2701" y="2430"/>
              <a:ext cx="1389" cy="128"/>
              <a:chOff x="2264" y="2992"/>
              <a:chExt cx="1389" cy="128"/>
            </a:xfrm>
          </p:grpSpPr>
          <p:sp>
            <p:nvSpPr>
              <p:cNvPr id="95322" name="Oval 90"/>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5323" name="Rectangle 91"/>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a:effectLst/>
            </p:spPr>
            <p:txBody>
              <a:bodyPr wrap="none" anchor="ctr">
                <a:prstTxWarp prst="textNoShape">
                  <a:avLst/>
                </a:prstTxWarp>
              </a:bodyPr>
              <a:lstStyle/>
              <a:p>
                <a:endParaRPr lang="en-US"/>
              </a:p>
            </p:txBody>
          </p:sp>
        </p:grpSp>
        <p:sp>
          <p:nvSpPr>
            <p:cNvPr id="95324" name="Oval 92"/>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a:effectLst/>
          </p:spPr>
          <p:txBody>
            <a:bodyPr wrap="none" anchor="ctr">
              <a:prstTxWarp prst="textNoShape">
                <a:avLst/>
              </a:prstTxWarp>
              <a:spAutoFit/>
            </a:bodyPr>
            <a:lstStyle/>
            <a:p>
              <a:endParaRPr lang="en-US"/>
            </a:p>
          </p:txBody>
        </p:sp>
      </p:grpSp>
      <p:grpSp>
        <p:nvGrpSpPr>
          <p:cNvPr id="18" name="Group 93"/>
          <p:cNvGrpSpPr>
            <a:grpSpLocks/>
          </p:cNvGrpSpPr>
          <p:nvPr/>
        </p:nvGrpSpPr>
        <p:grpSpPr bwMode="auto">
          <a:xfrm rot="-809166">
            <a:off x="4383088" y="3341688"/>
            <a:ext cx="2205037" cy="850900"/>
            <a:chOff x="2701" y="2022"/>
            <a:chExt cx="1389" cy="536"/>
          </a:xfrm>
        </p:grpSpPr>
        <p:grpSp>
          <p:nvGrpSpPr>
            <p:cNvPr id="19" name="Group 94"/>
            <p:cNvGrpSpPr>
              <a:grpSpLocks/>
            </p:cNvGrpSpPr>
            <p:nvPr/>
          </p:nvGrpSpPr>
          <p:grpSpPr bwMode="auto">
            <a:xfrm rot="-2659851">
              <a:off x="2701" y="2430"/>
              <a:ext cx="1389" cy="128"/>
              <a:chOff x="2264" y="2992"/>
              <a:chExt cx="1389" cy="128"/>
            </a:xfrm>
          </p:grpSpPr>
          <p:sp>
            <p:nvSpPr>
              <p:cNvPr id="95327" name="Oval 95"/>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5328" name="Rectangle 96"/>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a:effectLst/>
            </p:spPr>
            <p:txBody>
              <a:bodyPr wrap="none" anchor="ctr">
                <a:prstTxWarp prst="textNoShape">
                  <a:avLst/>
                </a:prstTxWarp>
              </a:bodyPr>
              <a:lstStyle/>
              <a:p>
                <a:endParaRPr lang="en-US"/>
              </a:p>
            </p:txBody>
          </p:sp>
        </p:grpSp>
        <p:sp>
          <p:nvSpPr>
            <p:cNvPr id="95329" name="Oval 97"/>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a:effectLst/>
          </p:spPr>
          <p:txBody>
            <a:bodyPr wrap="none" anchor="ctr">
              <a:prstTxWarp prst="textNoShape">
                <a:avLst/>
              </a:prstTxWarp>
              <a:spAutoFit/>
            </a:bodyPr>
            <a:lstStyle/>
            <a:p>
              <a:endParaRPr lang="en-US"/>
            </a:p>
          </p:txBody>
        </p:sp>
      </p:grpSp>
      <p:sp>
        <p:nvSpPr>
          <p:cNvPr id="63" name="Oval 32"/>
          <p:cNvSpPr>
            <a:spLocks noChangeArrowheads="1"/>
          </p:cNvSpPr>
          <p:nvPr/>
        </p:nvSpPr>
        <p:spPr bwMode="auto">
          <a:xfrm>
            <a:off x="3302793" y="3098800"/>
            <a:ext cx="1128713" cy="1104900"/>
          </a:xfrm>
          <a:prstGeom prst="ellipse">
            <a:avLst/>
          </a:prstGeom>
          <a:solidFill>
            <a:srgbClr val="00FFFF"/>
          </a:solidFill>
          <a:ln w="38100">
            <a:solidFill>
              <a:schemeClr val="tx1"/>
            </a:solidFill>
            <a:round/>
            <a:headEnd/>
            <a:tailEnd/>
          </a:ln>
          <a:effectLst/>
        </p:spPr>
        <p:txBody>
          <a:bodyPr wrap="none" anchor="ctr">
            <a:prstTxWarp prst="textNoShape">
              <a:avLst/>
            </a:prstTxWarp>
          </a:bodyPr>
          <a:lstStyle/>
          <a:p>
            <a:pPr>
              <a:lnSpc>
                <a:spcPct val="100000"/>
              </a:lnSpc>
            </a:pPr>
            <a:r>
              <a:rPr lang="en-US" sz="1600" dirty="0"/>
              <a:t>spindle</a:t>
            </a:r>
          </a:p>
        </p:txBody>
      </p:sp>
      <p:sp>
        <p:nvSpPr>
          <p:cNvPr id="20" name="Rectangle 19">
            <a:extLst>
              <a:ext uri="{FF2B5EF4-FFF2-40B4-BE49-F238E27FC236}">
                <a16:creationId xmlns:a16="http://schemas.microsoft.com/office/drawing/2014/main" id="{82BF10F8-0C75-4DE6-A5E8-E82729768AF4}"/>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21" name="Rectangle 20">
            <a:extLst>
              <a:ext uri="{FF2B5EF4-FFF2-40B4-BE49-F238E27FC236}">
                <a16:creationId xmlns:a16="http://schemas.microsoft.com/office/drawing/2014/main" id="{221F7C61-8787-9291-2884-18EA2A898933}"/>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2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subTnLst>
                                    <p:set>
                                      <p:cBhvr override="childStyle">
                                        <p:cTn dur="1" fill="hold" display="0" masterRel="nextClick" afterEffect="1"/>
                                        <p:tgtEl>
                                          <p:spTgt spid="6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5261"/>
                                        </p:tgtEl>
                                        <p:attrNameLst>
                                          <p:attrName>style.visibility</p:attrName>
                                        </p:attrNameLst>
                                      </p:cBhvr>
                                      <p:to>
                                        <p:strVal val="visible"/>
                                      </p:to>
                                    </p:set>
                                  </p:childTnLst>
                                  <p:subTnLst>
                                    <p:set>
                                      <p:cBhvr override="childStyle">
                                        <p:cTn dur="1" fill="hold" display="0" masterRel="nextClick" afterEffect="1"/>
                                        <p:tgtEl>
                                          <p:spTgt spid="95261"/>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5262"/>
                                        </p:tgtEl>
                                        <p:attrNameLst>
                                          <p:attrName>style.visibility</p:attrName>
                                        </p:attrNameLst>
                                      </p:cBhvr>
                                      <p:to>
                                        <p:strVal val="visible"/>
                                      </p:to>
                                    </p:set>
                                  </p:childTnLst>
                                  <p:subTnLst>
                                    <p:set>
                                      <p:cBhvr override="childStyle">
                                        <p:cTn dur="1" fill="hold" display="0" masterRel="nextClick" afterEffect="1"/>
                                        <p:tgtEl>
                                          <p:spTgt spid="95262"/>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5263"/>
                                        </p:tgtEl>
                                        <p:attrNameLst>
                                          <p:attrName>style.visibility</p:attrName>
                                        </p:attrNameLst>
                                      </p:cBhvr>
                                      <p:to>
                                        <p:strVal val="visible"/>
                                      </p:to>
                                    </p:set>
                                  </p:childTnLst>
                                  <p:subTnLst>
                                    <p:set>
                                      <p:cBhvr override="childStyle">
                                        <p:cTn dur="1" fill="hold" display="0" masterRel="nextClick" afterEffect="1"/>
                                        <p:tgtEl>
                                          <p:spTgt spid="9526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52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64" grpId="0" animBg="1"/>
      <p:bldP spid="95261" grpId="0" animBg="1" autoUpdateAnimBg="0"/>
      <p:bldP spid="95262" grpId="0" animBg="1" autoUpdateAnimBg="0"/>
      <p:bldP spid="95263" grpId="0" animBg="1" autoUpdateAnimBg="0"/>
      <p:bldP spid="95244" grpId="0" animBg="1" autoUpdateAnimBg="0"/>
      <p:bldP spid="63"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86" name="Rectangle 30"/>
          <p:cNvSpPr>
            <a:spLocks noGrp="1" noChangeArrowheads="1"/>
          </p:cNvSpPr>
          <p:nvPr>
            <p:ph type="title"/>
          </p:nvPr>
        </p:nvSpPr>
        <p:spPr/>
        <p:txBody>
          <a:bodyPr/>
          <a:lstStyle/>
          <a:p>
            <a:r>
              <a:rPr lang="en-US" dirty="0"/>
              <a:t>Disk Operation (Multi-Platter View)</a:t>
            </a:r>
          </a:p>
        </p:txBody>
      </p:sp>
      <p:sp>
        <p:nvSpPr>
          <p:cNvPr id="96260" name="Line 4"/>
          <p:cNvSpPr>
            <a:spLocks noChangeShapeType="1"/>
          </p:cNvSpPr>
          <p:nvPr/>
        </p:nvSpPr>
        <p:spPr bwMode="auto">
          <a:xfrm flipH="1">
            <a:off x="5218113" y="2720975"/>
            <a:ext cx="457200" cy="0"/>
          </a:xfrm>
          <a:prstGeom prst="line">
            <a:avLst/>
          </a:prstGeom>
          <a:noFill/>
          <a:ln w="38100">
            <a:solidFill>
              <a:schemeClr val="tx1"/>
            </a:solidFill>
            <a:round/>
            <a:headEnd/>
            <a:tailEnd/>
          </a:ln>
          <a:effectLst/>
        </p:spPr>
        <p:txBody>
          <a:bodyPr wrap="none" anchor="ctr">
            <a:prstTxWarp prst="textNoShape">
              <a:avLst/>
            </a:prstTxWarp>
            <a:spAutoFit/>
          </a:bodyPr>
          <a:lstStyle/>
          <a:p>
            <a:endParaRPr lang="en-US"/>
          </a:p>
        </p:txBody>
      </p:sp>
      <p:sp>
        <p:nvSpPr>
          <p:cNvPr id="96261" name="Oval 5"/>
          <p:cNvSpPr>
            <a:spLocks noChangeArrowheads="1"/>
          </p:cNvSpPr>
          <p:nvPr/>
        </p:nvSpPr>
        <p:spPr bwMode="auto">
          <a:xfrm>
            <a:off x="5078413" y="2682875"/>
            <a:ext cx="304800" cy="76200"/>
          </a:xfrm>
          <a:prstGeom prst="ellipse">
            <a:avLst/>
          </a:prstGeom>
          <a:solidFill>
            <a:srgbClr val="00FFFF"/>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6262" name="Line 6"/>
          <p:cNvSpPr>
            <a:spLocks noChangeShapeType="1"/>
          </p:cNvSpPr>
          <p:nvPr/>
        </p:nvSpPr>
        <p:spPr bwMode="auto">
          <a:xfrm flipH="1">
            <a:off x="5221288" y="3279775"/>
            <a:ext cx="457200" cy="0"/>
          </a:xfrm>
          <a:prstGeom prst="line">
            <a:avLst/>
          </a:prstGeom>
          <a:noFill/>
          <a:ln w="38100">
            <a:solidFill>
              <a:schemeClr val="tx1"/>
            </a:solidFill>
            <a:round/>
            <a:headEnd/>
            <a:tailEnd/>
          </a:ln>
          <a:effectLst/>
        </p:spPr>
        <p:txBody>
          <a:bodyPr wrap="none" anchor="ctr">
            <a:prstTxWarp prst="textNoShape">
              <a:avLst/>
            </a:prstTxWarp>
            <a:spAutoFit/>
          </a:bodyPr>
          <a:lstStyle/>
          <a:p>
            <a:endParaRPr lang="en-US"/>
          </a:p>
        </p:txBody>
      </p:sp>
      <p:sp>
        <p:nvSpPr>
          <p:cNvPr id="96263" name="Oval 7"/>
          <p:cNvSpPr>
            <a:spLocks noChangeArrowheads="1"/>
          </p:cNvSpPr>
          <p:nvPr/>
        </p:nvSpPr>
        <p:spPr bwMode="auto">
          <a:xfrm>
            <a:off x="5081588" y="3241675"/>
            <a:ext cx="304800" cy="76200"/>
          </a:xfrm>
          <a:prstGeom prst="ellipse">
            <a:avLst/>
          </a:prstGeom>
          <a:solidFill>
            <a:srgbClr val="00FFFF"/>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6264" name="Line 8"/>
          <p:cNvSpPr>
            <a:spLocks noChangeShapeType="1"/>
          </p:cNvSpPr>
          <p:nvPr/>
        </p:nvSpPr>
        <p:spPr bwMode="auto">
          <a:xfrm flipH="1">
            <a:off x="5218113" y="3889375"/>
            <a:ext cx="457200" cy="0"/>
          </a:xfrm>
          <a:prstGeom prst="line">
            <a:avLst/>
          </a:prstGeom>
          <a:noFill/>
          <a:ln w="38100">
            <a:solidFill>
              <a:schemeClr val="tx1"/>
            </a:solidFill>
            <a:round/>
            <a:headEnd/>
            <a:tailEnd/>
          </a:ln>
          <a:effectLst/>
        </p:spPr>
        <p:txBody>
          <a:bodyPr wrap="none" anchor="ctr">
            <a:prstTxWarp prst="textNoShape">
              <a:avLst/>
            </a:prstTxWarp>
            <a:spAutoFit/>
          </a:bodyPr>
          <a:lstStyle/>
          <a:p>
            <a:endParaRPr lang="en-US"/>
          </a:p>
        </p:txBody>
      </p:sp>
      <p:sp>
        <p:nvSpPr>
          <p:cNvPr id="96265" name="Oval 9"/>
          <p:cNvSpPr>
            <a:spLocks noChangeArrowheads="1"/>
          </p:cNvSpPr>
          <p:nvPr/>
        </p:nvSpPr>
        <p:spPr bwMode="auto">
          <a:xfrm>
            <a:off x="5078413" y="3851275"/>
            <a:ext cx="304800" cy="76200"/>
          </a:xfrm>
          <a:prstGeom prst="ellipse">
            <a:avLst/>
          </a:prstGeom>
          <a:solidFill>
            <a:srgbClr val="00FFFF"/>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6266" name="AutoShape 10"/>
          <p:cNvSpPr>
            <a:spLocks noChangeArrowheads="1"/>
          </p:cNvSpPr>
          <p:nvPr/>
        </p:nvSpPr>
        <p:spPr bwMode="auto">
          <a:xfrm>
            <a:off x="4103688" y="3736975"/>
            <a:ext cx="381000" cy="635000"/>
          </a:xfrm>
          <a:prstGeom prst="can">
            <a:avLst>
              <a:gd name="adj" fmla="val 14244"/>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6267" name="Oval 11"/>
          <p:cNvSpPr>
            <a:spLocks noChangeArrowheads="1"/>
          </p:cNvSpPr>
          <p:nvPr/>
        </p:nvSpPr>
        <p:spPr bwMode="auto">
          <a:xfrm>
            <a:off x="3074988" y="3546475"/>
            <a:ext cx="2387600" cy="431800"/>
          </a:xfrm>
          <a:prstGeom prst="ellipse">
            <a:avLst/>
          </a:prstGeom>
          <a:solidFill>
            <a:schemeClr val="bg1"/>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6268" name="Line 12"/>
          <p:cNvSpPr>
            <a:spLocks noChangeShapeType="1"/>
          </p:cNvSpPr>
          <p:nvPr/>
        </p:nvSpPr>
        <p:spPr bwMode="auto">
          <a:xfrm>
            <a:off x="5675313" y="2479675"/>
            <a:ext cx="3175" cy="1409700"/>
          </a:xfrm>
          <a:prstGeom prst="line">
            <a:avLst/>
          </a:prstGeom>
          <a:noFill/>
          <a:ln w="38100">
            <a:solidFill>
              <a:schemeClr val="tx1"/>
            </a:solidFill>
            <a:round/>
            <a:headEnd/>
            <a:tailEnd/>
          </a:ln>
          <a:effectLst/>
        </p:spPr>
        <p:txBody>
          <a:bodyPr anchor="ctr">
            <a:prstTxWarp prst="textNoShape">
              <a:avLst/>
            </a:prstTxWarp>
            <a:spAutoFit/>
          </a:bodyPr>
          <a:lstStyle/>
          <a:p>
            <a:endParaRPr lang="en-US"/>
          </a:p>
        </p:txBody>
      </p:sp>
      <p:sp>
        <p:nvSpPr>
          <p:cNvPr id="96269" name="Line 13"/>
          <p:cNvSpPr>
            <a:spLocks noChangeShapeType="1"/>
          </p:cNvSpPr>
          <p:nvPr/>
        </p:nvSpPr>
        <p:spPr bwMode="auto">
          <a:xfrm flipH="1">
            <a:off x="5218113" y="3660775"/>
            <a:ext cx="457200" cy="0"/>
          </a:xfrm>
          <a:prstGeom prst="line">
            <a:avLst/>
          </a:prstGeom>
          <a:noFill/>
          <a:ln w="38100">
            <a:solidFill>
              <a:schemeClr val="tx1"/>
            </a:solidFill>
            <a:round/>
            <a:headEnd/>
            <a:tailEnd/>
          </a:ln>
          <a:effectLst/>
        </p:spPr>
        <p:txBody>
          <a:bodyPr wrap="none" anchor="ctr">
            <a:prstTxWarp prst="textNoShape">
              <a:avLst/>
            </a:prstTxWarp>
            <a:spAutoFit/>
          </a:bodyPr>
          <a:lstStyle/>
          <a:p>
            <a:endParaRPr lang="en-US"/>
          </a:p>
        </p:txBody>
      </p:sp>
      <p:sp>
        <p:nvSpPr>
          <p:cNvPr id="96270" name="Oval 14"/>
          <p:cNvSpPr>
            <a:spLocks noChangeArrowheads="1"/>
          </p:cNvSpPr>
          <p:nvPr/>
        </p:nvSpPr>
        <p:spPr bwMode="auto">
          <a:xfrm>
            <a:off x="5078413" y="3622675"/>
            <a:ext cx="304800" cy="76200"/>
          </a:xfrm>
          <a:prstGeom prst="ellipse">
            <a:avLst/>
          </a:prstGeom>
          <a:solidFill>
            <a:srgbClr val="00FFFF"/>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6271" name="Line 15"/>
          <p:cNvSpPr>
            <a:spLocks noChangeShapeType="1"/>
          </p:cNvSpPr>
          <p:nvPr/>
        </p:nvSpPr>
        <p:spPr bwMode="auto">
          <a:xfrm>
            <a:off x="5678488" y="3165475"/>
            <a:ext cx="639762" cy="0"/>
          </a:xfrm>
          <a:prstGeom prst="line">
            <a:avLst/>
          </a:prstGeom>
          <a:noFill/>
          <a:ln w="38100">
            <a:solidFill>
              <a:schemeClr val="tx1"/>
            </a:solidFill>
            <a:round/>
            <a:headEnd/>
            <a:tailEnd/>
          </a:ln>
          <a:effectLst/>
        </p:spPr>
        <p:txBody>
          <a:bodyPr anchor="ctr">
            <a:prstTxWarp prst="textNoShape">
              <a:avLst/>
            </a:prstTxWarp>
            <a:spAutoFit/>
          </a:bodyPr>
          <a:lstStyle/>
          <a:p>
            <a:endParaRPr lang="en-US"/>
          </a:p>
        </p:txBody>
      </p:sp>
      <p:sp>
        <p:nvSpPr>
          <p:cNvPr id="96272" name="AutoShape 16"/>
          <p:cNvSpPr>
            <a:spLocks noChangeArrowheads="1"/>
          </p:cNvSpPr>
          <p:nvPr/>
        </p:nvSpPr>
        <p:spPr bwMode="auto">
          <a:xfrm>
            <a:off x="4103688" y="3165475"/>
            <a:ext cx="381000" cy="635000"/>
          </a:xfrm>
          <a:prstGeom prst="can">
            <a:avLst>
              <a:gd name="adj" fmla="val 14244"/>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6273" name="Oval 17"/>
          <p:cNvSpPr>
            <a:spLocks noChangeArrowheads="1"/>
          </p:cNvSpPr>
          <p:nvPr/>
        </p:nvSpPr>
        <p:spPr bwMode="auto">
          <a:xfrm>
            <a:off x="3100388" y="2936875"/>
            <a:ext cx="2387600" cy="431800"/>
          </a:xfrm>
          <a:prstGeom prst="ellipse">
            <a:avLst/>
          </a:prstGeom>
          <a:solidFill>
            <a:schemeClr val="bg1"/>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6274" name="AutoShape 18"/>
          <p:cNvSpPr>
            <a:spLocks noChangeArrowheads="1"/>
          </p:cNvSpPr>
          <p:nvPr/>
        </p:nvSpPr>
        <p:spPr bwMode="auto">
          <a:xfrm>
            <a:off x="4103688" y="2593975"/>
            <a:ext cx="381000" cy="635000"/>
          </a:xfrm>
          <a:prstGeom prst="can">
            <a:avLst>
              <a:gd name="adj" fmla="val 14244"/>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6275" name="Oval 19"/>
          <p:cNvSpPr>
            <a:spLocks noChangeArrowheads="1"/>
          </p:cNvSpPr>
          <p:nvPr/>
        </p:nvSpPr>
        <p:spPr bwMode="auto">
          <a:xfrm>
            <a:off x="3062288" y="2390775"/>
            <a:ext cx="2387600" cy="431800"/>
          </a:xfrm>
          <a:prstGeom prst="ellipse">
            <a:avLst/>
          </a:prstGeom>
          <a:solidFill>
            <a:schemeClr val="bg1"/>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6276" name="AutoShape 20"/>
          <p:cNvSpPr>
            <a:spLocks noChangeArrowheads="1"/>
          </p:cNvSpPr>
          <p:nvPr/>
        </p:nvSpPr>
        <p:spPr bwMode="auto">
          <a:xfrm>
            <a:off x="4103688" y="1997075"/>
            <a:ext cx="381000" cy="635000"/>
          </a:xfrm>
          <a:prstGeom prst="can">
            <a:avLst>
              <a:gd name="adj" fmla="val 14244"/>
            </a:avLst>
          </a:prstGeom>
          <a:solidFill>
            <a:srgbClr val="00FFFF"/>
          </a:solidFill>
          <a:ln w="12700">
            <a:solidFill>
              <a:schemeClr val="tx1"/>
            </a:solidFill>
            <a:round/>
            <a:headEnd/>
            <a:tailEnd/>
          </a:ln>
          <a:effectLst/>
        </p:spPr>
        <p:txBody>
          <a:bodyPr anchor="ctr">
            <a:prstTxWarp prst="textNoShape">
              <a:avLst/>
            </a:prstTxWarp>
            <a:spAutoFit/>
          </a:bodyPr>
          <a:lstStyle/>
          <a:p>
            <a:endParaRPr lang="en-US"/>
          </a:p>
        </p:txBody>
      </p:sp>
      <p:sp>
        <p:nvSpPr>
          <p:cNvPr id="96277" name="Line 21"/>
          <p:cNvSpPr>
            <a:spLocks noChangeShapeType="1"/>
          </p:cNvSpPr>
          <p:nvPr/>
        </p:nvSpPr>
        <p:spPr bwMode="auto">
          <a:xfrm flipH="1">
            <a:off x="5218113" y="2479675"/>
            <a:ext cx="457200" cy="0"/>
          </a:xfrm>
          <a:prstGeom prst="line">
            <a:avLst/>
          </a:prstGeom>
          <a:noFill/>
          <a:ln w="38100">
            <a:solidFill>
              <a:schemeClr val="tx1"/>
            </a:solidFill>
            <a:round/>
            <a:headEnd/>
            <a:tailEnd/>
          </a:ln>
          <a:effectLst/>
        </p:spPr>
        <p:txBody>
          <a:bodyPr wrap="none" anchor="ctr">
            <a:prstTxWarp prst="textNoShape">
              <a:avLst/>
            </a:prstTxWarp>
            <a:spAutoFit/>
          </a:bodyPr>
          <a:lstStyle/>
          <a:p>
            <a:endParaRPr lang="en-US"/>
          </a:p>
        </p:txBody>
      </p:sp>
      <p:sp>
        <p:nvSpPr>
          <p:cNvPr id="96278" name="Oval 22"/>
          <p:cNvSpPr>
            <a:spLocks noChangeArrowheads="1"/>
          </p:cNvSpPr>
          <p:nvPr/>
        </p:nvSpPr>
        <p:spPr bwMode="auto">
          <a:xfrm>
            <a:off x="5065713" y="2441575"/>
            <a:ext cx="304800" cy="76200"/>
          </a:xfrm>
          <a:prstGeom prst="ellipse">
            <a:avLst/>
          </a:prstGeom>
          <a:solidFill>
            <a:srgbClr val="00FFFF"/>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6279" name="Line 23"/>
          <p:cNvSpPr>
            <a:spLocks noChangeShapeType="1"/>
          </p:cNvSpPr>
          <p:nvPr/>
        </p:nvSpPr>
        <p:spPr bwMode="auto">
          <a:xfrm flipH="1">
            <a:off x="5218113" y="3038475"/>
            <a:ext cx="457200" cy="0"/>
          </a:xfrm>
          <a:prstGeom prst="line">
            <a:avLst/>
          </a:prstGeom>
          <a:noFill/>
          <a:ln w="38100">
            <a:solidFill>
              <a:schemeClr val="tx1"/>
            </a:solidFill>
            <a:round/>
            <a:headEnd/>
            <a:tailEnd/>
          </a:ln>
          <a:effectLst/>
        </p:spPr>
        <p:txBody>
          <a:bodyPr wrap="none" anchor="ctr">
            <a:prstTxWarp prst="textNoShape">
              <a:avLst/>
            </a:prstTxWarp>
            <a:spAutoFit/>
          </a:bodyPr>
          <a:lstStyle/>
          <a:p>
            <a:endParaRPr lang="en-US"/>
          </a:p>
        </p:txBody>
      </p:sp>
      <p:sp>
        <p:nvSpPr>
          <p:cNvPr id="96280" name="Oval 24"/>
          <p:cNvSpPr>
            <a:spLocks noChangeArrowheads="1"/>
          </p:cNvSpPr>
          <p:nvPr/>
        </p:nvSpPr>
        <p:spPr bwMode="auto">
          <a:xfrm>
            <a:off x="5078413" y="3000375"/>
            <a:ext cx="304800" cy="76200"/>
          </a:xfrm>
          <a:prstGeom prst="ellipse">
            <a:avLst/>
          </a:prstGeom>
          <a:solidFill>
            <a:srgbClr val="00FFFF"/>
          </a:solidFill>
          <a:ln w="12700">
            <a:solidFill>
              <a:schemeClr val="tx1"/>
            </a:solidFill>
            <a:round/>
            <a:headEnd/>
            <a:tailEnd/>
          </a:ln>
          <a:effectLst/>
        </p:spPr>
        <p:txBody>
          <a:bodyPr wrap="none" anchor="ctr">
            <a:prstTxWarp prst="textNoShape">
              <a:avLst/>
            </a:prstTxWarp>
            <a:spAutoFit/>
          </a:bodyPr>
          <a:lstStyle/>
          <a:p>
            <a:endParaRPr lang="en-US"/>
          </a:p>
        </p:txBody>
      </p:sp>
      <p:sp>
        <p:nvSpPr>
          <p:cNvPr id="96281" name="Text Box 25"/>
          <p:cNvSpPr txBox="1">
            <a:spLocks noChangeArrowheads="1"/>
          </p:cNvSpPr>
          <p:nvPr/>
        </p:nvSpPr>
        <p:spPr bwMode="auto">
          <a:xfrm>
            <a:off x="5772150" y="2827923"/>
            <a:ext cx="521096"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Arm</a:t>
            </a:r>
          </a:p>
        </p:txBody>
      </p:sp>
      <p:sp>
        <p:nvSpPr>
          <p:cNvPr id="96282" name="Text Box 26"/>
          <p:cNvSpPr txBox="1">
            <a:spLocks noChangeArrowheads="1"/>
          </p:cNvSpPr>
          <p:nvPr/>
        </p:nvSpPr>
        <p:spPr bwMode="auto">
          <a:xfrm>
            <a:off x="4581525" y="1322815"/>
            <a:ext cx="2200276" cy="830997"/>
          </a:xfrm>
          <a:prstGeom prst="rect">
            <a:avLst/>
          </a:prstGeom>
          <a:noFill/>
          <a:ln w="12700">
            <a:noFill/>
            <a:miter lim="800000"/>
            <a:headEnd/>
            <a:tailEnd/>
          </a:ln>
          <a:effectLst/>
        </p:spPr>
        <p:txBody>
          <a:bodyPr wrap="square" anchor="ctr">
            <a:prstTxWarp prst="textNoShape">
              <a:avLst/>
            </a:prstTxWarp>
            <a:spAutoFit/>
          </a:bodyPr>
          <a:lstStyle/>
          <a:p>
            <a:pPr algn="ctr">
              <a:lnSpc>
                <a:spcPct val="100000"/>
              </a:lnSpc>
            </a:pPr>
            <a:r>
              <a:rPr lang="en-US" sz="1600" dirty="0"/>
              <a:t>Read/write heads </a:t>
            </a:r>
          </a:p>
          <a:p>
            <a:pPr algn="ctr">
              <a:lnSpc>
                <a:spcPct val="100000"/>
              </a:lnSpc>
            </a:pPr>
            <a:r>
              <a:rPr lang="en-US" sz="1600" dirty="0"/>
              <a:t>move in unison</a:t>
            </a:r>
          </a:p>
          <a:p>
            <a:pPr algn="ctr">
              <a:lnSpc>
                <a:spcPct val="100000"/>
              </a:lnSpc>
            </a:pPr>
            <a:r>
              <a:rPr lang="en-US" sz="1600" dirty="0"/>
              <a:t>from cylinder to cylinder</a:t>
            </a:r>
          </a:p>
        </p:txBody>
      </p:sp>
      <p:sp>
        <p:nvSpPr>
          <p:cNvPr id="96283" name="Line 27"/>
          <p:cNvSpPr>
            <a:spLocks noChangeShapeType="1"/>
          </p:cNvSpPr>
          <p:nvPr/>
        </p:nvSpPr>
        <p:spPr bwMode="auto">
          <a:xfrm flipH="1">
            <a:off x="5360988" y="2165350"/>
            <a:ext cx="317500" cy="225425"/>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96284" name="Text Box 28"/>
          <p:cNvSpPr txBox="1">
            <a:spLocks noChangeArrowheads="1"/>
          </p:cNvSpPr>
          <p:nvPr/>
        </p:nvSpPr>
        <p:spPr bwMode="auto">
          <a:xfrm>
            <a:off x="4463136" y="4034423"/>
            <a:ext cx="792404"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Spindle</a:t>
            </a:r>
          </a:p>
        </p:txBody>
      </p:sp>
      <p:sp>
        <p:nvSpPr>
          <p:cNvPr id="96285" name="Line 29"/>
          <p:cNvSpPr>
            <a:spLocks noChangeShapeType="1"/>
          </p:cNvSpPr>
          <p:nvPr/>
        </p:nvSpPr>
        <p:spPr bwMode="auto">
          <a:xfrm flipH="1">
            <a:off x="5284788" y="2165350"/>
            <a:ext cx="390525" cy="844550"/>
          </a:xfrm>
          <a:prstGeom prst="line">
            <a:avLst/>
          </a:prstGeom>
          <a:noFill/>
          <a:ln w="12700">
            <a:solidFill>
              <a:schemeClr val="tx1"/>
            </a:solidFill>
            <a:round/>
            <a:headEnd/>
            <a:tailEnd type="triangle" w="med" len="med"/>
          </a:ln>
          <a:effectLst/>
        </p:spPr>
        <p:txBody>
          <a:bodyPr anchor="ctr">
            <a:prstTxWarp prst="textNoShape">
              <a:avLst/>
            </a:prstTxWarp>
            <a:spAutoFit/>
          </a:bodyPr>
          <a:lstStyle/>
          <a:p>
            <a:endParaRPr lang="en-US"/>
          </a:p>
        </p:txBody>
      </p:sp>
      <p:sp>
        <p:nvSpPr>
          <p:cNvPr id="2" name="Rectangle 1">
            <a:extLst>
              <a:ext uri="{FF2B5EF4-FFF2-40B4-BE49-F238E27FC236}">
                <a16:creationId xmlns:a16="http://schemas.microsoft.com/office/drawing/2014/main" id="{789081FF-E31C-024F-47B7-EBDA5AC7A962}"/>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74991AC5-28EB-AE0C-E055-C1A8DE305854}"/>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Oval 2"/>
          <p:cNvSpPr>
            <a:spLocks noChangeAspect="1" noChangeArrowheads="1"/>
          </p:cNvSpPr>
          <p:nvPr/>
        </p:nvSpPr>
        <p:spPr bwMode="auto">
          <a:xfrm>
            <a:off x="738188" y="2090738"/>
            <a:ext cx="1716087" cy="1714500"/>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grpSp>
        <p:nvGrpSpPr>
          <p:cNvPr id="2" name="Group 3"/>
          <p:cNvGrpSpPr>
            <a:grpSpLocks/>
          </p:cNvGrpSpPr>
          <p:nvPr/>
        </p:nvGrpSpPr>
        <p:grpSpPr bwMode="auto">
          <a:xfrm>
            <a:off x="735013" y="2090738"/>
            <a:ext cx="7799387" cy="1722437"/>
            <a:chOff x="463" y="1317"/>
            <a:chExt cx="4913" cy="1085"/>
          </a:xfrm>
        </p:grpSpPr>
        <p:grpSp>
          <p:nvGrpSpPr>
            <p:cNvPr id="3" name="Group 4"/>
            <p:cNvGrpSpPr>
              <a:grpSpLocks/>
            </p:cNvGrpSpPr>
            <p:nvPr/>
          </p:nvGrpSpPr>
          <p:grpSpPr bwMode="auto">
            <a:xfrm>
              <a:off x="463" y="1317"/>
              <a:ext cx="1088" cy="1085"/>
              <a:chOff x="463" y="1317"/>
              <a:chExt cx="1088" cy="1085"/>
            </a:xfrm>
          </p:grpSpPr>
          <p:sp>
            <p:nvSpPr>
              <p:cNvPr id="57358" name="Line 5"/>
              <p:cNvSpPr>
                <a:spLocks noChangeAspect="1" noChangeShapeType="1"/>
              </p:cNvSpPr>
              <p:nvPr/>
            </p:nvSpPr>
            <p:spPr bwMode="auto">
              <a:xfrm>
                <a:off x="1006" y="1317"/>
                <a:ext cx="0" cy="1080"/>
              </a:xfrm>
              <a:prstGeom prst="line">
                <a:avLst/>
              </a:prstGeom>
              <a:noFill/>
              <a:ln w="9525">
                <a:solidFill>
                  <a:schemeClr val="tx1"/>
                </a:solidFill>
                <a:round/>
                <a:headEnd/>
                <a:tailEnd/>
              </a:ln>
            </p:spPr>
            <p:txBody>
              <a:bodyPr>
                <a:prstTxWarp prst="textNoShape">
                  <a:avLst/>
                </a:prstTxWarp>
              </a:bodyPr>
              <a:lstStyle/>
              <a:p>
                <a:endParaRPr lang="en-US"/>
              </a:p>
            </p:txBody>
          </p:sp>
          <p:sp>
            <p:nvSpPr>
              <p:cNvPr id="57359" name="Line 6"/>
              <p:cNvSpPr>
                <a:spLocks noChangeAspect="1" noChangeShapeType="1"/>
              </p:cNvSpPr>
              <p:nvPr/>
            </p:nvSpPr>
            <p:spPr bwMode="auto">
              <a:xfrm rot="1800000">
                <a:off x="1008" y="1319"/>
                <a:ext cx="0" cy="1081"/>
              </a:xfrm>
              <a:prstGeom prst="line">
                <a:avLst/>
              </a:prstGeom>
              <a:noFill/>
              <a:ln w="9525">
                <a:solidFill>
                  <a:schemeClr val="tx1"/>
                </a:solidFill>
                <a:round/>
                <a:headEnd/>
                <a:tailEnd/>
              </a:ln>
            </p:spPr>
            <p:txBody>
              <a:bodyPr>
                <a:prstTxWarp prst="textNoShape">
                  <a:avLst/>
                </a:prstTxWarp>
              </a:bodyPr>
              <a:lstStyle/>
              <a:p>
                <a:endParaRPr lang="en-US"/>
              </a:p>
            </p:txBody>
          </p:sp>
          <p:sp>
            <p:nvSpPr>
              <p:cNvPr id="57360" name="Line 7"/>
              <p:cNvSpPr>
                <a:spLocks noChangeAspect="1" noChangeShapeType="1"/>
              </p:cNvSpPr>
              <p:nvPr/>
            </p:nvSpPr>
            <p:spPr bwMode="auto">
              <a:xfrm rot="3600000">
                <a:off x="1004" y="1321"/>
                <a:ext cx="0" cy="1081"/>
              </a:xfrm>
              <a:prstGeom prst="line">
                <a:avLst/>
              </a:prstGeom>
              <a:noFill/>
              <a:ln w="9525">
                <a:solidFill>
                  <a:schemeClr val="tx1"/>
                </a:solidFill>
                <a:round/>
                <a:headEnd/>
                <a:tailEnd/>
              </a:ln>
            </p:spPr>
            <p:txBody>
              <a:bodyPr>
                <a:prstTxWarp prst="textNoShape">
                  <a:avLst/>
                </a:prstTxWarp>
              </a:bodyPr>
              <a:lstStyle/>
              <a:p>
                <a:endParaRPr lang="en-US"/>
              </a:p>
            </p:txBody>
          </p:sp>
          <p:sp>
            <p:nvSpPr>
              <p:cNvPr id="57361" name="Line 8"/>
              <p:cNvSpPr>
                <a:spLocks noChangeAspect="1" noChangeShapeType="1"/>
              </p:cNvSpPr>
              <p:nvPr/>
            </p:nvSpPr>
            <p:spPr bwMode="auto">
              <a:xfrm rot="5400000">
                <a:off x="1004" y="1307"/>
                <a:ext cx="0" cy="1081"/>
              </a:xfrm>
              <a:prstGeom prst="line">
                <a:avLst/>
              </a:prstGeom>
              <a:noFill/>
              <a:ln w="9525">
                <a:solidFill>
                  <a:schemeClr val="tx1"/>
                </a:solidFill>
                <a:round/>
                <a:headEnd/>
                <a:tailEnd/>
              </a:ln>
            </p:spPr>
            <p:txBody>
              <a:bodyPr>
                <a:prstTxWarp prst="textNoShape">
                  <a:avLst/>
                </a:prstTxWarp>
              </a:bodyPr>
              <a:lstStyle/>
              <a:p>
                <a:endParaRPr lang="en-US"/>
              </a:p>
            </p:txBody>
          </p:sp>
          <p:sp>
            <p:nvSpPr>
              <p:cNvPr id="57362" name="Line 9"/>
              <p:cNvSpPr>
                <a:spLocks noChangeAspect="1" noChangeShapeType="1"/>
              </p:cNvSpPr>
              <p:nvPr/>
            </p:nvSpPr>
            <p:spPr bwMode="auto">
              <a:xfrm rot="7200000">
                <a:off x="1011" y="1300"/>
                <a:ext cx="0" cy="1081"/>
              </a:xfrm>
              <a:prstGeom prst="line">
                <a:avLst/>
              </a:prstGeom>
              <a:noFill/>
              <a:ln w="9525">
                <a:solidFill>
                  <a:schemeClr val="tx1"/>
                </a:solidFill>
                <a:round/>
                <a:headEnd/>
                <a:tailEnd/>
              </a:ln>
            </p:spPr>
            <p:txBody>
              <a:bodyPr>
                <a:prstTxWarp prst="textNoShape">
                  <a:avLst/>
                </a:prstTxWarp>
              </a:bodyPr>
              <a:lstStyle/>
              <a:p>
                <a:endParaRPr lang="en-US"/>
              </a:p>
            </p:txBody>
          </p:sp>
          <p:sp>
            <p:nvSpPr>
              <p:cNvPr id="57363" name="Line 10"/>
              <p:cNvSpPr>
                <a:spLocks noChangeAspect="1" noChangeShapeType="1"/>
              </p:cNvSpPr>
              <p:nvPr/>
            </p:nvSpPr>
            <p:spPr bwMode="auto">
              <a:xfrm rot="9000000">
                <a:off x="1017" y="1322"/>
                <a:ext cx="0" cy="1080"/>
              </a:xfrm>
              <a:prstGeom prst="line">
                <a:avLst/>
              </a:prstGeom>
              <a:noFill/>
              <a:ln w="9525">
                <a:solidFill>
                  <a:schemeClr val="tx1"/>
                </a:solidFill>
                <a:round/>
                <a:headEnd/>
                <a:tailEnd/>
              </a:ln>
            </p:spPr>
            <p:txBody>
              <a:bodyPr>
                <a:prstTxWarp prst="textNoShape">
                  <a:avLst/>
                </a:prstTxWarp>
              </a:bodyPr>
              <a:lstStyle/>
              <a:p>
                <a:endParaRPr lang="en-US"/>
              </a:p>
            </p:txBody>
          </p:sp>
        </p:grpSp>
        <p:sp>
          <p:nvSpPr>
            <p:cNvPr id="57357" name="Rectangle 11"/>
            <p:cNvSpPr>
              <a:spLocks noChangeArrowheads="1"/>
            </p:cNvSpPr>
            <p:nvPr/>
          </p:nvSpPr>
          <p:spPr bwMode="auto">
            <a:xfrm>
              <a:off x="1776" y="1488"/>
              <a:ext cx="3600" cy="528"/>
            </a:xfrm>
            <a:prstGeom prst="rect">
              <a:avLst/>
            </a:prstGeom>
            <a:noFill/>
            <a:ln w="12700">
              <a:noFill/>
              <a:miter lim="800000"/>
              <a:headEnd/>
              <a:tailEnd/>
            </a:ln>
          </p:spPr>
          <p:txBody>
            <a:bodyPr lIns="90488" tIns="44450" rIns="90488" bIns="44450" anchor="b">
              <a:prstTxWarp prst="textNoShape">
                <a:avLst/>
              </a:prstTxWarp>
            </a:bodyPr>
            <a:lstStyle/>
            <a:p>
              <a:pPr defTabSz="914400">
                <a:lnSpc>
                  <a:spcPct val="100000"/>
                </a:lnSpc>
                <a:buClrTx/>
                <a:buSzTx/>
                <a:buFontTx/>
                <a:buNone/>
              </a:pPr>
              <a:r>
                <a:rPr lang="en-US" sz="2800">
                  <a:solidFill>
                    <a:schemeClr val="tx2"/>
                  </a:solidFill>
                  <a:latin typeface="Arial" charset="0"/>
                </a:rPr>
                <a:t>Tracks divided into sectors</a:t>
              </a:r>
            </a:p>
          </p:txBody>
        </p:sp>
      </p:grpSp>
      <p:sp>
        <p:nvSpPr>
          <p:cNvPr id="57348" name="Rectangle 12"/>
          <p:cNvSpPr>
            <a:spLocks noGrp="1" noChangeArrowheads="1"/>
          </p:cNvSpPr>
          <p:nvPr>
            <p:ph type="title"/>
          </p:nvPr>
        </p:nvSpPr>
        <p:spPr>
          <a:xfrm>
            <a:off x="357018" y="381000"/>
            <a:ext cx="8482182" cy="762000"/>
          </a:xfrm>
        </p:spPr>
        <p:txBody>
          <a:bodyPr/>
          <a:lstStyle/>
          <a:p>
            <a:r>
              <a:rPr lang="en-US" dirty="0"/>
              <a:t>Disk Structure - top view of single platter</a:t>
            </a:r>
          </a:p>
        </p:txBody>
      </p:sp>
      <p:grpSp>
        <p:nvGrpSpPr>
          <p:cNvPr id="4" name="Group 13"/>
          <p:cNvGrpSpPr>
            <a:grpSpLocks/>
          </p:cNvGrpSpPr>
          <p:nvPr/>
        </p:nvGrpSpPr>
        <p:grpSpPr bwMode="auto">
          <a:xfrm>
            <a:off x="928688" y="1524000"/>
            <a:ext cx="7300912" cy="2117725"/>
            <a:chOff x="585" y="960"/>
            <a:chExt cx="4599" cy="1334"/>
          </a:xfrm>
        </p:grpSpPr>
        <p:grpSp>
          <p:nvGrpSpPr>
            <p:cNvPr id="5" name="Group 14"/>
            <p:cNvGrpSpPr>
              <a:grpSpLocks/>
            </p:cNvGrpSpPr>
            <p:nvPr/>
          </p:nvGrpSpPr>
          <p:grpSpPr bwMode="auto">
            <a:xfrm>
              <a:off x="585" y="1430"/>
              <a:ext cx="865" cy="864"/>
              <a:chOff x="585" y="1430"/>
              <a:chExt cx="865" cy="864"/>
            </a:xfrm>
          </p:grpSpPr>
          <p:sp>
            <p:nvSpPr>
              <p:cNvPr id="57352" name="Oval 15"/>
              <p:cNvSpPr>
                <a:spLocks noChangeAspect="1" noChangeArrowheads="1"/>
              </p:cNvSpPr>
              <p:nvPr/>
            </p:nvSpPr>
            <p:spPr bwMode="auto">
              <a:xfrm>
                <a:off x="900" y="1765"/>
                <a:ext cx="216" cy="21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57353" name="Oval 16"/>
              <p:cNvSpPr>
                <a:spLocks noChangeAspect="1" noChangeArrowheads="1"/>
              </p:cNvSpPr>
              <p:nvPr/>
            </p:nvSpPr>
            <p:spPr bwMode="auto">
              <a:xfrm>
                <a:off x="585" y="1430"/>
                <a:ext cx="865" cy="864"/>
              </a:xfrm>
              <a:prstGeom prst="ellipse">
                <a:avLst/>
              </a:prstGeom>
              <a:noFill/>
              <a:ln w="9525">
                <a:solidFill>
                  <a:schemeClr val="tx1"/>
                </a:solidFill>
                <a:round/>
                <a:headEnd/>
                <a:tailEnd/>
              </a:ln>
            </p:spPr>
            <p:txBody>
              <a:bodyPr wrap="none" anchor="ctr">
                <a:prstTxWarp prst="textNoShape">
                  <a:avLst/>
                </a:prstTxWarp>
              </a:bodyPr>
              <a:lstStyle/>
              <a:p>
                <a:endParaRPr lang="en-US"/>
              </a:p>
            </p:txBody>
          </p:sp>
          <p:sp>
            <p:nvSpPr>
              <p:cNvPr id="57354" name="Oval 17"/>
              <p:cNvSpPr>
                <a:spLocks noChangeAspect="1" noChangeArrowheads="1"/>
              </p:cNvSpPr>
              <p:nvPr/>
            </p:nvSpPr>
            <p:spPr bwMode="auto">
              <a:xfrm>
                <a:off x="693" y="1538"/>
                <a:ext cx="649" cy="648"/>
              </a:xfrm>
              <a:prstGeom prst="ellipse">
                <a:avLst/>
              </a:prstGeom>
              <a:noFill/>
              <a:ln w="9525">
                <a:solidFill>
                  <a:schemeClr val="tx1"/>
                </a:solidFill>
                <a:round/>
                <a:headEnd/>
                <a:tailEnd/>
              </a:ln>
            </p:spPr>
            <p:txBody>
              <a:bodyPr wrap="none" anchor="ctr">
                <a:prstTxWarp prst="textNoShape">
                  <a:avLst/>
                </a:prstTxWarp>
              </a:bodyPr>
              <a:lstStyle/>
              <a:p>
                <a:endParaRPr lang="en-US"/>
              </a:p>
            </p:txBody>
          </p:sp>
          <p:sp>
            <p:nvSpPr>
              <p:cNvPr id="57355" name="Oval 18"/>
              <p:cNvSpPr>
                <a:spLocks noChangeAspect="1" noChangeArrowheads="1"/>
              </p:cNvSpPr>
              <p:nvPr/>
            </p:nvSpPr>
            <p:spPr bwMode="auto">
              <a:xfrm>
                <a:off x="792" y="1657"/>
                <a:ext cx="432" cy="432"/>
              </a:xfrm>
              <a:prstGeom prst="ellipse">
                <a:avLst/>
              </a:prstGeom>
              <a:noFill/>
              <a:ln w="9525">
                <a:solidFill>
                  <a:schemeClr val="tx1"/>
                </a:solidFill>
                <a:round/>
                <a:headEnd/>
                <a:tailEnd/>
              </a:ln>
            </p:spPr>
            <p:txBody>
              <a:bodyPr wrap="none" anchor="ctr">
                <a:prstTxWarp prst="textNoShape">
                  <a:avLst/>
                </a:prstTxWarp>
              </a:bodyPr>
              <a:lstStyle/>
              <a:p>
                <a:endParaRPr lang="en-US"/>
              </a:p>
            </p:txBody>
          </p:sp>
        </p:grpSp>
        <p:sp>
          <p:nvSpPr>
            <p:cNvPr id="57351" name="Rectangle 19"/>
            <p:cNvSpPr>
              <a:spLocks noChangeArrowheads="1"/>
            </p:cNvSpPr>
            <p:nvPr/>
          </p:nvSpPr>
          <p:spPr bwMode="auto">
            <a:xfrm>
              <a:off x="1776" y="960"/>
              <a:ext cx="3408" cy="528"/>
            </a:xfrm>
            <a:prstGeom prst="rect">
              <a:avLst/>
            </a:prstGeom>
            <a:noFill/>
            <a:ln w="12700">
              <a:noFill/>
              <a:miter lim="800000"/>
              <a:headEnd/>
              <a:tailEnd/>
            </a:ln>
          </p:spPr>
          <p:txBody>
            <a:bodyPr lIns="90488" tIns="44450" rIns="90488" bIns="44450" anchor="b">
              <a:prstTxWarp prst="textNoShape">
                <a:avLst/>
              </a:prstTxWarp>
            </a:bodyPr>
            <a:lstStyle/>
            <a:p>
              <a:pPr defTabSz="914400">
                <a:lnSpc>
                  <a:spcPct val="100000"/>
                </a:lnSpc>
                <a:buClrTx/>
                <a:buSzTx/>
                <a:buFontTx/>
                <a:buNone/>
              </a:pPr>
              <a:r>
                <a:rPr lang="en-US" sz="2800">
                  <a:solidFill>
                    <a:schemeClr val="tx2"/>
                  </a:solidFill>
                  <a:latin typeface="Arial" charset="0"/>
                </a:rPr>
                <a:t>Surface organized into tracks</a:t>
              </a:r>
            </a:p>
          </p:txBody>
        </p:sp>
      </p:grpSp>
      <p:sp>
        <p:nvSpPr>
          <p:cNvPr id="6" name="Rectangle 5">
            <a:extLst>
              <a:ext uri="{FF2B5EF4-FFF2-40B4-BE49-F238E27FC236}">
                <a16:creationId xmlns:a16="http://schemas.microsoft.com/office/drawing/2014/main" id="{7822A300-4FDC-7DBD-9C6F-5039B108B400}"/>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7" name="Rectangle 6">
            <a:extLst>
              <a:ext uri="{FF2B5EF4-FFF2-40B4-BE49-F238E27FC236}">
                <a16:creationId xmlns:a16="http://schemas.microsoft.com/office/drawing/2014/main" id="{B1561A4B-5D29-BF2E-F362-19DF480CAAED}"/>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dirty="0"/>
              <a:t>Disk Access</a:t>
            </a:r>
          </a:p>
        </p:txBody>
      </p:sp>
      <p:grpSp>
        <p:nvGrpSpPr>
          <p:cNvPr id="2" name="Group 3"/>
          <p:cNvGrpSpPr>
            <a:grpSpLocks noChangeAspect="1"/>
          </p:cNvGrpSpPr>
          <p:nvPr/>
        </p:nvGrpSpPr>
        <p:grpSpPr bwMode="auto">
          <a:xfrm>
            <a:off x="735013" y="2090738"/>
            <a:ext cx="1727200" cy="1722437"/>
            <a:chOff x="525" y="1152"/>
            <a:chExt cx="1449" cy="1446"/>
          </a:xfrm>
        </p:grpSpPr>
        <p:sp>
          <p:nvSpPr>
            <p:cNvPr id="116740" name="Oval 4"/>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59399" name="Oval 5"/>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59400" name="Oval 6"/>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59401" name="Oval 7"/>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59402" name="Line 8"/>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59403" name="Line 9"/>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59404" name="Line 10"/>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59405" name="Line 11"/>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59406" name="Line 12"/>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59407" name="Line 13"/>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59408" name="Oval 14"/>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59396" name="AutoShape 15"/>
          <p:cNvSpPr>
            <a:spLocks noChangeAspect="1" noChangeArrowheads="1"/>
          </p:cNvSpPr>
          <p:nvPr/>
        </p:nvSpPr>
        <p:spPr bwMode="auto">
          <a:xfrm>
            <a:off x="1460500" y="1962150"/>
            <a:ext cx="290513" cy="555625"/>
          </a:xfrm>
          <a:prstGeom prst="downArrow">
            <a:avLst>
              <a:gd name="adj1" fmla="val 50000"/>
              <a:gd name="adj2" fmla="val 47814"/>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sp>
        <p:nvSpPr>
          <p:cNvPr id="59397" name="Rectangle 16"/>
          <p:cNvSpPr>
            <a:spLocks noChangeArrowheads="1"/>
          </p:cNvSpPr>
          <p:nvPr/>
        </p:nvSpPr>
        <p:spPr bwMode="auto">
          <a:xfrm>
            <a:off x="1981200" y="4495800"/>
            <a:ext cx="5410200" cy="838200"/>
          </a:xfrm>
          <a:prstGeom prst="rect">
            <a:avLst/>
          </a:prstGeom>
          <a:noFill/>
          <a:ln w="12700">
            <a:noFill/>
            <a:miter lim="800000"/>
            <a:headEnd/>
            <a:tailEnd/>
          </a:ln>
        </p:spPr>
        <p:txBody>
          <a:bodyPr lIns="90488" tIns="44450" rIns="90488" bIns="44450" anchor="b">
            <a:prstTxWarp prst="textNoShape">
              <a:avLst/>
            </a:prstTxWarp>
          </a:bodyPr>
          <a:lstStyle/>
          <a:p>
            <a:pPr defTabSz="914400">
              <a:lnSpc>
                <a:spcPct val="100000"/>
              </a:lnSpc>
              <a:buClrTx/>
              <a:buSzTx/>
              <a:buFontTx/>
              <a:buNone/>
            </a:pPr>
            <a:r>
              <a:rPr lang="en-US" sz="2800">
                <a:solidFill>
                  <a:schemeClr val="tx2"/>
                </a:solidFill>
                <a:latin typeface="Arial" charset="0"/>
              </a:rPr>
              <a:t>Head in position above a track</a:t>
            </a:r>
          </a:p>
        </p:txBody>
      </p:sp>
      <p:sp>
        <p:nvSpPr>
          <p:cNvPr id="3" name="Rectangle 2">
            <a:extLst>
              <a:ext uri="{FF2B5EF4-FFF2-40B4-BE49-F238E27FC236}">
                <a16:creationId xmlns:a16="http://schemas.microsoft.com/office/drawing/2014/main" id="{2568075B-494D-33CC-2159-3B8A5A70121A}"/>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4" name="Rectangle 3">
            <a:extLst>
              <a:ext uri="{FF2B5EF4-FFF2-40B4-BE49-F238E27FC236}">
                <a16:creationId xmlns:a16="http://schemas.microsoft.com/office/drawing/2014/main" id="{419B7AD1-DF97-4063-3658-520565E3A999}"/>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t>Disk Access</a:t>
            </a:r>
          </a:p>
        </p:txBody>
      </p:sp>
      <p:grpSp>
        <p:nvGrpSpPr>
          <p:cNvPr id="2" name="Group 3"/>
          <p:cNvGrpSpPr>
            <a:grpSpLocks noChangeAspect="1"/>
          </p:cNvGrpSpPr>
          <p:nvPr/>
        </p:nvGrpSpPr>
        <p:grpSpPr bwMode="auto">
          <a:xfrm>
            <a:off x="735013" y="2090738"/>
            <a:ext cx="1727200" cy="1722437"/>
            <a:chOff x="525" y="1152"/>
            <a:chExt cx="1449" cy="1446"/>
          </a:xfrm>
        </p:grpSpPr>
        <p:sp>
          <p:nvSpPr>
            <p:cNvPr id="118788" name="Oval 4"/>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61448" name="Oval 5"/>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1449" name="Oval 6"/>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1450" name="Oval 7"/>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1451" name="Line 8"/>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1452" name="Line 9"/>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1453" name="Line 10"/>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1454" name="Line 11"/>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1455" name="Line 12"/>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1456" name="Line 13"/>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1457" name="Oval 14"/>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61444" name="AutoShape 15"/>
          <p:cNvSpPr>
            <a:spLocks noChangeAspect="1" noChangeArrowheads="1"/>
          </p:cNvSpPr>
          <p:nvPr/>
        </p:nvSpPr>
        <p:spPr bwMode="auto">
          <a:xfrm>
            <a:off x="1460500" y="1962150"/>
            <a:ext cx="290513" cy="555625"/>
          </a:xfrm>
          <a:prstGeom prst="downArrow">
            <a:avLst>
              <a:gd name="adj1" fmla="val 50000"/>
              <a:gd name="adj2" fmla="val 47814"/>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sp>
        <p:nvSpPr>
          <p:cNvPr id="61445" name="AutoShape 16"/>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prstTxWarp prst="textNoShape">
              <a:avLst/>
            </a:prstTxWarp>
          </a:bodyPr>
          <a:lstStyle/>
          <a:p>
            <a:endParaRPr lang="en-US"/>
          </a:p>
        </p:txBody>
      </p:sp>
      <p:sp>
        <p:nvSpPr>
          <p:cNvPr id="61446" name="Rectangle 17"/>
          <p:cNvSpPr>
            <a:spLocks noChangeArrowheads="1"/>
          </p:cNvSpPr>
          <p:nvPr/>
        </p:nvSpPr>
        <p:spPr bwMode="auto">
          <a:xfrm>
            <a:off x="1981200" y="4495800"/>
            <a:ext cx="5410200" cy="838200"/>
          </a:xfrm>
          <a:prstGeom prst="rect">
            <a:avLst/>
          </a:prstGeom>
          <a:noFill/>
          <a:ln w="12700">
            <a:noFill/>
            <a:miter lim="800000"/>
            <a:headEnd/>
            <a:tailEnd/>
          </a:ln>
        </p:spPr>
        <p:txBody>
          <a:bodyPr lIns="90488" tIns="44450" rIns="90488" bIns="44450" anchor="b">
            <a:prstTxWarp prst="textNoShape">
              <a:avLst/>
            </a:prstTxWarp>
          </a:bodyPr>
          <a:lstStyle/>
          <a:p>
            <a:pPr defTabSz="914400">
              <a:lnSpc>
                <a:spcPct val="100000"/>
              </a:lnSpc>
              <a:buClrTx/>
              <a:buSzTx/>
              <a:buFontTx/>
              <a:buNone/>
            </a:pPr>
            <a:r>
              <a:rPr lang="en-US" sz="2800">
                <a:solidFill>
                  <a:schemeClr val="tx2"/>
                </a:solidFill>
                <a:latin typeface="Arial" charset="0"/>
              </a:rPr>
              <a:t>Rotation is counter-clockwise</a:t>
            </a:r>
          </a:p>
        </p:txBody>
      </p:sp>
      <p:sp>
        <p:nvSpPr>
          <p:cNvPr id="3" name="Rectangle 2">
            <a:extLst>
              <a:ext uri="{FF2B5EF4-FFF2-40B4-BE49-F238E27FC236}">
                <a16:creationId xmlns:a16="http://schemas.microsoft.com/office/drawing/2014/main" id="{E690E37A-458B-39EF-350B-7E576221243B}"/>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4" name="Rectangle 3">
            <a:extLst>
              <a:ext uri="{FF2B5EF4-FFF2-40B4-BE49-F238E27FC236}">
                <a16:creationId xmlns:a16="http://schemas.microsoft.com/office/drawing/2014/main" id="{301CBA89-93A6-87AC-F63B-A06EA2413933}"/>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t>Disk Access – Read</a:t>
            </a:r>
          </a:p>
        </p:txBody>
      </p:sp>
      <p:grpSp>
        <p:nvGrpSpPr>
          <p:cNvPr id="2" name="Group 3"/>
          <p:cNvGrpSpPr>
            <a:grpSpLocks/>
          </p:cNvGrpSpPr>
          <p:nvPr/>
        </p:nvGrpSpPr>
        <p:grpSpPr bwMode="auto">
          <a:xfrm>
            <a:off x="735013" y="1962150"/>
            <a:ext cx="1727200" cy="1851025"/>
            <a:chOff x="463" y="1236"/>
            <a:chExt cx="1088" cy="1166"/>
          </a:xfrm>
        </p:grpSpPr>
        <p:grpSp>
          <p:nvGrpSpPr>
            <p:cNvPr id="3" name="Group 4"/>
            <p:cNvGrpSpPr>
              <a:grpSpLocks/>
            </p:cNvGrpSpPr>
            <p:nvPr/>
          </p:nvGrpSpPr>
          <p:grpSpPr bwMode="auto">
            <a:xfrm>
              <a:off x="463" y="1317"/>
              <a:ext cx="1088" cy="1085"/>
              <a:chOff x="463" y="1317"/>
              <a:chExt cx="1088" cy="1085"/>
            </a:xfrm>
          </p:grpSpPr>
          <p:grpSp>
            <p:nvGrpSpPr>
              <p:cNvPr id="4" name="Group 5"/>
              <p:cNvGrpSpPr>
                <a:grpSpLocks noChangeAspect="1"/>
              </p:cNvGrpSpPr>
              <p:nvPr/>
            </p:nvGrpSpPr>
            <p:grpSpPr bwMode="auto">
              <a:xfrm>
                <a:off x="463" y="1317"/>
                <a:ext cx="1088" cy="1085"/>
                <a:chOff x="525" y="1152"/>
                <a:chExt cx="1449" cy="1446"/>
              </a:xfrm>
            </p:grpSpPr>
            <p:sp>
              <p:nvSpPr>
                <p:cNvPr id="120838" name="Oval 6"/>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63499" name="Oval 7"/>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3500" name="Oval 8"/>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3501" name="Oval 9"/>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3502" name="Line 10"/>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3503" name="Line 11"/>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3504" name="Line 12"/>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3505" name="Line 13"/>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3506" name="Line 14"/>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3507" name="Line 15"/>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3508" name="Oval 16"/>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63497" name="Freeform 17"/>
              <p:cNvSpPr>
                <a:spLocks noChangeAspect="1"/>
              </p:cNvSpPr>
              <p:nvPr/>
            </p:nvSpPr>
            <p:spPr bwMode="auto">
              <a:xfrm rot="1766421">
                <a:off x="982" y="1526"/>
                <a:ext cx="161" cy="153"/>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grpSp>
        <p:sp>
          <p:nvSpPr>
            <p:cNvPr id="63495" name="AutoShape 18"/>
            <p:cNvSpPr>
              <a:spLocks noChangeAspect="1" noChangeArrowheads="1"/>
            </p:cNvSpPr>
            <p:nvPr/>
          </p:nvSpPr>
          <p:spPr bwMode="auto">
            <a:xfrm>
              <a:off x="920" y="1236"/>
              <a:ext cx="183" cy="350"/>
            </a:xfrm>
            <a:prstGeom prst="downArrow">
              <a:avLst>
                <a:gd name="adj1" fmla="val 50000"/>
                <a:gd name="adj2" fmla="val 47814"/>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sp>
        <p:nvSpPr>
          <p:cNvPr id="63492" name="AutoShape 19"/>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prstTxWarp prst="textNoShape">
              <a:avLst/>
            </a:prstTxWarp>
          </a:bodyPr>
          <a:lstStyle/>
          <a:p>
            <a:endParaRPr lang="en-US"/>
          </a:p>
        </p:txBody>
      </p:sp>
      <p:sp>
        <p:nvSpPr>
          <p:cNvPr id="63493" name="Rectangle 20"/>
          <p:cNvSpPr>
            <a:spLocks noChangeArrowheads="1"/>
          </p:cNvSpPr>
          <p:nvPr/>
        </p:nvSpPr>
        <p:spPr bwMode="auto">
          <a:xfrm>
            <a:off x="1981200" y="4495800"/>
            <a:ext cx="5410200" cy="838200"/>
          </a:xfrm>
          <a:prstGeom prst="rect">
            <a:avLst/>
          </a:prstGeom>
          <a:noFill/>
          <a:ln w="12700">
            <a:noFill/>
            <a:miter lim="800000"/>
            <a:headEnd/>
            <a:tailEnd/>
          </a:ln>
        </p:spPr>
        <p:txBody>
          <a:bodyPr lIns="90488" tIns="44450" rIns="90488" bIns="44450" anchor="b">
            <a:prstTxWarp prst="textNoShape">
              <a:avLst/>
            </a:prstTxWarp>
          </a:bodyPr>
          <a:lstStyle/>
          <a:p>
            <a:pPr defTabSz="914400">
              <a:lnSpc>
                <a:spcPct val="100000"/>
              </a:lnSpc>
              <a:buClrTx/>
              <a:buSzTx/>
              <a:buFontTx/>
              <a:buNone/>
            </a:pPr>
            <a:r>
              <a:rPr lang="en-US" sz="2800">
                <a:solidFill>
                  <a:schemeClr val="tx2"/>
                </a:solidFill>
                <a:latin typeface="Arial" charset="0"/>
              </a:rPr>
              <a:t>About to read blue sector</a:t>
            </a:r>
          </a:p>
        </p:txBody>
      </p:sp>
      <p:sp>
        <p:nvSpPr>
          <p:cNvPr id="5" name="Rectangle 4">
            <a:extLst>
              <a:ext uri="{FF2B5EF4-FFF2-40B4-BE49-F238E27FC236}">
                <a16:creationId xmlns:a16="http://schemas.microsoft.com/office/drawing/2014/main" id="{56B6BFA5-F41E-40CE-47B6-09C80979EA2A}"/>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6" name="Rectangle 5">
            <a:extLst>
              <a:ext uri="{FF2B5EF4-FFF2-40B4-BE49-F238E27FC236}">
                <a16:creationId xmlns:a16="http://schemas.microsoft.com/office/drawing/2014/main" id="{A1501B5E-D0B4-BD4C-659D-85B86B2DFF4C}"/>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t>Disk Access – Read</a:t>
            </a:r>
          </a:p>
        </p:txBody>
      </p:sp>
      <p:sp>
        <p:nvSpPr>
          <p:cNvPr id="65539" name="Text Box 3"/>
          <p:cNvSpPr txBox="1">
            <a:spLocks noChangeArrowheads="1"/>
          </p:cNvSpPr>
          <p:nvPr/>
        </p:nvSpPr>
        <p:spPr bwMode="auto">
          <a:xfrm>
            <a:off x="533400" y="3946525"/>
            <a:ext cx="21336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After </a:t>
            </a:r>
            <a:r>
              <a:rPr lang="en-US" sz="2000">
                <a:solidFill>
                  <a:srgbClr val="0000FF"/>
                </a:solidFill>
              </a:rPr>
              <a:t>BLUE</a:t>
            </a:r>
            <a:r>
              <a:rPr lang="en-US" sz="2000">
                <a:solidFill>
                  <a:schemeClr val="accent2"/>
                </a:solidFill>
              </a:rPr>
              <a:t> </a:t>
            </a:r>
            <a:r>
              <a:rPr lang="en-US" sz="2000">
                <a:solidFill>
                  <a:schemeClr val="tx1"/>
                </a:solidFill>
              </a:rPr>
              <a:t>read</a:t>
            </a:r>
          </a:p>
        </p:txBody>
      </p:sp>
      <p:grpSp>
        <p:nvGrpSpPr>
          <p:cNvPr id="2" name="Group 4"/>
          <p:cNvGrpSpPr>
            <a:grpSpLocks noChangeAspect="1"/>
          </p:cNvGrpSpPr>
          <p:nvPr/>
        </p:nvGrpSpPr>
        <p:grpSpPr bwMode="auto">
          <a:xfrm>
            <a:off x="735013" y="2090738"/>
            <a:ext cx="1727200" cy="1722437"/>
            <a:chOff x="525" y="1152"/>
            <a:chExt cx="1449" cy="1446"/>
          </a:xfrm>
        </p:grpSpPr>
        <p:sp>
          <p:nvSpPr>
            <p:cNvPr id="122885" name="Oval 5"/>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65546" name="Oval 6"/>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5547" name="Oval 7"/>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5548" name="Oval 8"/>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5549" name="Line 9"/>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5550" name="Line 10"/>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5551" name="Line 11"/>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5552" name="Line 12"/>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5553" name="Line 13"/>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5554" name="Line 14"/>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5555" name="Oval 15"/>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65541" name="Freeform 16"/>
          <p:cNvSpPr>
            <a:spLocks noChangeAspect="1"/>
          </p:cNvSpPr>
          <p:nvPr/>
        </p:nvSpPr>
        <p:spPr bwMode="auto">
          <a:xfrm>
            <a:off x="1358900" y="2438400"/>
            <a:ext cx="242888" cy="230188"/>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sp>
        <p:nvSpPr>
          <p:cNvPr id="65542" name="AutoShape 17"/>
          <p:cNvSpPr>
            <a:spLocks noChangeAspect="1" noChangeArrowheads="1"/>
          </p:cNvSpPr>
          <p:nvPr/>
        </p:nvSpPr>
        <p:spPr bwMode="auto">
          <a:xfrm>
            <a:off x="1460500" y="1962150"/>
            <a:ext cx="290513" cy="555625"/>
          </a:xfrm>
          <a:prstGeom prst="downArrow">
            <a:avLst>
              <a:gd name="adj1" fmla="val 50000"/>
              <a:gd name="adj2" fmla="val 47814"/>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sp>
        <p:nvSpPr>
          <p:cNvPr id="65543" name="AutoShape 18"/>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prstTxWarp prst="textNoShape">
              <a:avLst/>
            </a:prstTxWarp>
          </a:bodyPr>
          <a:lstStyle/>
          <a:p>
            <a:endParaRPr lang="en-US"/>
          </a:p>
        </p:txBody>
      </p:sp>
      <p:sp>
        <p:nvSpPr>
          <p:cNvPr id="65544" name="Rectangle 19"/>
          <p:cNvSpPr>
            <a:spLocks noChangeArrowheads="1"/>
          </p:cNvSpPr>
          <p:nvPr/>
        </p:nvSpPr>
        <p:spPr bwMode="auto">
          <a:xfrm>
            <a:off x="1981200" y="4495800"/>
            <a:ext cx="5410200" cy="838200"/>
          </a:xfrm>
          <a:prstGeom prst="rect">
            <a:avLst/>
          </a:prstGeom>
          <a:noFill/>
          <a:ln w="12700">
            <a:noFill/>
            <a:miter lim="800000"/>
            <a:headEnd/>
            <a:tailEnd/>
          </a:ln>
        </p:spPr>
        <p:txBody>
          <a:bodyPr lIns="90488" tIns="44450" rIns="90488" bIns="44450" anchor="b">
            <a:prstTxWarp prst="textNoShape">
              <a:avLst/>
            </a:prstTxWarp>
          </a:bodyPr>
          <a:lstStyle/>
          <a:p>
            <a:pPr defTabSz="914400">
              <a:lnSpc>
                <a:spcPct val="100000"/>
              </a:lnSpc>
              <a:buClrTx/>
              <a:buSzTx/>
              <a:buFontTx/>
              <a:buNone/>
            </a:pPr>
            <a:r>
              <a:rPr lang="en-US" sz="2800">
                <a:solidFill>
                  <a:schemeClr val="tx2"/>
                </a:solidFill>
                <a:latin typeface="Arial" charset="0"/>
              </a:rPr>
              <a:t>After reading blue sector</a:t>
            </a:r>
          </a:p>
        </p:txBody>
      </p:sp>
      <p:sp>
        <p:nvSpPr>
          <p:cNvPr id="3" name="Rectangle 2">
            <a:extLst>
              <a:ext uri="{FF2B5EF4-FFF2-40B4-BE49-F238E27FC236}">
                <a16:creationId xmlns:a16="http://schemas.microsoft.com/office/drawing/2014/main" id="{8987F50C-E7CD-5FA7-3AC4-69D5442F9FDF}"/>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4" name="Rectangle 3">
            <a:extLst>
              <a:ext uri="{FF2B5EF4-FFF2-40B4-BE49-F238E27FC236}">
                <a16:creationId xmlns:a16="http://schemas.microsoft.com/office/drawing/2014/main" id="{7EAD4FBA-93E8-E247-563C-0002ADEF0738}"/>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t>Disk Access – Read</a:t>
            </a:r>
          </a:p>
        </p:txBody>
      </p:sp>
      <p:sp>
        <p:nvSpPr>
          <p:cNvPr id="67587" name="Text Box 3"/>
          <p:cNvSpPr txBox="1">
            <a:spLocks noChangeArrowheads="1"/>
          </p:cNvSpPr>
          <p:nvPr/>
        </p:nvSpPr>
        <p:spPr bwMode="auto">
          <a:xfrm>
            <a:off x="533400" y="3946525"/>
            <a:ext cx="21336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After </a:t>
            </a:r>
            <a:r>
              <a:rPr lang="en-US" sz="2000">
                <a:solidFill>
                  <a:srgbClr val="0000FF"/>
                </a:solidFill>
              </a:rPr>
              <a:t>BLUE</a:t>
            </a:r>
            <a:r>
              <a:rPr lang="en-US" sz="2000">
                <a:solidFill>
                  <a:schemeClr val="accent2"/>
                </a:solidFill>
              </a:rPr>
              <a:t> </a:t>
            </a:r>
            <a:r>
              <a:rPr lang="en-US" sz="2000">
                <a:solidFill>
                  <a:schemeClr val="tx1"/>
                </a:solidFill>
              </a:rPr>
              <a:t>read</a:t>
            </a:r>
          </a:p>
        </p:txBody>
      </p:sp>
      <p:grpSp>
        <p:nvGrpSpPr>
          <p:cNvPr id="2" name="Group 4"/>
          <p:cNvGrpSpPr>
            <a:grpSpLocks noChangeAspect="1"/>
          </p:cNvGrpSpPr>
          <p:nvPr/>
        </p:nvGrpSpPr>
        <p:grpSpPr bwMode="auto">
          <a:xfrm>
            <a:off x="735013" y="1962150"/>
            <a:ext cx="1727200" cy="1855788"/>
            <a:chOff x="444" y="1113"/>
            <a:chExt cx="1163" cy="1251"/>
          </a:xfrm>
        </p:grpSpPr>
        <p:grpSp>
          <p:nvGrpSpPr>
            <p:cNvPr id="3" name="Group 5"/>
            <p:cNvGrpSpPr>
              <a:grpSpLocks noChangeAspect="1"/>
            </p:cNvGrpSpPr>
            <p:nvPr/>
          </p:nvGrpSpPr>
          <p:grpSpPr bwMode="auto">
            <a:xfrm>
              <a:off x="444" y="1200"/>
              <a:ext cx="1163" cy="1164"/>
              <a:chOff x="444" y="1200"/>
              <a:chExt cx="1163" cy="1164"/>
            </a:xfrm>
          </p:grpSpPr>
          <p:grpSp>
            <p:nvGrpSpPr>
              <p:cNvPr id="4" name="Group 6"/>
              <p:cNvGrpSpPr>
                <a:grpSpLocks noChangeAspect="1"/>
              </p:cNvGrpSpPr>
              <p:nvPr/>
            </p:nvGrpSpPr>
            <p:grpSpPr bwMode="auto">
              <a:xfrm>
                <a:off x="444" y="1200"/>
                <a:ext cx="1163" cy="1161"/>
                <a:chOff x="525" y="1152"/>
                <a:chExt cx="1449" cy="1446"/>
              </a:xfrm>
            </p:grpSpPr>
            <p:sp>
              <p:nvSpPr>
                <p:cNvPr id="124935" name="Oval 7"/>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67597" name="Oval 8"/>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7598" name="Oval 9"/>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7599" name="Oval 10"/>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7600" name="Line 11"/>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7601" name="Line 12"/>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7602" name="Line 13"/>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7603" name="Line 14"/>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7604" name="Line 15"/>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7605" name="Line 16"/>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7606" name="Oval 17"/>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67594" name="Freeform 18"/>
              <p:cNvSpPr>
                <a:spLocks noChangeAspect="1"/>
              </p:cNvSpPr>
              <p:nvPr/>
            </p:nvSpPr>
            <p:spPr bwMode="auto">
              <a:xfrm>
                <a:off x="864" y="1434"/>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sp>
            <p:nvSpPr>
              <p:cNvPr id="67595" name="Freeform 19"/>
              <p:cNvSpPr>
                <a:spLocks noChangeAspect="1"/>
              </p:cNvSpPr>
              <p:nvPr/>
            </p:nvSpPr>
            <p:spPr bwMode="auto">
              <a:xfrm rot="-1800000">
                <a:off x="1005" y="2187"/>
                <a:ext cx="287"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grpSp>
        <p:sp>
          <p:nvSpPr>
            <p:cNvPr id="67592" name="AutoShape 20"/>
            <p:cNvSpPr>
              <a:spLocks noChangeAspect="1" noChangeArrowheads="1"/>
            </p:cNvSpPr>
            <p:nvPr/>
          </p:nvSpPr>
          <p:spPr bwMode="auto">
            <a:xfrm>
              <a:off x="933" y="1113"/>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sp>
        <p:nvSpPr>
          <p:cNvPr id="67589" name="AutoShape 21"/>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prstTxWarp prst="textNoShape">
              <a:avLst/>
            </a:prstTxWarp>
          </a:bodyPr>
          <a:lstStyle/>
          <a:p>
            <a:endParaRPr lang="en-US"/>
          </a:p>
        </p:txBody>
      </p:sp>
      <p:sp>
        <p:nvSpPr>
          <p:cNvPr id="67590" name="Rectangle 22"/>
          <p:cNvSpPr>
            <a:spLocks noChangeArrowheads="1"/>
          </p:cNvSpPr>
          <p:nvPr/>
        </p:nvSpPr>
        <p:spPr bwMode="auto">
          <a:xfrm>
            <a:off x="1981200" y="4495800"/>
            <a:ext cx="5410200" cy="838200"/>
          </a:xfrm>
          <a:prstGeom prst="rect">
            <a:avLst/>
          </a:prstGeom>
          <a:noFill/>
          <a:ln w="12700">
            <a:noFill/>
            <a:miter lim="800000"/>
            <a:headEnd/>
            <a:tailEnd/>
          </a:ln>
        </p:spPr>
        <p:txBody>
          <a:bodyPr lIns="90488" tIns="44450" rIns="90488" bIns="44450" anchor="b">
            <a:prstTxWarp prst="textNoShape">
              <a:avLst/>
            </a:prstTxWarp>
          </a:bodyPr>
          <a:lstStyle/>
          <a:p>
            <a:pPr defTabSz="914400">
              <a:lnSpc>
                <a:spcPct val="100000"/>
              </a:lnSpc>
              <a:buClrTx/>
              <a:buSzTx/>
              <a:buFontTx/>
              <a:buNone/>
            </a:pPr>
            <a:r>
              <a:rPr lang="en-US" sz="2800">
                <a:solidFill>
                  <a:schemeClr val="tx2"/>
                </a:solidFill>
                <a:latin typeface="Arial" charset="0"/>
              </a:rPr>
              <a:t>Red request scheduled next</a:t>
            </a:r>
          </a:p>
        </p:txBody>
      </p:sp>
      <p:sp>
        <p:nvSpPr>
          <p:cNvPr id="5" name="Rectangle 4">
            <a:extLst>
              <a:ext uri="{FF2B5EF4-FFF2-40B4-BE49-F238E27FC236}">
                <a16:creationId xmlns:a16="http://schemas.microsoft.com/office/drawing/2014/main" id="{2A79C4F2-9CF7-E196-D657-FB41C5F43442}"/>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6" name="Rectangle 5">
            <a:extLst>
              <a:ext uri="{FF2B5EF4-FFF2-40B4-BE49-F238E27FC236}">
                <a16:creationId xmlns:a16="http://schemas.microsoft.com/office/drawing/2014/main" id="{A33DE1E0-C95D-2E42-2A00-79ED7189812C}"/>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dirty="0"/>
              <a:t>Disk Access – Seek</a:t>
            </a:r>
          </a:p>
        </p:txBody>
      </p:sp>
      <p:sp>
        <p:nvSpPr>
          <p:cNvPr id="69635" name="Text Box 3"/>
          <p:cNvSpPr txBox="1">
            <a:spLocks noChangeArrowheads="1"/>
          </p:cNvSpPr>
          <p:nvPr/>
        </p:nvSpPr>
        <p:spPr bwMode="auto">
          <a:xfrm>
            <a:off x="533400" y="3946525"/>
            <a:ext cx="21336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After </a:t>
            </a:r>
            <a:r>
              <a:rPr lang="en-US" sz="2000">
                <a:solidFill>
                  <a:srgbClr val="0000FF"/>
                </a:solidFill>
              </a:rPr>
              <a:t>BLUE</a:t>
            </a:r>
            <a:r>
              <a:rPr lang="en-US" sz="2000">
                <a:solidFill>
                  <a:schemeClr val="accent2"/>
                </a:solidFill>
              </a:rPr>
              <a:t> </a:t>
            </a:r>
            <a:r>
              <a:rPr lang="en-US" sz="2000">
                <a:solidFill>
                  <a:schemeClr val="tx1"/>
                </a:solidFill>
              </a:rPr>
              <a:t>read</a:t>
            </a:r>
          </a:p>
        </p:txBody>
      </p:sp>
      <p:sp>
        <p:nvSpPr>
          <p:cNvPr id="69636" name="Text Box 4"/>
          <p:cNvSpPr txBox="1">
            <a:spLocks noChangeArrowheads="1"/>
          </p:cNvSpPr>
          <p:nvPr/>
        </p:nvSpPr>
        <p:spPr bwMode="auto">
          <a:xfrm>
            <a:off x="2743200" y="3946525"/>
            <a:ext cx="18288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Seek for </a:t>
            </a:r>
            <a:r>
              <a:rPr lang="en-US" sz="2000">
                <a:solidFill>
                  <a:srgbClr val="FF0000"/>
                </a:solidFill>
              </a:rPr>
              <a:t>RED</a:t>
            </a:r>
            <a:endParaRPr lang="en-US" sz="2000">
              <a:solidFill>
                <a:schemeClr val="tx1"/>
              </a:solidFill>
            </a:endParaRPr>
          </a:p>
        </p:txBody>
      </p:sp>
      <p:grpSp>
        <p:nvGrpSpPr>
          <p:cNvPr id="2" name="Group 5"/>
          <p:cNvGrpSpPr>
            <a:grpSpLocks noChangeAspect="1"/>
          </p:cNvGrpSpPr>
          <p:nvPr/>
        </p:nvGrpSpPr>
        <p:grpSpPr bwMode="auto">
          <a:xfrm>
            <a:off x="735013" y="1962150"/>
            <a:ext cx="1727200" cy="1855788"/>
            <a:chOff x="444" y="1113"/>
            <a:chExt cx="1163" cy="1251"/>
          </a:xfrm>
        </p:grpSpPr>
        <p:grpSp>
          <p:nvGrpSpPr>
            <p:cNvPr id="3" name="Group 6"/>
            <p:cNvGrpSpPr>
              <a:grpSpLocks noChangeAspect="1"/>
            </p:cNvGrpSpPr>
            <p:nvPr/>
          </p:nvGrpSpPr>
          <p:grpSpPr bwMode="auto">
            <a:xfrm>
              <a:off x="444" y="1200"/>
              <a:ext cx="1163" cy="1164"/>
              <a:chOff x="444" y="1200"/>
              <a:chExt cx="1163" cy="1164"/>
            </a:xfrm>
          </p:grpSpPr>
          <p:grpSp>
            <p:nvGrpSpPr>
              <p:cNvPr id="4" name="Group 7"/>
              <p:cNvGrpSpPr>
                <a:grpSpLocks noChangeAspect="1"/>
              </p:cNvGrpSpPr>
              <p:nvPr/>
            </p:nvGrpSpPr>
            <p:grpSpPr bwMode="auto">
              <a:xfrm>
                <a:off x="444" y="1200"/>
                <a:ext cx="1163" cy="1161"/>
                <a:chOff x="525" y="1152"/>
                <a:chExt cx="1449" cy="1446"/>
              </a:xfrm>
            </p:grpSpPr>
            <p:sp>
              <p:nvSpPr>
                <p:cNvPr id="126984" name="Oval 8"/>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69663" name="Oval 9"/>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9664" name="Oval 10"/>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9665" name="Oval 11"/>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9666" name="Line 12"/>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67" name="Line 13"/>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68" name="Line 14"/>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69" name="Line 15"/>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70" name="Line 16"/>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71" name="Line 17"/>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72" name="Oval 18"/>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69660" name="Freeform 19"/>
              <p:cNvSpPr>
                <a:spLocks noChangeAspect="1"/>
              </p:cNvSpPr>
              <p:nvPr/>
            </p:nvSpPr>
            <p:spPr bwMode="auto">
              <a:xfrm>
                <a:off x="864" y="1434"/>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sp>
            <p:nvSpPr>
              <p:cNvPr id="69661" name="Freeform 20"/>
              <p:cNvSpPr>
                <a:spLocks noChangeAspect="1"/>
              </p:cNvSpPr>
              <p:nvPr/>
            </p:nvSpPr>
            <p:spPr bwMode="auto">
              <a:xfrm rot="-1800000">
                <a:off x="1005" y="2187"/>
                <a:ext cx="287"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grpSp>
        <p:sp>
          <p:nvSpPr>
            <p:cNvPr id="69658" name="AutoShape 21"/>
            <p:cNvSpPr>
              <a:spLocks noChangeAspect="1" noChangeArrowheads="1"/>
            </p:cNvSpPr>
            <p:nvPr/>
          </p:nvSpPr>
          <p:spPr bwMode="auto">
            <a:xfrm>
              <a:off x="933" y="1113"/>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grpSp>
        <p:nvGrpSpPr>
          <p:cNvPr id="5" name="Group 22"/>
          <p:cNvGrpSpPr>
            <a:grpSpLocks noChangeAspect="1"/>
          </p:cNvGrpSpPr>
          <p:nvPr/>
        </p:nvGrpSpPr>
        <p:grpSpPr bwMode="auto">
          <a:xfrm>
            <a:off x="2784475" y="1600200"/>
            <a:ext cx="1727200" cy="2217738"/>
            <a:chOff x="1716" y="864"/>
            <a:chExt cx="1163" cy="1494"/>
          </a:xfrm>
        </p:grpSpPr>
        <p:grpSp>
          <p:nvGrpSpPr>
            <p:cNvPr id="6" name="Group 23"/>
            <p:cNvGrpSpPr>
              <a:grpSpLocks noChangeAspect="1"/>
            </p:cNvGrpSpPr>
            <p:nvPr/>
          </p:nvGrpSpPr>
          <p:grpSpPr bwMode="auto">
            <a:xfrm>
              <a:off x="1716" y="1197"/>
              <a:ext cx="1163" cy="1161"/>
              <a:chOff x="1716" y="1197"/>
              <a:chExt cx="1163" cy="1161"/>
            </a:xfrm>
          </p:grpSpPr>
          <p:grpSp>
            <p:nvGrpSpPr>
              <p:cNvPr id="7" name="Group 24"/>
              <p:cNvGrpSpPr>
                <a:grpSpLocks noChangeAspect="1"/>
              </p:cNvGrpSpPr>
              <p:nvPr/>
            </p:nvGrpSpPr>
            <p:grpSpPr bwMode="auto">
              <a:xfrm>
                <a:off x="1716" y="1197"/>
                <a:ext cx="1163" cy="1161"/>
                <a:chOff x="525" y="1152"/>
                <a:chExt cx="1449" cy="1446"/>
              </a:xfrm>
            </p:grpSpPr>
            <p:sp>
              <p:nvSpPr>
                <p:cNvPr id="127001" name="Oval 25"/>
                <p:cNvSpPr>
                  <a:spLocks noChangeAspect="1" noChangeArrowheads="1"/>
                </p:cNvSpPr>
                <p:nvPr/>
              </p:nvSpPr>
              <p:spPr bwMode="auto">
                <a:xfrm>
                  <a:off x="528" y="1151"/>
                  <a:ext cx="1440" cy="1440"/>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69647" name="Oval 26"/>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9648" name="Oval 27"/>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9649" name="Oval 28"/>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69650" name="Line 29"/>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51" name="Line 30"/>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52" name="Line 31"/>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53" name="Line 32"/>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54" name="Line 33"/>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55" name="Line 34"/>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69656" name="Oval 35"/>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69644" name="Freeform 36"/>
              <p:cNvSpPr>
                <a:spLocks noChangeAspect="1"/>
              </p:cNvSpPr>
              <p:nvPr/>
            </p:nvSpPr>
            <p:spPr bwMode="auto">
              <a:xfrm rot="-3600000">
                <a:off x="2512" y="2050"/>
                <a:ext cx="296"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sp>
            <p:nvSpPr>
              <p:cNvPr id="69645" name="Freeform 37"/>
              <p:cNvSpPr>
                <a:spLocks noChangeAspect="1"/>
              </p:cNvSpPr>
              <p:nvPr/>
            </p:nvSpPr>
            <p:spPr bwMode="auto">
              <a:xfrm rot="-1800000">
                <a:off x="2016" y="1506"/>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grpSp>
        <p:sp>
          <p:nvSpPr>
            <p:cNvPr id="69642" name="AutoShape 38"/>
            <p:cNvSpPr>
              <a:spLocks noChangeAspect="1" noChangeArrowheads="1"/>
            </p:cNvSpPr>
            <p:nvPr/>
          </p:nvSpPr>
          <p:spPr bwMode="auto">
            <a:xfrm>
              <a:off x="220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sp>
        <p:nvSpPr>
          <p:cNvPr id="69639" name="AutoShape 39"/>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prstTxWarp prst="textNoShape">
              <a:avLst/>
            </a:prstTxWarp>
          </a:bodyPr>
          <a:lstStyle/>
          <a:p>
            <a:endParaRPr lang="en-US"/>
          </a:p>
        </p:txBody>
      </p:sp>
      <p:sp>
        <p:nvSpPr>
          <p:cNvPr id="69640" name="Rectangle 40"/>
          <p:cNvSpPr>
            <a:spLocks noChangeArrowheads="1"/>
          </p:cNvSpPr>
          <p:nvPr/>
        </p:nvSpPr>
        <p:spPr bwMode="auto">
          <a:xfrm>
            <a:off x="1981200" y="4495800"/>
            <a:ext cx="5410200" cy="838200"/>
          </a:xfrm>
          <a:prstGeom prst="rect">
            <a:avLst/>
          </a:prstGeom>
          <a:noFill/>
          <a:ln w="12700">
            <a:noFill/>
            <a:miter lim="800000"/>
            <a:headEnd/>
            <a:tailEnd/>
          </a:ln>
        </p:spPr>
        <p:txBody>
          <a:bodyPr lIns="90488" tIns="44450" rIns="90488" bIns="44450" anchor="b">
            <a:prstTxWarp prst="textNoShape">
              <a:avLst/>
            </a:prstTxWarp>
          </a:bodyPr>
          <a:lstStyle/>
          <a:p>
            <a:pPr defTabSz="914400">
              <a:lnSpc>
                <a:spcPct val="100000"/>
              </a:lnSpc>
              <a:buClrTx/>
              <a:buSzTx/>
              <a:buFontTx/>
              <a:buNone/>
            </a:pPr>
            <a:r>
              <a:rPr lang="en-US" sz="2800">
                <a:solidFill>
                  <a:schemeClr val="tx2"/>
                </a:solidFill>
                <a:latin typeface="Arial" charset="0"/>
              </a:rPr>
              <a:t>Seek to red’s track</a:t>
            </a:r>
          </a:p>
        </p:txBody>
      </p:sp>
      <p:sp>
        <p:nvSpPr>
          <p:cNvPr id="8" name="Rectangle 7">
            <a:extLst>
              <a:ext uri="{FF2B5EF4-FFF2-40B4-BE49-F238E27FC236}">
                <a16:creationId xmlns:a16="http://schemas.microsoft.com/office/drawing/2014/main" id="{7E6382FF-0803-8873-E25C-A702AA595B42}"/>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9" name="Rectangle 8">
            <a:extLst>
              <a:ext uri="{FF2B5EF4-FFF2-40B4-BE49-F238E27FC236}">
                <a16:creationId xmlns:a16="http://schemas.microsoft.com/office/drawing/2014/main" id="{045C6285-469F-E8BD-6CA3-BEA913CA8081}"/>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dirty="0"/>
              <a:t>Disk Access – Rotational Latency</a:t>
            </a:r>
          </a:p>
        </p:txBody>
      </p:sp>
      <p:sp>
        <p:nvSpPr>
          <p:cNvPr id="71683" name="Text Box 3"/>
          <p:cNvSpPr txBox="1">
            <a:spLocks noChangeArrowheads="1"/>
          </p:cNvSpPr>
          <p:nvPr/>
        </p:nvSpPr>
        <p:spPr bwMode="auto">
          <a:xfrm>
            <a:off x="533400" y="3946525"/>
            <a:ext cx="21336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After </a:t>
            </a:r>
            <a:r>
              <a:rPr lang="en-US" sz="2000">
                <a:solidFill>
                  <a:srgbClr val="0000FF"/>
                </a:solidFill>
              </a:rPr>
              <a:t>BLUE</a:t>
            </a:r>
            <a:r>
              <a:rPr lang="en-US" sz="2000">
                <a:solidFill>
                  <a:schemeClr val="accent2"/>
                </a:solidFill>
              </a:rPr>
              <a:t> </a:t>
            </a:r>
            <a:r>
              <a:rPr lang="en-US" sz="2000">
                <a:solidFill>
                  <a:schemeClr val="tx1"/>
                </a:solidFill>
              </a:rPr>
              <a:t>read</a:t>
            </a:r>
          </a:p>
        </p:txBody>
      </p:sp>
      <p:sp>
        <p:nvSpPr>
          <p:cNvPr id="71684" name="Text Box 4"/>
          <p:cNvSpPr txBox="1">
            <a:spLocks noChangeArrowheads="1"/>
          </p:cNvSpPr>
          <p:nvPr/>
        </p:nvSpPr>
        <p:spPr bwMode="auto">
          <a:xfrm>
            <a:off x="2743200" y="3946525"/>
            <a:ext cx="18288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Seek for </a:t>
            </a:r>
            <a:r>
              <a:rPr lang="en-US" sz="2000">
                <a:solidFill>
                  <a:srgbClr val="FF0000"/>
                </a:solidFill>
              </a:rPr>
              <a:t>RED</a:t>
            </a:r>
            <a:endParaRPr lang="en-US" sz="2000">
              <a:solidFill>
                <a:schemeClr val="tx1"/>
              </a:solidFill>
            </a:endParaRPr>
          </a:p>
        </p:txBody>
      </p:sp>
      <p:sp>
        <p:nvSpPr>
          <p:cNvPr id="71685" name="Text Box 5"/>
          <p:cNvSpPr txBox="1">
            <a:spLocks noChangeArrowheads="1"/>
          </p:cNvSpPr>
          <p:nvPr/>
        </p:nvSpPr>
        <p:spPr bwMode="auto">
          <a:xfrm>
            <a:off x="4495800" y="3946525"/>
            <a:ext cx="24384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Rotational latency</a:t>
            </a:r>
          </a:p>
        </p:txBody>
      </p:sp>
      <p:grpSp>
        <p:nvGrpSpPr>
          <p:cNvPr id="2" name="Group 6"/>
          <p:cNvGrpSpPr>
            <a:grpSpLocks noChangeAspect="1"/>
          </p:cNvGrpSpPr>
          <p:nvPr/>
        </p:nvGrpSpPr>
        <p:grpSpPr bwMode="auto">
          <a:xfrm>
            <a:off x="735013" y="1962150"/>
            <a:ext cx="1727200" cy="1855788"/>
            <a:chOff x="444" y="1113"/>
            <a:chExt cx="1163" cy="1251"/>
          </a:xfrm>
        </p:grpSpPr>
        <p:grpSp>
          <p:nvGrpSpPr>
            <p:cNvPr id="3" name="Group 7"/>
            <p:cNvGrpSpPr>
              <a:grpSpLocks noChangeAspect="1"/>
            </p:cNvGrpSpPr>
            <p:nvPr/>
          </p:nvGrpSpPr>
          <p:grpSpPr bwMode="auto">
            <a:xfrm>
              <a:off x="444" y="1200"/>
              <a:ext cx="1163" cy="1164"/>
              <a:chOff x="444" y="1200"/>
              <a:chExt cx="1163" cy="1164"/>
            </a:xfrm>
          </p:grpSpPr>
          <p:grpSp>
            <p:nvGrpSpPr>
              <p:cNvPr id="4" name="Group 8"/>
              <p:cNvGrpSpPr>
                <a:grpSpLocks noChangeAspect="1"/>
              </p:cNvGrpSpPr>
              <p:nvPr/>
            </p:nvGrpSpPr>
            <p:grpSpPr bwMode="auto">
              <a:xfrm>
                <a:off x="444" y="1200"/>
                <a:ext cx="1163" cy="1161"/>
                <a:chOff x="525" y="1152"/>
                <a:chExt cx="1449" cy="1446"/>
              </a:xfrm>
            </p:grpSpPr>
            <p:sp>
              <p:nvSpPr>
                <p:cNvPr id="129033" name="Oval 9"/>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1730" name="Oval 10"/>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1731" name="Oval 11"/>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1732" name="Oval 12"/>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1733" name="Line 13"/>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34" name="Line 14"/>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35" name="Line 15"/>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36" name="Line 16"/>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37" name="Line 17"/>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38" name="Line 18"/>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39" name="Oval 19"/>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1727" name="Freeform 20"/>
              <p:cNvSpPr>
                <a:spLocks noChangeAspect="1"/>
              </p:cNvSpPr>
              <p:nvPr/>
            </p:nvSpPr>
            <p:spPr bwMode="auto">
              <a:xfrm>
                <a:off x="864" y="1434"/>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sp>
            <p:nvSpPr>
              <p:cNvPr id="71728" name="Freeform 21"/>
              <p:cNvSpPr>
                <a:spLocks noChangeAspect="1"/>
              </p:cNvSpPr>
              <p:nvPr/>
            </p:nvSpPr>
            <p:spPr bwMode="auto">
              <a:xfrm rot="-1800000">
                <a:off x="1005" y="2187"/>
                <a:ext cx="287"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grpSp>
        <p:sp>
          <p:nvSpPr>
            <p:cNvPr id="71725" name="AutoShape 22"/>
            <p:cNvSpPr>
              <a:spLocks noChangeAspect="1" noChangeArrowheads="1"/>
            </p:cNvSpPr>
            <p:nvPr/>
          </p:nvSpPr>
          <p:spPr bwMode="auto">
            <a:xfrm>
              <a:off x="933" y="1113"/>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grpSp>
        <p:nvGrpSpPr>
          <p:cNvPr id="5" name="Group 23"/>
          <p:cNvGrpSpPr>
            <a:grpSpLocks noChangeAspect="1"/>
          </p:cNvGrpSpPr>
          <p:nvPr/>
        </p:nvGrpSpPr>
        <p:grpSpPr bwMode="auto">
          <a:xfrm>
            <a:off x="2784475" y="1600200"/>
            <a:ext cx="1727200" cy="2217738"/>
            <a:chOff x="1716" y="864"/>
            <a:chExt cx="1163" cy="1494"/>
          </a:xfrm>
        </p:grpSpPr>
        <p:grpSp>
          <p:nvGrpSpPr>
            <p:cNvPr id="6" name="Group 24"/>
            <p:cNvGrpSpPr>
              <a:grpSpLocks noChangeAspect="1"/>
            </p:cNvGrpSpPr>
            <p:nvPr/>
          </p:nvGrpSpPr>
          <p:grpSpPr bwMode="auto">
            <a:xfrm>
              <a:off x="1716" y="1197"/>
              <a:ext cx="1163" cy="1161"/>
              <a:chOff x="1716" y="1197"/>
              <a:chExt cx="1163" cy="1161"/>
            </a:xfrm>
          </p:grpSpPr>
          <p:grpSp>
            <p:nvGrpSpPr>
              <p:cNvPr id="7" name="Group 25"/>
              <p:cNvGrpSpPr>
                <a:grpSpLocks noChangeAspect="1"/>
              </p:cNvGrpSpPr>
              <p:nvPr/>
            </p:nvGrpSpPr>
            <p:grpSpPr bwMode="auto">
              <a:xfrm>
                <a:off x="1716" y="1197"/>
                <a:ext cx="1163" cy="1161"/>
                <a:chOff x="525" y="1152"/>
                <a:chExt cx="1449" cy="1446"/>
              </a:xfrm>
            </p:grpSpPr>
            <p:sp>
              <p:nvSpPr>
                <p:cNvPr id="129050" name="Oval 26"/>
                <p:cNvSpPr>
                  <a:spLocks noChangeAspect="1" noChangeArrowheads="1"/>
                </p:cNvSpPr>
                <p:nvPr/>
              </p:nvSpPr>
              <p:spPr bwMode="auto">
                <a:xfrm>
                  <a:off x="528" y="1151"/>
                  <a:ext cx="1440" cy="1440"/>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1714" name="Oval 27"/>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1715" name="Oval 28"/>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1716" name="Oval 29"/>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1717" name="Line 30"/>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18" name="Line 31"/>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19" name="Line 32"/>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20" name="Line 33"/>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21" name="Line 34"/>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22" name="Line 35"/>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23" name="Oval 36"/>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1711" name="Freeform 37"/>
              <p:cNvSpPr>
                <a:spLocks noChangeAspect="1"/>
              </p:cNvSpPr>
              <p:nvPr/>
            </p:nvSpPr>
            <p:spPr bwMode="auto">
              <a:xfrm rot="-3600000">
                <a:off x="2512" y="2050"/>
                <a:ext cx="296"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sp>
            <p:nvSpPr>
              <p:cNvPr id="71712" name="Freeform 38"/>
              <p:cNvSpPr>
                <a:spLocks noChangeAspect="1"/>
              </p:cNvSpPr>
              <p:nvPr/>
            </p:nvSpPr>
            <p:spPr bwMode="auto">
              <a:xfrm rot="-1800000">
                <a:off x="2016" y="1506"/>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grpSp>
        <p:sp>
          <p:nvSpPr>
            <p:cNvPr id="71709" name="AutoShape 39"/>
            <p:cNvSpPr>
              <a:spLocks noChangeAspect="1" noChangeArrowheads="1"/>
            </p:cNvSpPr>
            <p:nvPr/>
          </p:nvSpPr>
          <p:spPr bwMode="auto">
            <a:xfrm>
              <a:off x="220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grpSp>
        <p:nvGrpSpPr>
          <p:cNvPr id="8" name="Group 40"/>
          <p:cNvGrpSpPr>
            <a:grpSpLocks noChangeAspect="1"/>
          </p:cNvGrpSpPr>
          <p:nvPr/>
        </p:nvGrpSpPr>
        <p:grpSpPr bwMode="auto">
          <a:xfrm>
            <a:off x="4833938" y="1625600"/>
            <a:ext cx="1727200" cy="2192338"/>
            <a:chOff x="3003" y="864"/>
            <a:chExt cx="1163" cy="1476"/>
          </a:xfrm>
        </p:grpSpPr>
        <p:grpSp>
          <p:nvGrpSpPr>
            <p:cNvPr id="9" name="Group 41"/>
            <p:cNvGrpSpPr>
              <a:grpSpLocks noChangeAspect="1"/>
            </p:cNvGrpSpPr>
            <p:nvPr/>
          </p:nvGrpSpPr>
          <p:grpSpPr bwMode="auto">
            <a:xfrm>
              <a:off x="3003" y="1176"/>
              <a:ext cx="1163" cy="1164"/>
              <a:chOff x="3003" y="1176"/>
              <a:chExt cx="1163" cy="1164"/>
            </a:xfrm>
          </p:grpSpPr>
          <p:grpSp>
            <p:nvGrpSpPr>
              <p:cNvPr id="10" name="Group 42"/>
              <p:cNvGrpSpPr>
                <a:grpSpLocks noChangeAspect="1"/>
              </p:cNvGrpSpPr>
              <p:nvPr/>
            </p:nvGrpSpPr>
            <p:grpSpPr bwMode="auto">
              <a:xfrm>
                <a:off x="3003" y="1179"/>
                <a:ext cx="1163" cy="1161"/>
                <a:chOff x="525" y="1152"/>
                <a:chExt cx="1449" cy="1446"/>
              </a:xfrm>
            </p:grpSpPr>
            <p:sp>
              <p:nvSpPr>
                <p:cNvPr id="129067" name="Oval 43"/>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1698" name="Oval 44"/>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1699" name="Oval 45"/>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1700" name="Oval 46"/>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1701" name="Line 47"/>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02" name="Line 48"/>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03" name="Line 49"/>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04" name="Line 50"/>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05" name="Line 51"/>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06" name="Line 52"/>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1707" name="Oval 53"/>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1694" name="Freeform 54"/>
              <p:cNvSpPr>
                <a:spLocks noChangeAspect="1"/>
              </p:cNvSpPr>
              <p:nvPr/>
            </p:nvSpPr>
            <p:spPr bwMode="auto">
              <a:xfrm rot="10800000">
                <a:off x="3582" y="1182"/>
                <a:ext cx="293" cy="189"/>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sp>
            <p:nvSpPr>
              <p:cNvPr id="71695" name="Freeform 55"/>
              <p:cNvSpPr>
                <a:spLocks noChangeAspect="1"/>
              </p:cNvSpPr>
              <p:nvPr/>
            </p:nvSpPr>
            <p:spPr bwMode="auto">
              <a:xfrm>
                <a:off x="3414" y="1970"/>
                <a:ext cx="170" cy="139"/>
              </a:xfrm>
              <a:custGeom>
                <a:avLst/>
                <a:gdLst>
                  <a:gd name="T0" fmla="*/ 0 w 170"/>
                  <a:gd name="T1" fmla="*/ 85 h 139"/>
                  <a:gd name="T2" fmla="*/ 50 w 170"/>
                  <a:gd name="T3" fmla="*/ 0 h 139"/>
                  <a:gd name="T4" fmla="*/ 75 w 170"/>
                  <a:gd name="T5" fmla="*/ 15 h 139"/>
                  <a:gd name="T6" fmla="*/ 102 w 170"/>
                  <a:gd name="T7" fmla="*/ 24 h 139"/>
                  <a:gd name="T8" fmla="*/ 128 w 170"/>
                  <a:gd name="T9" fmla="*/ 31 h 139"/>
                  <a:gd name="T10" fmla="*/ 170 w 170"/>
                  <a:gd name="T11" fmla="*/ 36 h 139"/>
                  <a:gd name="T12" fmla="*/ 170 w 170"/>
                  <a:gd name="T13" fmla="*/ 139 h 139"/>
                  <a:gd name="T14" fmla="*/ 141 w 170"/>
                  <a:gd name="T15" fmla="*/ 136 h 139"/>
                  <a:gd name="T16" fmla="*/ 105 w 170"/>
                  <a:gd name="T17" fmla="*/ 130 h 139"/>
                  <a:gd name="T18" fmla="*/ 74 w 170"/>
                  <a:gd name="T19" fmla="*/ 121 h 139"/>
                  <a:gd name="T20" fmla="*/ 38 w 170"/>
                  <a:gd name="T21" fmla="*/ 108 h 139"/>
                  <a:gd name="T22" fmla="*/ 23 w 170"/>
                  <a:gd name="T23" fmla="*/ 102 h 139"/>
                  <a:gd name="T24" fmla="*/ 0 w 170"/>
                  <a:gd name="T25" fmla="*/ 85 h 1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139"/>
                  <a:gd name="T41" fmla="*/ 170 w 170"/>
                  <a:gd name="T42" fmla="*/ 139 h 1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139">
                    <a:moveTo>
                      <a:pt x="0" y="85"/>
                    </a:moveTo>
                    <a:lnTo>
                      <a:pt x="50" y="0"/>
                    </a:lnTo>
                    <a:lnTo>
                      <a:pt x="75" y="15"/>
                    </a:lnTo>
                    <a:lnTo>
                      <a:pt x="102" y="24"/>
                    </a:lnTo>
                    <a:lnTo>
                      <a:pt x="128" y="31"/>
                    </a:lnTo>
                    <a:lnTo>
                      <a:pt x="170" y="36"/>
                    </a:lnTo>
                    <a:lnTo>
                      <a:pt x="170" y="139"/>
                    </a:lnTo>
                    <a:lnTo>
                      <a:pt x="141" y="136"/>
                    </a:lnTo>
                    <a:lnTo>
                      <a:pt x="105" y="130"/>
                    </a:lnTo>
                    <a:lnTo>
                      <a:pt x="74" y="121"/>
                    </a:lnTo>
                    <a:lnTo>
                      <a:pt x="38" y="108"/>
                    </a:lnTo>
                    <a:lnTo>
                      <a:pt x="23" y="102"/>
                    </a:lnTo>
                    <a:lnTo>
                      <a:pt x="0" y="8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sp>
            <p:nvSpPr>
              <p:cNvPr id="71696" name="Freeform 56"/>
              <p:cNvSpPr>
                <a:spLocks noChangeAspect="1"/>
              </p:cNvSpPr>
              <p:nvPr/>
            </p:nvSpPr>
            <p:spPr bwMode="auto">
              <a:xfrm>
                <a:off x="3003" y="1176"/>
                <a:ext cx="579" cy="873"/>
              </a:xfrm>
              <a:custGeom>
                <a:avLst/>
                <a:gdLst>
                  <a:gd name="T0" fmla="*/ 80 w 579"/>
                  <a:gd name="T1" fmla="*/ 873 h 873"/>
                  <a:gd name="T2" fmla="*/ 188 w 579"/>
                  <a:gd name="T3" fmla="*/ 810 h 873"/>
                  <a:gd name="T4" fmla="*/ 182 w 579"/>
                  <a:gd name="T5" fmla="*/ 800 h 873"/>
                  <a:gd name="T6" fmla="*/ 167 w 579"/>
                  <a:gd name="T7" fmla="*/ 770 h 873"/>
                  <a:gd name="T8" fmla="*/ 156 w 579"/>
                  <a:gd name="T9" fmla="*/ 741 h 873"/>
                  <a:gd name="T10" fmla="*/ 147 w 579"/>
                  <a:gd name="T11" fmla="*/ 711 h 873"/>
                  <a:gd name="T12" fmla="*/ 140 w 579"/>
                  <a:gd name="T13" fmla="*/ 687 h 873"/>
                  <a:gd name="T14" fmla="*/ 135 w 579"/>
                  <a:gd name="T15" fmla="*/ 654 h 873"/>
                  <a:gd name="T16" fmla="*/ 131 w 579"/>
                  <a:gd name="T17" fmla="*/ 614 h 873"/>
                  <a:gd name="T18" fmla="*/ 129 w 579"/>
                  <a:gd name="T19" fmla="*/ 564 h 873"/>
                  <a:gd name="T20" fmla="*/ 134 w 579"/>
                  <a:gd name="T21" fmla="*/ 525 h 873"/>
                  <a:gd name="T22" fmla="*/ 140 w 579"/>
                  <a:gd name="T23" fmla="*/ 489 h 873"/>
                  <a:gd name="T24" fmla="*/ 155 w 579"/>
                  <a:gd name="T25" fmla="*/ 434 h 873"/>
                  <a:gd name="T26" fmla="*/ 179 w 579"/>
                  <a:gd name="T27" fmla="*/ 377 h 873"/>
                  <a:gd name="T28" fmla="*/ 201 w 579"/>
                  <a:gd name="T29" fmla="*/ 338 h 873"/>
                  <a:gd name="T30" fmla="*/ 233 w 579"/>
                  <a:gd name="T31" fmla="*/ 294 h 873"/>
                  <a:gd name="T32" fmla="*/ 264 w 579"/>
                  <a:gd name="T33" fmla="*/ 258 h 873"/>
                  <a:gd name="T34" fmla="*/ 305 w 579"/>
                  <a:gd name="T35" fmla="*/ 222 h 873"/>
                  <a:gd name="T36" fmla="*/ 338 w 579"/>
                  <a:gd name="T37" fmla="*/ 198 h 873"/>
                  <a:gd name="T38" fmla="*/ 381 w 579"/>
                  <a:gd name="T39" fmla="*/ 173 h 873"/>
                  <a:gd name="T40" fmla="*/ 434 w 579"/>
                  <a:gd name="T41" fmla="*/ 149 h 873"/>
                  <a:gd name="T42" fmla="*/ 485 w 579"/>
                  <a:gd name="T43" fmla="*/ 135 h 873"/>
                  <a:gd name="T44" fmla="*/ 545 w 579"/>
                  <a:gd name="T45" fmla="*/ 125 h 873"/>
                  <a:gd name="T46" fmla="*/ 579 w 579"/>
                  <a:gd name="T47" fmla="*/ 123 h 873"/>
                  <a:gd name="T48" fmla="*/ 579 w 579"/>
                  <a:gd name="T49" fmla="*/ 0 h 873"/>
                  <a:gd name="T50" fmla="*/ 536 w 579"/>
                  <a:gd name="T51" fmla="*/ 0 h 873"/>
                  <a:gd name="T52" fmla="*/ 507 w 579"/>
                  <a:gd name="T53" fmla="*/ 6 h 873"/>
                  <a:gd name="T54" fmla="*/ 480 w 579"/>
                  <a:gd name="T55" fmla="*/ 11 h 873"/>
                  <a:gd name="T56" fmla="*/ 443 w 579"/>
                  <a:gd name="T57" fmla="*/ 17 h 873"/>
                  <a:gd name="T58" fmla="*/ 386 w 579"/>
                  <a:gd name="T59" fmla="*/ 33 h 873"/>
                  <a:gd name="T60" fmla="*/ 354 w 579"/>
                  <a:gd name="T61" fmla="*/ 48 h 873"/>
                  <a:gd name="T62" fmla="*/ 320 w 579"/>
                  <a:gd name="T63" fmla="*/ 62 h 873"/>
                  <a:gd name="T64" fmla="*/ 282 w 579"/>
                  <a:gd name="T65" fmla="*/ 86 h 873"/>
                  <a:gd name="T66" fmla="*/ 249 w 579"/>
                  <a:gd name="T67" fmla="*/ 105 h 873"/>
                  <a:gd name="T68" fmla="*/ 219 w 579"/>
                  <a:gd name="T69" fmla="*/ 128 h 873"/>
                  <a:gd name="T70" fmla="*/ 189 w 579"/>
                  <a:gd name="T71" fmla="*/ 153 h 873"/>
                  <a:gd name="T72" fmla="*/ 167 w 579"/>
                  <a:gd name="T73" fmla="*/ 174 h 873"/>
                  <a:gd name="T74" fmla="*/ 146 w 579"/>
                  <a:gd name="T75" fmla="*/ 197 h 873"/>
                  <a:gd name="T76" fmla="*/ 126 w 579"/>
                  <a:gd name="T77" fmla="*/ 222 h 873"/>
                  <a:gd name="T78" fmla="*/ 104 w 579"/>
                  <a:gd name="T79" fmla="*/ 251 h 873"/>
                  <a:gd name="T80" fmla="*/ 83 w 579"/>
                  <a:gd name="T81" fmla="*/ 282 h 873"/>
                  <a:gd name="T82" fmla="*/ 63 w 579"/>
                  <a:gd name="T83" fmla="*/ 318 h 873"/>
                  <a:gd name="T84" fmla="*/ 45 w 579"/>
                  <a:gd name="T85" fmla="*/ 357 h 873"/>
                  <a:gd name="T86" fmla="*/ 35 w 579"/>
                  <a:gd name="T87" fmla="*/ 387 h 873"/>
                  <a:gd name="T88" fmla="*/ 21 w 579"/>
                  <a:gd name="T89" fmla="*/ 429 h 873"/>
                  <a:gd name="T90" fmla="*/ 9 w 579"/>
                  <a:gd name="T91" fmla="*/ 482 h 873"/>
                  <a:gd name="T92" fmla="*/ 5 w 579"/>
                  <a:gd name="T93" fmla="*/ 518 h 873"/>
                  <a:gd name="T94" fmla="*/ 0 w 579"/>
                  <a:gd name="T95" fmla="*/ 567 h 873"/>
                  <a:gd name="T96" fmla="*/ 0 w 579"/>
                  <a:gd name="T97" fmla="*/ 611 h 873"/>
                  <a:gd name="T98" fmla="*/ 6 w 579"/>
                  <a:gd name="T99" fmla="*/ 665 h 873"/>
                  <a:gd name="T100" fmla="*/ 17 w 579"/>
                  <a:gd name="T101" fmla="*/ 717 h 873"/>
                  <a:gd name="T102" fmla="*/ 24 w 579"/>
                  <a:gd name="T103" fmla="*/ 746 h 873"/>
                  <a:gd name="T104" fmla="*/ 42 w 579"/>
                  <a:gd name="T105" fmla="*/ 795 h 873"/>
                  <a:gd name="T106" fmla="*/ 57 w 579"/>
                  <a:gd name="T107" fmla="*/ 831 h 873"/>
                  <a:gd name="T108" fmla="*/ 72 w 579"/>
                  <a:gd name="T109" fmla="*/ 858 h 873"/>
                  <a:gd name="T110" fmla="*/ 80 w 579"/>
                  <a:gd name="T111" fmla="*/ 873 h 87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9"/>
                  <a:gd name="T169" fmla="*/ 0 h 873"/>
                  <a:gd name="T170" fmla="*/ 579 w 579"/>
                  <a:gd name="T171" fmla="*/ 873 h 87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9" h="873">
                    <a:moveTo>
                      <a:pt x="80" y="873"/>
                    </a:moveTo>
                    <a:lnTo>
                      <a:pt x="188" y="810"/>
                    </a:lnTo>
                    <a:lnTo>
                      <a:pt x="182" y="800"/>
                    </a:lnTo>
                    <a:lnTo>
                      <a:pt x="167" y="770"/>
                    </a:lnTo>
                    <a:lnTo>
                      <a:pt x="156" y="741"/>
                    </a:lnTo>
                    <a:lnTo>
                      <a:pt x="147" y="711"/>
                    </a:lnTo>
                    <a:lnTo>
                      <a:pt x="140" y="687"/>
                    </a:lnTo>
                    <a:lnTo>
                      <a:pt x="135" y="654"/>
                    </a:lnTo>
                    <a:lnTo>
                      <a:pt x="131" y="614"/>
                    </a:lnTo>
                    <a:lnTo>
                      <a:pt x="129" y="564"/>
                    </a:lnTo>
                    <a:lnTo>
                      <a:pt x="134" y="525"/>
                    </a:lnTo>
                    <a:lnTo>
                      <a:pt x="140" y="489"/>
                    </a:lnTo>
                    <a:lnTo>
                      <a:pt x="155" y="434"/>
                    </a:lnTo>
                    <a:lnTo>
                      <a:pt x="179" y="377"/>
                    </a:lnTo>
                    <a:lnTo>
                      <a:pt x="201" y="338"/>
                    </a:lnTo>
                    <a:lnTo>
                      <a:pt x="233" y="294"/>
                    </a:lnTo>
                    <a:lnTo>
                      <a:pt x="264" y="258"/>
                    </a:lnTo>
                    <a:lnTo>
                      <a:pt x="305" y="222"/>
                    </a:lnTo>
                    <a:lnTo>
                      <a:pt x="338" y="198"/>
                    </a:lnTo>
                    <a:lnTo>
                      <a:pt x="381" y="173"/>
                    </a:lnTo>
                    <a:lnTo>
                      <a:pt x="434" y="149"/>
                    </a:lnTo>
                    <a:lnTo>
                      <a:pt x="485" y="135"/>
                    </a:lnTo>
                    <a:lnTo>
                      <a:pt x="545" y="125"/>
                    </a:lnTo>
                    <a:lnTo>
                      <a:pt x="579" y="123"/>
                    </a:lnTo>
                    <a:lnTo>
                      <a:pt x="579" y="0"/>
                    </a:lnTo>
                    <a:lnTo>
                      <a:pt x="536" y="0"/>
                    </a:lnTo>
                    <a:lnTo>
                      <a:pt x="507" y="6"/>
                    </a:lnTo>
                    <a:lnTo>
                      <a:pt x="480" y="11"/>
                    </a:lnTo>
                    <a:lnTo>
                      <a:pt x="443" y="17"/>
                    </a:lnTo>
                    <a:lnTo>
                      <a:pt x="386" y="33"/>
                    </a:lnTo>
                    <a:lnTo>
                      <a:pt x="354" y="48"/>
                    </a:lnTo>
                    <a:lnTo>
                      <a:pt x="320" y="62"/>
                    </a:lnTo>
                    <a:lnTo>
                      <a:pt x="282" y="86"/>
                    </a:lnTo>
                    <a:lnTo>
                      <a:pt x="249" y="105"/>
                    </a:lnTo>
                    <a:lnTo>
                      <a:pt x="219" y="128"/>
                    </a:lnTo>
                    <a:lnTo>
                      <a:pt x="189" y="153"/>
                    </a:lnTo>
                    <a:lnTo>
                      <a:pt x="167" y="174"/>
                    </a:lnTo>
                    <a:lnTo>
                      <a:pt x="146" y="197"/>
                    </a:lnTo>
                    <a:lnTo>
                      <a:pt x="126" y="222"/>
                    </a:lnTo>
                    <a:lnTo>
                      <a:pt x="104" y="251"/>
                    </a:lnTo>
                    <a:lnTo>
                      <a:pt x="83" y="282"/>
                    </a:lnTo>
                    <a:lnTo>
                      <a:pt x="63" y="318"/>
                    </a:lnTo>
                    <a:lnTo>
                      <a:pt x="45" y="357"/>
                    </a:lnTo>
                    <a:lnTo>
                      <a:pt x="35" y="387"/>
                    </a:lnTo>
                    <a:lnTo>
                      <a:pt x="21" y="429"/>
                    </a:lnTo>
                    <a:lnTo>
                      <a:pt x="9" y="482"/>
                    </a:lnTo>
                    <a:lnTo>
                      <a:pt x="5" y="518"/>
                    </a:lnTo>
                    <a:lnTo>
                      <a:pt x="0" y="567"/>
                    </a:lnTo>
                    <a:lnTo>
                      <a:pt x="0" y="611"/>
                    </a:lnTo>
                    <a:lnTo>
                      <a:pt x="6" y="665"/>
                    </a:lnTo>
                    <a:lnTo>
                      <a:pt x="17" y="717"/>
                    </a:lnTo>
                    <a:lnTo>
                      <a:pt x="24" y="746"/>
                    </a:lnTo>
                    <a:lnTo>
                      <a:pt x="42" y="795"/>
                    </a:lnTo>
                    <a:lnTo>
                      <a:pt x="57" y="831"/>
                    </a:lnTo>
                    <a:lnTo>
                      <a:pt x="72" y="858"/>
                    </a:lnTo>
                    <a:lnTo>
                      <a:pt x="80" y="873"/>
                    </a:lnTo>
                    <a:close/>
                  </a:path>
                </a:pathLst>
              </a:custGeom>
              <a:solidFill>
                <a:schemeClr val="bg2"/>
              </a:solidFill>
              <a:ln w="9525">
                <a:solidFill>
                  <a:schemeClr val="tx1"/>
                </a:solidFill>
                <a:miter lim="800000"/>
                <a:headEnd/>
                <a:tailEnd/>
              </a:ln>
            </p:spPr>
            <p:txBody>
              <a:bodyPr wrap="none">
                <a:prstTxWarp prst="textNoShape">
                  <a:avLst/>
                </a:prstTxWarp>
              </a:bodyPr>
              <a:lstStyle/>
              <a:p>
                <a:endParaRPr lang="en-US"/>
              </a:p>
            </p:txBody>
          </p:sp>
        </p:grpSp>
        <p:sp>
          <p:nvSpPr>
            <p:cNvPr id="71692" name="AutoShape 57"/>
            <p:cNvSpPr>
              <a:spLocks noChangeAspect="1" noChangeArrowheads="1"/>
            </p:cNvSpPr>
            <p:nvPr/>
          </p:nvSpPr>
          <p:spPr bwMode="auto">
            <a:xfrm>
              <a:off x="349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sp>
        <p:nvSpPr>
          <p:cNvPr id="71689" name="AutoShape 58"/>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prstTxWarp prst="textNoShape">
              <a:avLst/>
            </a:prstTxWarp>
          </a:bodyPr>
          <a:lstStyle/>
          <a:p>
            <a:endParaRPr lang="en-US"/>
          </a:p>
        </p:txBody>
      </p:sp>
      <p:sp>
        <p:nvSpPr>
          <p:cNvPr id="71690" name="Rectangle 59"/>
          <p:cNvSpPr>
            <a:spLocks noChangeArrowheads="1"/>
          </p:cNvSpPr>
          <p:nvPr/>
        </p:nvSpPr>
        <p:spPr bwMode="auto">
          <a:xfrm>
            <a:off x="1981200" y="4495800"/>
            <a:ext cx="6400800" cy="838200"/>
          </a:xfrm>
          <a:prstGeom prst="rect">
            <a:avLst/>
          </a:prstGeom>
          <a:noFill/>
          <a:ln w="12700">
            <a:noFill/>
            <a:miter lim="800000"/>
            <a:headEnd/>
            <a:tailEnd/>
          </a:ln>
        </p:spPr>
        <p:txBody>
          <a:bodyPr lIns="90488" tIns="44450" rIns="90488" bIns="44450" anchor="b">
            <a:prstTxWarp prst="textNoShape">
              <a:avLst/>
            </a:prstTxWarp>
          </a:bodyPr>
          <a:lstStyle/>
          <a:p>
            <a:pPr defTabSz="914400">
              <a:lnSpc>
                <a:spcPct val="100000"/>
              </a:lnSpc>
              <a:buClrTx/>
              <a:buSzTx/>
              <a:buFontTx/>
              <a:buNone/>
            </a:pPr>
            <a:r>
              <a:rPr lang="en-US" sz="2800">
                <a:solidFill>
                  <a:schemeClr val="tx2"/>
                </a:solidFill>
                <a:latin typeface="Arial" charset="0"/>
              </a:rPr>
              <a:t>Wait for red sector to rotate around</a:t>
            </a:r>
          </a:p>
        </p:txBody>
      </p:sp>
      <p:sp>
        <p:nvSpPr>
          <p:cNvPr id="11" name="Rectangle 10">
            <a:extLst>
              <a:ext uri="{FF2B5EF4-FFF2-40B4-BE49-F238E27FC236}">
                <a16:creationId xmlns:a16="http://schemas.microsoft.com/office/drawing/2014/main" id="{E69EDA8A-CE93-047E-9C74-E548D31C4177}"/>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12" name="Rectangle 11">
            <a:extLst>
              <a:ext uri="{FF2B5EF4-FFF2-40B4-BE49-F238E27FC236}">
                <a16:creationId xmlns:a16="http://schemas.microsoft.com/office/drawing/2014/main" id="{4010A39E-324E-2C0C-F36B-ACC523A4B829}"/>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dirty="0"/>
              <a:t>Disk Access – Read</a:t>
            </a:r>
          </a:p>
        </p:txBody>
      </p:sp>
      <p:sp>
        <p:nvSpPr>
          <p:cNvPr id="73731" name="Text Box 3"/>
          <p:cNvSpPr txBox="1">
            <a:spLocks noChangeArrowheads="1"/>
          </p:cNvSpPr>
          <p:nvPr/>
        </p:nvSpPr>
        <p:spPr bwMode="auto">
          <a:xfrm>
            <a:off x="533400" y="3946525"/>
            <a:ext cx="21336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After </a:t>
            </a:r>
            <a:r>
              <a:rPr lang="en-US" sz="2000">
                <a:solidFill>
                  <a:srgbClr val="0000FF"/>
                </a:solidFill>
              </a:rPr>
              <a:t>BLUE</a:t>
            </a:r>
            <a:r>
              <a:rPr lang="en-US" sz="2000">
                <a:solidFill>
                  <a:schemeClr val="accent2"/>
                </a:solidFill>
              </a:rPr>
              <a:t> </a:t>
            </a:r>
            <a:r>
              <a:rPr lang="en-US" sz="2000">
                <a:solidFill>
                  <a:schemeClr val="tx1"/>
                </a:solidFill>
              </a:rPr>
              <a:t>read</a:t>
            </a:r>
          </a:p>
        </p:txBody>
      </p:sp>
      <p:sp>
        <p:nvSpPr>
          <p:cNvPr id="73732" name="Text Box 4"/>
          <p:cNvSpPr txBox="1">
            <a:spLocks noChangeArrowheads="1"/>
          </p:cNvSpPr>
          <p:nvPr/>
        </p:nvSpPr>
        <p:spPr bwMode="auto">
          <a:xfrm>
            <a:off x="2743200" y="3946525"/>
            <a:ext cx="18288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Seek for </a:t>
            </a:r>
            <a:r>
              <a:rPr lang="en-US" sz="2000">
                <a:solidFill>
                  <a:srgbClr val="FF0000"/>
                </a:solidFill>
              </a:rPr>
              <a:t>RED</a:t>
            </a:r>
            <a:endParaRPr lang="en-US" sz="2000">
              <a:solidFill>
                <a:schemeClr val="tx1"/>
              </a:solidFill>
            </a:endParaRPr>
          </a:p>
        </p:txBody>
      </p:sp>
      <p:sp>
        <p:nvSpPr>
          <p:cNvPr id="73733" name="Text Box 5"/>
          <p:cNvSpPr txBox="1">
            <a:spLocks noChangeArrowheads="1"/>
          </p:cNvSpPr>
          <p:nvPr/>
        </p:nvSpPr>
        <p:spPr bwMode="auto">
          <a:xfrm>
            <a:off x="4495800" y="3946525"/>
            <a:ext cx="24384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Rotational latency</a:t>
            </a:r>
          </a:p>
        </p:txBody>
      </p:sp>
      <p:sp>
        <p:nvSpPr>
          <p:cNvPr id="73734" name="Text Box 6"/>
          <p:cNvSpPr txBox="1">
            <a:spLocks noChangeArrowheads="1"/>
          </p:cNvSpPr>
          <p:nvPr/>
        </p:nvSpPr>
        <p:spPr bwMode="auto">
          <a:xfrm>
            <a:off x="6705600" y="3946525"/>
            <a:ext cx="21336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After </a:t>
            </a:r>
            <a:r>
              <a:rPr lang="en-US" sz="2000">
                <a:solidFill>
                  <a:srgbClr val="FF0000"/>
                </a:solidFill>
              </a:rPr>
              <a:t>RED</a:t>
            </a:r>
            <a:r>
              <a:rPr lang="en-US" sz="2000">
                <a:solidFill>
                  <a:schemeClr val="tx1"/>
                </a:solidFill>
              </a:rPr>
              <a:t> read</a:t>
            </a:r>
          </a:p>
        </p:txBody>
      </p:sp>
      <p:grpSp>
        <p:nvGrpSpPr>
          <p:cNvPr id="2" name="Group 7"/>
          <p:cNvGrpSpPr>
            <a:grpSpLocks noChangeAspect="1"/>
          </p:cNvGrpSpPr>
          <p:nvPr/>
        </p:nvGrpSpPr>
        <p:grpSpPr bwMode="auto">
          <a:xfrm>
            <a:off x="735013" y="1962150"/>
            <a:ext cx="1727200" cy="1855788"/>
            <a:chOff x="444" y="1113"/>
            <a:chExt cx="1163" cy="1251"/>
          </a:xfrm>
        </p:grpSpPr>
        <p:grpSp>
          <p:nvGrpSpPr>
            <p:cNvPr id="3" name="Group 8"/>
            <p:cNvGrpSpPr>
              <a:grpSpLocks noChangeAspect="1"/>
            </p:cNvGrpSpPr>
            <p:nvPr/>
          </p:nvGrpSpPr>
          <p:grpSpPr bwMode="auto">
            <a:xfrm>
              <a:off x="444" y="1200"/>
              <a:ext cx="1163" cy="1164"/>
              <a:chOff x="444" y="1200"/>
              <a:chExt cx="1163" cy="1164"/>
            </a:xfrm>
          </p:grpSpPr>
          <p:grpSp>
            <p:nvGrpSpPr>
              <p:cNvPr id="4" name="Group 9"/>
              <p:cNvGrpSpPr>
                <a:grpSpLocks noChangeAspect="1"/>
              </p:cNvGrpSpPr>
              <p:nvPr/>
            </p:nvGrpSpPr>
            <p:grpSpPr bwMode="auto">
              <a:xfrm>
                <a:off x="444" y="1200"/>
                <a:ext cx="1163" cy="1161"/>
                <a:chOff x="525" y="1152"/>
                <a:chExt cx="1449" cy="1446"/>
              </a:xfrm>
            </p:grpSpPr>
            <p:sp>
              <p:nvSpPr>
                <p:cNvPr id="131082" name="Oval 10"/>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3796" name="Oval 11"/>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97" name="Oval 12"/>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98" name="Oval 13"/>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99" name="Line 14"/>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800" name="Line 15"/>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801" name="Line 16"/>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802" name="Line 17"/>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803" name="Line 18"/>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804" name="Line 19"/>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805" name="Oval 20"/>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3793" name="Freeform 21"/>
              <p:cNvSpPr>
                <a:spLocks noChangeAspect="1"/>
              </p:cNvSpPr>
              <p:nvPr/>
            </p:nvSpPr>
            <p:spPr bwMode="auto">
              <a:xfrm>
                <a:off x="864" y="1434"/>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sp>
            <p:nvSpPr>
              <p:cNvPr id="73794" name="Freeform 22"/>
              <p:cNvSpPr>
                <a:spLocks noChangeAspect="1"/>
              </p:cNvSpPr>
              <p:nvPr/>
            </p:nvSpPr>
            <p:spPr bwMode="auto">
              <a:xfrm rot="-1800000">
                <a:off x="1005" y="2187"/>
                <a:ext cx="287"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grpSp>
        <p:sp>
          <p:nvSpPr>
            <p:cNvPr id="73791" name="AutoShape 23"/>
            <p:cNvSpPr>
              <a:spLocks noChangeAspect="1" noChangeArrowheads="1"/>
            </p:cNvSpPr>
            <p:nvPr/>
          </p:nvSpPr>
          <p:spPr bwMode="auto">
            <a:xfrm>
              <a:off x="933" y="1113"/>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grpSp>
        <p:nvGrpSpPr>
          <p:cNvPr id="5" name="Group 24"/>
          <p:cNvGrpSpPr>
            <a:grpSpLocks noChangeAspect="1"/>
          </p:cNvGrpSpPr>
          <p:nvPr/>
        </p:nvGrpSpPr>
        <p:grpSpPr bwMode="auto">
          <a:xfrm>
            <a:off x="2784475" y="1600200"/>
            <a:ext cx="1727200" cy="2217738"/>
            <a:chOff x="1716" y="864"/>
            <a:chExt cx="1163" cy="1494"/>
          </a:xfrm>
        </p:grpSpPr>
        <p:grpSp>
          <p:nvGrpSpPr>
            <p:cNvPr id="6" name="Group 25"/>
            <p:cNvGrpSpPr>
              <a:grpSpLocks noChangeAspect="1"/>
            </p:cNvGrpSpPr>
            <p:nvPr/>
          </p:nvGrpSpPr>
          <p:grpSpPr bwMode="auto">
            <a:xfrm>
              <a:off x="1716" y="1197"/>
              <a:ext cx="1163" cy="1161"/>
              <a:chOff x="1716" y="1197"/>
              <a:chExt cx="1163" cy="1161"/>
            </a:xfrm>
          </p:grpSpPr>
          <p:grpSp>
            <p:nvGrpSpPr>
              <p:cNvPr id="7" name="Group 26"/>
              <p:cNvGrpSpPr>
                <a:grpSpLocks noChangeAspect="1"/>
              </p:cNvGrpSpPr>
              <p:nvPr/>
            </p:nvGrpSpPr>
            <p:grpSpPr bwMode="auto">
              <a:xfrm>
                <a:off x="1716" y="1197"/>
                <a:ext cx="1163" cy="1161"/>
                <a:chOff x="525" y="1152"/>
                <a:chExt cx="1449" cy="1446"/>
              </a:xfrm>
            </p:grpSpPr>
            <p:sp>
              <p:nvSpPr>
                <p:cNvPr id="131099" name="Oval 27"/>
                <p:cNvSpPr>
                  <a:spLocks noChangeAspect="1" noChangeArrowheads="1"/>
                </p:cNvSpPr>
                <p:nvPr/>
              </p:nvSpPr>
              <p:spPr bwMode="auto">
                <a:xfrm>
                  <a:off x="528" y="1151"/>
                  <a:ext cx="1440" cy="1440"/>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3780" name="Oval 28"/>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81" name="Oval 29"/>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82" name="Oval 30"/>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83" name="Line 31"/>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84" name="Line 32"/>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85" name="Line 33"/>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86" name="Line 34"/>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87" name="Line 35"/>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88" name="Line 36"/>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89" name="Oval 37"/>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3777" name="Freeform 38"/>
              <p:cNvSpPr>
                <a:spLocks noChangeAspect="1"/>
              </p:cNvSpPr>
              <p:nvPr/>
            </p:nvSpPr>
            <p:spPr bwMode="auto">
              <a:xfrm rot="-3600000">
                <a:off x="2512" y="2050"/>
                <a:ext cx="296"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sp>
            <p:nvSpPr>
              <p:cNvPr id="73778" name="Freeform 39"/>
              <p:cNvSpPr>
                <a:spLocks noChangeAspect="1"/>
              </p:cNvSpPr>
              <p:nvPr/>
            </p:nvSpPr>
            <p:spPr bwMode="auto">
              <a:xfrm rot="-1800000">
                <a:off x="2016" y="1506"/>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grpSp>
        <p:sp>
          <p:nvSpPr>
            <p:cNvPr id="73775" name="AutoShape 40"/>
            <p:cNvSpPr>
              <a:spLocks noChangeAspect="1" noChangeArrowheads="1"/>
            </p:cNvSpPr>
            <p:nvPr/>
          </p:nvSpPr>
          <p:spPr bwMode="auto">
            <a:xfrm>
              <a:off x="220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grpSp>
        <p:nvGrpSpPr>
          <p:cNvPr id="8" name="Group 41"/>
          <p:cNvGrpSpPr>
            <a:grpSpLocks noChangeAspect="1"/>
          </p:cNvGrpSpPr>
          <p:nvPr/>
        </p:nvGrpSpPr>
        <p:grpSpPr bwMode="auto">
          <a:xfrm>
            <a:off x="4833938" y="1625600"/>
            <a:ext cx="1727200" cy="2192338"/>
            <a:chOff x="3003" y="864"/>
            <a:chExt cx="1163" cy="1476"/>
          </a:xfrm>
        </p:grpSpPr>
        <p:grpSp>
          <p:nvGrpSpPr>
            <p:cNvPr id="9" name="Group 42"/>
            <p:cNvGrpSpPr>
              <a:grpSpLocks noChangeAspect="1"/>
            </p:cNvGrpSpPr>
            <p:nvPr/>
          </p:nvGrpSpPr>
          <p:grpSpPr bwMode="auto">
            <a:xfrm>
              <a:off x="3003" y="1176"/>
              <a:ext cx="1163" cy="1164"/>
              <a:chOff x="3003" y="1176"/>
              <a:chExt cx="1163" cy="1164"/>
            </a:xfrm>
          </p:grpSpPr>
          <p:grpSp>
            <p:nvGrpSpPr>
              <p:cNvPr id="10" name="Group 43"/>
              <p:cNvGrpSpPr>
                <a:grpSpLocks noChangeAspect="1"/>
              </p:cNvGrpSpPr>
              <p:nvPr/>
            </p:nvGrpSpPr>
            <p:grpSpPr bwMode="auto">
              <a:xfrm>
                <a:off x="3003" y="1179"/>
                <a:ext cx="1163" cy="1161"/>
                <a:chOff x="525" y="1152"/>
                <a:chExt cx="1449" cy="1446"/>
              </a:xfrm>
            </p:grpSpPr>
            <p:sp>
              <p:nvSpPr>
                <p:cNvPr id="131116" name="Oval 44"/>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3764" name="Oval 45"/>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65" name="Oval 46"/>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66" name="Oval 47"/>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67" name="Line 48"/>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68" name="Line 49"/>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69" name="Line 50"/>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70" name="Line 51"/>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71" name="Line 52"/>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72" name="Line 53"/>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73" name="Oval 54"/>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3760" name="Freeform 55"/>
              <p:cNvSpPr>
                <a:spLocks noChangeAspect="1"/>
              </p:cNvSpPr>
              <p:nvPr/>
            </p:nvSpPr>
            <p:spPr bwMode="auto">
              <a:xfrm rot="10800000">
                <a:off x="3582" y="1182"/>
                <a:ext cx="293" cy="189"/>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sp>
            <p:nvSpPr>
              <p:cNvPr id="73761" name="Freeform 56"/>
              <p:cNvSpPr>
                <a:spLocks noChangeAspect="1"/>
              </p:cNvSpPr>
              <p:nvPr/>
            </p:nvSpPr>
            <p:spPr bwMode="auto">
              <a:xfrm>
                <a:off x="3414" y="1970"/>
                <a:ext cx="170" cy="139"/>
              </a:xfrm>
              <a:custGeom>
                <a:avLst/>
                <a:gdLst>
                  <a:gd name="T0" fmla="*/ 0 w 170"/>
                  <a:gd name="T1" fmla="*/ 85 h 139"/>
                  <a:gd name="T2" fmla="*/ 50 w 170"/>
                  <a:gd name="T3" fmla="*/ 0 h 139"/>
                  <a:gd name="T4" fmla="*/ 75 w 170"/>
                  <a:gd name="T5" fmla="*/ 15 h 139"/>
                  <a:gd name="T6" fmla="*/ 102 w 170"/>
                  <a:gd name="T7" fmla="*/ 24 h 139"/>
                  <a:gd name="T8" fmla="*/ 128 w 170"/>
                  <a:gd name="T9" fmla="*/ 31 h 139"/>
                  <a:gd name="T10" fmla="*/ 170 w 170"/>
                  <a:gd name="T11" fmla="*/ 36 h 139"/>
                  <a:gd name="T12" fmla="*/ 170 w 170"/>
                  <a:gd name="T13" fmla="*/ 139 h 139"/>
                  <a:gd name="T14" fmla="*/ 141 w 170"/>
                  <a:gd name="T15" fmla="*/ 136 h 139"/>
                  <a:gd name="T16" fmla="*/ 105 w 170"/>
                  <a:gd name="T17" fmla="*/ 130 h 139"/>
                  <a:gd name="T18" fmla="*/ 74 w 170"/>
                  <a:gd name="T19" fmla="*/ 121 h 139"/>
                  <a:gd name="T20" fmla="*/ 38 w 170"/>
                  <a:gd name="T21" fmla="*/ 108 h 139"/>
                  <a:gd name="T22" fmla="*/ 23 w 170"/>
                  <a:gd name="T23" fmla="*/ 102 h 139"/>
                  <a:gd name="T24" fmla="*/ 0 w 170"/>
                  <a:gd name="T25" fmla="*/ 85 h 1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139"/>
                  <a:gd name="T41" fmla="*/ 170 w 170"/>
                  <a:gd name="T42" fmla="*/ 139 h 1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139">
                    <a:moveTo>
                      <a:pt x="0" y="85"/>
                    </a:moveTo>
                    <a:lnTo>
                      <a:pt x="50" y="0"/>
                    </a:lnTo>
                    <a:lnTo>
                      <a:pt x="75" y="15"/>
                    </a:lnTo>
                    <a:lnTo>
                      <a:pt x="102" y="24"/>
                    </a:lnTo>
                    <a:lnTo>
                      <a:pt x="128" y="31"/>
                    </a:lnTo>
                    <a:lnTo>
                      <a:pt x="170" y="36"/>
                    </a:lnTo>
                    <a:lnTo>
                      <a:pt x="170" y="139"/>
                    </a:lnTo>
                    <a:lnTo>
                      <a:pt x="141" y="136"/>
                    </a:lnTo>
                    <a:lnTo>
                      <a:pt x="105" y="130"/>
                    </a:lnTo>
                    <a:lnTo>
                      <a:pt x="74" y="121"/>
                    </a:lnTo>
                    <a:lnTo>
                      <a:pt x="38" y="108"/>
                    </a:lnTo>
                    <a:lnTo>
                      <a:pt x="23" y="102"/>
                    </a:lnTo>
                    <a:lnTo>
                      <a:pt x="0" y="8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sp>
            <p:nvSpPr>
              <p:cNvPr id="73762" name="Freeform 57"/>
              <p:cNvSpPr>
                <a:spLocks noChangeAspect="1"/>
              </p:cNvSpPr>
              <p:nvPr/>
            </p:nvSpPr>
            <p:spPr bwMode="auto">
              <a:xfrm>
                <a:off x="3003" y="1176"/>
                <a:ext cx="579" cy="873"/>
              </a:xfrm>
              <a:custGeom>
                <a:avLst/>
                <a:gdLst>
                  <a:gd name="T0" fmla="*/ 80 w 579"/>
                  <a:gd name="T1" fmla="*/ 873 h 873"/>
                  <a:gd name="T2" fmla="*/ 188 w 579"/>
                  <a:gd name="T3" fmla="*/ 810 h 873"/>
                  <a:gd name="T4" fmla="*/ 182 w 579"/>
                  <a:gd name="T5" fmla="*/ 800 h 873"/>
                  <a:gd name="T6" fmla="*/ 167 w 579"/>
                  <a:gd name="T7" fmla="*/ 770 h 873"/>
                  <a:gd name="T8" fmla="*/ 156 w 579"/>
                  <a:gd name="T9" fmla="*/ 741 h 873"/>
                  <a:gd name="T10" fmla="*/ 147 w 579"/>
                  <a:gd name="T11" fmla="*/ 711 h 873"/>
                  <a:gd name="T12" fmla="*/ 140 w 579"/>
                  <a:gd name="T13" fmla="*/ 687 h 873"/>
                  <a:gd name="T14" fmla="*/ 135 w 579"/>
                  <a:gd name="T15" fmla="*/ 654 h 873"/>
                  <a:gd name="T16" fmla="*/ 131 w 579"/>
                  <a:gd name="T17" fmla="*/ 614 h 873"/>
                  <a:gd name="T18" fmla="*/ 129 w 579"/>
                  <a:gd name="T19" fmla="*/ 564 h 873"/>
                  <a:gd name="T20" fmla="*/ 134 w 579"/>
                  <a:gd name="T21" fmla="*/ 525 h 873"/>
                  <a:gd name="T22" fmla="*/ 140 w 579"/>
                  <a:gd name="T23" fmla="*/ 489 h 873"/>
                  <a:gd name="T24" fmla="*/ 155 w 579"/>
                  <a:gd name="T25" fmla="*/ 434 h 873"/>
                  <a:gd name="T26" fmla="*/ 179 w 579"/>
                  <a:gd name="T27" fmla="*/ 377 h 873"/>
                  <a:gd name="T28" fmla="*/ 201 w 579"/>
                  <a:gd name="T29" fmla="*/ 338 h 873"/>
                  <a:gd name="T30" fmla="*/ 233 w 579"/>
                  <a:gd name="T31" fmla="*/ 294 h 873"/>
                  <a:gd name="T32" fmla="*/ 264 w 579"/>
                  <a:gd name="T33" fmla="*/ 258 h 873"/>
                  <a:gd name="T34" fmla="*/ 305 w 579"/>
                  <a:gd name="T35" fmla="*/ 222 h 873"/>
                  <a:gd name="T36" fmla="*/ 338 w 579"/>
                  <a:gd name="T37" fmla="*/ 198 h 873"/>
                  <a:gd name="T38" fmla="*/ 381 w 579"/>
                  <a:gd name="T39" fmla="*/ 173 h 873"/>
                  <a:gd name="T40" fmla="*/ 434 w 579"/>
                  <a:gd name="T41" fmla="*/ 149 h 873"/>
                  <a:gd name="T42" fmla="*/ 485 w 579"/>
                  <a:gd name="T43" fmla="*/ 135 h 873"/>
                  <a:gd name="T44" fmla="*/ 545 w 579"/>
                  <a:gd name="T45" fmla="*/ 125 h 873"/>
                  <a:gd name="T46" fmla="*/ 579 w 579"/>
                  <a:gd name="T47" fmla="*/ 123 h 873"/>
                  <a:gd name="T48" fmla="*/ 579 w 579"/>
                  <a:gd name="T49" fmla="*/ 0 h 873"/>
                  <a:gd name="T50" fmla="*/ 536 w 579"/>
                  <a:gd name="T51" fmla="*/ 0 h 873"/>
                  <a:gd name="T52" fmla="*/ 507 w 579"/>
                  <a:gd name="T53" fmla="*/ 6 h 873"/>
                  <a:gd name="T54" fmla="*/ 480 w 579"/>
                  <a:gd name="T55" fmla="*/ 11 h 873"/>
                  <a:gd name="T56" fmla="*/ 443 w 579"/>
                  <a:gd name="T57" fmla="*/ 17 h 873"/>
                  <a:gd name="T58" fmla="*/ 386 w 579"/>
                  <a:gd name="T59" fmla="*/ 33 h 873"/>
                  <a:gd name="T60" fmla="*/ 354 w 579"/>
                  <a:gd name="T61" fmla="*/ 48 h 873"/>
                  <a:gd name="T62" fmla="*/ 320 w 579"/>
                  <a:gd name="T63" fmla="*/ 62 h 873"/>
                  <a:gd name="T64" fmla="*/ 282 w 579"/>
                  <a:gd name="T65" fmla="*/ 86 h 873"/>
                  <a:gd name="T66" fmla="*/ 249 w 579"/>
                  <a:gd name="T67" fmla="*/ 105 h 873"/>
                  <a:gd name="T68" fmla="*/ 219 w 579"/>
                  <a:gd name="T69" fmla="*/ 128 h 873"/>
                  <a:gd name="T70" fmla="*/ 189 w 579"/>
                  <a:gd name="T71" fmla="*/ 153 h 873"/>
                  <a:gd name="T72" fmla="*/ 167 w 579"/>
                  <a:gd name="T73" fmla="*/ 174 h 873"/>
                  <a:gd name="T74" fmla="*/ 146 w 579"/>
                  <a:gd name="T75" fmla="*/ 197 h 873"/>
                  <a:gd name="T76" fmla="*/ 126 w 579"/>
                  <a:gd name="T77" fmla="*/ 222 h 873"/>
                  <a:gd name="T78" fmla="*/ 104 w 579"/>
                  <a:gd name="T79" fmla="*/ 251 h 873"/>
                  <a:gd name="T80" fmla="*/ 83 w 579"/>
                  <a:gd name="T81" fmla="*/ 282 h 873"/>
                  <a:gd name="T82" fmla="*/ 63 w 579"/>
                  <a:gd name="T83" fmla="*/ 318 h 873"/>
                  <a:gd name="T84" fmla="*/ 45 w 579"/>
                  <a:gd name="T85" fmla="*/ 357 h 873"/>
                  <a:gd name="T86" fmla="*/ 35 w 579"/>
                  <a:gd name="T87" fmla="*/ 387 h 873"/>
                  <a:gd name="T88" fmla="*/ 21 w 579"/>
                  <a:gd name="T89" fmla="*/ 429 h 873"/>
                  <a:gd name="T90" fmla="*/ 9 w 579"/>
                  <a:gd name="T91" fmla="*/ 482 h 873"/>
                  <a:gd name="T92" fmla="*/ 5 w 579"/>
                  <a:gd name="T93" fmla="*/ 518 h 873"/>
                  <a:gd name="T94" fmla="*/ 0 w 579"/>
                  <a:gd name="T95" fmla="*/ 567 h 873"/>
                  <a:gd name="T96" fmla="*/ 0 w 579"/>
                  <a:gd name="T97" fmla="*/ 611 h 873"/>
                  <a:gd name="T98" fmla="*/ 6 w 579"/>
                  <a:gd name="T99" fmla="*/ 665 h 873"/>
                  <a:gd name="T100" fmla="*/ 17 w 579"/>
                  <a:gd name="T101" fmla="*/ 717 h 873"/>
                  <a:gd name="T102" fmla="*/ 24 w 579"/>
                  <a:gd name="T103" fmla="*/ 746 h 873"/>
                  <a:gd name="T104" fmla="*/ 42 w 579"/>
                  <a:gd name="T105" fmla="*/ 795 h 873"/>
                  <a:gd name="T106" fmla="*/ 57 w 579"/>
                  <a:gd name="T107" fmla="*/ 831 h 873"/>
                  <a:gd name="T108" fmla="*/ 72 w 579"/>
                  <a:gd name="T109" fmla="*/ 858 h 873"/>
                  <a:gd name="T110" fmla="*/ 80 w 579"/>
                  <a:gd name="T111" fmla="*/ 873 h 87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9"/>
                  <a:gd name="T169" fmla="*/ 0 h 873"/>
                  <a:gd name="T170" fmla="*/ 579 w 579"/>
                  <a:gd name="T171" fmla="*/ 873 h 87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9" h="873">
                    <a:moveTo>
                      <a:pt x="80" y="873"/>
                    </a:moveTo>
                    <a:lnTo>
                      <a:pt x="188" y="810"/>
                    </a:lnTo>
                    <a:lnTo>
                      <a:pt x="182" y="800"/>
                    </a:lnTo>
                    <a:lnTo>
                      <a:pt x="167" y="770"/>
                    </a:lnTo>
                    <a:lnTo>
                      <a:pt x="156" y="741"/>
                    </a:lnTo>
                    <a:lnTo>
                      <a:pt x="147" y="711"/>
                    </a:lnTo>
                    <a:lnTo>
                      <a:pt x="140" y="687"/>
                    </a:lnTo>
                    <a:lnTo>
                      <a:pt x="135" y="654"/>
                    </a:lnTo>
                    <a:lnTo>
                      <a:pt x="131" y="614"/>
                    </a:lnTo>
                    <a:lnTo>
                      <a:pt x="129" y="564"/>
                    </a:lnTo>
                    <a:lnTo>
                      <a:pt x="134" y="525"/>
                    </a:lnTo>
                    <a:lnTo>
                      <a:pt x="140" y="489"/>
                    </a:lnTo>
                    <a:lnTo>
                      <a:pt x="155" y="434"/>
                    </a:lnTo>
                    <a:lnTo>
                      <a:pt x="179" y="377"/>
                    </a:lnTo>
                    <a:lnTo>
                      <a:pt x="201" y="338"/>
                    </a:lnTo>
                    <a:lnTo>
                      <a:pt x="233" y="294"/>
                    </a:lnTo>
                    <a:lnTo>
                      <a:pt x="264" y="258"/>
                    </a:lnTo>
                    <a:lnTo>
                      <a:pt x="305" y="222"/>
                    </a:lnTo>
                    <a:lnTo>
                      <a:pt x="338" y="198"/>
                    </a:lnTo>
                    <a:lnTo>
                      <a:pt x="381" y="173"/>
                    </a:lnTo>
                    <a:lnTo>
                      <a:pt x="434" y="149"/>
                    </a:lnTo>
                    <a:lnTo>
                      <a:pt x="485" y="135"/>
                    </a:lnTo>
                    <a:lnTo>
                      <a:pt x="545" y="125"/>
                    </a:lnTo>
                    <a:lnTo>
                      <a:pt x="579" y="123"/>
                    </a:lnTo>
                    <a:lnTo>
                      <a:pt x="579" y="0"/>
                    </a:lnTo>
                    <a:lnTo>
                      <a:pt x="536" y="0"/>
                    </a:lnTo>
                    <a:lnTo>
                      <a:pt x="507" y="6"/>
                    </a:lnTo>
                    <a:lnTo>
                      <a:pt x="480" y="11"/>
                    </a:lnTo>
                    <a:lnTo>
                      <a:pt x="443" y="17"/>
                    </a:lnTo>
                    <a:lnTo>
                      <a:pt x="386" y="33"/>
                    </a:lnTo>
                    <a:lnTo>
                      <a:pt x="354" y="48"/>
                    </a:lnTo>
                    <a:lnTo>
                      <a:pt x="320" y="62"/>
                    </a:lnTo>
                    <a:lnTo>
                      <a:pt x="282" y="86"/>
                    </a:lnTo>
                    <a:lnTo>
                      <a:pt x="249" y="105"/>
                    </a:lnTo>
                    <a:lnTo>
                      <a:pt x="219" y="128"/>
                    </a:lnTo>
                    <a:lnTo>
                      <a:pt x="189" y="153"/>
                    </a:lnTo>
                    <a:lnTo>
                      <a:pt x="167" y="174"/>
                    </a:lnTo>
                    <a:lnTo>
                      <a:pt x="146" y="197"/>
                    </a:lnTo>
                    <a:lnTo>
                      <a:pt x="126" y="222"/>
                    </a:lnTo>
                    <a:lnTo>
                      <a:pt x="104" y="251"/>
                    </a:lnTo>
                    <a:lnTo>
                      <a:pt x="83" y="282"/>
                    </a:lnTo>
                    <a:lnTo>
                      <a:pt x="63" y="318"/>
                    </a:lnTo>
                    <a:lnTo>
                      <a:pt x="45" y="357"/>
                    </a:lnTo>
                    <a:lnTo>
                      <a:pt x="35" y="387"/>
                    </a:lnTo>
                    <a:lnTo>
                      <a:pt x="21" y="429"/>
                    </a:lnTo>
                    <a:lnTo>
                      <a:pt x="9" y="482"/>
                    </a:lnTo>
                    <a:lnTo>
                      <a:pt x="5" y="518"/>
                    </a:lnTo>
                    <a:lnTo>
                      <a:pt x="0" y="567"/>
                    </a:lnTo>
                    <a:lnTo>
                      <a:pt x="0" y="611"/>
                    </a:lnTo>
                    <a:lnTo>
                      <a:pt x="6" y="665"/>
                    </a:lnTo>
                    <a:lnTo>
                      <a:pt x="17" y="717"/>
                    </a:lnTo>
                    <a:lnTo>
                      <a:pt x="24" y="746"/>
                    </a:lnTo>
                    <a:lnTo>
                      <a:pt x="42" y="795"/>
                    </a:lnTo>
                    <a:lnTo>
                      <a:pt x="57" y="831"/>
                    </a:lnTo>
                    <a:lnTo>
                      <a:pt x="72" y="858"/>
                    </a:lnTo>
                    <a:lnTo>
                      <a:pt x="80" y="873"/>
                    </a:lnTo>
                    <a:close/>
                  </a:path>
                </a:pathLst>
              </a:custGeom>
              <a:solidFill>
                <a:schemeClr val="bg2"/>
              </a:solidFill>
              <a:ln w="9525">
                <a:solidFill>
                  <a:schemeClr val="tx1"/>
                </a:solidFill>
                <a:miter lim="800000"/>
                <a:headEnd/>
                <a:tailEnd/>
              </a:ln>
            </p:spPr>
            <p:txBody>
              <a:bodyPr wrap="none">
                <a:prstTxWarp prst="textNoShape">
                  <a:avLst/>
                </a:prstTxWarp>
              </a:bodyPr>
              <a:lstStyle/>
              <a:p>
                <a:endParaRPr lang="en-US"/>
              </a:p>
            </p:txBody>
          </p:sp>
        </p:grpSp>
        <p:sp>
          <p:nvSpPr>
            <p:cNvPr id="73758" name="AutoShape 58"/>
            <p:cNvSpPr>
              <a:spLocks noChangeAspect="1" noChangeArrowheads="1"/>
            </p:cNvSpPr>
            <p:nvPr/>
          </p:nvSpPr>
          <p:spPr bwMode="auto">
            <a:xfrm>
              <a:off x="349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grpSp>
        <p:nvGrpSpPr>
          <p:cNvPr id="11" name="Group 59"/>
          <p:cNvGrpSpPr>
            <a:grpSpLocks noChangeAspect="1"/>
          </p:cNvGrpSpPr>
          <p:nvPr/>
        </p:nvGrpSpPr>
        <p:grpSpPr bwMode="auto">
          <a:xfrm>
            <a:off x="6883400" y="1649413"/>
            <a:ext cx="1727200" cy="2168525"/>
            <a:chOff x="4299" y="858"/>
            <a:chExt cx="1163" cy="1461"/>
          </a:xfrm>
        </p:grpSpPr>
        <p:grpSp>
          <p:nvGrpSpPr>
            <p:cNvPr id="12" name="Group 60"/>
            <p:cNvGrpSpPr>
              <a:grpSpLocks noChangeAspect="1"/>
            </p:cNvGrpSpPr>
            <p:nvPr/>
          </p:nvGrpSpPr>
          <p:grpSpPr bwMode="auto">
            <a:xfrm>
              <a:off x="4299" y="1157"/>
              <a:ext cx="1163" cy="1162"/>
              <a:chOff x="4299" y="1157"/>
              <a:chExt cx="1163" cy="1162"/>
            </a:xfrm>
          </p:grpSpPr>
          <p:grpSp>
            <p:nvGrpSpPr>
              <p:cNvPr id="13" name="Group 61"/>
              <p:cNvGrpSpPr>
                <a:grpSpLocks noChangeAspect="1"/>
              </p:cNvGrpSpPr>
              <p:nvPr/>
            </p:nvGrpSpPr>
            <p:grpSpPr bwMode="auto">
              <a:xfrm>
                <a:off x="4299" y="1158"/>
                <a:ext cx="1163" cy="1161"/>
                <a:chOff x="525" y="1152"/>
                <a:chExt cx="1449" cy="1446"/>
              </a:xfrm>
            </p:grpSpPr>
            <p:sp>
              <p:nvSpPr>
                <p:cNvPr id="131134" name="Oval 62"/>
                <p:cNvSpPr>
                  <a:spLocks noChangeAspect="1" noChangeArrowheads="1"/>
                </p:cNvSpPr>
                <p:nvPr/>
              </p:nvSpPr>
              <p:spPr bwMode="auto">
                <a:xfrm>
                  <a:off x="528" y="1153"/>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3747" name="Oval 63"/>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48" name="Oval 64"/>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49" name="Oval 65"/>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3750" name="Line 66"/>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51" name="Line 67"/>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52" name="Line 68"/>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53" name="Line 69"/>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54" name="Line 70"/>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55" name="Line 71"/>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3756" name="Oval 72"/>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3744" name="Freeform 73"/>
              <p:cNvSpPr>
                <a:spLocks noChangeAspect="1"/>
              </p:cNvSpPr>
              <p:nvPr/>
            </p:nvSpPr>
            <p:spPr bwMode="auto">
              <a:xfrm>
                <a:off x="4596" y="1157"/>
                <a:ext cx="284" cy="183"/>
              </a:xfrm>
              <a:custGeom>
                <a:avLst/>
                <a:gdLst>
                  <a:gd name="T0" fmla="*/ 284 w 284"/>
                  <a:gd name="T1" fmla="*/ 120 h 183"/>
                  <a:gd name="T2" fmla="*/ 284 w 284"/>
                  <a:gd name="T3" fmla="*/ 0 h 183"/>
                  <a:gd name="T4" fmla="*/ 251 w 284"/>
                  <a:gd name="T5" fmla="*/ 1 h 183"/>
                  <a:gd name="T6" fmla="*/ 219 w 284"/>
                  <a:gd name="T7" fmla="*/ 3 h 183"/>
                  <a:gd name="T8" fmla="*/ 183 w 284"/>
                  <a:gd name="T9" fmla="*/ 9 h 183"/>
                  <a:gd name="T10" fmla="*/ 137 w 284"/>
                  <a:gd name="T11" fmla="*/ 19 h 183"/>
                  <a:gd name="T12" fmla="*/ 92 w 284"/>
                  <a:gd name="T13" fmla="*/ 31 h 183"/>
                  <a:gd name="T14" fmla="*/ 65 w 284"/>
                  <a:gd name="T15" fmla="*/ 42 h 183"/>
                  <a:gd name="T16" fmla="*/ 36 w 284"/>
                  <a:gd name="T17" fmla="*/ 54 h 183"/>
                  <a:gd name="T18" fmla="*/ 0 w 284"/>
                  <a:gd name="T19" fmla="*/ 75 h 183"/>
                  <a:gd name="T20" fmla="*/ 63 w 284"/>
                  <a:gd name="T21" fmla="*/ 183 h 183"/>
                  <a:gd name="T22" fmla="*/ 98 w 284"/>
                  <a:gd name="T23" fmla="*/ 165 h 183"/>
                  <a:gd name="T24" fmla="*/ 132 w 284"/>
                  <a:gd name="T25" fmla="*/ 150 h 183"/>
                  <a:gd name="T26" fmla="*/ 171 w 284"/>
                  <a:gd name="T27" fmla="*/ 138 h 183"/>
                  <a:gd name="T28" fmla="*/ 198 w 284"/>
                  <a:gd name="T29" fmla="*/ 130 h 183"/>
                  <a:gd name="T30" fmla="*/ 242 w 284"/>
                  <a:gd name="T31" fmla="*/ 123 h 183"/>
                  <a:gd name="T32" fmla="*/ 284 w 284"/>
                  <a:gd name="T33" fmla="*/ 120 h 18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4"/>
                  <a:gd name="T52" fmla="*/ 0 h 183"/>
                  <a:gd name="T53" fmla="*/ 284 w 284"/>
                  <a:gd name="T54" fmla="*/ 183 h 18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4" h="183">
                    <a:moveTo>
                      <a:pt x="284" y="120"/>
                    </a:moveTo>
                    <a:lnTo>
                      <a:pt x="284" y="0"/>
                    </a:lnTo>
                    <a:lnTo>
                      <a:pt x="251" y="1"/>
                    </a:lnTo>
                    <a:lnTo>
                      <a:pt x="219" y="3"/>
                    </a:lnTo>
                    <a:lnTo>
                      <a:pt x="183" y="9"/>
                    </a:lnTo>
                    <a:lnTo>
                      <a:pt x="137" y="19"/>
                    </a:lnTo>
                    <a:lnTo>
                      <a:pt x="92" y="31"/>
                    </a:lnTo>
                    <a:lnTo>
                      <a:pt x="65" y="42"/>
                    </a:lnTo>
                    <a:lnTo>
                      <a:pt x="36" y="54"/>
                    </a:lnTo>
                    <a:lnTo>
                      <a:pt x="0" y="75"/>
                    </a:lnTo>
                    <a:lnTo>
                      <a:pt x="63" y="183"/>
                    </a:lnTo>
                    <a:lnTo>
                      <a:pt x="98" y="165"/>
                    </a:lnTo>
                    <a:lnTo>
                      <a:pt x="132" y="150"/>
                    </a:lnTo>
                    <a:lnTo>
                      <a:pt x="171" y="138"/>
                    </a:lnTo>
                    <a:lnTo>
                      <a:pt x="198" y="130"/>
                    </a:lnTo>
                    <a:lnTo>
                      <a:pt x="242" y="123"/>
                    </a:lnTo>
                    <a:lnTo>
                      <a:pt x="284" y="120"/>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sp>
            <p:nvSpPr>
              <p:cNvPr id="73745" name="Freeform 74"/>
              <p:cNvSpPr>
                <a:spLocks noChangeAspect="1"/>
              </p:cNvSpPr>
              <p:nvPr/>
            </p:nvSpPr>
            <p:spPr bwMode="auto">
              <a:xfrm>
                <a:off x="5007" y="1839"/>
                <a:ext cx="192" cy="201"/>
              </a:xfrm>
              <a:custGeom>
                <a:avLst/>
                <a:gdLst>
                  <a:gd name="T0" fmla="*/ 0 w 192"/>
                  <a:gd name="T1" fmla="*/ 105 h 201"/>
                  <a:gd name="T2" fmla="*/ 57 w 192"/>
                  <a:gd name="T3" fmla="*/ 201 h 201"/>
                  <a:gd name="T4" fmla="*/ 93 w 192"/>
                  <a:gd name="T5" fmla="*/ 183 h 201"/>
                  <a:gd name="T6" fmla="*/ 123 w 192"/>
                  <a:gd name="T7" fmla="*/ 153 h 201"/>
                  <a:gd name="T8" fmla="*/ 156 w 192"/>
                  <a:gd name="T9" fmla="*/ 117 h 201"/>
                  <a:gd name="T10" fmla="*/ 183 w 192"/>
                  <a:gd name="T11" fmla="*/ 75 h 201"/>
                  <a:gd name="T12" fmla="*/ 192 w 192"/>
                  <a:gd name="T13" fmla="*/ 57 h 201"/>
                  <a:gd name="T14" fmla="*/ 87 w 192"/>
                  <a:gd name="T15" fmla="*/ 0 h 201"/>
                  <a:gd name="T16" fmla="*/ 75 w 192"/>
                  <a:gd name="T17" fmla="*/ 24 h 201"/>
                  <a:gd name="T18" fmla="*/ 54 w 192"/>
                  <a:gd name="T19" fmla="*/ 51 h 201"/>
                  <a:gd name="T20" fmla="*/ 27 w 192"/>
                  <a:gd name="T21" fmla="*/ 81 h 201"/>
                  <a:gd name="T22" fmla="*/ 0 w 192"/>
                  <a:gd name="T23" fmla="*/ 105 h 2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2"/>
                  <a:gd name="T37" fmla="*/ 0 h 201"/>
                  <a:gd name="T38" fmla="*/ 192 w 192"/>
                  <a:gd name="T39" fmla="*/ 201 h 2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2" h="201">
                    <a:moveTo>
                      <a:pt x="0" y="105"/>
                    </a:moveTo>
                    <a:lnTo>
                      <a:pt x="57" y="201"/>
                    </a:lnTo>
                    <a:lnTo>
                      <a:pt x="93" y="183"/>
                    </a:lnTo>
                    <a:lnTo>
                      <a:pt x="123" y="153"/>
                    </a:lnTo>
                    <a:lnTo>
                      <a:pt x="156" y="117"/>
                    </a:lnTo>
                    <a:lnTo>
                      <a:pt x="183" y="75"/>
                    </a:lnTo>
                    <a:lnTo>
                      <a:pt x="192" y="57"/>
                    </a:lnTo>
                    <a:lnTo>
                      <a:pt x="87" y="0"/>
                    </a:lnTo>
                    <a:lnTo>
                      <a:pt x="75" y="24"/>
                    </a:lnTo>
                    <a:lnTo>
                      <a:pt x="54" y="51"/>
                    </a:lnTo>
                    <a:lnTo>
                      <a:pt x="27" y="81"/>
                    </a:lnTo>
                    <a:lnTo>
                      <a:pt x="0" y="10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grpSp>
        <p:sp>
          <p:nvSpPr>
            <p:cNvPr id="73742" name="AutoShape 75"/>
            <p:cNvSpPr>
              <a:spLocks noChangeAspect="1" noChangeArrowheads="1"/>
            </p:cNvSpPr>
            <p:nvPr/>
          </p:nvSpPr>
          <p:spPr bwMode="auto">
            <a:xfrm>
              <a:off x="4782" y="858"/>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sp>
        <p:nvSpPr>
          <p:cNvPr id="73739" name="AutoShape 76"/>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prstTxWarp prst="textNoShape">
              <a:avLst/>
            </a:prstTxWarp>
          </a:bodyPr>
          <a:lstStyle/>
          <a:p>
            <a:endParaRPr lang="en-US"/>
          </a:p>
        </p:txBody>
      </p:sp>
      <p:sp>
        <p:nvSpPr>
          <p:cNvPr id="73740" name="Rectangle 77"/>
          <p:cNvSpPr>
            <a:spLocks noChangeArrowheads="1"/>
          </p:cNvSpPr>
          <p:nvPr/>
        </p:nvSpPr>
        <p:spPr bwMode="auto">
          <a:xfrm>
            <a:off x="1981200" y="4495800"/>
            <a:ext cx="5410200" cy="838200"/>
          </a:xfrm>
          <a:prstGeom prst="rect">
            <a:avLst/>
          </a:prstGeom>
          <a:noFill/>
          <a:ln w="12700">
            <a:noFill/>
            <a:miter lim="800000"/>
            <a:headEnd/>
            <a:tailEnd/>
          </a:ln>
        </p:spPr>
        <p:txBody>
          <a:bodyPr lIns="90488" tIns="44450" rIns="90488" bIns="44450" anchor="b">
            <a:prstTxWarp prst="textNoShape">
              <a:avLst/>
            </a:prstTxWarp>
          </a:bodyPr>
          <a:lstStyle/>
          <a:p>
            <a:pPr defTabSz="914400">
              <a:lnSpc>
                <a:spcPct val="100000"/>
              </a:lnSpc>
              <a:buClrTx/>
              <a:buSzTx/>
              <a:buFontTx/>
              <a:buNone/>
            </a:pPr>
            <a:r>
              <a:rPr lang="en-US" sz="2800">
                <a:solidFill>
                  <a:schemeClr val="tx2"/>
                </a:solidFill>
                <a:latin typeface="Arial" charset="0"/>
              </a:rPr>
              <a:t>Complete read of red</a:t>
            </a:r>
          </a:p>
        </p:txBody>
      </p:sp>
      <p:sp>
        <p:nvSpPr>
          <p:cNvPr id="14" name="Rectangle 13">
            <a:extLst>
              <a:ext uri="{FF2B5EF4-FFF2-40B4-BE49-F238E27FC236}">
                <a16:creationId xmlns:a16="http://schemas.microsoft.com/office/drawing/2014/main" id="{7021A1F4-7564-FBBF-2121-373029D46718}"/>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15" name="Rectangle 14">
            <a:extLst>
              <a:ext uri="{FF2B5EF4-FFF2-40B4-BE49-F238E27FC236}">
                <a16:creationId xmlns:a16="http://schemas.microsoft.com/office/drawing/2014/main" id="{56525935-2431-5BB5-1225-B0437D9E3A02}"/>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357018" y="435678"/>
            <a:ext cx="8092663" cy="762000"/>
          </a:xfrm>
        </p:spPr>
        <p:txBody>
          <a:bodyPr/>
          <a:lstStyle/>
          <a:p>
            <a:r>
              <a:rPr lang="en-US" dirty="0"/>
              <a:t>Disk Access – Service Time Components</a:t>
            </a:r>
          </a:p>
        </p:txBody>
      </p:sp>
      <p:sp>
        <p:nvSpPr>
          <p:cNvPr id="75779" name="Text Box 3"/>
          <p:cNvSpPr txBox="1">
            <a:spLocks noChangeArrowheads="1"/>
          </p:cNvSpPr>
          <p:nvPr/>
        </p:nvSpPr>
        <p:spPr bwMode="auto">
          <a:xfrm>
            <a:off x="533400" y="3946525"/>
            <a:ext cx="21336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After </a:t>
            </a:r>
            <a:r>
              <a:rPr lang="en-US" sz="2000">
                <a:solidFill>
                  <a:srgbClr val="0000FF"/>
                </a:solidFill>
              </a:rPr>
              <a:t>BLUE</a:t>
            </a:r>
            <a:r>
              <a:rPr lang="en-US" sz="2000">
                <a:solidFill>
                  <a:schemeClr val="accent2"/>
                </a:solidFill>
              </a:rPr>
              <a:t> </a:t>
            </a:r>
            <a:r>
              <a:rPr lang="en-US" sz="2000">
                <a:solidFill>
                  <a:schemeClr val="tx1"/>
                </a:solidFill>
              </a:rPr>
              <a:t>read</a:t>
            </a:r>
          </a:p>
        </p:txBody>
      </p:sp>
      <p:sp>
        <p:nvSpPr>
          <p:cNvPr id="75780" name="Text Box 4"/>
          <p:cNvSpPr txBox="1">
            <a:spLocks noChangeArrowheads="1"/>
          </p:cNvSpPr>
          <p:nvPr/>
        </p:nvSpPr>
        <p:spPr bwMode="auto">
          <a:xfrm>
            <a:off x="2743200" y="3946525"/>
            <a:ext cx="18288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Seek for </a:t>
            </a:r>
            <a:r>
              <a:rPr lang="en-US" sz="2000">
                <a:solidFill>
                  <a:srgbClr val="FF0000"/>
                </a:solidFill>
              </a:rPr>
              <a:t>RED</a:t>
            </a:r>
            <a:endParaRPr lang="en-US" sz="2000">
              <a:solidFill>
                <a:schemeClr val="tx1"/>
              </a:solidFill>
            </a:endParaRPr>
          </a:p>
        </p:txBody>
      </p:sp>
      <p:sp>
        <p:nvSpPr>
          <p:cNvPr id="75781" name="Text Box 5"/>
          <p:cNvSpPr txBox="1">
            <a:spLocks noChangeArrowheads="1"/>
          </p:cNvSpPr>
          <p:nvPr/>
        </p:nvSpPr>
        <p:spPr bwMode="auto">
          <a:xfrm>
            <a:off x="4495800" y="3946525"/>
            <a:ext cx="24384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Rotational latency</a:t>
            </a:r>
          </a:p>
        </p:txBody>
      </p:sp>
      <p:sp>
        <p:nvSpPr>
          <p:cNvPr id="75782" name="Text Box 6"/>
          <p:cNvSpPr txBox="1">
            <a:spLocks noChangeArrowheads="1"/>
          </p:cNvSpPr>
          <p:nvPr/>
        </p:nvSpPr>
        <p:spPr bwMode="auto">
          <a:xfrm>
            <a:off x="6705600" y="3946525"/>
            <a:ext cx="2133600" cy="396875"/>
          </a:xfrm>
          <a:prstGeom prst="rect">
            <a:avLst/>
          </a:prstGeom>
          <a:noFill/>
          <a:ln w="9525">
            <a:noFill/>
            <a:miter lim="800000"/>
            <a:headEnd/>
            <a:tailEnd/>
          </a:ln>
        </p:spPr>
        <p:txBody>
          <a:bodyPr>
            <a:prstTxWarp prst="textNoShape">
              <a:avLst/>
            </a:prstTxWarp>
            <a:spAutoFit/>
          </a:bodyPr>
          <a:lstStyle/>
          <a:p>
            <a:pPr algn="ctr">
              <a:lnSpc>
                <a:spcPct val="100000"/>
              </a:lnSpc>
              <a:spcBef>
                <a:spcPct val="50000"/>
              </a:spcBef>
              <a:buClrTx/>
              <a:buSzTx/>
              <a:buFontTx/>
              <a:buNone/>
            </a:pPr>
            <a:r>
              <a:rPr lang="en-US" sz="2000">
                <a:solidFill>
                  <a:schemeClr val="tx1"/>
                </a:solidFill>
              </a:rPr>
              <a:t>After </a:t>
            </a:r>
            <a:r>
              <a:rPr lang="en-US" sz="2000">
                <a:solidFill>
                  <a:srgbClr val="FF0000"/>
                </a:solidFill>
              </a:rPr>
              <a:t>RED</a:t>
            </a:r>
            <a:r>
              <a:rPr lang="en-US" sz="2000">
                <a:solidFill>
                  <a:schemeClr val="tx1"/>
                </a:solidFill>
              </a:rPr>
              <a:t> read</a:t>
            </a:r>
          </a:p>
        </p:txBody>
      </p:sp>
      <p:grpSp>
        <p:nvGrpSpPr>
          <p:cNvPr id="2" name="Group 7"/>
          <p:cNvGrpSpPr>
            <a:grpSpLocks noChangeAspect="1"/>
          </p:cNvGrpSpPr>
          <p:nvPr/>
        </p:nvGrpSpPr>
        <p:grpSpPr bwMode="auto">
          <a:xfrm>
            <a:off x="735013" y="1962150"/>
            <a:ext cx="1727200" cy="1855788"/>
            <a:chOff x="444" y="1113"/>
            <a:chExt cx="1163" cy="1251"/>
          </a:xfrm>
        </p:grpSpPr>
        <p:grpSp>
          <p:nvGrpSpPr>
            <p:cNvPr id="3" name="Group 8"/>
            <p:cNvGrpSpPr>
              <a:grpSpLocks noChangeAspect="1"/>
            </p:cNvGrpSpPr>
            <p:nvPr/>
          </p:nvGrpSpPr>
          <p:grpSpPr bwMode="auto">
            <a:xfrm>
              <a:off x="444" y="1200"/>
              <a:ext cx="1163" cy="1164"/>
              <a:chOff x="444" y="1200"/>
              <a:chExt cx="1163" cy="1164"/>
            </a:xfrm>
          </p:grpSpPr>
          <p:grpSp>
            <p:nvGrpSpPr>
              <p:cNvPr id="4" name="Group 9"/>
              <p:cNvGrpSpPr>
                <a:grpSpLocks noChangeAspect="1"/>
              </p:cNvGrpSpPr>
              <p:nvPr/>
            </p:nvGrpSpPr>
            <p:grpSpPr bwMode="auto">
              <a:xfrm>
                <a:off x="444" y="1200"/>
                <a:ext cx="1163" cy="1161"/>
                <a:chOff x="525" y="1152"/>
                <a:chExt cx="1449" cy="1446"/>
              </a:xfrm>
            </p:grpSpPr>
            <p:sp>
              <p:nvSpPr>
                <p:cNvPr id="133130" name="Oval 10"/>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5848" name="Oval 11"/>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49" name="Oval 12"/>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50" name="Oval 13"/>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51" name="Line 14"/>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52" name="Line 15"/>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53" name="Line 16"/>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54" name="Line 17"/>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55" name="Line 18"/>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56" name="Line 19"/>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57" name="Oval 20"/>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5845" name="Freeform 21"/>
              <p:cNvSpPr>
                <a:spLocks noChangeAspect="1"/>
              </p:cNvSpPr>
              <p:nvPr/>
            </p:nvSpPr>
            <p:spPr bwMode="auto">
              <a:xfrm>
                <a:off x="864" y="1434"/>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sp>
            <p:nvSpPr>
              <p:cNvPr id="75846" name="Freeform 22"/>
              <p:cNvSpPr>
                <a:spLocks noChangeAspect="1"/>
              </p:cNvSpPr>
              <p:nvPr/>
            </p:nvSpPr>
            <p:spPr bwMode="auto">
              <a:xfrm rot="-1800000">
                <a:off x="1005" y="2187"/>
                <a:ext cx="287"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grpSp>
        <p:sp>
          <p:nvSpPr>
            <p:cNvPr id="75843" name="AutoShape 23"/>
            <p:cNvSpPr>
              <a:spLocks noChangeAspect="1" noChangeArrowheads="1"/>
            </p:cNvSpPr>
            <p:nvPr/>
          </p:nvSpPr>
          <p:spPr bwMode="auto">
            <a:xfrm>
              <a:off x="933" y="1113"/>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grpSp>
        <p:nvGrpSpPr>
          <p:cNvPr id="5" name="Group 24"/>
          <p:cNvGrpSpPr>
            <a:grpSpLocks noChangeAspect="1"/>
          </p:cNvGrpSpPr>
          <p:nvPr/>
        </p:nvGrpSpPr>
        <p:grpSpPr bwMode="auto">
          <a:xfrm>
            <a:off x="2784475" y="1600200"/>
            <a:ext cx="1727200" cy="2217738"/>
            <a:chOff x="1716" y="864"/>
            <a:chExt cx="1163" cy="1494"/>
          </a:xfrm>
        </p:grpSpPr>
        <p:grpSp>
          <p:nvGrpSpPr>
            <p:cNvPr id="6" name="Group 25"/>
            <p:cNvGrpSpPr>
              <a:grpSpLocks noChangeAspect="1"/>
            </p:cNvGrpSpPr>
            <p:nvPr/>
          </p:nvGrpSpPr>
          <p:grpSpPr bwMode="auto">
            <a:xfrm>
              <a:off x="1716" y="1197"/>
              <a:ext cx="1163" cy="1161"/>
              <a:chOff x="1716" y="1197"/>
              <a:chExt cx="1163" cy="1161"/>
            </a:xfrm>
          </p:grpSpPr>
          <p:grpSp>
            <p:nvGrpSpPr>
              <p:cNvPr id="7" name="Group 26"/>
              <p:cNvGrpSpPr>
                <a:grpSpLocks noChangeAspect="1"/>
              </p:cNvGrpSpPr>
              <p:nvPr/>
            </p:nvGrpSpPr>
            <p:grpSpPr bwMode="auto">
              <a:xfrm>
                <a:off x="1716" y="1197"/>
                <a:ext cx="1163" cy="1161"/>
                <a:chOff x="525" y="1152"/>
                <a:chExt cx="1449" cy="1446"/>
              </a:xfrm>
            </p:grpSpPr>
            <p:sp>
              <p:nvSpPr>
                <p:cNvPr id="133147" name="Oval 27"/>
                <p:cNvSpPr>
                  <a:spLocks noChangeAspect="1" noChangeArrowheads="1"/>
                </p:cNvSpPr>
                <p:nvPr/>
              </p:nvSpPr>
              <p:spPr bwMode="auto">
                <a:xfrm>
                  <a:off x="528" y="1151"/>
                  <a:ext cx="1440" cy="1440"/>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5832" name="Oval 28"/>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33" name="Oval 29"/>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34" name="Oval 30"/>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35" name="Line 31"/>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36" name="Line 32"/>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37" name="Line 33"/>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38" name="Line 34"/>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39" name="Line 35"/>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40" name="Line 36"/>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41" name="Oval 37"/>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5829" name="Freeform 38"/>
              <p:cNvSpPr>
                <a:spLocks noChangeAspect="1"/>
              </p:cNvSpPr>
              <p:nvPr/>
            </p:nvSpPr>
            <p:spPr bwMode="auto">
              <a:xfrm rot="-3600000">
                <a:off x="2512" y="2050"/>
                <a:ext cx="296"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sp>
            <p:nvSpPr>
              <p:cNvPr id="75830" name="Freeform 39"/>
              <p:cNvSpPr>
                <a:spLocks noChangeAspect="1"/>
              </p:cNvSpPr>
              <p:nvPr/>
            </p:nvSpPr>
            <p:spPr bwMode="auto">
              <a:xfrm rot="-1800000">
                <a:off x="2016" y="1506"/>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grpSp>
        <p:sp>
          <p:nvSpPr>
            <p:cNvPr id="75827" name="AutoShape 40"/>
            <p:cNvSpPr>
              <a:spLocks noChangeAspect="1" noChangeArrowheads="1"/>
            </p:cNvSpPr>
            <p:nvPr/>
          </p:nvSpPr>
          <p:spPr bwMode="auto">
            <a:xfrm>
              <a:off x="220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grpSp>
        <p:nvGrpSpPr>
          <p:cNvPr id="8" name="Group 41"/>
          <p:cNvGrpSpPr>
            <a:grpSpLocks noChangeAspect="1"/>
          </p:cNvGrpSpPr>
          <p:nvPr/>
        </p:nvGrpSpPr>
        <p:grpSpPr bwMode="auto">
          <a:xfrm>
            <a:off x="4833938" y="1625600"/>
            <a:ext cx="1727200" cy="2192338"/>
            <a:chOff x="3003" y="864"/>
            <a:chExt cx="1163" cy="1476"/>
          </a:xfrm>
        </p:grpSpPr>
        <p:grpSp>
          <p:nvGrpSpPr>
            <p:cNvPr id="9" name="Group 42"/>
            <p:cNvGrpSpPr>
              <a:grpSpLocks noChangeAspect="1"/>
            </p:cNvGrpSpPr>
            <p:nvPr/>
          </p:nvGrpSpPr>
          <p:grpSpPr bwMode="auto">
            <a:xfrm>
              <a:off x="3003" y="1176"/>
              <a:ext cx="1163" cy="1164"/>
              <a:chOff x="3003" y="1176"/>
              <a:chExt cx="1163" cy="1164"/>
            </a:xfrm>
          </p:grpSpPr>
          <p:grpSp>
            <p:nvGrpSpPr>
              <p:cNvPr id="10" name="Group 43"/>
              <p:cNvGrpSpPr>
                <a:grpSpLocks noChangeAspect="1"/>
              </p:cNvGrpSpPr>
              <p:nvPr/>
            </p:nvGrpSpPr>
            <p:grpSpPr bwMode="auto">
              <a:xfrm>
                <a:off x="3003" y="1179"/>
                <a:ext cx="1163" cy="1161"/>
                <a:chOff x="525" y="1152"/>
                <a:chExt cx="1449" cy="1446"/>
              </a:xfrm>
            </p:grpSpPr>
            <p:sp>
              <p:nvSpPr>
                <p:cNvPr id="133164" name="Oval 44"/>
                <p:cNvSpPr>
                  <a:spLocks noChangeAspect="1" noChangeArrowheads="1"/>
                </p:cNvSpPr>
                <p:nvPr/>
              </p:nvSpPr>
              <p:spPr bwMode="auto">
                <a:xfrm>
                  <a:off x="528" y="1152"/>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5816" name="Oval 45"/>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17" name="Oval 46"/>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18" name="Oval 47"/>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19" name="Line 48"/>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20" name="Line 49"/>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21" name="Line 50"/>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22" name="Line 51"/>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23" name="Line 52"/>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24" name="Line 53"/>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25" name="Oval 54"/>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5812" name="Freeform 55"/>
              <p:cNvSpPr>
                <a:spLocks noChangeAspect="1"/>
              </p:cNvSpPr>
              <p:nvPr/>
            </p:nvSpPr>
            <p:spPr bwMode="auto">
              <a:xfrm rot="10800000">
                <a:off x="3582" y="1182"/>
                <a:ext cx="293" cy="189"/>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sp>
            <p:nvSpPr>
              <p:cNvPr id="75813" name="Freeform 56"/>
              <p:cNvSpPr>
                <a:spLocks noChangeAspect="1"/>
              </p:cNvSpPr>
              <p:nvPr/>
            </p:nvSpPr>
            <p:spPr bwMode="auto">
              <a:xfrm>
                <a:off x="3414" y="1970"/>
                <a:ext cx="170" cy="139"/>
              </a:xfrm>
              <a:custGeom>
                <a:avLst/>
                <a:gdLst>
                  <a:gd name="T0" fmla="*/ 0 w 170"/>
                  <a:gd name="T1" fmla="*/ 85 h 139"/>
                  <a:gd name="T2" fmla="*/ 50 w 170"/>
                  <a:gd name="T3" fmla="*/ 0 h 139"/>
                  <a:gd name="T4" fmla="*/ 75 w 170"/>
                  <a:gd name="T5" fmla="*/ 15 h 139"/>
                  <a:gd name="T6" fmla="*/ 102 w 170"/>
                  <a:gd name="T7" fmla="*/ 24 h 139"/>
                  <a:gd name="T8" fmla="*/ 128 w 170"/>
                  <a:gd name="T9" fmla="*/ 31 h 139"/>
                  <a:gd name="T10" fmla="*/ 170 w 170"/>
                  <a:gd name="T11" fmla="*/ 36 h 139"/>
                  <a:gd name="T12" fmla="*/ 170 w 170"/>
                  <a:gd name="T13" fmla="*/ 139 h 139"/>
                  <a:gd name="T14" fmla="*/ 141 w 170"/>
                  <a:gd name="T15" fmla="*/ 136 h 139"/>
                  <a:gd name="T16" fmla="*/ 105 w 170"/>
                  <a:gd name="T17" fmla="*/ 130 h 139"/>
                  <a:gd name="T18" fmla="*/ 74 w 170"/>
                  <a:gd name="T19" fmla="*/ 121 h 139"/>
                  <a:gd name="T20" fmla="*/ 38 w 170"/>
                  <a:gd name="T21" fmla="*/ 108 h 139"/>
                  <a:gd name="T22" fmla="*/ 23 w 170"/>
                  <a:gd name="T23" fmla="*/ 102 h 139"/>
                  <a:gd name="T24" fmla="*/ 0 w 170"/>
                  <a:gd name="T25" fmla="*/ 85 h 1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139"/>
                  <a:gd name="T41" fmla="*/ 170 w 170"/>
                  <a:gd name="T42" fmla="*/ 139 h 1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139">
                    <a:moveTo>
                      <a:pt x="0" y="85"/>
                    </a:moveTo>
                    <a:lnTo>
                      <a:pt x="50" y="0"/>
                    </a:lnTo>
                    <a:lnTo>
                      <a:pt x="75" y="15"/>
                    </a:lnTo>
                    <a:lnTo>
                      <a:pt x="102" y="24"/>
                    </a:lnTo>
                    <a:lnTo>
                      <a:pt x="128" y="31"/>
                    </a:lnTo>
                    <a:lnTo>
                      <a:pt x="170" y="36"/>
                    </a:lnTo>
                    <a:lnTo>
                      <a:pt x="170" y="139"/>
                    </a:lnTo>
                    <a:lnTo>
                      <a:pt x="141" y="136"/>
                    </a:lnTo>
                    <a:lnTo>
                      <a:pt x="105" y="130"/>
                    </a:lnTo>
                    <a:lnTo>
                      <a:pt x="74" y="121"/>
                    </a:lnTo>
                    <a:lnTo>
                      <a:pt x="38" y="108"/>
                    </a:lnTo>
                    <a:lnTo>
                      <a:pt x="23" y="102"/>
                    </a:lnTo>
                    <a:lnTo>
                      <a:pt x="0" y="8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sp>
            <p:nvSpPr>
              <p:cNvPr id="75814" name="Freeform 57"/>
              <p:cNvSpPr>
                <a:spLocks noChangeAspect="1"/>
              </p:cNvSpPr>
              <p:nvPr/>
            </p:nvSpPr>
            <p:spPr bwMode="auto">
              <a:xfrm>
                <a:off x="3003" y="1176"/>
                <a:ext cx="579" cy="873"/>
              </a:xfrm>
              <a:custGeom>
                <a:avLst/>
                <a:gdLst>
                  <a:gd name="T0" fmla="*/ 80 w 579"/>
                  <a:gd name="T1" fmla="*/ 873 h 873"/>
                  <a:gd name="T2" fmla="*/ 188 w 579"/>
                  <a:gd name="T3" fmla="*/ 810 h 873"/>
                  <a:gd name="T4" fmla="*/ 182 w 579"/>
                  <a:gd name="T5" fmla="*/ 800 h 873"/>
                  <a:gd name="T6" fmla="*/ 167 w 579"/>
                  <a:gd name="T7" fmla="*/ 770 h 873"/>
                  <a:gd name="T8" fmla="*/ 156 w 579"/>
                  <a:gd name="T9" fmla="*/ 741 h 873"/>
                  <a:gd name="T10" fmla="*/ 147 w 579"/>
                  <a:gd name="T11" fmla="*/ 711 h 873"/>
                  <a:gd name="T12" fmla="*/ 140 w 579"/>
                  <a:gd name="T13" fmla="*/ 687 h 873"/>
                  <a:gd name="T14" fmla="*/ 135 w 579"/>
                  <a:gd name="T15" fmla="*/ 654 h 873"/>
                  <a:gd name="T16" fmla="*/ 131 w 579"/>
                  <a:gd name="T17" fmla="*/ 614 h 873"/>
                  <a:gd name="T18" fmla="*/ 129 w 579"/>
                  <a:gd name="T19" fmla="*/ 564 h 873"/>
                  <a:gd name="T20" fmla="*/ 134 w 579"/>
                  <a:gd name="T21" fmla="*/ 525 h 873"/>
                  <a:gd name="T22" fmla="*/ 140 w 579"/>
                  <a:gd name="T23" fmla="*/ 489 h 873"/>
                  <a:gd name="T24" fmla="*/ 155 w 579"/>
                  <a:gd name="T25" fmla="*/ 434 h 873"/>
                  <a:gd name="T26" fmla="*/ 179 w 579"/>
                  <a:gd name="T27" fmla="*/ 377 h 873"/>
                  <a:gd name="T28" fmla="*/ 201 w 579"/>
                  <a:gd name="T29" fmla="*/ 338 h 873"/>
                  <a:gd name="T30" fmla="*/ 233 w 579"/>
                  <a:gd name="T31" fmla="*/ 294 h 873"/>
                  <a:gd name="T32" fmla="*/ 264 w 579"/>
                  <a:gd name="T33" fmla="*/ 258 h 873"/>
                  <a:gd name="T34" fmla="*/ 305 w 579"/>
                  <a:gd name="T35" fmla="*/ 222 h 873"/>
                  <a:gd name="T36" fmla="*/ 338 w 579"/>
                  <a:gd name="T37" fmla="*/ 198 h 873"/>
                  <a:gd name="T38" fmla="*/ 381 w 579"/>
                  <a:gd name="T39" fmla="*/ 173 h 873"/>
                  <a:gd name="T40" fmla="*/ 434 w 579"/>
                  <a:gd name="T41" fmla="*/ 149 h 873"/>
                  <a:gd name="T42" fmla="*/ 485 w 579"/>
                  <a:gd name="T43" fmla="*/ 135 h 873"/>
                  <a:gd name="T44" fmla="*/ 545 w 579"/>
                  <a:gd name="T45" fmla="*/ 125 h 873"/>
                  <a:gd name="T46" fmla="*/ 579 w 579"/>
                  <a:gd name="T47" fmla="*/ 123 h 873"/>
                  <a:gd name="T48" fmla="*/ 579 w 579"/>
                  <a:gd name="T49" fmla="*/ 0 h 873"/>
                  <a:gd name="T50" fmla="*/ 536 w 579"/>
                  <a:gd name="T51" fmla="*/ 0 h 873"/>
                  <a:gd name="T52" fmla="*/ 507 w 579"/>
                  <a:gd name="T53" fmla="*/ 6 h 873"/>
                  <a:gd name="T54" fmla="*/ 480 w 579"/>
                  <a:gd name="T55" fmla="*/ 11 h 873"/>
                  <a:gd name="T56" fmla="*/ 443 w 579"/>
                  <a:gd name="T57" fmla="*/ 17 h 873"/>
                  <a:gd name="T58" fmla="*/ 386 w 579"/>
                  <a:gd name="T59" fmla="*/ 33 h 873"/>
                  <a:gd name="T60" fmla="*/ 354 w 579"/>
                  <a:gd name="T61" fmla="*/ 48 h 873"/>
                  <a:gd name="T62" fmla="*/ 320 w 579"/>
                  <a:gd name="T63" fmla="*/ 62 h 873"/>
                  <a:gd name="T64" fmla="*/ 282 w 579"/>
                  <a:gd name="T65" fmla="*/ 86 h 873"/>
                  <a:gd name="T66" fmla="*/ 249 w 579"/>
                  <a:gd name="T67" fmla="*/ 105 h 873"/>
                  <a:gd name="T68" fmla="*/ 219 w 579"/>
                  <a:gd name="T69" fmla="*/ 128 h 873"/>
                  <a:gd name="T70" fmla="*/ 189 w 579"/>
                  <a:gd name="T71" fmla="*/ 153 h 873"/>
                  <a:gd name="T72" fmla="*/ 167 w 579"/>
                  <a:gd name="T73" fmla="*/ 174 h 873"/>
                  <a:gd name="T74" fmla="*/ 146 w 579"/>
                  <a:gd name="T75" fmla="*/ 197 h 873"/>
                  <a:gd name="T76" fmla="*/ 126 w 579"/>
                  <a:gd name="T77" fmla="*/ 222 h 873"/>
                  <a:gd name="T78" fmla="*/ 104 w 579"/>
                  <a:gd name="T79" fmla="*/ 251 h 873"/>
                  <a:gd name="T80" fmla="*/ 83 w 579"/>
                  <a:gd name="T81" fmla="*/ 282 h 873"/>
                  <a:gd name="T82" fmla="*/ 63 w 579"/>
                  <a:gd name="T83" fmla="*/ 318 h 873"/>
                  <a:gd name="T84" fmla="*/ 45 w 579"/>
                  <a:gd name="T85" fmla="*/ 357 h 873"/>
                  <a:gd name="T86" fmla="*/ 35 w 579"/>
                  <a:gd name="T87" fmla="*/ 387 h 873"/>
                  <a:gd name="T88" fmla="*/ 21 w 579"/>
                  <a:gd name="T89" fmla="*/ 429 h 873"/>
                  <a:gd name="T90" fmla="*/ 9 w 579"/>
                  <a:gd name="T91" fmla="*/ 482 h 873"/>
                  <a:gd name="T92" fmla="*/ 5 w 579"/>
                  <a:gd name="T93" fmla="*/ 518 h 873"/>
                  <a:gd name="T94" fmla="*/ 0 w 579"/>
                  <a:gd name="T95" fmla="*/ 567 h 873"/>
                  <a:gd name="T96" fmla="*/ 0 w 579"/>
                  <a:gd name="T97" fmla="*/ 611 h 873"/>
                  <a:gd name="T98" fmla="*/ 6 w 579"/>
                  <a:gd name="T99" fmla="*/ 665 h 873"/>
                  <a:gd name="T100" fmla="*/ 17 w 579"/>
                  <a:gd name="T101" fmla="*/ 717 h 873"/>
                  <a:gd name="T102" fmla="*/ 24 w 579"/>
                  <a:gd name="T103" fmla="*/ 746 h 873"/>
                  <a:gd name="T104" fmla="*/ 42 w 579"/>
                  <a:gd name="T105" fmla="*/ 795 h 873"/>
                  <a:gd name="T106" fmla="*/ 57 w 579"/>
                  <a:gd name="T107" fmla="*/ 831 h 873"/>
                  <a:gd name="T108" fmla="*/ 72 w 579"/>
                  <a:gd name="T109" fmla="*/ 858 h 873"/>
                  <a:gd name="T110" fmla="*/ 80 w 579"/>
                  <a:gd name="T111" fmla="*/ 873 h 87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9"/>
                  <a:gd name="T169" fmla="*/ 0 h 873"/>
                  <a:gd name="T170" fmla="*/ 579 w 579"/>
                  <a:gd name="T171" fmla="*/ 873 h 87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9" h="873">
                    <a:moveTo>
                      <a:pt x="80" y="873"/>
                    </a:moveTo>
                    <a:lnTo>
                      <a:pt x="188" y="810"/>
                    </a:lnTo>
                    <a:lnTo>
                      <a:pt x="182" y="800"/>
                    </a:lnTo>
                    <a:lnTo>
                      <a:pt x="167" y="770"/>
                    </a:lnTo>
                    <a:lnTo>
                      <a:pt x="156" y="741"/>
                    </a:lnTo>
                    <a:lnTo>
                      <a:pt x="147" y="711"/>
                    </a:lnTo>
                    <a:lnTo>
                      <a:pt x="140" y="687"/>
                    </a:lnTo>
                    <a:lnTo>
                      <a:pt x="135" y="654"/>
                    </a:lnTo>
                    <a:lnTo>
                      <a:pt x="131" y="614"/>
                    </a:lnTo>
                    <a:lnTo>
                      <a:pt x="129" y="564"/>
                    </a:lnTo>
                    <a:lnTo>
                      <a:pt x="134" y="525"/>
                    </a:lnTo>
                    <a:lnTo>
                      <a:pt x="140" y="489"/>
                    </a:lnTo>
                    <a:lnTo>
                      <a:pt x="155" y="434"/>
                    </a:lnTo>
                    <a:lnTo>
                      <a:pt x="179" y="377"/>
                    </a:lnTo>
                    <a:lnTo>
                      <a:pt x="201" y="338"/>
                    </a:lnTo>
                    <a:lnTo>
                      <a:pt x="233" y="294"/>
                    </a:lnTo>
                    <a:lnTo>
                      <a:pt x="264" y="258"/>
                    </a:lnTo>
                    <a:lnTo>
                      <a:pt x="305" y="222"/>
                    </a:lnTo>
                    <a:lnTo>
                      <a:pt x="338" y="198"/>
                    </a:lnTo>
                    <a:lnTo>
                      <a:pt x="381" y="173"/>
                    </a:lnTo>
                    <a:lnTo>
                      <a:pt x="434" y="149"/>
                    </a:lnTo>
                    <a:lnTo>
                      <a:pt x="485" y="135"/>
                    </a:lnTo>
                    <a:lnTo>
                      <a:pt x="545" y="125"/>
                    </a:lnTo>
                    <a:lnTo>
                      <a:pt x="579" y="123"/>
                    </a:lnTo>
                    <a:lnTo>
                      <a:pt x="579" y="0"/>
                    </a:lnTo>
                    <a:lnTo>
                      <a:pt x="536" y="0"/>
                    </a:lnTo>
                    <a:lnTo>
                      <a:pt x="507" y="6"/>
                    </a:lnTo>
                    <a:lnTo>
                      <a:pt x="480" y="11"/>
                    </a:lnTo>
                    <a:lnTo>
                      <a:pt x="443" y="17"/>
                    </a:lnTo>
                    <a:lnTo>
                      <a:pt x="386" y="33"/>
                    </a:lnTo>
                    <a:lnTo>
                      <a:pt x="354" y="48"/>
                    </a:lnTo>
                    <a:lnTo>
                      <a:pt x="320" y="62"/>
                    </a:lnTo>
                    <a:lnTo>
                      <a:pt x="282" y="86"/>
                    </a:lnTo>
                    <a:lnTo>
                      <a:pt x="249" y="105"/>
                    </a:lnTo>
                    <a:lnTo>
                      <a:pt x="219" y="128"/>
                    </a:lnTo>
                    <a:lnTo>
                      <a:pt x="189" y="153"/>
                    </a:lnTo>
                    <a:lnTo>
                      <a:pt x="167" y="174"/>
                    </a:lnTo>
                    <a:lnTo>
                      <a:pt x="146" y="197"/>
                    </a:lnTo>
                    <a:lnTo>
                      <a:pt x="126" y="222"/>
                    </a:lnTo>
                    <a:lnTo>
                      <a:pt x="104" y="251"/>
                    </a:lnTo>
                    <a:lnTo>
                      <a:pt x="83" y="282"/>
                    </a:lnTo>
                    <a:lnTo>
                      <a:pt x="63" y="318"/>
                    </a:lnTo>
                    <a:lnTo>
                      <a:pt x="45" y="357"/>
                    </a:lnTo>
                    <a:lnTo>
                      <a:pt x="35" y="387"/>
                    </a:lnTo>
                    <a:lnTo>
                      <a:pt x="21" y="429"/>
                    </a:lnTo>
                    <a:lnTo>
                      <a:pt x="9" y="482"/>
                    </a:lnTo>
                    <a:lnTo>
                      <a:pt x="5" y="518"/>
                    </a:lnTo>
                    <a:lnTo>
                      <a:pt x="0" y="567"/>
                    </a:lnTo>
                    <a:lnTo>
                      <a:pt x="0" y="611"/>
                    </a:lnTo>
                    <a:lnTo>
                      <a:pt x="6" y="665"/>
                    </a:lnTo>
                    <a:lnTo>
                      <a:pt x="17" y="717"/>
                    </a:lnTo>
                    <a:lnTo>
                      <a:pt x="24" y="746"/>
                    </a:lnTo>
                    <a:lnTo>
                      <a:pt x="42" y="795"/>
                    </a:lnTo>
                    <a:lnTo>
                      <a:pt x="57" y="831"/>
                    </a:lnTo>
                    <a:lnTo>
                      <a:pt x="72" y="858"/>
                    </a:lnTo>
                    <a:lnTo>
                      <a:pt x="80" y="873"/>
                    </a:lnTo>
                    <a:close/>
                  </a:path>
                </a:pathLst>
              </a:custGeom>
              <a:solidFill>
                <a:schemeClr val="bg2"/>
              </a:solidFill>
              <a:ln w="9525">
                <a:solidFill>
                  <a:schemeClr val="tx1"/>
                </a:solidFill>
                <a:miter lim="800000"/>
                <a:headEnd/>
                <a:tailEnd/>
              </a:ln>
            </p:spPr>
            <p:txBody>
              <a:bodyPr wrap="none">
                <a:prstTxWarp prst="textNoShape">
                  <a:avLst/>
                </a:prstTxWarp>
              </a:bodyPr>
              <a:lstStyle/>
              <a:p>
                <a:endParaRPr lang="en-US"/>
              </a:p>
            </p:txBody>
          </p:sp>
        </p:grpSp>
        <p:sp>
          <p:nvSpPr>
            <p:cNvPr id="75810" name="AutoShape 58"/>
            <p:cNvSpPr>
              <a:spLocks noChangeAspect="1" noChangeArrowheads="1"/>
            </p:cNvSpPr>
            <p:nvPr/>
          </p:nvSpPr>
          <p:spPr bwMode="auto">
            <a:xfrm>
              <a:off x="349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grpSp>
        <p:nvGrpSpPr>
          <p:cNvPr id="11" name="Group 59"/>
          <p:cNvGrpSpPr>
            <a:grpSpLocks noChangeAspect="1"/>
          </p:cNvGrpSpPr>
          <p:nvPr/>
        </p:nvGrpSpPr>
        <p:grpSpPr bwMode="auto">
          <a:xfrm>
            <a:off x="6883400" y="1649413"/>
            <a:ext cx="1727200" cy="2168525"/>
            <a:chOff x="4299" y="858"/>
            <a:chExt cx="1163" cy="1461"/>
          </a:xfrm>
        </p:grpSpPr>
        <p:grpSp>
          <p:nvGrpSpPr>
            <p:cNvPr id="12" name="Group 60"/>
            <p:cNvGrpSpPr>
              <a:grpSpLocks noChangeAspect="1"/>
            </p:cNvGrpSpPr>
            <p:nvPr/>
          </p:nvGrpSpPr>
          <p:grpSpPr bwMode="auto">
            <a:xfrm>
              <a:off x="4299" y="1157"/>
              <a:ext cx="1163" cy="1162"/>
              <a:chOff x="4299" y="1157"/>
              <a:chExt cx="1163" cy="1162"/>
            </a:xfrm>
          </p:grpSpPr>
          <p:grpSp>
            <p:nvGrpSpPr>
              <p:cNvPr id="13" name="Group 61"/>
              <p:cNvGrpSpPr>
                <a:grpSpLocks noChangeAspect="1"/>
              </p:cNvGrpSpPr>
              <p:nvPr/>
            </p:nvGrpSpPr>
            <p:grpSpPr bwMode="auto">
              <a:xfrm>
                <a:off x="4299" y="1158"/>
                <a:ext cx="1163" cy="1161"/>
                <a:chOff x="525" y="1152"/>
                <a:chExt cx="1449" cy="1446"/>
              </a:xfrm>
            </p:grpSpPr>
            <p:sp>
              <p:nvSpPr>
                <p:cNvPr id="133182" name="Oval 62"/>
                <p:cNvSpPr>
                  <a:spLocks noChangeAspect="1" noChangeArrowheads="1"/>
                </p:cNvSpPr>
                <p:nvPr/>
              </p:nvSpPr>
              <p:spPr bwMode="auto">
                <a:xfrm>
                  <a:off x="528" y="1153"/>
                  <a:ext cx="1440" cy="1439"/>
                </a:xfrm>
                <a:prstGeom prst="ellipse">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prstTxWarp prst="textNoShape">
                    <a:avLst/>
                  </a:prstTxWarp>
                </a:bodyPr>
                <a:lstStyle/>
                <a:p>
                  <a:pPr>
                    <a:defRPr/>
                  </a:pPr>
                  <a:endParaRPr lang="en-US"/>
                </a:p>
              </p:txBody>
            </p:sp>
            <p:sp>
              <p:nvSpPr>
                <p:cNvPr id="75799" name="Oval 63"/>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00" name="Oval 64"/>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01" name="Oval 65"/>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sp>
              <p:nvSpPr>
                <p:cNvPr id="75802" name="Line 66"/>
                <p:cNvSpPr>
                  <a:spLocks noChangeAspect="1" noChangeShapeType="1"/>
                </p:cNvSpPr>
                <p:nvPr/>
              </p:nvSpPr>
              <p:spPr bwMode="auto">
                <a:xfrm>
                  <a:off x="1248" y="1152"/>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03" name="Line 67"/>
                <p:cNvSpPr>
                  <a:spLocks noChangeAspect="1" noChangeShapeType="1"/>
                </p:cNvSpPr>
                <p:nvPr/>
              </p:nvSpPr>
              <p:spPr bwMode="auto">
                <a:xfrm rot="1800000">
                  <a:off x="1251" y="1155"/>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04" name="Line 68"/>
                <p:cNvSpPr>
                  <a:spLocks noChangeAspect="1" noChangeShapeType="1"/>
                </p:cNvSpPr>
                <p:nvPr/>
              </p:nvSpPr>
              <p:spPr bwMode="auto">
                <a:xfrm rot="3600000">
                  <a:off x="1245"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05" name="Line 69"/>
                <p:cNvSpPr>
                  <a:spLocks noChangeAspect="1" noChangeShapeType="1"/>
                </p:cNvSpPr>
                <p:nvPr/>
              </p:nvSpPr>
              <p:spPr bwMode="auto">
                <a:xfrm rot="5400000">
                  <a:off x="1245" y="1140"/>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06" name="Line 70"/>
                <p:cNvSpPr>
                  <a:spLocks noChangeAspect="1" noChangeShapeType="1"/>
                </p:cNvSpPr>
                <p:nvPr/>
              </p:nvSpPr>
              <p:spPr bwMode="auto">
                <a:xfrm rot="7200000">
                  <a:off x="1254" y="1131"/>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07" name="Line 71"/>
                <p:cNvSpPr>
                  <a:spLocks noChangeAspect="1" noChangeShapeType="1"/>
                </p:cNvSpPr>
                <p:nvPr/>
              </p:nvSpPr>
              <p:spPr bwMode="auto">
                <a:xfrm rot="9000000">
                  <a:off x="1263" y="1158"/>
                  <a:ext cx="0" cy="1440"/>
                </a:xfrm>
                <a:prstGeom prst="line">
                  <a:avLst/>
                </a:prstGeom>
                <a:noFill/>
                <a:ln w="9525">
                  <a:solidFill>
                    <a:schemeClr val="tx1"/>
                  </a:solidFill>
                  <a:round/>
                  <a:headEnd/>
                  <a:tailEnd/>
                </a:ln>
              </p:spPr>
              <p:txBody>
                <a:bodyPr>
                  <a:prstTxWarp prst="textNoShape">
                    <a:avLst/>
                  </a:prstTxWarp>
                </a:bodyPr>
                <a:lstStyle/>
                <a:p>
                  <a:endParaRPr lang="en-US"/>
                </a:p>
              </p:txBody>
            </p:sp>
            <p:sp>
              <p:nvSpPr>
                <p:cNvPr id="75808" name="Oval 72"/>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a:p>
              </p:txBody>
            </p:sp>
          </p:grpSp>
          <p:sp>
            <p:nvSpPr>
              <p:cNvPr id="75796" name="Freeform 73"/>
              <p:cNvSpPr>
                <a:spLocks noChangeAspect="1"/>
              </p:cNvSpPr>
              <p:nvPr/>
            </p:nvSpPr>
            <p:spPr bwMode="auto">
              <a:xfrm>
                <a:off x="4596" y="1157"/>
                <a:ext cx="284" cy="183"/>
              </a:xfrm>
              <a:custGeom>
                <a:avLst/>
                <a:gdLst>
                  <a:gd name="T0" fmla="*/ 284 w 284"/>
                  <a:gd name="T1" fmla="*/ 120 h 183"/>
                  <a:gd name="T2" fmla="*/ 284 w 284"/>
                  <a:gd name="T3" fmla="*/ 0 h 183"/>
                  <a:gd name="T4" fmla="*/ 251 w 284"/>
                  <a:gd name="T5" fmla="*/ 1 h 183"/>
                  <a:gd name="T6" fmla="*/ 219 w 284"/>
                  <a:gd name="T7" fmla="*/ 3 h 183"/>
                  <a:gd name="T8" fmla="*/ 183 w 284"/>
                  <a:gd name="T9" fmla="*/ 9 h 183"/>
                  <a:gd name="T10" fmla="*/ 137 w 284"/>
                  <a:gd name="T11" fmla="*/ 19 h 183"/>
                  <a:gd name="T12" fmla="*/ 92 w 284"/>
                  <a:gd name="T13" fmla="*/ 31 h 183"/>
                  <a:gd name="T14" fmla="*/ 65 w 284"/>
                  <a:gd name="T15" fmla="*/ 42 h 183"/>
                  <a:gd name="T16" fmla="*/ 36 w 284"/>
                  <a:gd name="T17" fmla="*/ 54 h 183"/>
                  <a:gd name="T18" fmla="*/ 0 w 284"/>
                  <a:gd name="T19" fmla="*/ 75 h 183"/>
                  <a:gd name="T20" fmla="*/ 63 w 284"/>
                  <a:gd name="T21" fmla="*/ 183 h 183"/>
                  <a:gd name="T22" fmla="*/ 98 w 284"/>
                  <a:gd name="T23" fmla="*/ 165 h 183"/>
                  <a:gd name="T24" fmla="*/ 132 w 284"/>
                  <a:gd name="T25" fmla="*/ 150 h 183"/>
                  <a:gd name="T26" fmla="*/ 171 w 284"/>
                  <a:gd name="T27" fmla="*/ 138 h 183"/>
                  <a:gd name="T28" fmla="*/ 198 w 284"/>
                  <a:gd name="T29" fmla="*/ 130 h 183"/>
                  <a:gd name="T30" fmla="*/ 242 w 284"/>
                  <a:gd name="T31" fmla="*/ 123 h 183"/>
                  <a:gd name="T32" fmla="*/ 284 w 284"/>
                  <a:gd name="T33" fmla="*/ 120 h 18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4"/>
                  <a:gd name="T52" fmla="*/ 0 h 183"/>
                  <a:gd name="T53" fmla="*/ 284 w 284"/>
                  <a:gd name="T54" fmla="*/ 183 h 18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4" h="183">
                    <a:moveTo>
                      <a:pt x="284" y="120"/>
                    </a:moveTo>
                    <a:lnTo>
                      <a:pt x="284" y="0"/>
                    </a:lnTo>
                    <a:lnTo>
                      <a:pt x="251" y="1"/>
                    </a:lnTo>
                    <a:lnTo>
                      <a:pt x="219" y="3"/>
                    </a:lnTo>
                    <a:lnTo>
                      <a:pt x="183" y="9"/>
                    </a:lnTo>
                    <a:lnTo>
                      <a:pt x="137" y="19"/>
                    </a:lnTo>
                    <a:lnTo>
                      <a:pt x="92" y="31"/>
                    </a:lnTo>
                    <a:lnTo>
                      <a:pt x="65" y="42"/>
                    </a:lnTo>
                    <a:lnTo>
                      <a:pt x="36" y="54"/>
                    </a:lnTo>
                    <a:lnTo>
                      <a:pt x="0" y="75"/>
                    </a:lnTo>
                    <a:lnTo>
                      <a:pt x="63" y="183"/>
                    </a:lnTo>
                    <a:lnTo>
                      <a:pt x="98" y="165"/>
                    </a:lnTo>
                    <a:lnTo>
                      <a:pt x="132" y="150"/>
                    </a:lnTo>
                    <a:lnTo>
                      <a:pt x="171" y="138"/>
                    </a:lnTo>
                    <a:lnTo>
                      <a:pt x="198" y="130"/>
                    </a:lnTo>
                    <a:lnTo>
                      <a:pt x="242" y="123"/>
                    </a:lnTo>
                    <a:lnTo>
                      <a:pt x="284" y="120"/>
                    </a:lnTo>
                    <a:close/>
                  </a:path>
                </a:pathLst>
              </a:custGeom>
              <a:solidFill>
                <a:srgbClr val="FF0000"/>
              </a:solidFill>
              <a:ln w="9525">
                <a:solidFill>
                  <a:schemeClr val="tx1"/>
                </a:solidFill>
                <a:round/>
                <a:headEnd/>
                <a:tailEnd/>
              </a:ln>
            </p:spPr>
            <p:txBody>
              <a:bodyPr>
                <a:prstTxWarp prst="textNoShape">
                  <a:avLst/>
                </a:prstTxWarp>
              </a:bodyPr>
              <a:lstStyle/>
              <a:p>
                <a:endParaRPr lang="en-US"/>
              </a:p>
            </p:txBody>
          </p:sp>
          <p:sp>
            <p:nvSpPr>
              <p:cNvPr id="75797" name="Freeform 74"/>
              <p:cNvSpPr>
                <a:spLocks noChangeAspect="1"/>
              </p:cNvSpPr>
              <p:nvPr/>
            </p:nvSpPr>
            <p:spPr bwMode="auto">
              <a:xfrm>
                <a:off x="5007" y="1839"/>
                <a:ext cx="192" cy="201"/>
              </a:xfrm>
              <a:custGeom>
                <a:avLst/>
                <a:gdLst>
                  <a:gd name="T0" fmla="*/ 0 w 192"/>
                  <a:gd name="T1" fmla="*/ 105 h 201"/>
                  <a:gd name="T2" fmla="*/ 57 w 192"/>
                  <a:gd name="T3" fmla="*/ 201 h 201"/>
                  <a:gd name="T4" fmla="*/ 93 w 192"/>
                  <a:gd name="T5" fmla="*/ 183 h 201"/>
                  <a:gd name="T6" fmla="*/ 123 w 192"/>
                  <a:gd name="T7" fmla="*/ 153 h 201"/>
                  <a:gd name="T8" fmla="*/ 156 w 192"/>
                  <a:gd name="T9" fmla="*/ 117 h 201"/>
                  <a:gd name="T10" fmla="*/ 183 w 192"/>
                  <a:gd name="T11" fmla="*/ 75 h 201"/>
                  <a:gd name="T12" fmla="*/ 192 w 192"/>
                  <a:gd name="T13" fmla="*/ 57 h 201"/>
                  <a:gd name="T14" fmla="*/ 87 w 192"/>
                  <a:gd name="T15" fmla="*/ 0 h 201"/>
                  <a:gd name="T16" fmla="*/ 75 w 192"/>
                  <a:gd name="T17" fmla="*/ 24 h 201"/>
                  <a:gd name="T18" fmla="*/ 54 w 192"/>
                  <a:gd name="T19" fmla="*/ 51 h 201"/>
                  <a:gd name="T20" fmla="*/ 27 w 192"/>
                  <a:gd name="T21" fmla="*/ 81 h 201"/>
                  <a:gd name="T22" fmla="*/ 0 w 192"/>
                  <a:gd name="T23" fmla="*/ 105 h 2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2"/>
                  <a:gd name="T37" fmla="*/ 0 h 201"/>
                  <a:gd name="T38" fmla="*/ 192 w 192"/>
                  <a:gd name="T39" fmla="*/ 201 h 2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2" h="201">
                    <a:moveTo>
                      <a:pt x="0" y="105"/>
                    </a:moveTo>
                    <a:lnTo>
                      <a:pt x="57" y="201"/>
                    </a:lnTo>
                    <a:lnTo>
                      <a:pt x="93" y="183"/>
                    </a:lnTo>
                    <a:lnTo>
                      <a:pt x="123" y="153"/>
                    </a:lnTo>
                    <a:lnTo>
                      <a:pt x="156" y="117"/>
                    </a:lnTo>
                    <a:lnTo>
                      <a:pt x="183" y="75"/>
                    </a:lnTo>
                    <a:lnTo>
                      <a:pt x="192" y="57"/>
                    </a:lnTo>
                    <a:lnTo>
                      <a:pt x="87" y="0"/>
                    </a:lnTo>
                    <a:lnTo>
                      <a:pt x="75" y="24"/>
                    </a:lnTo>
                    <a:lnTo>
                      <a:pt x="54" y="51"/>
                    </a:lnTo>
                    <a:lnTo>
                      <a:pt x="27" y="81"/>
                    </a:lnTo>
                    <a:lnTo>
                      <a:pt x="0" y="105"/>
                    </a:lnTo>
                    <a:close/>
                  </a:path>
                </a:pathLst>
              </a:custGeom>
              <a:solidFill>
                <a:srgbClr val="0000FF"/>
              </a:solidFill>
              <a:ln w="9525">
                <a:solidFill>
                  <a:schemeClr val="tx1"/>
                </a:solidFill>
                <a:round/>
                <a:headEnd/>
                <a:tailEnd/>
              </a:ln>
            </p:spPr>
            <p:txBody>
              <a:bodyPr>
                <a:prstTxWarp prst="textNoShape">
                  <a:avLst/>
                </a:prstTxWarp>
              </a:bodyPr>
              <a:lstStyle/>
              <a:p>
                <a:endParaRPr lang="en-US"/>
              </a:p>
            </p:txBody>
          </p:sp>
        </p:grpSp>
        <p:sp>
          <p:nvSpPr>
            <p:cNvPr id="75794" name="AutoShape 75"/>
            <p:cNvSpPr>
              <a:spLocks noChangeAspect="1" noChangeArrowheads="1"/>
            </p:cNvSpPr>
            <p:nvPr/>
          </p:nvSpPr>
          <p:spPr bwMode="auto">
            <a:xfrm>
              <a:off x="4782" y="858"/>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prstTxWarp prst="textNoShape">
                <a:avLst/>
              </a:prstTxWarp>
            </a:bodyPr>
            <a:lstStyle/>
            <a:p>
              <a:endParaRPr lang="en-US"/>
            </a:p>
          </p:txBody>
        </p:sp>
      </p:grpSp>
      <p:sp>
        <p:nvSpPr>
          <p:cNvPr id="75787" name="AutoShape 76"/>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prstTxWarp prst="textNoShape">
              <a:avLst/>
            </a:prstTxWarp>
          </a:bodyPr>
          <a:lstStyle/>
          <a:p>
            <a:endParaRPr lang="en-US"/>
          </a:p>
        </p:txBody>
      </p:sp>
      <p:sp>
        <p:nvSpPr>
          <p:cNvPr id="84" name="TextBox 83"/>
          <p:cNvSpPr txBox="1"/>
          <p:nvPr/>
        </p:nvSpPr>
        <p:spPr>
          <a:xfrm>
            <a:off x="658653" y="5341203"/>
            <a:ext cx="1855947" cy="461665"/>
          </a:xfrm>
          <a:prstGeom prst="rect">
            <a:avLst/>
          </a:prstGeom>
          <a:noFill/>
        </p:spPr>
        <p:txBody>
          <a:bodyPr wrap="none" rtlCol="0" anchor="t">
            <a:spAutoFit/>
          </a:bodyPr>
          <a:lstStyle/>
          <a:p>
            <a:r>
              <a:rPr lang="en-US" dirty="0">
                <a:latin typeface="Calibri" pitchFamily="34" charset="0"/>
              </a:rPr>
              <a:t>Data transfer</a:t>
            </a:r>
          </a:p>
        </p:txBody>
      </p:sp>
      <p:sp>
        <p:nvSpPr>
          <p:cNvPr id="85" name="TextBox 84"/>
          <p:cNvSpPr txBox="1"/>
          <p:nvPr/>
        </p:nvSpPr>
        <p:spPr>
          <a:xfrm>
            <a:off x="3250854" y="5341203"/>
            <a:ext cx="787746" cy="461665"/>
          </a:xfrm>
          <a:prstGeom prst="rect">
            <a:avLst/>
          </a:prstGeom>
          <a:noFill/>
        </p:spPr>
        <p:txBody>
          <a:bodyPr wrap="none" rtlCol="0" anchor="t">
            <a:spAutoFit/>
          </a:bodyPr>
          <a:lstStyle/>
          <a:p>
            <a:r>
              <a:rPr lang="en-US" dirty="0">
                <a:latin typeface="Calibri" pitchFamily="34" charset="0"/>
              </a:rPr>
              <a:t>Seek</a:t>
            </a:r>
          </a:p>
        </p:txBody>
      </p:sp>
      <p:sp>
        <p:nvSpPr>
          <p:cNvPr id="86" name="TextBox 85"/>
          <p:cNvSpPr txBox="1"/>
          <p:nvPr/>
        </p:nvSpPr>
        <p:spPr>
          <a:xfrm>
            <a:off x="4876800" y="5341203"/>
            <a:ext cx="1656570" cy="830997"/>
          </a:xfrm>
          <a:prstGeom prst="rect">
            <a:avLst/>
          </a:prstGeom>
          <a:noFill/>
        </p:spPr>
        <p:txBody>
          <a:bodyPr wrap="square" rtlCol="0" anchor="t">
            <a:spAutoFit/>
          </a:bodyPr>
          <a:lstStyle/>
          <a:p>
            <a:pPr algn="ctr"/>
            <a:r>
              <a:rPr lang="en-US" dirty="0">
                <a:latin typeface="Calibri" pitchFamily="34" charset="0"/>
              </a:rPr>
              <a:t>Rotational </a:t>
            </a:r>
          </a:p>
          <a:p>
            <a:pPr algn="ctr"/>
            <a:r>
              <a:rPr lang="en-US" dirty="0">
                <a:latin typeface="Calibri" pitchFamily="34" charset="0"/>
              </a:rPr>
              <a:t>latency</a:t>
            </a:r>
          </a:p>
        </p:txBody>
      </p:sp>
      <p:sp>
        <p:nvSpPr>
          <p:cNvPr id="87" name="TextBox 86"/>
          <p:cNvSpPr txBox="1"/>
          <p:nvPr/>
        </p:nvSpPr>
        <p:spPr>
          <a:xfrm>
            <a:off x="6830853" y="5341203"/>
            <a:ext cx="1855947" cy="461665"/>
          </a:xfrm>
          <a:prstGeom prst="rect">
            <a:avLst/>
          </a:prstGeom>
          <a:noFill/>
        </p:spPr>
        <p:txBody>
          <a:bodyPr wrap="none" rtlCol="0" anchor="t">
            <a:spAutoFit/>
          </a:bodyPr>
          <a:lstStyle/>
          <a:p>
            <a:r>
              <a:rPr lang="en-US" dirty="0">
                <a:latin typeface="Calibri" pitchFamily="34" charset="0"/>
              </a:rPr>
              <a:t>Data transfer</a:t>
            </a:r>
          </a:p>
        </p:txBody>
      </p:sp>
      <p:cxnSp>
        <p:nvCxnSpPr>
          <p:cNvPr id="89" name="Straight Arrow Connector 88"/>
          <p:cNvCxnSpPr>
            <a:stCxn id="84" idx="0"/>
          </p:cNvCxnSpPr>
          <p:nvPr/>
        </p:nvCxnSpPr>
        <p:spPr bwMode="auto">
          <a:xfrm rot="5400000" flipH="1" flipV="1">
            <a:off x="1210559" y="4949437"/>
            <a:ext cx="767834" cy="15698"/>
          </a:xfrm>
          <a:prstGeom prst="straightConnector1">
            <a:avLst/>
          </a:prstGeom>
          <a:noFill/>
          <a:ln w="25400" cap="flat" cmpd="sng" algn="ctr">
            <a:solidFill>
              <a:schemeClr val="tx1"/>
            </a:solidFill>
            <a:prstDash val="solid"/>
            <a:round/>
            <a:headEnd type="none" w="med" len="med"/>
            <a:tailEnd type="arrow"/>
          </a:ln>
          <a:effectLst/>
        </p:spPr>
      </p:cxnSp>
      <p:cxnSp>
        <p:nvCxnSpPr>
          <p:cNvPr id="90" name="Straight Arrow Connector 89"/>
          <p:cNvCxnSpPr/>
          <p:nvPr/>
        </p:nvCxnSpPr>
        <p:spPr bwMode="auto">
          <a:xfrm rot="5400000" flipH="1" flipV="1">
            <a:off x="3267302" y="5011052"/>
            <a:ext cx="773668" cy="15698"/>
          </a:xfrm>
          <a:prstGeom prst="straightConnector1">
            <a:avLst/>
          </a:prstGeom>
          <a:noFill/>
          <a:ln w="25400" cap="flat" cmpd="sng" algn="ctr">
            <a:solidFill>
              <a:schemeClr val="tx1"/>
            </a:solidFill>
            <a:prstDash val="solid"/>
            <a:round/>
            <a:headEnd type="none" w="med" len="med"/>
            <a:tailEnd type="arrow"/>
          </a:ln>
          <a:effectLst/>
        </p:spPr>
      </p:cxnSp>
      <p:cxnSp>
        <p:nvCxnSpPr>
          <p:cNvPr id="91" name="Straight Arrow Connector 90"/>
          <p:cNvCxnSpPr/>
          <p:nvPr/>
        </p:nvCxnSpPr>
        <p:spPr bwMode="auto">
          <a:xfrm rot="5400000" flipH="1" flipV="1">
            <a:off x="5317810" y="5011052"/>
            <a:ext cx="773668" cy="15698"/>
          </a:xfrm>
          <a:prstGeom prst="straightConnector1">
            <a:avLst/>
          </a:prstGeom>
          <a:noFill/>
          <a:ln w="25400" cap="flat" cmpd="sng" algn="ctr">
            <a:solidFill>
              <a:schemeClr val="tx1"/>
            </a:solidFill>
            <a:prstDash val="solid"/>
            <a:round/>
            <a:headEnd type="none" w="med" len="med"/>
            <a:tailEnd type="arrow"/>
          </a:ln>
          <a:effectLst/>
        </p:spPr>
      </p:cxnSp>
      <p:cxnSp>
        <p:nvCxnSpPr>
          <p:cNvPr id="92" name="Straight Arrow Connector 91"/>
          <p:cNvCxnSpPr/>
          <p:nvPr/>
        </p:nvCxnSpPr>
        <p:spPr bwMode="auto">
          <a:xfrm rot="5400000" flipH="1" flipV="1">
            <a:off x="7367272" y="5022720"/>
            <a:ext cx="773668" cy="15698"/>
          </a:xfrm>
          <a:prstGeom prst="straightConnector1">
            <a:avLst/>
          </a:prstGeom>
          <a:noFill/>
          <a:ln w="25400" cap="flat" cmpd="sng" algn="ctr">
            <a:solidFill>
              <a:schemeClr val="tx1"/>
            </a:solidFill>
            <a:prstDash val="solid"/>
            <a:round/>
            <a:headEnd type="none" w="med" len="med"/>
            <a:tailEnd type="arrow"/>
          </a:ln>
          <a:effectLst/>
        </p:spPr>
      </p:cxnSp>
      <p:sp>
        <p:nvSpPr>
          <p:cNvPr id="14" name="Rectangle 13">
            <a:extLst>
              <a:ext uri="{FF2B5EF4-FFF2-40B4-BE49-F238E27FC236}">
                <a16:creationId xmlns:a16="http://schemas.microsoft.com/office/drawing/2014/main" id="{AF827493-3900-745E-E094-30AF1D804774}"/>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15" name="Rectangle 14">
            <a:extLst>
              <a:ext uri="{FF2B5EF4-FFF2-40B4-BE49-F238E27FC236}">
                <a16:creationId xmlns:a16="http://schemas.microsoft.com/office/drawing/2014/main" id="{B014F2E2-344E-FEF7-D6B5-0E9444578983}"/>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1028"/>
          <p:cNvSpPr>
            <a:spLocks noGrp="1" noChangeArrowheads="1"/>
          </p:cNvSpPr>
          <p:nvPr>
            <p:ph type="title"/>
          </p:nvPr>
        </p:nvSpPr>
        <p:spPr/>
        <p:txBody>
          <a:bodyPr/>
          <a:lstStyle/>
          <a:p>
            <a:r>
              <a:rPr lang="en-US" dirty="0"/>
              <a:t>Disk Access Time</a:t>
            </a:r>
          </a:p>
        </p:txBody>
      </p:sp>
      <p:sp>
        <p:nvSpPr>
          <p:cNvPr id="125957" name="Rectangle 1029"/>
          <p:cNvSpPr>
            <a:spLocks noGrp="1" noChangeArrowheads="1"/>
          </p:cNvSpPr>
          <p:nvPr>
            <p:ph type="body" idx="1"/>
          </p:nvPr>
        </p:nvSpPr>
        <p:spPr>
          <a:xfrm>
            <a:off x="396875" y="1362075"/>
            <a:ext cx="8366125" cy="4972050"/>
          </a:xfrm>
        </p:spPr>
        <p:txBody>
          <a:bodyPr/>
          <a:lstStyle/>
          <a:p>
            <a:r>
              <a:rPr lang="en-US" dirty="0"/>
              <a:t>Average time to access some target sector approximated by :</a:t>
            </a:r>
          </a:p>
          <a:p>
            <a:pPr lvl="1"/>
            <a:r>
              <a:rPr lang="en-US" dirty="0" err="1"/>
              <a:t>Taccess</a:t>
            </a:r>
            <a:r>
              <a:rPr lang="en-US" dirty="0"/>
              <a:t>  =  </a:t>
            </a:r>
            <a:r>
              <a:rPr lang="en-US" dirty="0" err="1"/>
              <a:t>Tavg</a:t>
            </a:r>
            <a:r>
              <a:rPr lang="en-US" dirty="0"/>
              <a:t> seek +  </a:t>
            </a:r>
            <a:r>
              <a:rPr lang="en-US" dirty="0" err="1"/>
              <a:t>Tavg</a:t>
            </a:r>
            <a:r>
              <a:rPr lang="en-US" dirty="0"/>
              <a:t> rotation + </a:t>
            </a:r>
            <a:r>
              <a:rPr lang="en-US" dirty="0" err="1"/>
              <a:t>Tavg</a:t>
            </a:r>
            <a:r>
              <a:rPr lang="en-US" dirty="0"/>
              <a:t> transfer </a:t>
            </a:r>
          </a:p>
          <a:p>
            <a:r>
              <a:rPr lang="en-US" dirty="0">
                <a:solidFill>
                  <a:srgbClr val="FF0000"/>
                </a:solidFill>
              </a:rPr>
              <a:t>Seek time </a:t>
            </a:r>
            <a:r>
              <a:rPr lang="en-US" dirty="0"/>
              <a:t>(</a:t>
            </a:r>
            <a:r>
              <a:rPr lang="en-US" dirty="0" err="1"/>
              <a:t>Tavg</a:t>
            </a:r>
            <a:r>
              <a:rPr lang="en-US" dirty="0"/>
              <a:t> seek)</a:t>
            </a:r>
          </a:p>
          <a:p>
            <a:pPr lvl="1"/>
            <a:r>
              <a:rPr lang="en-US" dirty="0"/>
              <a:t>Time to position heads over cylinder containing target sector.</a:t>
            </a:r>
          </a:p>
          <a:p>
            <a:pPr lvl="1"/>
            <a:r>
              <a:rPr lang="en-US" dirty="0"/>
              <a:t>Typical  </a:t>
            </a:r>
            <a:r>
              <a:rPr lang="en-US" dirty="0" err="1"/>
              <a:t>Tavg</a:t>
            </a:r>
            <a:r>
              <a:rPr lang="en-US" dirty="0"/>
              <a:t> seek is 3—9 ms</a:t>
            </a:r>
          </a:p>
          <a:p>
            <a:r>
              <a:rPr lang="en-US" dirty="0">
                <a:solidFill>
                  <a:srgbClr val="FF0000"/>
                </a:solidFill>
              </a:rPr>
              <a:t>Rotational latency </a:t>
            </a:r>
            <a:r>
              <a:rPr lang="en-US" dirty="0"/>
              <a:t>(</a:t>
            </a:r>
            <a:r>
              <a:rPr lang="en-US" dirty="0" err="1"/>
              <a:t>Tavg</a:t>
            </a:r>
            <a:r>
              <a:rPr lang="en-US" dirty="0"/>
              <a:t> rotation)</a:t>
            </a:r>
          </a:p>
          <a:p>
            <a:pPr lvl="1"/>
            <a:r>
              <a:rPr lang="en-US" dirty="0"/>
              <a:t>Time waiting for first bit of target sector to pass under </a:t>
            </a:r>
            <a:r>
              <a:rPr lang="en-US" dirty="0" err="1"/>
              <a:t>r/w</a:t>
            </a:r>
            <a:r>
              <a:rPr lang="en-US" dirty="0"/>
              <a:t> head.</a:t>
            </a:r>
          </a:p>
          <a:p>
            <a:pPr lvl="1"/>
            <a:r>
              <a:rPr lang="en-US" dirty="0" err="1"/>
              <a:t>Tavg</a:t>
            </a:r>
            <a:r>
              <a:rPr lang="en-US" dirty="0"/>
              <a:t> rotation = 1/2 </a:t>
            </a:r>
            <a:r>
              <a:rPr lang="en-US" dirty="0" err="1"/>
              <a:t>x</a:t>
            </a:r>
            <a:r>
              <a:rPr lang="en-US" dirty="0"/>
              <a:t> 1/RPMs </a:t>
            </a:r>
            <a:r>
              <a:rPr lang="en-US" dirty="0" err="1"/>
              <a:t>x</a:t>
            </a:r>
            <a:r>
              <a:rPr lang="en-US" dirty="0"/>
              <a:t> 60 sec/1 min</a:t>
            </a:r>
          </a:p>
          <a:p>
            <a:pPr lvl="1"/>
            <a:r>
              <a:rPr lang="en-US" dirty="0"/>
              <a:t>Typical </a:t>
            </a:r>
            <a:r>
              <a:rPr lang="en-US" dirty="0" err="1"/>
              <a:t>Tavg</a:t>
            </a:r>
            <a:r>
              <a:rPr lang="en-US" dirty="0"/>
              <a:t> rotation = 7200 </a:t>
            </a:r>
            <a:r>
              <a:rPr lang="en-US" dirty="0" err="1"/>
              <a:t>RPMs</a:t>
            </a:r>
            <a:endParaRPr lang="en-US" dirty="0"/>
          </a:p>
          <a:p>
            <a:r>
              <a:rPr lang="en-US" dirty="0">
                <a:solidFill>
                  <a:srgbClr val="FF0000"/>
                </a:solidFill>
              </a:rPr>
              <a:t>Transfer time </a:t>
            </a:r>
            <a:r>
              <a:rPr lang="en-US" dirty="0"/>
              <a:t>(</a:t>
            </a:r>
            <a:r>
              <a:rPr lang="en-US" dirty="0" err="1"/>
              <a:t>Tavg</a:t>
            </a:r>
            <a:r>
              <a:rPr lang="en-US" dirty="0"/>
              <a:t> transfer)	</a:t>
            </a:r>
          </a:p>
          <a:p>
            <a:pPr lvl="1"/>
            <a:r>
              <a:rPr lang="en-US" dirty="0"/>
              <a:t>Time to read the bits in the target sector.</a:t>
            </a:r>
          </a:p>
          <a:p>
            <a:pPr lvl="1"/>
            <a:r>
              <a:rPr lang="en-US" dirty="0" err="1"/>
              <a:t>Tavg</a:t>
            </a:r>
            <a:r>
              <a:rPr lang="en-US" dirty="0"/>
              <a:t> transfer = 1/RPM </a:t>
            </a:r>
            <a:r>
              <a:rPr lang="en-US" dirty="0" err="1"/>
              <a:t>x</a:t>
            </a:r>
            <a:r>
              <a:rPr lang="en-US" dirty="0"/>
              <a:t> 1/(avg # sectors/track) </a:t>
            </a:r>
            <a:r>
              <a:rPr lang="en-US" dirty="0" err="1"/>
              <a:t>x</a:t>
            </a:r>
            <a:r>
              <a:rPr lang="en-US" dirty="0"/>
              <a:t> 60 secs/1 min.</a:t>
            </a:r>
          </a:p>
        </p:txBody>
      </p:sp>
      <p:sp>
        <p:nvSpPr>
          <p:cNvPr id="2" name="Rectangle 1">
            <a:extLst>
              <a:ext uri="{FF2B5EF4-FFF2-40B4-BE49-F238E27FC236}">
                <a16:creationId xmlns:a16="http://schemas.microsoft.com/office/drawing/2014/main" id="{6D39875C-8866-EA72-6D85-7EC720E549D1}"/>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3455C801-0CBE-FB26-C307-954BEC15B65A}"/>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0" name="Rectangle 1028"/>
          <p:cNvSpPr>
            <a:spLocks noGrp="1" noChangeArrowheads="1"/>
          </p:cNvSpPr>
          <p:nvPr>
            <p:ph type="title"/>
          </p:nvPr>
        </p:nvSpPr>
        <p:spPr/>
        <p:txBody>
          <a:bodyPr/>
          <a:lstStyle/>
          <a:p>
            <a:r>
              <a:rPr lang="en-US" dirty="0"/>
              <a:t>Disk Access Time Example</a:t>
            </a:r>
          </a:p>
        </p:txBody>
      </p:sp>
      <p:sp>
        <p:nvSpPr>
          <p:cNvPr id="126981" name="Rectangle 1029"/>
          <p:cNvSpPr>
            <a:spLocks noGrp="1" noChangeArrowheads="1"/>
          </p:cNvSpPr>
          <p:nvPr>
            <p:ph type="body" idx="1"/>
          </p:nvPr>
        </p:nvSpPr>
        <p:spPr>
          <a:xfrm>
            <a:off x="396875" y="1362075"/>
            <a:ext cx="8747125" cy="4972050"/>
          </a:xfrm>
        </p:spPr>
        <p:txBody>
          <a:bodyPr/>
          <a:lstStyle/>
          <a:p>
            <a:r>
              <a:rPr lang="en-US" dirty="0"/>
              <a:t>Given:</a:t>
            </a:r>
          </a:p>
          <a:p>
            <a:pPr lvl="1"/>
            <a:r>
              <a:rPr lang="en-US" dirty="0"/>
              <a:t>Rotational rate = 7,200 RPM</a:t>
            </a:r>
          </a:p>
          <a:p>
            <a:pPr lvl="1"/>
            <a:r>
              <a:rPr lang="en-US" dirty="0"/>
              <a:t>Average seek time = 9 ms.</a:t>
            </a:r>
          </a:p>
          <a:p>
            <a:pPr lvl="1"/>
            <a:r>
              <a:rPr lang="en-US" dirty="0" err="1"/>
              <a:t>Avg</a:t>
            </a:r>
            <a:r>
              <a:rPr lang="en-US" dirty="0"/>
              <a:t> # sectors/track = 400.</a:t>
            </a:r>
          </a:p>
          <a:p>
            <a:r>
              <a:rPr lang="en-US" dirty="0"/>
              <a:t>Derived:</a:t>
            </a:r>
          </a:p>
          <a:p>
            <a:pPr lvl="1"/>
            <a:r>
              <a:rPr lang="en-US" dirty="0" err="1"/>
              <a:t>Tavg</a:t>
            </a:r>
            <a:r>
              <a:rPr lang="en-US" dirty="0"/>
              <a:t> rotation = 1/2 </a:t>
            </a:r>
            <a:r>
              <a:rPr lang="en-US" dirty="0" err="1"/>
              <a:t>x</a:t>
            </a:r>
            <a:r>
              <a:rPr lang="en-US" dirty="0"/>
              <a:t> (60 secs/7200 RPM) </a:t>
            </a:r>
            <a:r>
              <a:rPr lang="en-US" dirty="0" err="1"/>
              <a:t>x</a:t>
            </a:r>
            <a:r>
              <a:rPr lang="en-US" dirty="0"/>
              <a:t> 1000 ms/sec = 4 ms.</a:t>
            </a:r>
          </a:p>
          <a:p>
            <a:pPr lvl="1"/>
            <a:r>
              <a:rPr lang="en-US" dirty="0" err="1"/>
              <a:t>Tavg</a:t>
            </a:r>
            <a:r>
              <a:rPr lang="en-US" dirty="0"/>
              <a:t> transfer = 60/7200 RPM </a:t>
            </a:r>
            <a:r>
              <a:rPr lang="en-US" dirty="0" err="1"/>
              <a:t>x</a:t>
            </a:r>
            <a:r>
              <a:rPr lang="en-US" dirty="0"/>
              <a:t> 1/400 </a:t>
            </a:r>
            <a:r>
              <a:rPr lang="en-US" dirty="0" err="1"/>
              <a:t>secs</a:t>
            </a:r>
            <a:r>
              <a:rPr lang="en-US" dirty="0"/>
              <a:t>/track </a:t>
            </a:r>
            <a:r>
              <a:rPr lang="en-US" dirty="0" err="1"/>
              <a:t>x</a:t>
            </a:r>
            <a:r>
              <a:rPr lang="en-US" dirty="0"/>
              <a:t> 1000 ms/sec = 0.02 ms</a:t>
            </a:r>
          </a:p>
          <a:p>
            <a:pPr lvl="1"/>
            <a:r>
              <a:rPr lang="en-US" dirty="0" err="1"/>
              <a:t>Taccess</a:t>
            </a:r>
            <a:r>
              <a:rPr lang="en-US" dirty="0"/>
              <a:t>  = 9 ms + 4 ms + 0.02 ms</a:t>
            </a:r>
          </a:p>
          <a:p>
            <a:r>
              <a:rPr lang="en-US" dirty="0"/>
              <a:t>Important points:</a:t>
            </a:r>
          </a:p>
          <a:p>
            <a:pPr lvl="1"/>
            <a:r>
              <a:rPr lang="en-US" dirty="0"/>
              <a:t>Access time dominated by seek time and rotational latency.</a:t>
            </a:r>
          </a:p>
          <a:p>
            <a:pPr lvl="1"/>
            <a:r>
              <a:rPr lang="en-US" dirty="0"/>
              <a:t>First bit in a sector is the most expensive, the rest are free.</a:t>
            </a:r>
          </a:p>
          <a:p>
            <a:pPr lvl="1"/>
            <a:r>
              <a:rPr lang="en-US" dirty="0"/>
              <a:t>SRAM access time is about  4 ns/</a:t>
            </a:r>
            <a:r>
              <a:rPr lang="en-US" dirty="0" err="1"/>
              <a:t>doubleword</a:t>
            </a:r>
            <a:r>
              <a:rPr lang="en-US" dirty="0"/>
              <a:t>, DRAM about  60 ns</a:t>
            </a:r>
          </a:p>
          <a:p>
            <a:pPr lvl="2"/>
            <a:r>
              <a:rPr lang="en-US" dirty="0"/>
              <a:t>Disk is about 40,000 times slower than SRAM, </a:t>
            </a:r>
          </a:p>
          <a:p>
            <a:pPr lvl="2"/>
            <a:r>
              <a:rPr lang="en-US" dirty="0"/>
              <a:t>2,500 times slower then DRAM.</a:t>
            </a:r>
          </a:p>
          <a:p>
            <a:pPr lvl="1"/>
            <a:endParaRPr lang="en-US" dirty="0"/>
          </a:p>
        </p:txBody>
      </p:sp>
      <p:sp>
        <p:nvSpPr>
          <p:cNvPr id="2" name="Rectangle 1">
            <a:extLst>
              <a:ext uri="{FF2B5EF4-FFF2-40B4-BE49-F238E27FC236}">
                <a16:creationId xmlns:a16="http://schemas.microsoft.com/office/drawing/2014/main" id="{04EFC8B2-049B-7148-5469-426DC9DE0418}"/>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14BFA3C1-3440-67DC-25C4-F4F06F61E53E}"/>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4" name="Rectangle 1028"/>
          <p:cNvSpPr>
            <a:spLocks noGrp="1" noChangeArrowheads="1"/>
          </p:cNvSpPr>
          <p:nvPr>
            <p:ph type="title"/>
          </p:nvPr>
        </p:nvSpPr>
        <p:spPr/>
        <p:txBody>
          <a:bodyPr/>
          <a:lstStyle/>
          <a:p>
            <a:r>
              <a:rPr lang="en-US" dirty="0"/>
              <a:t>Logical Disk Blocks</a:t>
            </a:r>
          </a:p>
        </p:txBody>
      </p:sp>
      <p:sp>
        <p:nvSpPr>
          <p:cNvPr id="128005" name="Rectangle 1029"/>
          <p:cNvSpPr>
            <a:spLocks noGrp="1" noChangeArrowheads="1"/>
          </p:cNvSpPr>
          <p:nvPr>
            <p:ph type="body" idx="1"/>
          </p:nvPr>
        </p:nvSpPr>
        <p:spPr/>
        <p:txBody>
          <a:bodyPr/>
          <a:lstStyle/>
          <a:p>
            <a:r>
              <a:rPr lang="en-US" dirty="0"/>
              <a:t>Modern disks present a simpler abstract view of the complex sector geometry:</a:t>
            </a:r>
          </a:p>
          <a:p>
            <a:pPr lvl="1"/>
            <a:r>
              <a:rPr lang="en-US" dirty="0"/>
              <a:t>The set of available sectors is modeled as a sequence of </a:t>
            </a:r>
            <a:r>
              <a:rPr lang="en-US" dirty="0" err="1"/>
              <a:t>b</a:t>
            </a:r>
            <a:r>
              <a:rPr lang="en-US" dirty="0"/>
              <a:t>-sized </a:t>
            </a:r>
            <a:r>
              <a:rPr lang="en-US" dirty="0">
                <a:solidFill>
                  <a:srgbClr val="FF0000"/>
                </a:solidFill>
              </a:rPr>
              <a:t>logical blocks </a:t>
            </a:r>
            <a:r>
              <a:rPr lang="en-US" dirty="0"/>
              <a:t>(0, 1, 2, ...)</a:t>
            </a:r>
          </a:p>
          <a:p>
            <a:r>
              <a:rPr lang="en-US" dirty="0"/>
              <a:t>Mapping between logical blocks and actual (physical) sectors</a:t>
            </a:r>
          </a:p>
          <a:p>
            <a:pPr lvl="1"/>
            <a:r>
              <a:rPr lang="en-US" dirty="0"/>
              <a:t>Maintained by hardware/firmware device called disk controller.</a:t>
            </a:r>
          </a:p>
          <a:p>
            <a:pPr lvl="1"/>
            <a:r>
              <a:rPr lang="en-US" dirty="0"/>
              <a:t>Converts requests for logical blocks into (</a:t>
            </a:r>
            <a:r>
              <a:rPr lang="en-US" dirty="0" err="1"/>
              <a:t>surface,track,sector</a:t>
            </a:r>
            <a:r>
              <a:rPr lang="en-US" dirty="0"/>
              <a:t>) triples.</a:t>
            </a:r>
          </a:p>
          <a:p>
            <a:r>
              <a:rPr lang="en-US" dirty="0"/>
              <a:t>Allows controller to set aside spare cylinders for each zone.</a:t>
            </a:r>
          </a:p>
          <a:p>
            <a:pPr lvl="1"/>
            <a:r>
              <a:rPr lang="en-US" dirty="0"/>
              <a:t>Accounts for the difference in “formatted capacity” and “maximum capacity”. </a:t>
            </a:r>
          </a:p>
          <a:p>
            <a:endParaRPr lang="en-US" dirty="0"/>
          </a:p>
        </p:txBody>
      </p:sp>
      <p:sp>
        <p:nvSpPr>
          <p:cNvPr id="2" name="Rectangle 1">
            <a:extLst>
              <a:ext uri="{FF2B5EF4-FFF2-40B4-BE49-F238E27FC236}">
                <a16:creationId xmlns:a16="http://schemas.microsoft.com/office/drawing/2014/main" id="{79648C5C-4F76-D24F-F33C-3896F6E9431C}"/>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60D14520-52A1-F9B1-644F-746E932A8F78}"/>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31" name="Rectangle 51"/>
          <p:cNvSpPr>
            <a:spLocks noGrp="1" noChangeArrowheads="1"/>
          </p:cNvSpPr>
          <p:nvPr>
            <p:ph type="title"/>
          </p:nvPr>
        </p:nvSpPr>
        <p:spPr>
          <a:xfrm>
            <a:off x="357018" y="334078"/>
            <a:ext cx="7592093" cy="762000"/>
          </a:xfrm>
        </p:spPr>
        <p:txBody>
          <a:bodyPr/>
          <a:lstStyle/>
          <a:p>
            <a:r>
              <a:rPr lang="en-US" dirty="0"/>
              <a:t>I/O Bus</a:t>
            </a:r>
          </a:p>
        </p:txBody>
      </p:sp>
      <p:sp>
        <p:nvSpPr>
          <p:cNvPr id="97284" name="Rectangle 4"/>
          <p:cNvSpPr>
            <a:spLocks noChangeArrowheads="1"/>
          </p:cNvSpPr>
          <p:nvPr/>
        </p:nvSpPr>
        <p:spPr bwMode="auto">
          <a:xfrm>
            <a:off x="6880225" y="2876550"/>
            <a:ext cx="909638" cy="914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Main</a:t>
            </a:r>
          </a:p>
          <a:p>
            <a:pPr algn="ctr">
              <a:lnSpc>
                <a:spcPct val="100000"/>
              </a:lnSpc>
            </a:pPr>
            <a:r>
              <a:rPr lang="en-US" sz="1600" dirty="0"/>
              <a:t>memory</a:t>
            </a:r>
          </a:p>
        </p:txBody>
      </p:sp>
      <p:sp>
        <p:nvSpPr>
          <p:cNvPr id="97285" name="AutoShape 5"/>
          <p:cNvSpPr>
            <a:spLocks noChangeArrowheads="1"/>
          </p:cNvSpPr>
          <p:nvPr/>
        </p:nvSpPr>
        <p:spPr bwMode="auto">
          <a:xfrm>
            <a:off x="5356225" y="3028950"/>
            <a:ext cx="1492250" cy="533400"/>
          </a:xfrm>
          <a:prstGeom prst="leftRightArrow">
            <a:avLst>
              <a:gd name="adj1" fmla="val 50000"/>
              <a:gd name="adj2" fmla="val 55952"/>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7286" name="Rectangle 6"/>
          <p:cNvSpPr>
            <a:spLocks noChangeArrowheads="1"/>
          </p:cNvSpPr>
          <p:nvPr/>
        </p:nvSpPr>
        <p:spPr bwMode="auto">
          <a:xfrm>
            <a:off x="4441825" y="3060700"/>
            <a:ext cx="909638" cy="57785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I/O </a:t>
            </a:r>
          </a:p>
          <a:p>
            <a:pPr algn="ctr">
              <a:lnSpc>
                <a:spcPct val="100000"/>
              </a:lnSpc>
            </a:pPr>
            <a:r>
              <a:rPr lang="en-US" sz="1600"/>
              <a:t>bridge</a:t>
            </a:r>
          </a:p>
        </p:txBody>
      </p:sp>
      <p:sp>
        <p:nvSpPr>
          <p:cNvPr id="97287" name="AutoShape 7"/>
          <p:cNvSpPr>
            <a:spLocks noChangeArrowheads="1"/>
          </p:cNvSpPr>
          <p:nvPr/>
        </p:nvSpPr>
        <p:spPr bwMode="auto">
          <a:xfrm>
            <a:off x="2984500" y="3028950"/>
            <a:ext cx="1452563" cy="533400"/>
          </a:xfrm>
          <a:prstGeom prst="leftRightArrow">
            <a:avLst>
              <a:gd name="adj1" fmla="val 50000"/>
              <a:gd name="adj2" fmla="val 54464"/>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7288" name="Rectangle 8"/>
          <p:cNvSpPr>
            <a:spLocks noChangeArrowheads="1"/>
          </p:cNvSpPr>
          <p:nvPr/>
        </p:nvSpPr>
        <p:spPr bwMode="auto">
          <a:xfrm>
            <a:off x="1084263" y="3060700"/>
            <a:ext cx="1873250" cy="57785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Bus interface</a:t>
            </a:r>
          </a:p>
        </p:txBody>
      </p:sp>
      <p:sp>
        <p:nvSpPr>
          <p:cNvPr id="97289" name="Rectangle 9"/>
          <p:cNvSpPr>
            <a:spLocks noChangeArrowheads="1"/>
          </p:cNvSpPr>
          <p:nvPr/>
        </p:nvSpPr>
        <p:spPr bwMode="auto">
          <a:xfrm>
            <a:off x="2000250" y="173355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7290" name="Rectangle 10"/>
          <p:cNvSpPr>
            <a:spLocks noChangeArrowheads="1"/>
          </p:cNvSpPr>
          <p:nvPr/>
        </p:nvSpPr>
        <p:spPr bwMode="auto">
          <a:xfrm>
            <a:off x="2000250" y="188595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7291" name="Rectangle 11"/>
          <p:cNvSpPr>
            <a:spLocks noChangeArrowheads="1"/>
          </p:cNvSpPr>
          <p:nvPr/>
        </p:nvSpPr>
        <p:spPr bwMode="auto">
          <a:xfrm>
            <a:off x="2000250" y="203835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7292" name="Rectangle 12"/>
          <p:cNvSpPr>
            <a:spLocks noChangeArrowheads="1"/>
          </p:cNvSpPr>
          <p:nvPr/>
        </p:nvSpPr>
        <p:spPr bwMode="auto">
          <a:xfrm>
            <a:off x="2000250" y="219075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7293" name="Rectangle 13"/>
          <p:cNvSpPr>
            <a:spLocks noChangeArrowheads="1"/>
          </p:cNvSpPr>
          <p:nvPr/>
        </p:nvSpPr>
        <p:spPr bwMode="auto">
          <a:xfrm>
            <a:off x="2000250" y="2343150"/>
            <a:ext cx="684213"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7294" name="AutoShape 14"/>
          <p:cNvSpPr>
            <a:spLocks noChangeArrowheads="1"/>
          </p:cNvSpPr>
          <p:nvPr/>
        </p:nvSpPr>
        <p:spPr bwMode="auto">
          <a:xfrm>
            <a:off x="2773363" y="173355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7295" name="AutoShape 15"/>
          <p:cNvSpPr>
            <a:spLocks noChangeArrowheads="1"/>
          </p:cNvSpPr>
          <p:nvPr/>
        </p:nvSpPr>
        <p:spPr bwMode="auto">
          <a:xfrm flipH="1">
            <a:off x="2684463" y="211455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7296" name="Rectangle 16"/>
          <p:cNvSpPr>
            <a:spLocks noChangeArrowheads="1"/>
          </p:cNvSpPr>
          <p:nvPr/>
        </p:nvSpPr>
        <p:spPr bwMode="auto">
          <a:xfrm>
            <a:off x="3217863" y="1581150"/>
            <a:ext cx="533400" cy="106680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r>
              <a:rPr lang="en-US" sz="1600"/>
              <a:t>ALU</a:t>
            </a:r>
          </a:p>
        </p:txBody>
      </p:sp>
      <p:sp>
        <p:nvSpPr>
          <p:cNvPr id="97297" name="Text Box 17"/>
          <p:cNvSpPr txBox="1">
            <a:spLocks noChangeArrowheads="1"/>
          </p:cNvSpPr>
          <p:nvPr/>
        </p:nvSpPr>
        <p:spPr bwMode="auto">
          <a:xfrm>
            <a:off x="1717675" y="1411873"/>
            <a:ext cx="114777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Register file</a:t>
            </a:r>
          </a:p>
        </p:txBody>
      </p:sp>
      <p:sp>
        <p:nvSpPr>
          <p:cNvPr id="97298" name="AutoShape 18"/>
          <p:cNvSpPr>
            <a:spLocks noChangeArrowheads="1"/>
          </p:cNvSpPr>
          <p:nvPr/>
        </p:nvSpPr>
        <p:spPr bwMode="auto">
          <a:xfrm>
            <a:off x="2074863" y="2571750"/>
            <a:ext cx="609600" cy="45720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7299" name="Rectangle 19"/>
          <p:cNvSpPr>
            <a:spLocks noChangeArrowheads="1"/>
          </p:cNvSpPr>
          <p:nvPr/>
        </p:nvSpPr>
        <p:spPr bwMode="auto">
          <a:xfrm>
            <a:off x="931863" y="1352550"/>
            <a:ext cx="2971800" cy="2438400"/>
          </a:xfrm>
          <a:prstGeom prst="rect">
            <a:avLst/>
          </a:prstGeom>
          <a:noFill/>
          <a:ln w="12700" cap="rnd">
            <a:solidFill>
              <a:schemeClr val="tx1"/>
            </a:solidFill>
            <a:prstDash val="sysDot"/>
            <a:miter lim="800000"/>
            <a:headEnd/>
            <a:tailEnd/>
          </a:ln>
          <a:effectLst/>
        </p:spPr>
        <p:txBody>
          <a:bodyPr wrap="none" anchor="ctr">
            <a:prstTxWarp prst="textNoShape">
              <a:avLst/>
            </a:prstTxWarp>
          </a:bodyPr>
          <a:lstStyle/>
          <a:p>
            <a:endParaRPr lang="en-US"/>
          </a:p>
        </p:txBody>
      </p:sp>
      <p:sp>
        <p:nvSpPr>
          <p:cNvPr id="97300" name="Text Box 20"/>
          <p:cNvSpPr txBox="1">
            <a:spLocks noChangeArrowheads="1"/>
          </p:cNvSpPr>
          <p:nvPr/>
        </p:nvSpPr>
        <p:spPr bwMode="auto">
          <a:xfrm>
            <a:off x="819150" y="1047750"/>
            <a:ext cx="108585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CPU chip</a:t>
            </a:r>
          </a:p>
        </p:txBody>
      </p:sp>
      <p:sp>
        <p:nvSpPr>
          <p:cNvPr id="97301" name="Text Box 21"/>
          <p:cNvSpPr txBox="1">
            <a:spLocks noChangeArrowheads="1"/>
          </p:cNvSpPr>
          <p:nvPr/>
        </p:nvSpPr>
        <p:spPr bwMode="auto">
          <a:xfrm>
            <a:off x="3865563" y="2342148"/>
            <a:ext cx="1129135"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System bus</a:t>
            </a:r>
          </a:p>
        </p:txBody>
      </p:sp>
      <p:sp>
        <p:nvSpPr>
          <p:cNvPr id="97302" name="Line 22"/>
          <p:cNvSpPr>
            <a:spLocks noChangeShapeType="1"/>
          </p:cNvSpPr>
          <p:nvPr/>
        </p:nvSpPr>
        <p:spPr bwMode="auto">
          <a:xfrm flipH="1">
            <a:off x="3751263" y="2647950"/>
            <a:ext cx="685800" cy="45720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97303" name="Text Box 23"/>
          <p:cNvSpPr txBox="1">
            <a:spLocks noChangeArrowheads="1"/>
          </p:cNvSpPr>
          <p:nvPr/>
        </p:nvSpPr>
        <p:spPr bwMode="auto">
          <a:xfrm>
            <a:off x="5386388" y="2342148"/>
            <a:ext cx="1175722" cy="338554"/>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Memory bus</a:t>
            </a:r>
          </a:p>
        </p:txBody>
      </p:sp>
      <p:sp>
        <p:nvSpPr>
          <p:cNvPr id="97304" name="Line 24"/>
          <p:cNvSpPr>
            <a:spLocks noChangeShapeType="1"/>
          </p:cNvSpPr>
          <p:nvPr/>
        </p:nvSpPr>
        <p:spPr bwMode="auto">
          <a:xfrm>
            <a:off x="6037263" y="2647950"/>
            <a:ext cx="0" cy="45720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97305" name="AutoShape 25"/>
          <p:cNvSpPr>
            <a:spLocks noChangeArrowheads="1"/>
          </p:cNvSpPr>
          <p:nvPr/>
        </p:nvSpPr>
        <p:spPr bwMode="auto">
          <a:xfrm>
            <a:off x="4665663" y="371475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7306" name="AutoShape 26"/>
          <p:cNvSpPr>
            <a:spLocks noChangeArrowheads="1"/>
          </p:cNvSpPr>
          <p:nvPr/>
        </p:nvSpPr>
        <p:spPr bwMode="auto">
          <a:xfrm flipV="1">
            <a:off x="5770563" y="445135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7307" name="Rectangle 27"/>
          <p:cNvSpPr>
            <a:spLocks noChangeArrowheads="1"/>
          </p:cNvSpPr>
          <p:nvPr/>
        </p:nvSpPr>
        <p:spPr bwMode="auto">
          <a:xfrm>
            <a:off x="5351463" y="5175250"/>
            <a:ext cx="12954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Disk </a:t>
            </a:r>
          </a:p>
          <a:p>
            <a:pPr algn="ctr">
              <a:lnSpc>
                <a:spcPct val="100000"/>
              </a:lnSpc>
            </a:pPr>
            <a:r>
              <a:rPr lang="en-US" sz="1600" dirty="0"/>
              <a:t>controller</a:t>
            </a:r>
          </a:p>
        </p:txBody>
      </p:sp>
      <p:sp>
        <p:nvSpPr>
          <p:cNvPr id="97308" name="AutoShape 28"/>
          <p:cNvSpPr>
            <a:spLocks noChangeArrowheads="1"/>
          </p:cNvSpPr>
          <p:nvPr/>
        </p:nvSpPr>
        <p:spPr bwMode="auto">
          <a:xfrm flipV="1">
            <a:off x="3440113" y="445135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7309" name="Rectangle 29"/>
          <p:cNvSpPr>
            <a:spLocks noChangeArrowheads="1"/>
          </p:cNvSpPr>
          <p:nvPr/>
        </p:nvSpPr>
        <p:spPr bwMode="auto">
          <a:xfrm>
            <a:off x="3021013" y="5175250"/>
            <a:ext cx="12954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Graphics</a:t>
            </a:r>
          </a:p>
          <a:p>
            <a:pPr algn="ctr">
              <a:lnSpc>
                <a:spcPct val="100000"/>
              </a:lnSpc>
            </a:pPr>
            <a:r>
              <a:rPr lang="en-US" sz="1600" dirty="0"/>
              <a:t>adapter</a:t>
            </a:r>
          </a:p>
        </p:txBody>
      </p:sp>
      <p:sp>
        <p:nvSpPr>
          <p:cNvPr id="97310" name="AutoShape 30"/>
          <p:cNvSpPr>
            <a:spLocks noChangeArrowheads="1"/>
          </p:cNvSpPr>
          <p:nvPr/>
        </p:nvSpPr>
        <p:spPr bwMode="auto">
          <a:xfrm flipV="1">
            <a:off x="1763713" y="445135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7311" name="Rectangle 31"/>
          <p:cNvSpPr>
            <a:spLocks noChangeArrowheads="1"/>
          </p:cNvSpPr>
          <p:nvPr/>
        </p:nvSpPr>
        <p:spPr bwMode="auto">
          <a:xfrm>
            <a:off x="1420813" y="5162550"/>
            <a:ext cx="11430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USB</a:t>
            </a:r>
          </a:p>
          <a:p>
            <a:pPr algn="ctr">
              <a:lnSpc>
                <a:spcPct val="100000"/>
              </a:lnSpc>
            </a:pPr>
            <a:r>
              <a:rPr lang="en-US" sz="1600"/>
              <a:t>controller</a:t>
            </a:r>
          </a:p>
        </p:txBody>
      </p:sp>
      <p:sp>
        <p:nvSpPr>
          <p:cNvPr id="97312" name="Line 32"/>
          <p:cNvSpPr>
            <a:spLocks noChangeShapeType="1"/>
          </p:cNvSpPr>
          <p:nvPr/>
        </p:nvSpPr>
        <p:spPr bwMode="auto">
          <a:xfrm>
            <a:off x="1649413" y="5695950"/>
            <a:ext cx="0" cy="304800"/>
          </a:xfrm>
          <a:prstGeom prst="line">
            <a:avLst/>
          </a:prstGeom>
          <a:noFill/>
          <a:ln w="12700">
            <a:solidFill>
              <a:schemeClr val="tx1"/>
            </a:solidFill>
            <a:round/>
            <a:headEnd type="triangle" w="med" len="med"/>
            <a:tailEnd/>
          </a:ln>
          <a:effectLst/>
        </p:spPr>
        <p:txBody>
          <a:bodyPr wrap="none" anchor="ctr">
            <a:prstTxWarp prst="textNoShape">
              <a:avLst/>
            </a:prstTxWarp>
          </a:bodyPr>
          <a:lstStyle/>
          <a:p>
            <a:endParaRPr lang="en-US"/>
          </a:p>
        </p:txBody>
      </p:sp>
      <p:sp>
        <p:nvSpPr>
          <p:cNvPr id="97313" name="Line 33"/>
          <p:cNvSpPr>
            <a:spLocks noChangeShapeType="1"/>
          </p:cNvSpPr>
          <p:nvPr/>
        </p:nvSpPr>
        <p:spPr bwMode="auto">
          <a:xfrm>
            <a:off x="2411413" y="5695950"/>
            <a:ext cx="0" cy="304800"/>
          </a:xfrm>
          <a:prstGeom prst="line">
            <a:avLst/>
          </a:prstGeom>
          <a:noFill/>
          <a:ln w="12700">
            <a:solidFill>
              <a:schemeClr val="tx1"/>
            </a:solidFill>
            <a:round/>
            <a:headEnd type="triangle" w="med" len="med"/>
            <a:tailEnd/>
          </a:ln>
          <a:effectLst/>
        </p:spPr>
        <p:txBody>
          <a:bodyPr wrap="none" anchor="ctr">
            <a:prstTxWarp prst="textNoShape">
              <a:avLst/>
            </a:prstTxWarp>
          </a:bodyPr>
          <a:lstStyle/>
          <a:p>
            <a:endParaRPr lang="en-US"/>
          </a:p>
        </p:txBody>
      </p:sp>
      <p:sp>
        <p:nvSpPr>
          <p:cNvPr id="97314" name="Text Box 34"/>
          <p:cNvSpPr txBox="1">
            <a:spLocks noChangeArrowheads="1"/>
          </p:cNvSpPr>
          <p:nvPr/>
        </p:nvSpPr>
        <p:spPr bwMode="auto">
          <a:xfrm>
            <a:off x="1214438" y="5923548"/>
            <a:ext cx="717564"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Mouse</a:t>
            </a:r>
          </a:p>
        </p:txBody>
      </p:sp>
      <p:sp>
        <p:nvSpPr>
          <p:cNvPr id="97315" name="Text Box 35"/>
          <p:cNvSpPr txBox="1">
            <a:spLocks noChangeArrowheads="1"/>
          </p:cNvSpPr>
          <p:nvPr/>
        </p:nvSpPr>
        <p:spPr bwMode="auto">
          <a:xfrm>
            <a:off x="1892300" y="5923548"/>
            <a:ext cx="96062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Keyboard</a:t>
            </a:r>
          </a:p>
        </p:txBody>
      </p:sp>
      <p:sp>
        <p:nvSpPr>
          <p:cNvPr id="97316" name="Line 36"/>
          <p:cNvSpPr>
            <a:spLocks noChangeShapeType="1"/>
          </p:cNvSpPr>
          <p:nvPr/>
        </p:nvSpPr>
        <p:spPr bwMode="auto">
          <a:xfrm>
            <a:off x="3706813" y="5695950"/>
            <a:ext cx="0" cy="30480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97317" name="Text Box 37"/>
          <p:cNvSpPr txBox="1">
            <a:spLocks noChangeArrowheads="1"/>
          </p:cNvSpPr>
          <p:nvPr/>
        </p:nvSpPr>
        <p:spPr bwMode="auto">
          <a:xfrm>
            <a:off x="3209925" y="5923548"/>
            <a:ext cx="801421"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Monitor</a:t>
            </a:r>
          </a:p>
        </p:txBody>
      </p:sp>
      <p:sp>
        <p:nvSpPr>
          <p:cNvPr id="97318" name="Line 38"/>
          <p:cNvSpPr>
            <a:spLocks noChangeShapeType="1"/>
          </p:cNvSpPr>
          <p:nvPr/>
        </p:nvSpPr>
        <p:spPr bwMode="auto">
          <a:xfrm>
            <a:off x="6011863" y="5695950"/>
            <a:ext cx="0" cy="381000"/>
          </a:xfrm>
          <a:prstGeom prst="line">
            <a:avLst/>
          </a:prstGeom>
          <a:noFill/>
          <a:ln w="12700">
            <a:solidFill>
              <a:schemeClr val="tx1"/>
            </a:solidFill>
            <a:round/>
            <a:headEnd type="triangle" w="med" len="med"/>
            <a:tailEnd type="triangle" w="med" len="med"/>
          </a:ln>
          <a:effectLst/>
        </p:spPr>
        <p:txBody>
          <a:bodyPr wrap="none" anchor="ctr">
            <a:prstTxWarp prst="textNoShape">
              <a:avLst/>
            </a:prstTxWarp>
          </a:bodyPr>
          <a:lstStyle/>
          <a:p>
            <a:endParaRPr lang="en-US"/>
          </a:p>
        </p:txBody>
      </p:sp>
      <p:sp>
        <p:nvSpPr>
          <p:cNvPr id="97319" name="AutoShape 39"/>
          <p:cNvSpPr>
            <a:spLocks noChangeArrowheads="1"/>
          </p:cNvSpPr>
          <p:nvPr/>
        </p:nvSpPr>
        <p:spPr bwMode="auto">
          <a:xfrm>
            <a:off x="5707063" y="6076950"/>
            <a:ext cx="609600" cy="609600"/>
          </a:xfrm>
          <a:prstGeom prst="can">
            <a:avLst>
              <a:gd name="adj" fmla="val 25000"/>
            </a:avLst>
          </a:prstGeom>
          <a:noFill/>
          <a:ln w="12700">
            <a:solidFill>
              <a:schemeClr val="tx1"/>
            </a:solidFill>
            <a:round/>
            <a:headEnd/>
            <a:tailEnd/>
          </a:ln>
          <a:effectLst/>
        </p:spPr>
        <p:txBody>
          <a:bodyPr wrap="none" anchor="ctr">
            <a:prstTxWarp prst="textNoShape">
              <a:avLst/>
            </a:prstTxWarp>
          </a:bodyPr>
          <a:lstStyle/>
          <a:p>
            <a:pPr algn="ctr">
              <a:lnSpc>
                <a:spcPct val="100000"/>
              </a:lnSpc>
            </a:pPr>
            <a:r>
              <a:rPr lang="en-US" sz="1600" dirty="0"/>
              <a:t>Disk</a:t>
            </a:r>
          </a:p>
        </p:txBody>
      </p:sp>
      <p:sp>
        <p:nvSpPr>
          <p:cNvPr id="97320" name="AutoShape 40"/>
          <p:cNvSpPr>
            <a:spLocks noChangeArrowheads="1"/>
          </p:cNvSpPr>
          <p:nvPr/>
        </p:nvSpPr>
        <p:spPr bwMode="auto">
          <a:xfrm>
            <a:off x="855663" y="4235450"/>
            <a:ext cx="7277100" cy="393700"/>
          </a:xfrm>
          <a:prstGeom prst="leftRightArrow">
            <a:avLst>
              <a:gd name="adj1" fmla="val 48611"/>
              <a:gd name="adj2" fmla="val 95500"/>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7321" name="Rectangle 41"/>
          <p:cNvSpPr>
            <a:spLocks noChangeArrowheads="1"/>
          </p:cNvSpPr>
          <p:nvPr/>
        </p:nvSpPr>
        <p:spPr bwMode="auto">
          <a:xfrm>
            <a:off x="1931988" y="4405313"/>
            <a:ext cx="166687" cy="152400"/>
          </a:xfrm>
          <a:prstGeom prst="rect">
            <a:avLst/>
          </a:prstGeom>
          <a:solidFill>
            <a:srgbClr val="F7F5CD"/>
          </a:solidFill>
          <a:ln w="12700">
            <a:noFill/>
            <a:miter lim="800000"/>
            <a:headEnd/>
            <a:tailEnd/>
          </a:ln>
          <a:effectLst/>
        </p:spPr>
        <p:txBody>
          <a:bodyPr wrap="none" anchor="ctr">
            <a:prstTxWarp prst="textNoShape">
              <a:avLst/>
            </a:prstTxWarp>
          </a:bodyPr>
          <a:lstStyle/>
          <a:p>
            <a:endParaRPr lang="en-US"/>
          </a:p>
        </p:txBody>
      </p:sp>
      <p:sp>
        <p:nvSpPr>
          <p:cNvPr id="97322" name="Rectangle 42"/>
          <p:cNvSpPr>
            <a:spLocks noChangeArrowheads="1"/>
          </p:cNvSpPr>
          <p:nvPr/>
        </p:nvSpPr>
        <p:spPr bwMode="auto">
          <a:xfrm>
            <a:off x="3608388" y="4395788"/>
            <a:ext cx="166687" cy="152400"/>
          </a:xfrm>
          <a:prstGeom prst="rect">
            <a:avLst/>
          </a:prstGeom>
          <a:solidFill>
            <a:srgbClr val="F7F5CD"/>
          </a:solidFill>
          <a:ln w="12700">
            <a:noFill/>
            <a:miter lim="800000"/>
            <a:headEnd/>
            <a:tailEnd/>
          </a:ln>
          <a:effectLst/>
        </p:spPr>
        <p:txBody>
          <a:bodyPr wrap="none" anchor="ctr">
            <a:prstTxWarp prst="textNoShape">
              <a:avLst/>
            </a:prstTxWarp>
          </a:bodyPr>
          <a:lstStyle/>
          <a:p>
            <a:endParaRPr lang="en-US"/>
          </a:p>
        </p:txBody>
      </p:sp>
      <p:sp>
        <p:nvSpPr>
          <p:cNvPr id="97323" name="Rectangle 43"/>
          <p:cNvSpPr>
            <a:spLocks noChangeArrowheads="1"/>
          </p:cNvSpPr>
          <p:nvPr/>
        </p:nvSpPr>
        <p:spPr bwMode="auto">
          <a:xfrm>
            <a:off x="5942013" y="4386263"/>
            <a:ext cx="161925" cy="152400"/>
          </a:xfrm>
          <a:prstGeom prst="rect">
            <a:avLst/>
          </a:prstGeom>
          <a:solidFill>
            <a:srgbClr val="F7F5CD"/>
          </a:solidFill>
          <a:ln w="12700">
            <a:noFill/>
            <a:miter lim="800000"/>
            <a:headEnd/>
            <a:tailEnd/>
          </a:ln>
          <a:effectLst/>
        </p:spPr>
        <p:txBody>
          <a:bodyPr wrap="none" anchor="ctr">
            <a:prstTxWarp prst="textNoShape">
              <a:avLst/>
            </a:prstTxWarp>
          </a:bodyPr>
          <a:lstStyle/>
          <a:p>
            <a:endParaRPr lang="en-US"/>
          </a:p>
        </p:txBody>
      </p:sp>
      <p:sp>
        <p:nvSpPr>
          <p:cNvPr id="97324" name="Text Box 44"/>
          <p:cNvSpPr txBox="1">
            <a:spLocks noChangeArrowheads="1"/>
          </p:cNvSpPr>
          <p:nvPr/>
        </p:nvSpPr>
        <p:spPr bwMode="auto">
          <a:xfrm>
            <a:off x="4529138" y="4540250"/>
            <a:ext cx="874712"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I/O bus</a:t>
            </a:r>
          </a:p>
        </p:txBody>
      </p:sp>
      <p:sp>
        <p:nvSpPr>
          <p:cNvPr id="97325" name="Rectangle 45"/>
          <p:cNvSpPr>
            <a:spLocks noChangeArrowheads="1"/>
          </p:cNvSpPr>
          <p:nvPr/>
        </p:nvSpPr>
        <p:spPr bwMode="auto">
          <a:xfrm>
            <a:off x="4832350" y="4324350"/>
            <a:ext cx="161925" cy="152400"/>
          </a:xfrm>
          <a:prstGeom prst="rect">
            <a:avLst/>
          </a:prstGeom>
          <a:solidFill>
            <a:srgbClr val="F7F5CD"/>
          </a:solidFill>
          <a:ln w="12700">
            <a:noFill/>
            <a:miter lim="800000"/>
            <a:headEnd/>
            <a:tailEnd/>
          </a:ln>
          <a:effectLst/>
        </p:spPr>
        <p:txBody>
          <a:bodyPr wrap="none" anchor="ctr">
            <a:prstTxWarp prst="textNoShape">
              <a:avLst/>
            </a:prstTxWarp>
          </a:bodyPr>
          <a:lstStyle/>
          <a:p>
            <a:endParaRPr lang="en-US"/>
          </a:p>
        </p:txBody>
      </p:sp>
      <p:sp>
        <p:nvSpPr>
          <p:cNvPr id="97326" name="Rectangle 46"/>
          <p:cNvSpPr>
            <a:spLocks noChangeArrowheads="1"/>
          </p:cNvSpPr>
          <p:nvPr/>
        </p:nvSpPr>
        <p:spPr bwMode="auto">
          <a:xfrm>
            <a:off x="6723063" y="4248150"/>
            <a:ext cx="127000" cy="4064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7327" name="Rectangle 47"/>
          <p:cNvSpPr>
            <a:spLocks noChangeArrowheads="1"/>
          </p:cNvSpPr>
          <p:nvPr/>
        </p:nvSpPr>
        <p:spPr bwMode="auto">
          <a:xfrm>
            <a:off x="7027863" y="4248150"/>
            <a:ext cx="127000" cy="4064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7328" name="Rectangle 48"/>
          <p:cNvSpPr>
            <a:spLocks noChangeArrowheads="1"/>
          </p:cNvSpPr>
          <p:nvPr/>
        </p:nvSpPr>
        <p:spPr bwMode="auto">
          <a:xfrm>
            <a:off x="7332663" y="4248150"/>
            <a:ext cx="127000" cy="406400"/>
          </a:xfrm>
          <a:prstGeom prst="rect">
            <a:avLst/>
          </a:prstGeom>
          <a:solidFill>
            <a:schemeClr val="bg1"/>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7329" name="Text Box 49"/>
          <p:cNvSpPr txBox="1">
            <a:spLocks noChangeArrowheads="1"/>
          </p:cNvSpPr>
          <p:nvPr/>
        </p:nvSpPr>
        <p:spPr bwMode="auto">
          <a:xfrm>
            <a:off x="6708775" y="4629150"/>
            <a:ext cx="2212975" cy="1069975"/>
          </a:xfrm>
          <a:prstGeom prst="rect">
            <a:avLst/>
          </a:prstGeom>
          <a:noFill/>
          <a:ln w="12700">
            <a:noFill/>
            <a:miter lim="800000"/>
            <a:headEnd/>
            <a:tailEnd/>
          </a:ln>
          <a:effectLst/>
        </p:spPr>
        <p:txBody>
          <a:bodyPr wrap="none" anchor="ctr">
            <a:prstTxWarp prst="textNoShape">
              <a:avLst/>
            </a:prstTxWarp>
            <a:spAutoFit/>
          </a:bodyPr>
          <a:lstStyle/>
          <a:p>
            <a:pPr algn="l">
              <a:lnSpc>
                <a:spcPct val="100000"/>
              </a:lnSpc>
            </a:pPr>
            <a:r>
              <a:rPr lang="en-US" sz="1600"/>
              <a:t>Expansion slots for</a:t>
            </a:r>
          </a:p>
          <a:p>
            <a:pPr algn="l">
              <a:lnSpc>
                <a:spcPct val="100000"/>
              </a:lnSpc>
            </a:pPr>
            <a:r>
              <a:rPr lang="en-US" sz="1600"/>
              <a:t>other devices such</a:t>
            </a:r>
          </a:p>
          <a:p>
            <a:pPr algn="l">
              <a:lnSpc>
                <a:spcPct val="100000"/>
              </a:lnSpc>
            </a:pPr>
            <a:r>
              <a:rPr lang="en-US" sz="1600"/>
              <a:t>as network adapters.</a:t>
            </a:r>
          </a:p>
          <a:p>
            <a:pPr algn="l">
              <a:lnSpc>
                <a:spcPct val="100000"/>
              </a:lnSpc>
            </a:pPr>
            <a:endParaRPr lang="en-US" sz="1600"/>
          </a:p>
        </p:txBody>
      </p:sp>
      <p:sp>
        <p:nvSpPr>
          <p:cNvPr id="2" name="Rectangle 1">
            <a:extLst>
              <a:ext uri="{FF2B5EF4-FFF2-40B4-BE49-F238E27FC236}">
                <a16:creationId xmlns:a16="http://schemas.microsoft.com/office/drawing/2014/main" id="{B79733FD-F81F-ABAB-A38A-86CE1F59A8B6}"/>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351E720D-FA4E-0AF4-97AA-BC7F0D04CA37}"/>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51" name="Rectangle 47"/>
          <p:cNvSpPr>
            <a:spLocks noGrp="1" noChangeArrowheads="1"/>
          </p:cNvSpPr>
          <p:nvPr>
            <p:ph type="title"/>
          </p:nvPr>
        </p:nvSpPr>
        <p:spPr/>
        <p:txBody>
          <a:bodyPr/>
          <a:lstStyle/>
          <a:p>
            <a:r>
              <a:rPr lang="en-US" dirty="0"/>
              <a:t>Reading a Disk Sector (1)</a:t>
            </a:r>
          </a:p>
        </p:txBody>
      </p:sp>
      <p:sp>
        <p:nvSpPr>
          <p:cNvPr id="98308" name="Rectangle 4"/>
          <p:cNvSpPr>
            <a:spLocks noChangeArrowheads="1"/>
          </p:cNvSpPr>
          <p:nvPr/>
        </p:nvSpPr>
        <p:spPr bwMode="auto">
          <a:xfrm>
            <a:off x="6291263" y="2988677"/>
            <a:ext cx="909637" cy="914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Main</a:t>
            </a:r>
          </a:p>
          <a:p>
            <a:pPr algn="ctr">
              <a:lnSpc>
                <a:spcPct val="100000"/>
              </a:lnSpc>
            </a:pPr>
            <a:r>
              <a:rPr lang="en-US" sz="1600" dirty="0"/>
              <a:t>memory</a:t>
            </a:r>
          </a:p>
        </p:txBody>
      </p:sp>
      <p:sp>
        <p:nvSpPr>
          <p:cNvPr id="98309" name="AutoShape 5"/>
          <p:cNvSpPr>
            <a:spLocks noChangeArrowheads="1"/>
          </p:cNvSpPr>
          <p:nvPr/>
        </p:nvSpPr>
        <p:spPr bwMode="auto">
          <a:xfrm>
            <a:off x="4767263" y="3124200"/>
            <a:ext cx="1492250" cy="533400"/>
          </a:xfrm>
          <a:prstGeom prst="leftRightArrow">
            <a:avLst>
              <a:gd name="adj1" fmla="val 50000"/>
              <a:gd name="adj2" fmla="val 55952"/>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8310" name="Rectangle 6"/>
          <p:cNvSpPr>
            <a:spLocks noChangeArrowheads="1"/>
          </p:cNvSpPr>
          <p:nvPr/>
        </p:nvSpPr>
        <p:spPr bwMode="auto">
          <a:xfrm>
            <a:off x="3852863" y="3155950"/>
            <a:ext cx="909637" cy="57785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8311" name="AutoShape 7"/>
          <p:cNvSpPr>
            <a:spLocks noChangeArrowheads="1"/>
          </p:cNvSpPr>
          <p:nvPr/>
        </p:nvSpPr>
        <p:spPr bwMode="auto">
          <a:xfrm>
            <a:off x="2395538" y="3124200"/>
            <a:ext cx="1452562" cy="533400"/>
          </a:xfrm>
          <a:prstGeom prst="leftRightArrow">
            <a:avLst>
              <a:gd name="adj1" fmla="val 50000"/>
              <a:gd name="adj2" fmla="val 54464"/>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8312" name="Rectangle 8"/>
          <p:cNvSpPr>
            <a:spLocks noChangeArrowheads="1"/>
          </p:cNvSpPr>
          <p:nvPr/>
        </p:nvSpPr>
        <p:spPr bwMode="auto">
          <a:xfrm>
            <a:off x="1411288" y="18288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8313" name="Rectangle 9"/>
          <p:cNvSpPr>
            <a:spLocks noChangeArrowheads="1"/>
          </p:cNvSpPr>
          <p:nvPr/>
        </p:nvSpPr>
        <p:spPr bwMode="auto">
          <a:xfrm>
            <a:off x="1411288" y="19812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8314" name="Rectangle 10"/>
          <p:cNvSpPr>
            <a:spLocks noChangeArrowheads="1"/>
          </p:cNvSpPr>
          <p:nvPr/>
        </p:nvSpPr>
        <p:spPr bwMode="auto">
          <a:xfrm>
            <a:off x="1411288" y="21336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8315" name="Rectangle 11"/>
          <p:cNvSpPr>
            <a:spLocks noChangeArrowheads="1"/>
          </p:cNvSpPr>
          <p:nvPr/>
        </p:nvSpPr>
        <p:spPr bwMode="auto">
          <a:xfrm>
            <a:off x="1411288" y="22860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8316" name="Rectangle 12"/>
          <p:cNvSpPr>
            <a:spLocks noChangeArrowheads="1"/>
          </p:cNvSpPr>
          <p:nvPr/>
        </p:nvSpPr>
        <p:spPr bwMode="auto">
          <a:xfrm>
            <a:off x="1411288" y="24384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8317" name="AutoShape 13"/>
          <p:cNvSpPr>
            <a:spLocks noChangeArrowheads="1"/>
          </p:cNvSpPr>
          <p:nvPr/>
        </p:nvSpPr>
        <p:spPr bwMode="auto">
          <a:xfrm>
            <a:off x="2184400" y="18288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8318" name="AutoShape 14"/>
          <p:cNvSpPr>
            <a:spLocks noChangeArrowheads="1"/>
          </p:cNvSpPr>
          <p:nvPr/>
        </p:nvSpPr>
        <p:spPr bwMode="auto">
          <a:xfrm flipH="1">
            <a:off x="2095500" y="22098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8319" name="Rectangle 15"/>
          <p:cNvSpPr>
            <a:spLocks noChangeArrowheads="1"/>
          </p:cNvSpPr>
          <p:nvPr/>
        </p:nvSpPr>
        <p:spPr bwMode="auto">
          <a:xfrm>
            <a:off x="2628900" y="1693277"/>
            <a:ext cx="533400" cy="10668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ALU</a:t>
            </a:r>
          </a:p>
        </p:txBody>
      </p:sp>
      <p:sp>
        <p:nvSpPr>
          <p:cNvPr id="98320" name="Text Box 16"/>
          <p:cNvSpPr txBox="1">
            <a:spLocks noChangeArrowheads="1"/>
          </p:cNvSpPr>
          <p:nvPr/>
        </p:nvSpPr>
        <p:spPr bwMode="auto">
          <a:xfrm>
            <a:off x="1128713" y="1524000"/>
            <a:ext cx="114777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Register file</a:t>
            </a:r>
          </a:p>
        </p:txBody>
      </p:sp>
      <p:sp>
        <p:nvSpPr>
          <p:cNvPr id="98321" name="AutoShape 17"/>
          <p:cNvSpPr>
            <a:spLocks noChangeArrowheads="1"/>
          </p:cNvSpPr>
          <p:nvPr/>
        </p:nvSpPr>
        <p:spPr bwMode="auto">
          <a:xfrm>
            <a:off x="1485900" y="2667000"/>
            <a:ext cx="609600" cy="45720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8322" name="Rectangle 18"/>
          <p:cNvSpPr>
            <a:spLocks noChangeArrowheads="1"/>
          </p:cNvSpPr>
          <p:nvPr/>
        </p:nvSpPr>
        <p:spPr bwMode="auto">
          <a:xfrm>
            <a:off x="342900" y="1447800"/>
            <a:ext cx="2971800" cy="2438400"/>
          </a:xfrm>
          <a:prstGeom prst="rect">
            <a:avLst/>
          </a:prstGeom>
          <a:noFill/>
          <a:ln w="12700" cap="rnd">
            <a:solidFill>
              <a:schemeClr val="tx1"/>
            </a:solidFill>
            <a:prstDash val="sysDot"/>
            <a:miter lim="800000"/>
            <a:headEnd/>
            <a:tailEnd/>
          </a:ln>
          <a:effectLst/>
        </p:spPr>
        <p:txBody>
          <a:bodyPr wrap="none" anchor="ctr">
            <a:prstTxWarp prst="textNoShape">
              <a:avLst/>
            </a:prstTxWarp>
          </a:bodyPr>
          <a:lstStyle/>
          <a:p>
            <a:endParaRPr lang="en-US"/>
          </a:p>
        </p:txBody>
      </p:sp>
      <p:sp>
        <p:nvSpPr>
          <p:cNvPr id="98323" name="Text Box 19"/>
          <p:cNvSpPr txBox="1">
            <a:spLocks noChangeArrowheads="1"/>
          </p:cNvSpPr>
          <p:nvPr/>
        </p:nvSpPr>
        <p:spPr bwMode="auto">
          <a:xfrm>
            <a:off x="228600" y="1143000"/>
            <a:ext cx="108585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CPU chip</a:t>
            </a:r>
          </a:p>
        </p:txBody>
      </p:sp>
      <p:sp>
        <p:nvSpPr>
          <p:cNvPr id="98324" name="AutoShape 20"/>
          <p:cNvSpPr>
            <a:spLocks noChangeArrowheads="1"/>
          </p:cNvSpPr>
          <p:nvPr/>
        </p:nvSpPr>
        <p:spPr bwMode="auto">
          <a:xfrm>
            <a:off x="4076700" y="38100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8325" name="AutoShape 21"/>
          <p:cNvSpPr>
            <a:spLocks noChangeArrowheads="1"/>
          </p:cNvSpPr>
          <p:nvPr/>
        </p:nvSpPr>
        <p:spPr bwMode="auto">
          <a:xfrm flipV="1">
            <a:off x="5181600" y="45466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8326" name="Rectangle 22"/>
          <p:cNvSpPr>
            <a:spLocks noChangeArrowheads="1"/>
          </p:cNvSpPr>
          <p:nvPr/>
        </p:nvSpPr>
        <p:spPr bwMode="auto">
          <a:xfrm>
            <a:off x="4762500" y="5287377"/>
            <a:ext cx="12954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Disk </a:t>
            </a:r>
          </a:p>
          <a:p>
            <a:pPr algn="ctr">
              <a:lnSpc>
                <a:spcPct val="100000"/>
              </a:lnSpc>
            </a:pPr>
            <a:r>
              <a:rPr lang="en-US" sz="1600" dirty="0"/>
              <a:t>controller</a:t>
            </a:r>
          </a:p>
        </p:txBody>
      </p:sp>
      <p:sp>
        <p:nvSpPr>
          <p:cNvPr id="98327" name="AutoShape 23"/>
          <p:cNvSpPr>
            <a:spLocks noChangeArrowheads="1"/>
          </p:cNvSpPr>
          <p:nvPr/>
        </p:nvSpPr>
        <p:spPr bwMode="auto">
          <a:xfrm flipV="1">
            <a:off x="2851150" y="45466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8328" name="Rectangle 24"/>
          <p:cNvSpPr>
            <a:spLocks noChangeArrowheads="1"/>
          </p:cNvSpPr>
          <p:nvPr/>
        </p:nvSpPr>
        <p:spPr bwMode="auto">
          <a:xfrm>
            <a:off x="2432050" y="5287377"/>
            <a:ext cx="12954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Graphics</a:t>
            </a:r>
          </a:p>
          <a:p>
            <a:pPr algn="ctr">
              <a:lnSpc>
                <a:spcPct val="100000"/>
              </a:lnSpc>
            </a:pPr>
            <a:r>
              <a:rPr lang="en-US" sz="1600" dirty="0"/>
              <a:t>adapter</a:t>
            </a:r>
          </a:p>
        </p:txBody>
      </p:sp>
      <p:sp>
        <p:nvSpPr>
          <p:cNvPr id="98329" name="AutoShape 25"/>
          <p:cNvSpPr>
            <a:spLocks noChangeArrowheads="1"/>
          </p:cNvSpPr>
          <p:nvPr/>
        </p:nvSpPr>
        <p:spPr bwMode="auto">
          <a:xfrm flipV="1">
            <a:off x="1174750" y="45466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8330" name="Rectangle 26"/>
          <p:cNvSpPr>
            <a:spLocks noChangeArrowheads="1"/>
          </p:cNvSpPr>
          <p:nvPr/>
        </p:nvSpPr>
        <p:spPr bwMode="auto">
          <a:xfrm>
            <a:off x="831850" y="5198477"/>
            <a:ext cx="11430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USB</a:t>
            </a:r>
          </a:p>
          <a:p>
            <a:pPr algn="ctr">
              <a:lnSpc>
                <a:spcPct val="100000"/>
              </a:lnSpc>
            </a:pPr>
            <a:r>
              <a:rPr lang="en-US" sz="1600"/>
              <a:t>controller</a:t>
            </a:r>
          </a:p>
        </p:txBody>
      </p:sp>
      <p:sp>
        <p:nvSpPr>
          <p:cNvPr id="98331" name="Line 27"/>
          <p:cNvSpPr>
            <a:spLocks noChangeShapeType="1"/>
          </p:cNvSpPr>
          <p:nvPr/>
        </p:nvSpPr>
        <p:spPr bwMode="auto">
          <a:xfrm>
            <a:off x="1060450" y="5791200"/>
            <a:ext cx="0" cy="304800"/>
          </a:xfrm>
          <a:prstGeom prst="line">
            <a:avLst/>
          </a:prstGeom>
          <a:noFill/>
          <a:ln w="12700">
            <a:solidFill>
              <a:schemeClr val="tx1"/>
            </a:solidFill>
            <a:round/>
            <a:headEnd type="triangle" w="med" len="med"/>
            <a:tailEnd/>
          </a:ln>
          <a:effectLst/>
        </p:spPr>
        <p:txBody>
          <a:bodyPr wrap="none" anchor="ctr">
            <a:prstTxWarp prst="textNoShape">
              <a:avLst/>
            </a:prstTxWarp>
          </a:bodyPr>
          <a:lstStyle/>
          <a:p>
            <a:endParaRPr lang="en-US"/>
          </a:p>
        </p:txBody>
      </p:sp>
      <p:sp>
        <p:nvSpPr>
          <p:cNvPr id="98332" name="Line 28"/>
          <p:cNvSpPr>
            <a:spLocks noChangeShapeType="1"/>
          </p:cNvSpPr>
          <p:nvPr/>
        </p:nvSpPr>
        <p:spPr bwMode="auto">
          <a:xfrm>
            <a:off x="1822450" y="5791200"/>
            <a:ext cx="0" cy="304800"/>
          </a:xfrm>
          <a:prstGeom prst="line">
            <a:avLst/>
          </a:prstGeom>
          <a:noFill/>
          <a:ln w="12700">
            <a:solidFill>
              <a:schemeClr val="tx1"/>
            </a:solidFill>
            <a:round/>
            <a:headEnd type="triangle" w="med" len="med"/>
            <a:tailEnd/>
          </a:ln>
          <a:effectLst/>
        </p:spPr>
        <p:txBody>
          <a:bodyPr wrap="none" anchor="ctr">
            <a:prstTxWarp prst="textNoShape">
              <a:avLst/>
            </a:prstTxWarp>
          </a:bodyPr>
          <a:lstStyle/>
          <a:p>
            <a:endParaRPr lang="en-US"/>
          </a:p>
        </p:txBody>
      </p:sp>
      <p:sp>
        <p:nvSpPr>
          <p:cNvPr id="98333" name="Text Box 29"/>
          <p:cNvSpPr txBox="1">
            <a:spLocks noChangeArrowheads="1"/>
          </p:cNvSpPr>
          <p:nvPr/>
        </p:nvSpPr>
        <p:spPr bwMode="auto">
          <a:xfrm>
            <a:off x="681084" y="6035675"/>
            <a:ext cx="726982"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a:t>mouse</a:t>
            </a:r>
          </a:p>
        </p:txBody>
      </p:sp>
      <p:sp>
        <p:nvSpPr>
          <p:cNvPr id="98334" name="Text Box 30"/>
          <p:cNvSpPr txBox="1">
            <a:spLocks noChangeArrowheads="1"/>
          </p:cNvSpPr>
          <p:nvPr/>
        </p:nvSpPr>
        <p:spPr bwMode="auto">
          <a:xfrm>
            <a:off x="1379879" y="6019800"/>
            <a:ext cx="932767"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keyboard</a:t>
            </a:r>
          </a:p>
        </p:txBody>
      </p:sp>
      <p:sp>
        <p:nvSpPr>
          <p:cNvPr id="98335" name="Line 31"/>
          <p:cNvSpPr>
            <a:spLocks noChangeShapeType="1"/>
          </p:cNvSpPr>
          <p:nvPr/>
        </p:nvSpPr>
        <p:spPr bwMode="auto">
          <a:xfrm>
            <a:off x="3117850" y="5791200"/>
            <a:ext cx="0" cy="30480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98336" name="Text Box 32"/>
          <p:cNvSpPr txBox="1">
            <a:spLocks noChangeArrowheads="1"/>
          </p:cNvSpPr>
          <p:nvPr/>
        </p:nvSpPr>
        <p:spPr bwMode="auto">
          <a:xfrm>
            <a:off x="2620963" y="6035675"/>
            <a:ext cx="801421"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Monitor</a:t>
            </a:r>
          </a:p>
        </p:txBody>
      </p:sp>
      <p:sp>
        <p:nvSpPr>
          <p:cNvPr id="98337" name="Line 33"/>
          <p:cNvSpPr>
            <a:spLocks noChangeShapeType="1"/>
          </p:cNvSpPr>
          <p:nvPr/>
        </p:nvSpPr>
        <p:spPr bwMode="auto">
          <a:xfrm>
            <a:off x="5422900" y="5791200"/>
            <a:ext cx="0" cy="381000"/>
          </a:xfrm>
          <a:prstGeom prst="line">
            <a:avLst/>
          </a:prstGeom>
          <a:noFill/>
          <a:ln w="12700">
            <a:solidFill>
              <a:schemeClr val="tx1"/>
            </a:solidFill>
            <a:round/>
            <a:headEnd type="triangle" w="med" len="med"/>
            <a:tailEnd type="triangle" w="med" len="med"/>
          </a:ln>
          <a:effectLst/>
        </p:spPr>
        <p:txBody>
          <a:bodyPr wrap="none" anchor="ctr">
            <a:prstTxWarp prst="textNoShape">
              <a:avLst/>
            </a:prstTxWarp>
          </a:bodyPr>
          <a:lstStyle/>
          <a:p>
            <a:endParaRPr lang="en-US"/>
          </a:p>
        </p:txBody>
      </p:sp>
      <p:sp>
        <p:nvSpPr>
          <p:cNvPr id="98338" name="AutoShape 34"/>
          <p:cNvSpPr>
            <a:spLocks noChangeArrowheads="1"/>
          </p:cNvSpPr>
          <p:nvPr/>
        </p:nvSpPr>
        <p:spPr bwMode="auto">
          <a:xfrm>
            <a:off x="5124450" y="6189077"/>
            <a:ext cx="609600" cy="609600"/>
          </a:xfrm>
          <a:prstGeom prst="can">
            <a:avLst>
              <a:gd name="adj" fmla="val 25000"/>
            </a:avLst>
          </a:prstGeom>
          <a:noFill/>
          <a:ln w="12700">
            <a:solidFill>
              <a:schemeClr val="tx1"/>
            </a:solidFill>
            <a:round/>
            <a:headEnd/>
            <a:tailEnd/>
          </a:ln>
          <a:effectLst/>
        </p:spPr>
        <p:txBody>
          <a:bodyPr wrap="none" anchor="ctr">
            <a:prstTxWarp prst="textNoShape">
              <a:avLst/>
            </a:prstTxWarp>
          </a:bodyPr>
          <a:lstStyle/>
          <a:p>
            <a:pPr algn="ctr">
              <a:lnSpc>
                <a:spcPct val="100000"/>
              </a:lnSpc>
            </a:pPr>
            <a:r>
              <a:rPr lang="en-US" sz="1600" dirty="0"/>
              <a:t>Disk</a:t>
            </a:r>
          </a:p>
        </p:txBody>
      </p:sp>
      <p:sp>
        <p:nvSpPr>
          <p:cNvPr id="98339" name="AutoShape 35"/>
          <p:cNvSpPr>
            <a:spLocks noChangeArrowheads="1"/>
          </p:cNvSpPr>
          <p:nvPr/>
        </p:nvSpPr>
        <p:spPr bwMode="auto">
          <a:xfrm>
            <a:off x="266700" y="4330700"/>
            <a:ext cx="6972300" cy="393700"/>
          </a:xfrm>
          <a:prstGeom prst="leftRightArrow">
            <a:avLst>
              <a:gd name="adj1" fmla="val 48611"/>
              <a:gd name="adj2" fmla="val 91500"/>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8340" name="Rectangle 36"/>
          <p:cNvSpPr>
            <a:spLocks noChangeArrowheads="1"/>
          </p:cNvSpPr>
          <p:nvPr/>
        </p:nvSpPr>
        <p:spPr bwMode="auto">
          <a:xfrm>
            <a:off x="1343025" y="4500563"/>
            <a:ext cx="166688"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98341" name="Rectangle 37"/>
          <p:cNvSpPr>
            <a:spLocks noChangeArrowheads="1"/>
          </p:cNvSpPr>
          <p:nvPr/>
        </p:nvSpPr>
        <p:spPr bwMode="auto">
          <a:xfrm>
            <a:off x="3019425" y="4491038"/>
            <a:ext cx="166688"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98342" name="Rectangle 38"/>
          <p:cNvSpPr>
            <a:spLocks noChangeArrowheads="1"/>
          </p:cNvSpPr>
          <p:nvPr/>
        </p:nvSpPr>
        <p:spPr bwMode="auto">
          <a:xfrm>
            <a:off x="5353050" y="4481513"/>
            <a:ext cx="161925"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98343" name="Text Box 39"/>
          <p:cNvSpPr txBox="1">
            <a:spLocks noChangeArrowheads="1"/>
          </p:cNvSpPr>
          <p:nvPr/>
        </p:nvSpPr>
        <p:spPr bwMode="auto">
          <a:xfrm>
            <a:off x="5553075" y="4127500"/>
            <a:ext cx="874713"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I/O bus</a:t>
            </a:r>
          </a:p>
        </p:txBody>
      </p:sp>
      <p:sp>
        <p:nvSpPr>
          <p:cNvPr id="98344" name="Rectangle 40"/>
          <p:cNvSpPr>
            <a:spLocks noChangeArrowheads="1"/>
          </p:cNvSpPr>
          <p:nvPr/>
        </p:nvSpPr>
        <p:spPr bwMode="auto">
          <a:xfrm>
            <a:off x="4243388" y="4419600"/>
            <a:ext cx="161925"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98345" name="Line 41"/>
          <p:cNvSpPr>
            <a:spLocks noChangeShapeType="1"/>
          </p:cNvSpPr>
          <p:nvPr/>
        </p:nvSpPr>
        <p:spPr bwMode="auto">
          <a:xfrm>
            <a:off x="2355850" y="3365500"/>
            <a:ext cx="2012950" cy="0"/>
          </a:xfrm>
          <a:prstGeom prst="line">
            <a:avLst/>
          </a:prstGeom>
          <a:noFill/>
          <a:ln w="76200">
            <a:solidFill>
              <a:srgbClr val="00FFFF"/>
            </a:solidFill>
            <a:round/>
            <a:headEnd/>
            <a:tailEnd/>
          </a:ln>
          <a:effectLst/>
        </p:spPr>
        <p:txBody>
          <a:bodyPr wrap="none" anchor="ctr">
            <a:prstTxWarp prst="textNoShape">
              <a:avLst/>
            </a:prstTxWarp>
          </a:bodyPr>
          <a:lstStyle/>
          <a:p>
            <a:endParaRPr lang="en-US"/>
          </a:p>
        </p:txBody>
      </p:sp>
      <p:sp>
        <p:nvSpPr>
          <p:cNvPr id="98346" name="Line 42"/>
          <p:cNvSpPr>
            <a:spLocks noChangeShapeType="1"/>
          </p:cNvSpPr>
          <p:nvPr/>
        </p:nvSpPr>
        <p:spPr bwMode="auto">
          <a:xfrm>
            <a:off x="4332288" y="3365500"/>
            <a:ext cx="0" cy="1135063"/>
          </a:xfrm>
          <a:prstGeom prst="line">
            <a:avLst/>
          </a:prstGeom>
          <a:noFill/>
          <a:ln w="76200">
            <a:solidFill>
              <a:srgbClr val="00FFFF"/>
            </a:solidFill>
            <a:round/>
            <a:headEnd/>
            <a:tailEnd/>
          </a:ln>
          <a:effectLst/>
        </p:spPr>
        <p:txBody>
          <a:bodyPr wrap="none" anchor="ctr">
            <a:prstTxWarp prst="textNoShape">
              <a:avLst/>
            </a:prstTxWarp>
          </a:bodyPr>
          <a:lstStyle/>
          <a:p>
            <a:endParaRPr lang="en-US"/>
          </a:p>
        </p:txBody>
      </p:sp>
      <p:sp>
        <p:nvSpPr>
          <p:cNvPr id="98347" name="Line 43"/>
          <p:cNvSpPr>
            <a:spLocks noChangeShapeType="1"/>
          </p:cNvSpPr>
          <p:nvPr/>
        </p:nvSpPr>
        <p:spPr bwMode="auto">
          <a:xfrm flipV="1">
            <a:off x="4294188" y="4529138"/>
            <a:ext cx="1128712" cy="0"/>
          </a:xfrm>
          <a:prstGeom prst="line">
            <a:avLst/>
          </a:prstGeom>
          <a:noFill/>
          <a:ln w="76200">
            <a:solidFill>
              <a:srgbClr val="00FFFF"/>
            </a:solidFill>
            <a:round/>
            <a:headEnd/>
            <a:tailEnd/>
          </a:ln>
          <a:effectLst/>
        </p:spPr>
        <p:txBody>
          <a:bodyPr wrap="none" anchor="ctr">
            <a:prstTxWarp prst="textNoShape">
              <a:avLst/>
            </a:prstTxWarp>
          </a:bodyPr>
          <a:lstStyle/>
          <a:p>
            <a:endParaRPr lang="en-US"/>
          </a:p>
        </p:txBody>
      </p:sp>
      <p:sp>
        <p:nvSpPr>
          <p:cNvPr id="98348" name="Line 44"/>
          <p:cNvSpPr>
            <a:spLocks noChangeShapeType="1"/>
          </p:cNvSpPr>
          <p:nvPr/>
        </p:nvSpPr>
        <p:spPr bwMode="auto">
          <a:xfrm>
            <a:off x="5429250" y="4487863"/>
            <a:ext cx="0" cy="782637"/>
          </a:xfrm>
          <a:prstGeom prst="line">
            <a:avLst/>
          </a:prstGeom>
          <a:noFill/>
          <a:ln w="76200">
            <a:solidFill>
              <a:srgbClr val="00FFFF"/>
            </a:solidFill>
            <a:round/>
            <a:headEnd/>
            <a:tailEnd type="triangle" w="med" len="med"/>
          </a:ln>
          <a:effectLst/>
        </p:spPr>
        <p:txBody>
          <a:bodyPr wrap="none" anchor="ctr">
            <a:prstTxWarp prst="textNoShape">
              <a:avLst/>
            </a:prstTxWarp>
          </a:bodyPr>
          <a:lstStyle/>
          <a:p>
            <a:endParaRPr lang="en-US"/>
          </a:p>
        </p:txBody>
      </p:sp>
      <p:sp>
        <p:nvSpPr>
          <p:cNvPr id="98349" name="Rectangle 45"/>
          <p:cNvSpPr>
            <a:spLocks noChangeArrowheads="1"/>
          </p:cNvSpPr>
          <p:nvPr/>
        </p:nvSpPr>
        <p:spPr bwMode="auto">
          <a:xfrm>
            <a:off x="495300" y="3172827"/>
            <a:ext cx="1873250" cy="57785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Bus interface</a:t>
            </a:r>
          </a:p>
        </p:txBody>
      </p:sp>
      <p:sp>
        <p:nvSpPr>
          <p:cNvPr id="98350" name="Text Box 46"/>
          <p:cNvSpPr txBox="1">
            <a:spLocks noChangeArrowheads="1"/>
          </p:cNvSpPr>
          <p:nvPr/>
        </p:nvSpPr>
        <p:spPr bwMode="auto">
          <a:xfrm>
            <a:off x="4038600" y="1323975"/>
            <a:ext cx="4876800" cy="1569660"/>
          </a:xfrm>
          <a:prstGeom prst="rect">
            <a:avLst/>
          </a:prstGeom>
          <a:noFill/>
          <a:ln w="25400">
            <a:noFill/>
            <a:miter lim="800000"/>
            <a:headEnd/>
            <a:tailEnd/>
          </a:ln>
          <a:effectLst/>
        </p:spPr>
        <p:txBody>
          <a:bodyPr wrap="square">
            <a:prstTxWarp prst="textNoShape">
              <a:avLst/>
            </a:prstTxWarp>
            <a:spAutoFit/>
          </a:bodyPr>
          <a:lstStyle/>
          <a:p>
            <a:pPr algn="l">
              <a:lnSpc>
                <a:spcPct val="100000"/>
              </a:lnSpc>
            </a:pPr>
            <a:r>
              <a:rPr lang="en-US" b="0" dirty="0"/>
              <a:t>CPU initiates a disk read by writing a command, logical block number, and destination memory address to a </a:t>
            </a:r>
            <a:r>
              <a:rPr lang="en-US" b="0" dirty="0">
                <a:solidFill>
                  <a:srgbClr val="FF0000"/>
                </a:solidFill>
              </a:rPr>
              <a:t>port </a:t>
            </a:r>
            <a:r>
              <a:rPr lang="en-US" b="0" dirty="0"/>
              <a:t>(address) associated with disk controller.</a:t>
            </a:r>
          </a:p>
        </p:txBody>
      </p:sp>
      <p:sp>
        <p:nvSpPr>
          <p:cNvPr id="2" name="Rectangle 1">
            <a:extLst>
              <a:ext uri="{FF2B5EF4-FFF2-40B4-BE49-F238E27FC236}">
                <a16:creationId xmlns:a16="http://schemas.microsoft.com/office/drawing/2014/main" id="{6D39EE9D-4A4E-29FE-FD27-8CC16F489F3C}"/>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1CF6D35B-9780-8071-057D-8A2F79390BC9}"/>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75" name="Rectangle 47"/>
          <p:cNvSpPr>
            <a:spLocks noGrp="1" noChangeArrowheads="1"/>
          </p:cNvSpPr>
          <p:nvPr>
            <p:ph type="title"/>
          </p:nvPr>
        </p:nvSpPr>
        <p:spPr/>
        <p:txBody>
          <a:bodyPr/>
          <a:lstStyle/>
          <a:p>
            <a:r>
              <a:rPr lang="en-US"/>
              <a:t>Reading a Disk Sector (2)</a:t>
            </a:r>
          </a:p>
        </p:txBody>
      </p:sp>
      <p:sp>
        <p:nvSpPr>
          <p:cNvPr id="99332" name="Rectangle 4"/>
          <p:cNvSpPr>
            <a:spLocks noChangeArrowheads="1"/>
          </p:cNvSpPr>
          <p:nvPr/>
        </p:nvSpPr>
        <p:spPr bwMode="auto">
          <a:xfrm>
            <a:off x="6294438" y="2971800"/>
            <a:ext cx="909637" cy="914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Main</a:t>
            </a:r>
          </a:p>
          <a:p>
            <a:pPr algn="ctr">
              <a:lnSpc>
                <a:spcPct val="100000"/>
              </a:lnSpc>
            </a:pPr>
            <a:r>
              <a:rPr lang="en-US" sz="1600" dirty="0"/>
              <a:t>memory</a:t>
            </a:r>
          </a:p>
        </p:txBody>
      </p:sp>
      <p:sp>
        <p:nvSpPr>
          <p:cNvPr id="99333" name="AutoShape 5"/>
          <p:cNvSpPr>
            <a:spLocks noChangeArrowheads="1"/>
          </p:cNvSpPr>
          <p:nvPr/>
        </p:nvSpPr>
        <p:spPr bwMode="auto">
          <a:xfrm>
            <a:off x="4770438" y="3124200"/>
            <a:ext cx="1492250" cy="533400"/>
          </a:xfrm>
          <a:prstGeom prst="leftRightArrow">
            <a:avLst>
              <a:gd name="adj1" fmla="val 50000"/>
              <a:gd name="adj2" fmla="val 55952"/>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34" name="Rectangle 6"/>
          <p:cNvSpPr>
            <a:spLocks noChangeArrowheads="1"/>
          </p:cNvSpPr>
          <p:nvPr/>
        </p:nvSpPr>
        <p:spPr bwMode="auto">
          <a:xfrm>
            <a:off x="3856038" y="3155950"/>
            <a:ext cx="909637" cy="57785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99335" name="AutoShape 7"/>
          <p:cNvSpPr>
            <a:spLocks noChangeArrowheads="1"/>
          </p:cNvSpPr>
          <p:nvPr/>
        </p:nvSpPr>
        <p:spPr bwMode="auto">
          <a:xfrm>
            <a:off x="2398713" y="3124200"/>
            <a:ext cx="1452562" cy="533400"/>
          </a:xfrm>
          <a:prstGeom prst="leftRightArrow">
            <a:avLst>
              <a:gd name="adj1" fmla="val 50000"/>
              <a:gd name="adj2" fmla="val 54464"/>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36" name="Rectangle 8"/>
          <p:cNvSpPr>
            <a:spLocks noChangeArrowheads="1"/>
          </p:cNvSpPr>
          <p:nvPr/>
        </p:nvSpPr>
        <p:spPr bwMode="auto">
          <a:xfrm>
            <a:off x="1414463" y="18288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37" name="Rectangle 9"/>
          <p:cNvSpPr>
            <a:spLocks noChangeArrowheads="1"/>
          </p:cNvSpPr>
          <p:nvPr/>
        </p:nvSpPr>
        <p:spPr bwMode="auto">
          <a:xfrm>
            <a:off x="1414463" y="19812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38" name="Rectangle 10"/>
          <p:cNvSpPr>
            <a:spLocks noChangeArrowheads="1"/>
          </p:cNvSpPr>
          <p:nvPr/>
        </p:nvSpPr>
        <p:spPr bwMode="auto">
          <a:xfrm>
            <a:off x="1414463" y="21336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39" name="Rectangle 11"/>
          <p:cNvSpPr>
            <a:spLocks noChangeArrowheads="1"/>
          </p:cNvSpPr>
          <p:nvPr/>
        </p:nvSpPr>
        <p:spPr bwMode="auto">
          <a:xfrm>
            <a:off x="1414463" y="22860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40" name="Rectangle 12"/>
          <p:cNvSpPr>
            <a:spLocks noChangeArrowheads="1"/>
          </p:cNvSpPr>
          <p:nvPr/>
        </p:nvSpPr>
        <p:spPr bwMode="auto">
          <a:xfrm>
            <a:off x="1414463" y="24384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41" name="AutoShape 13"/>
          <p:cNvSpPr>
            <a:spLocks noChangeArrowheads="1"/>
          </p:cNvSpPr>
          <p:nvPr/>
        </p:nvSpPr>
        <p:spPr bwMode="auto">
          <a:xfrm>
            <a:off x="2187575" y="18288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42" name="AutoShape 14"/>
          <p:cNvSpPr>
            <a:spLocks noChangeArrowheads="1"/>
          </p:cNvSpPr>
          <p:nvPr/>
        </p:nvSpPr>
        <p:spPr bwMode="auto">
          <a:xfrm flipH="1">
            <a:off x="2098675" y="22098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43" name="Rectangle 15"/>
          <p:cNvSpPr>
            <a:spLocks noChangeArrowheads="1"/>
          </p:cNvSpPr>
          <p:nvPr/>
        </p:nvSpPr>
        <p:spPr bwMode="auto">
          <a:xfrm>
            <a:off x="2632075" y="1676400"/>
            <a:ext cx="533400" cy="10668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ALU</a:t>
            </a:r>
          </a:p>
        </p:txBody>
      </p:sp>
      <p:sp>
        <p:nvSpPr>
          <p:cNvPr id="99344" name="Text Box 16"/>
          <p:cNvSpPr txBox="1">
            <a:spLocks noChangeArrowheads="1"/>
          </p:cNvSpPr>
          <p:nvPr/>
        </p:nvSpPr>
        <p:spPr bwMode="auto">
          <a:xfrm>
            <a:off x="1131888" y="1507123"/>
            <a:ext cx="114777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Register file</a:t>
            </a:r>
          </a:p>
        </p:txBody>
      </p:sp>
      <p:sp>
        <p:nvSpPr>
          <p:cNvPr id="99345" name="AutoShape 17"/>
          <p:cNvSpPr>
            <a:spLocks noChangeArrowheads="1"/>
          </p:cNvSpPr>
          <p:nvPr/>
        </p:nvSpPr>
        <p:spPr bwMode="auto">
          <a:xfrm>
            <a:off x="1489075" y="2667000"/>
            <a:ext cx="609600" cy="45720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46" name="Rectangle 18"/>
          <p:cNvSpPr>
            <a:spLocks noChangeArrowheads="1"/>
          </p:cNvSpPr>
          <p:nvPr/>
        </p:nvSpPr>
        <p:spPr bwMode="auto">
          <a:xfrm>
            <a:off x="346075" y="1447800"/>
            <a:ext cx="2971800" cy="2438400"/>
          </a:xfrm>
          <a:prstGeom prst="rect">
            <a:avLst/>
          </a:prstGeom>
          <a:noFill/>
          <a:ln w="12700" cap="rnd">
            <a:solidFill>
              <a:schemeClr val="tx1"/>
            </a:solidFill>
            <a:prstDash val="sysDot"/>
            <a:miter lim="800000"/>
            <a:headEnd/>
            <a:tailEnd/>
          </a:ln>
          <a:effectLst/>
        </p:spPr>
        <p:txBody>
          <a:bodyPr wrap="none" anchor="ctr">
            <a:prstTxWarp prst="textNoShape">
              <a:avLst/>
            </a:prstTxWarp>
          </a:bodyPr>
          <a:lstStyle/>
          <a:p>
            <a:endParaRPr lang="en-US"/>
          </a:p>
        </p:txBody>
      </p:sp>
      <p:sp>
        <p:nvSpPr>
          <p:cNvPr id="99347" name="Text Box 19"/>
          <p:cNvSpPr txBox="1">
            <a:spLocks noChangeArrowheads="1"/>
          </p:cNvSpPr>
          <p:nvPr/>
        </p:nvSpPr>
        <p:spPr bwMode="auto">
          <a:xfrm>
            <a:off x="247650" y="1143000"/>
            <a:ext cx="108585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CPU chip</a:t>
            </a:r>
          </a:p>
        </p:txBody>
      </p:sp>
      <p:sp>
        <p:nvSpPr>
          <p:cNvPr id="99348" name="AutoShape 20"/>
          <p:cNvSpPr>
            <a:spLocks noChangeArrowheads="1"/>
          </p:cNvSpPr>
          <p:nvPr/>
        </p:nvSpPr>
        <p:spPr bwMode="auto">
          <a:xfrm>
            <a:off x="4079875" y="3810000"/>
            <a:ext cx="495300" cy="685800"/>
          </a:xfrm>
          <a:prstGeom prst="upArrow">
            <a:avLst>
              <a:gd name="adj1" fmla="val 36667"/>
              <a:gd name="adj2" fmla="val 44872"/>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99349" name="AutoShape 21"/>
          <p:cNvSpPr>
            <a:spLocks noChangeArrowheads="1"/>
          </p:cNvSpPr>
          <p:nvPr/>
        </p:nvSpPr>
        <p:spPr bwMode="auto">
          <a:xfrm flipV="1">
            <a:off x="5184775" y="45466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9350" name="Rectangle 22"/>
          <p:cNvSpPr>
            <a:spLocks noChangeArrowheads="1"/>
          </p:cNvSpPr>
          <p:nvPr/>
        </p:nvSpPr>
        <p:spPr bwMode="auto">
          <a:xfrm>
            <a:off x="4765675" y="5270500"/>
            <a:ext cx="12954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Disk </a:t>
            </a:r>
          </a:p>
          <a:p>
            <a:pPr algn="ctr">
              <a:lnSpc>
                <a:spcPct val="100000"/>
              </a:lnSpc>
            </a:pPr>
            <a:r>
              <a:rPr lang="en-US" sz="1600" dirty="0"/>
              <a:t>controller</a:t>
            </a:r>
          </a:p>
        </p:txBody>
      </p:sp>
      <p:sp>
        <p:nvSpPr>
          <p:cNvPr id="99351" name="AutoShape 23"/>
          <p:cNvSpPr>
            <a:spLocks noChangeArrowheads="1"/>
          </p:cNvSpPr>
          <p:nvPr/>
        </p:nvSpPr>
        <p:spPr bwMode="auto">
          <a:xfrm flipV="1">
            <a:off x="2854325" y="45466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9352" name="Rectangle 24"/>
          <p:cNvSpPr>
            <a:spLocks noChangeArrowheads="1"/>
          </p:cNvSpPr>
          <p:nvPr/>
        </p:nvSpPr>
        <p:spPr bwMode="auto">
          <a:xfrm>
            <a:off x="2435225" y="5270500"/>
            <a:ext cx="12954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Graphics</a:t>
            </a:r>
          </a:p>
          <a:p>
            <a:pPr algn="ctr">
              <a:lnSpc>
                <a:spcPct val="100000"/>
              </a:lnSpc>
            </a:pPr>
            <a:r>
              <a:rPr lang="en-US" sz="1600" dirty="0"/>
              <a:t>adapter</a:t>
            </a:r>
          </a:p>
        </p:txBody>
      </p:sp>
      <p:sp>
        <p:nvSpPr>
          <p:cNvPr id="99353" name="AutoShape 25"/>
          <p:cNvSpPr>
            <a:spLocks noChangeArrowheads="1"/>
          </p:cNvSpPr>
          <p:nvPr/>
        </p:nvSpPr>
        <p:spPr bwMode="auto">
          <a:xfrm flipV="1">
            <a:off x="1177925" y="45466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9354" name="Rectangle 26"/>
          <p:cNvSpPr>
            <a:spLocks noChangeArrowheads="1"/>
          </p:cNvSpPr>
          <p:nvPr/>
        </p:nvSpPr>
        <p:spPr bwMode="auto">
          <a:xfrm>
            <a:off x="835025" y="5257800"/>
            <a:ext cx="11430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USB</a:t>
            </a:r>
          </a:p>
          <a:p>
            <a:pPr algn="ctr">
              <a:lnSpc>
                <a:spcPct val="100000"/>
              </a:lnSpc>
            </a:pPr>
            <a:r>
              <a:rPr lang="en-US" sz="1600"/>
              <a:t>controller</a:t>
            </a:r>
          </a:p>
        </p:txBody>
      </p:sp>
      <p:sp>
        <p:nvSpPr>
          <p:cNvPr id="99355" name="Line 27"/>
          <p:cNvSpPr>
            <a:spLocks noChangeShapeType="1"/>
          </p:cNvSpPr>
          <p:nvPr/>
        </p:nvSpPr>
        <p:spPr bwMode="auto">
          <a:xfrm>
            <a:off x="1063625" y="5791200"/>
            <a:ext cx="0" cy="304800"/>
          </a:xfrm>
          <a:prstGeom prst="line">
            <a:avLst/>
          </a:prstGeom>
          <a:noFill/>
          <a:ln w="12700">
            <a:solidFill>
              <a:schemeClr val="tx1"/>
            </a:solidFill>
            <a:round/>
            <a:headEnd type="triangle" w="med" len="med"/>
            <a:tailEnd/>
          </a:ln>
          <a:effectLst/>
        </p:spPr>
        <p:txBody>
          <a:bodyPr wrap="none" anchor="ctr">
            <a:prstTxWarp prst="textNoShape">
              <a:avLst/>
            </a:prstTxWarp>
          </a:bodyPr>
          <a:lstStyle/>
          <a:p>
            <a:endParaRPr lang="en-US"/>
          </a:p>
        </p:txBody>
      </p:sp>
      <p:sp>
        <p:nvSpPr>
          <p:cNvPr id="99356" name="Line 28"/>
          <p:cNvSpPr>
            <a:spLocks noChangeShapeType="1"/>
          </p:cNvSpPr>
          <p:nvPr/>
        </p:nvSpPr>
        <p:spPr bwMode="auto">
          <a:xfrm>
            <a:off x="1825625" y="5791200"/>
            <a:ext cx="0" cy="304800"/>
          </a:xfrm>
          <a:prstGeom prst="line">
            <a:avLst/>
          </a:prstGeom>
          <a:noFill/>
          <a:ln w="12700">
            <a:solidFill>
              <a:schemeClr val="tx1"/>
            </a:solidFill>
            <a:round/>
            <a:headEnd type="triangle" w="med" len="med"/>
            <a:tailEnd/>
          </a:ln>
          <a:effectLst/>
        </p:spPr>
        <p:txBody>
          <a:bodyPr wrap="none" anchor="ctr">
            <a:prstTxWarp prst="textNoShape">
              <a:avLst/>
            </a:prstTxWarp>
          </a:bodyPr>
          <a:lstStyle/>
          <a:p>
            <a:endParaRPr lang="en-US"/>
          </a:p>
        </p:txBody>
      </p:sp>
      <p:sp>
        <p:nvSpPr>
          <p:cNvPr id="99357" name="Text Box 29"/>
          <p:cNvSpPr txBox="1">
            <a:spLocks noChangeArrowheads="1"/>
          </p:cNvSpPr>
          <p:nvPr/>
        </p:nvSpPr>
        <p:spPr bwMode="auto">
          <a:xfrm>
            <a:off x="628650" y="6018798"/>
            <a:ext cx="717564"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Mouse</a:t>
            </a:r>
          </a:p>
        </p:txBody>
      </p:sp>
      <p:sp>
        <p:nvSpPr>
          <p:cNvPr id="99358" name="Text Box 30"/>
          <p:cNvSpPr txBox="1">
            <a:spLocks noChangeArrowheads="1"/>
          </p:cNvSpPr>
          <p:nvPr/>
        </p:nvSpPr>
        <p:spPr bwMode="auto">
          <a:xfrm>
            <a:off x="1306513" y="6018798"/>
            <a:ext cx="96062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Keyboard</a:t>
            </a:r>
          </a:p>
        </p:txBody>
      </p:sp>
      <p:sp>
        <p:nvSpPr>
          <p:cNvPr id="99359" name="Line 31"/>
          <p:cNvSpPr>
            <a:spLocks noChangeShapeType="1"/>
          </p:cNvSpPr>
          <p:nvPr/>
        </p:nvSpPr>
        <p:spPr bwMode="auto">
          <a:xfrm>
            <a:off x="3121025" y="5791200"/>
            <a:ext cx="0" cy="30480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99360" name="Text Box 32"/>
          <p:cNvSpPr txBox="1">
            <a:spLocks noChangeArrowheads="1"/>
          </p:cNvSpPr>
          <p:nvPr/>
        </p:nvSpPr>
        <p:spPr bwMode="auto">
          <a:xfrm>
            <a:off x="2624138" y="6018798"/>
            <a:ext cx="801421"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Monitor</a:t>
            </a:r>
          </a:p>
        </p:txBody>
      </p:sp>
      <p:sp>
        <p:nvSpPr>
          <p:cNvPr id="99361" name="AutoShape 33"/>
          <p:cNvSpPr>
            <a:spLocks noChangeArrowheads="1"/>
          </p:cNvSpPr>
          <p:nvPr/>
        </p:nvSpPr>
        <p:spPr bwMode="auto">
          <a:xfrm>
            <a:off x="5121275" y="6172200"/>
            <a:ext cx="609600" cy="609600"/>
          </a:xfrm>
          <a:prstGeom prst="can">
            <a:avLst>
              <a:gd name="adj" fmla="val 25000"/>
            </a:avLst>
          </a:prstGeom>
          <a:noFill/>
          <a:ln w="12700">
            <a:solidFill>
              <a:schemeClr val="tx1"/>
            </a:solidFill>
            <a:round/>
            <a:headEnd/>
            <a:tailEnd/>
          </a:ln>
          <a:effectLst/>
        </p:spPr>
        <p:txBody>
          <a:bodyPr wrap="none" anchor="ctr">
            <a:prstTxWarp prst="textNoShape">
              <a:avLst/>
            </a:prstTxWarp>
          </a:bodyPr>
          <a:lstStyle/>
          <a:p>
            <a:pPr algn="ctr">
              <a:lnSpc>
                <a:spcPct val="100000"/>
              </a:lnSpc>
            </a:pPr>
            <a:r>
              <a:rPr lang="en-US" sz="1600" dirty="0"/>
              <a:t>Disk</a:t>
            </a:r>
          </a:p>
        </p:txBody>
      </p:sp>
      <p:sp>
        <p:nvSpPr>
          <p:cNvPr id="99362" name="AutoShape 34"/>
          <p:cNvSpPr>
            <a:spLocks noChangeArrowheads="1"/>
          </p:cNvSpPr>
          <p:nvPr/>
        </p:nvSpPr>
        <p:spPr bwMode="auto">
          <a:xfrm>
            <a:off x="269875" y="4330700"/>
            <a:ext cx="6972300" cy="393700"/>
          </a:xfrm>
          <a:prstGeom prst="leftRightArrow">
            <a:avLst>
              <a:gd name="adj1" fmla="val 48611"/>
              <a:gd name="adj2" fmla="val 91500"/>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99363" name="Rectangle 35"/>
          <p:cNvSpPr>
            <a:spLocks noChangeArrowheads="1"/>
          </p:cNvSpPr>
          <p:nvPr/>
        </p:nvSpPr>
        <p:spPr bwMode="auto">
          <a:xfrm>
            <a:off x="1346200" y="4500563"/>
            <a:ext cx="166688"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99364" name="Rectangle 36"/>
          <p:cNvSpPr>
            <a:spLocks noChangeArrowheads="1"/>
          </p:cNvSpPr>
          <p:nvPr/>
        </p:nvSpPr>
        <p:spPr bwMode="auto">
          <a:xfrm>
            <a:off x="3022600" y="4491038"/>
            <a:ext cx="166688"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99365" name="Rectangle 37"/>
          <p:cNvSpPr>
            <a:spLocks noChangeArrowheads="1"/>
          </p:cNvSpPr>
          <p:nvPr/>
        </p:nvSpPr>
        <p:spPr bwMode="auto">
          <a:xfrm>
            <a:off x="5356225" y="4481513"/>
            <a:ext cx="161925"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99366" name="Text Box 38"/>
          <p:cNvSpPr txBox="1">
            <a:spLocks noChangeArrowheads="1"/>
          </p:cNvSpPr>
          <p:nvPr/>
        </p:nvSpPr>
        <p:spPr bwMode="auto">
          <a:xfrm>
            <a:off x="5556250" y="4127500"/>
            <a:ext cx="874713"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I/O bus</a:t>
            </a:r>
          </a:p>
        </p:txBody>
      </p:sp>
      <p:sp>
        <p:nvSpPr>
          <p:cNvPr id="99367" name="Rectangle 39"/>
          <p:cNvSpPr>
            <a:spLocks noChangeArrowheads="1"/>
          </p:cNvSpPr>
          <p:nvPr/>
        </p:nvSpPr>
        <p:spPr bwMode="auto">
          <a:xfrm>
            <a:off x="4246563" y="4419600"/>
            <a:ext cx="161925"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99368" name="Line 40"/>
          <p:cNvSpPr>
            <a:spLocks noChangeShapeType="1"/>
          </p:cNvSpPr>
          <p:nvPr/>
        </p:nvSpPr>
        <p:spPr bwMode="auto">
          <a:xfrm>
            <a:off x="4297363" y="3365500"/>
            <a:ext cx="1965325" cy="0"/>
          </a:xfrm>
          <a:prstGeom prst="line">
            <a:avLst/>
          </a:prstGeom>
          <a:noFill/>
          <a:ln w="76200">
            <a:solidFill>
              <a:srgbClr val="00FFFF"/>
            </a:solidFill>
            <a:round/>
            <a:headEnd/>
            <a:tailEnd type="triangle" w="med" len="med"/>
          </a:ln>
          <a:effectLst/>
        </p:spPr>
        <p:txBody>
          <a:bodyPr wrap="none" anchor="ctr">
            <a:prstTxWarp prst="textNoShape">
              <a:avLst/>
            </a:prstTxWarp>
          </a:bodyPr>
          <a:lstStyle/>
          <a:p>
            <a:endParaRPr lang="en-US"/>
          </a:p>
        </p:txBody>
      </p:sp>
      <p:sp>
        <p:nvSpPr>
          <p:cNvPr id="99369" name="Line 41"/>
          <p:cNvSpPr>
            <a:spLocks noChangeShapeType="1"/>
          </p:cNvSpPr>
          <p:nvPr/>
        </p:nvSpPr>
        <p:spPr bwMode="auto">
          <a:xfrm>
            <a:off x="4335463" y="3365500"/>
            <a:ext cx="0" cy="1135063"/>
          </a:xfrm>
          <a:prstGeom prst="line">
            <a:avLst/>
          </a:prstGeom>
          <a:noFill/>
          <a:ln w="76200">
            <a:solidFill>
              <a:srgbClr val="00FFFF"/>
            </a:solidFill>
            <a:round/>
            <a:headEnd/>
            <a:tailEnd/>
          </a:ln>
          <a:effectLst/>
        </p:spPr>
        <p:txBody>
          <a:bodyPr wrap="none" anchor="ctr">
            <a:prstTxWarp prst="textNoShape">
              <a:avLst/>
            </a:prstTxWarp>
          </a:bodyPr>
          <a:lstStyle/>
          <a:p>
            <a:endParaRPr lang="en-US"/>
          </a:p>
        </p:txBody>
      </p:sp>
      <p:sp>
        <p:nvSpPr>
          <p:cNvPr id="99370" name="Line 42"/>
          <p:cNvSpPr>
            <a:spLocks noChangeShapeType="1"/>
          </p:cNvSpPr>
          <p:nvPr/>
        </p:nvSpPr>
        <p:spPr bwMode="auto">
          <a:xfrm flipV="1">
            <a:off x="4297363" y="4529138"/>
            <a:ext cx="1128712" cy="0"/>
          </a:xfrm>
          <a:prstGeom prst="line">
            <a:avLst/>
          </a:prstGeom>
          <a:noFill/>
          <a:ln w="76200">
            <a:solidFill>
              <a:srgbClr val="00FFFF"/>
            </a:solidFill>
            <a:round/>
            <a:headEnd/>
            <a:tailEnd/>
          </a:ln>
          <a:effectLst/>
        </p:spPr>
        <p:txBody>
          <a:bodyPr wrap="none" anchor="ctr">
            <a:prstTxWarp prst="textNoShape">
              <a:avLst/>
            </a:prstTxWarp>
          </a:bodyPr>
          <a:lstStyle/>
          <a:p>
            <a:endParaRPr lang="en-US"/>
          </a:p>
        </p:txBody>
      </p:sp>
      <p:sp>
        <p:nvSpPr>
          <p:cNvPr id="99371" name="Line 43"/>
          <p:cNvSpPr>
            <a:spLocks noChangeShapeType="1"/>
          </p:cNvSpPr>
          <p:nvPr/>
        </p:nvSpPr>
        <p:spPr bwMode="auto">
          <a:xfrm flipH="1">
            <a:off x="5432425" y="4500563"/>
            <a:ext cx="0" cy="1671637"/>
          </a:xfrm>
          <a:prstGeom prst="line">
            <a:avLst/>
          </a:prstGeom>
          <a:noFill/>
          <a:ln w="76200">
            <a:solidFill>
              <a:srgbClr val="00FFFF"/>
            </a:solidFill>
            <a:round/>
            <a:headEnd/>
            <a:tailEnd/>
          </a:ln>
          <a:effectLst/>
        </p:spPr>
        <p:txBody>
          <a:bodyPr wrap="none" anchor="ctr">
            <a:prstTxWarp prst="textNoShape">
              <a:avLst/>
            </a:prstTxWarp>
          </a:bodyPr>
          <a:lstStyle/>
          <a:p>
            <a:endParaRPr lang="en-US"/>
          </a:p>
        </p:txBody>
      </p:sp>
      <p:sp>
        <p:nvSpPr>
          <p:cNvPr id="99372" name="Rectangle 44"/>
          <p:cNvSpPr>
            <a:spLocks noChangeArrowheads="1"/>
          </p:cNvSpPr>
          <p:nvPr/>
        </p:nvSpPr>
        <p:spPr bwMode="auto">
          <a:xfrm>
            <a:off x="498475" y="3155950"/>
            <a:ext cx="1873250" cy="57785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Bus interface</a:t>
            </a:r>
          </a:p>
        </p:txBody>
      </p:sp>
      <p:sp>
        <p:nvSpPr>
          <p:cNvPr id="99374" name="Text Box 46"/>
          <p:cNvSpPr txBox="1">
            <a:spLocks noChangeArrowheads="1"/>
          </p:cNvSpPr>
          <p:nvPr/>
        </p:nvSpPr>
        <p:spPr bwMode="auto">
          <a:xfrm>
            <a:off x="4210050" y="1323975"/>
            <a:ext cx="4395788" cy="915988"/>
          </a:xfrm>
          <a:prstGeom prst="rect">
            <a:avLst/>
          </a:prstGeom>
          <a:noFill/>
          <a:ln w="25400">
            <a:noFill/>
            <a:miter lim="800000"/>
            <a:headEnd/>
            <a:tailEnd/>
          </a:ln>
          <a:effectLst/>
        </p:spPr>
        <p:txBody>
          <a:bodyPr>
            <a:prstTxWarp prst="textNoShape">
              <a:avLst/>
            </a:prstTxWarp>
            <a:spAutoFit/>
          </a:bodyPr>
          <a:lstStyle/>
          <a:p>
            <a:pPr algn="l">
              <a:lnSpc>
                <a:spcPct val="100000"/>
              </a:lnSpc>
            </a:pPr>
            <a:r>
              <a:rPr lang="en-US" b="0" dirty="0"/>
              <a:t>Disk controller reads the sector and performs a direct memory access (</a:t>
            </a:r>
            <a:r>
              <a:rPr lang="en-US" b="0" dirty="0">
                <a:solidFill>
                  <a:srgbClr val="FF0000"/>
                </a:solidFill>
              </a:rPr>
              <a:t>DMA</a:t>
            </a:r>
            <a:r>
              <a:rPr lang="en-US" b="0" dirty="0"/>
              <a:t>) transfer into main memory.</a:t>
            </a:r>
          </a:p>
        </p:txBody>
      </p:sp>
      <p:sp>
        <p:nvSpPr>
          <p:cNvPr id="2" name="Rectangle 1">
            <a:extLst>
              <a:ext uri="{FF2B5EF4-FFF2-40B4-BE49-F238E27FC236}">
                <a16:creationId xmlns:a16="http://schemas.microsoft.com/office/drawing/2014/main" id="{AEA98516-6C3A-C863-F624-E0BFDB758E65}"/>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78342291-15A1-E42D-B3D3-4A57A096A742}"/>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00" name="Rectangle 48"/>
          <p:cNvSpPr>
            <a:spLocks noGrp="1" noChangeArrowheads="1"/>
          </p:cNvSpPr>
          <p:nvPr>
            <p:ph type="title"/>
          </p:nvPr>
        </p:nvSpPr>
        <p:spPr/>
        <p:txBody>
          <a:bodyPr/>
          <a:lstStyle/>
          <a:p>
            <a:r>
              <a:rPr lang="en-US"/>
              <a:t>Reading a Disk Sector (3)</a:t>
            </a:r>
          </a:p>
        </p:txBody>
      </p:sp>
      <p:sp>
        <p:nvSpPr>
          <p:cNvPr id="100356" name="Rectangle 4"/>
          <p:cNvSpPr>
            <a:spLocks noChangeArrowheads="1"/>
          </p:cNvSpPr>
          <p:nvPr/>
        </p:nvSpPr>
        <p:spPr bwMode="auto">
          <a:xfrm>
            <a:off x="6294438" y="2971800"/>
            <a:ext cx="909637" cy="9144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Main</a:t>
            </a:r>
          </a:p>
          <a:p>
            <a:pPr algn="ctr">
              <a:lnSpc>
                <a:spcPct val="100000"/>
              </a:lnSpc>
            </a:pPr>
            <a:r>
              <a:rPr lang="en-US" sz="1600" dirty="0"/>
              <a:t>memory</a:t>
            </a:r>
          </a:p>
        </p:txBody>
      </p:sp>
      <p:sp>
        <p:nvSpPr>
          <p:cNvPr id="100357" name="AutoShape 5"/>
          <p:cNvSpPr>
            <a:spLocks noChangeArrowheads="1"/>
          </p:cNvSpPr>
          <p:nvPr/>
        </p:nvSpPr>
        <p:spPr bwMode="auto">
          <a:xfrm>
            <a:off x="4770438" y="3124200"/>
            <a:ext cx="1492250" cy="533400"/>
          </a:xfrm>
          <a:prstGeom prst="leftRightArrow">
            <a:avLst>
              <a:gd name="adj1" fmla="val 50000"/>
              <a:gd name="adj2" fmla="val 55952"/>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100358" name="Rectangle 6"/>
          <p:cNvSpPr>
            <a:spLocks noChangeArrowheads="1"/>
          </p:cNvSpPr>
          <p:nvPr/>
        </p:nvSpPr>
        <p:spPr bwMode="auto">
          <a:xfrm>
            <a:off x="3856038" y="3155950"/>
            <a:ext cx="909637" cy="577850"/>
          </a:xfrm>
          <a:prstGeom prst="rect">
            <a:avLst/>
          </a:prstGeom>
          <a:noFill/>
          <a:ln w="12700">
            <a:solidFill>
              <a:schemeClr val="tx1"/>
            </a:solidFill>
            <a:miter lim="800000"/>
            <a:headEnd/>
            <a:tailEnd/>
          </a:ln>
          <a:effectLst/>
        </p:spPr>
        <p:txBody>
          <a:bodyPr wrap="none" anchor="ctr">
            <a:prstTxWarp prst="textNoShape">
              <a:avLst/>
            </a:prstTxWarp>
          </a:bodyPr>
          <a:lstStyle/>
          <a:p>
            <a:pPr>
              <a:lnSpc>
                <a:spcPct val="100000"/>
              </a:lnSpc>
            </a:pPr>
            <a:endParaRPr lang="en-US" sz="1600"/>
          </a:p>
        </p:txBody>
      </p:sp>
      <p:sp>
        <p:nvSpPr>
          <p:cNvPr id="100359" name="AutoShape 7"/>
          <p:cNvSpPr>
            <a:spLocks noChangeArrowheads="1"/>
          </p:cNvSpPr>
          <p:nvPr/>
        </p:nvSpPr>
        <p:spPr bwMode="auto">
          <a:xfrm>
            <a:off x="2398713" y="3124200"/>
            <a:ext cx="1452562" cy="533400"/>
          </a:xfrm>
          <a:prstGeom prst="leftRightArrow">
            <a:avLst>
              <a:gd name="adj1" fmla="val 50000"/>
              <a:gd name="adj2" fmla="val 54464"/>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100360" name="Rectangle 8"/>
          <p:cNvSpPr>
            <a:spLocks noChangeArrowheads="1"/>
          </p:cNvSpPr>
          <p:nvPr/>
        </p:nvSpPr>
        <p:spPr bwMode="auto">
          <a:xfrm>
            <a:off x="1414463" y="18288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100361" name="Rectangle 9"/>
          <p:cNvSpPr>
            <a:spLocks noChangeArrowheads="1"/>
          </p:cNvSpPr>
          <p:nvPr/>
        </p:nvSpPr>
        <p:spPr bwMode="auto">
          <a:xfrm>
            <a:off x="1414463" y="19812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100362" name="Rectangle 10"/>
          <p:cNvSpPr>
            <a:spLocks noChangeArrowheads="1"/>
          </p:cNvSpPr>
          <p:nvPr/>
        </p:nvSpPr>
        <p:spPr bwMode="auto">
          <a:xfrm>
            <a:off x="1414463" y="21336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100363" name="Rectangle 11"/>
          <p:cNvSpPr>
            <a:spLocks noChangeArrowheads="1"/>
          </p:cNvSpPr>
          <p:nvPr/>
        </p:nvSpPr>
        <p:spPr bwMode="auto">
          <a:xfrm>
            <a:off x="1414463" y="22860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100364" name="Rectangle 12"/>
          <p:cNvSpPr>
            <a:spLocks noChangeArrowheads="1"/>
          </p:cNvSpPr>
          <p:nvPr/>
        </p:nvSpPr>
        <p:spPr bwMode="auto">
          <a:xfrm>
            <a:off x="1414463" y="2438400"/>
            <a:ext cx="684212" cy="152400"/>
          </a:xfrm>
          <a:prstGeom prst="rect">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100365" name="AutoShape 13"/>
          <p:cNvSpPr>
            <a:spLocks noChangeArrowheads="1"/>
          </p:cNvSpPr>
          <p:nvPr/>
        </p:nvSpPr>
        <p:spPr bwMode="auto">
          <a:xfrm>
            <a:off x="2187575" y="18288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100366" name="AutoShape 14"/>
          <p:cNvSpPr>
            <a:spLocks noChangeArrowheads="1"/>
          </p:cNvSpPr>
          <p:nvPr/>
        </p:nvSpPr>
        <p:spPr bwMode="auto">
          <a:xfrm flipH="1">
            <a:off x="2098675" y="2209800"/>
            <a:ext cx="444500" cy="381000"/>
          </a:xfrm>
          <a:prstGeom prst="rightArrow">
            <a:avLst>
              <a:gd name="adj1" fmla="val 50000"/>
              <a:gd name="adj2" fmla="val 29167"/>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100367" name="Rectangle 15"/>
          <p:cNvSpPr>
            <a:spLocks noChangeArrowheads="1"/>
          </p:cNvSpPr>
          <p:nvPr/>
        </p:nvSpPr>
        <p:spPr bwMode="auto">
          <a:xfrm>
            <a:off x="2632075" y="1676400"/>
            <a:ext cx="533400" cy="10668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ALU</a:t>
            </a:r>
          </a:p>
        </p:txBody>
      </p:sp>
      <p:sp>
        <p:nvSpPr>
          <p:cNvPr id="100368" name="Text Box 16"/>
          <p:cNvSpPr txBox="1">
            <a:spLocks noChangeArrowheads="1"/>
          </p:cNvSpPr>
          <p:nvPr/>
        </p:nvSpPr>
        <p:spPr bwMode="auto">
          <a:xfrm>
            <a:off x="1131888" y="1507123"/>
            <a:ext cx="114777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Register file</a:t>
            </a:r>
          </a:p>
        </p:txBody>
      </p:sp>
      <p:sp>
        <p:nvSpPr>
          <p:cNvPr id="100369" name="AutoShape 17"/>
          <p:cNvSpPr>
            <a:spLocks noChangeArrowheads="1"/>
          </p:cNvSpPr>
          <p:nvPr/>
        </p:nvSpPr>
        <p:spPr bwMode="auto">
          <a:xfrm>
            <a:off x="1489075" y="2667000"/>
            <a:ext cx="609600" cy="457200"/>
          </a:xfrm>
          <a:prstGeom prst="upDownArrow">
            <a:avLst>
              <a:gd name="adj1" fmla="val 50000"/>
              <a:gd name="adj2" fmla="val 20000"/>
            </a:avLst>
          </a:prstGeom>
          <a:noFill/>
          <a:ln w="12700">
            <a:solidFill>
              <a:schemeClr val="tx1"/>
            </a:solidFill>
            <a:miter lim="800000"/>
            <a:headEnd/>
            <a:tailEnd/>
          </a:ln>
          <a:effectLst/>
        </p:spPr>
        <p:txBody>
          <a:bodyPr wrap="none" anchor="ctr">
            <a:prstTxWarp prst="textNoShape">
              <a:avLst/>
            </a:prstTxWarp>
          </a:bodyPr>
          <a:lstStyle/>
          <a:p>
            <a:endParaRPr lang="en-US"/>
          </a:p>
        </p:txBody>
      </p:sp>
      <p:sp>
        <p:nvSpPr>
          <p:cNvPr id="100370" name="Rectangle 18"/>
          <p:cNvSpPr>
            <a:spLocks noChangeArrowheads="1"/>
          </p:cNvSpPr>
          <p:nvPr/>
        </p:nvSpPr>
        <p:spPr bwMode="auto">
          <a:xfrm>
            <a:off x="346075" y="1447800"/>
            <a:ext cx="2971800" cy="2438400"/>
          </a:xfrm>
          <a:prstGeom prst="rect">
            <a:avLst/>
          </a:prstGeom>
          <a:noFill/>
          <a:ln w="12700" cap="rnd">
            <a:solidFill>
              <a:schemeClr val="tx1"/>
            </a:solidFill>
            <a:prstDash val="sysDot"/>
            <a:miter lim="800000"/>
            <a:headEnd/>
            <a:tailEnd/>
          </a:ln>
          <a:effectLst/>
        </p:spPr>
        <p:txBody>
          <a:bodyPr wrap="none" anchor="ctr">
            <a:prstTxWarp prst="textNoShape">
              <a:avLst/>
            </a:prstTxWarp>
          </a:bodyPr>
          <a:lstStyle/>
          <a:p>
            <a:endParaRPr lang="en-US"/>
          </a:p>
        </p:txBody>
      </p:sp>
      <p:sp>
        <p:nvSpPr>
          <p:cNvPr id="100371" name="Text Box 19"/>
          <p:cNvSpPr txBox="1">
            <a:spLocks noChangeArrowheads="1"/>
          </p:cNvSpPr>
          <p:nvPr/>
        </p:nvSpPr>
        <p:spPr bwMode="auto">
          <a:xfrm>
            <a:off x="247650" y="1143000"/>
            <a:ext cx="1085850"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dirty="0"/>
              <a:t>CPU chip</a:t>
            </a:r>
          </a:p>
        </p:txBody>
      </p:sp>
      <p:sp>
        <p:nvSpPr>
          <p:cNvPr id="100372" name="AutoShape 20"/>
          <p:cNvSpPr>
            <a:spLocks noChangeArrowheads="1"/>
          </p:cNvSpPr>
          <p:nvPr/>
        </p:nvSpPr>
        <p:spPr bwMode="auto">
          <a:xfrm>
            <a:off x="4079875" y="38100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100373" name="AutoShape 21"/>
          <p:cNvSpPr>
            <a:spLocks noChangeArrowheads="1"/>
          </p:cNvSpPr>
          <p:nvPr/>
        </p:nvSpPr>
        <p:spPr bwMode="auto">
          <a:xfrm flipV="1">
            <a:off x="5184775" y="45466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100374" name="Rectangle 22"/>
          <p:cNvSpPr>
            <a:spLocks noChangeArrowheads="1"/>
          </p:cNvSpPr>
          <p:nvPr/>
        </p:nvSpPr>
        <p:spPr bwMode="auto">
          <a:xfrm>
            <a:off x="4765675" y="5270500"/>
            <a:ext cx="12954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Disk </a:t>
            </a:r>
          </a:p>
          <a:p>
            <a:pPr algn="ctr">
              <a:lnSpc>
                <a:spcPct val="100000"/>
              </a:lnSpc>
            </a:pPr>
            <a:r>
              <a:rPr lang="en-US" sz="1600" dirty="0"/>
              <a:t>controller</a:t>
            </a:r>
          </a:p>
        </p:txBody>
      </p:sp>
      <p:sp>
        <p:nvSpPr>
          <p:cNvPr id="100375" name="AutoShape 23"/>
          <p:cNvSpPr>
            <a:spLocks noChangeArrowheads="1"/>
          </p:cNvSpPr>
          <p:nvPr/>
        </p:nvSpPr>
        <p:spPr bwMode="auto">
          <a:xfrm flipV="1">
            <a:off x="2854325" y="45466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100376" name="Rectangle 24"/>
          <p:cNvSpPr>
            <a:spLocks noChangeArrowheads="1"/>
          </p:cNvSpPr>
          <p:nvPr/>
        </p:nvSpPr>
        <p:spPr bwMode="auto">
          <a:xfrm>
            <a:off x="2435225" y="5270500"/>
            <a:ext cx="12954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Graphics</a:t>
            </a:r>
          </a:p>
          <a:p>
            <a:pPr algn="ctr">
              <a:lnSpc>
                <a:spcPct val="100000"/>
              </a:lnSpc>
            </a:pPr>
            <a:r>
              <a:rPr lang="en-US" sz="1600" dirty="0"/>
              <a:t>adapter</a:t>
            </a:r>
          </a:p>
        </p:txBody>
      </p:sp>
      <p:sp>
        <p:nvSpPr>
          <p:cNvPr id="100377" name="AutoShape 25"/>
          <p:cNvSpPr>
            <a:spLocks noChangeArrowheads="1"/>
          </p:cNvSpPr>
          <p:nvPr/>
        </p:nvSpPr>
        <p:spPr bwMode="auto">
          <a:xfrm flipV="1">
            <a:off x="1177925" y="4546600"/>
            <a:ext cx="495300" cy="685800"/>
          </a:xfrm>
          <a:prstGeom prst="upArrow">
            <a:avLst>
              <a:gd name="adj1" fmla="val 36667"/>
              <a:gd name="adj2" fmla="val 44872"/>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100378" name="Rectangle 26"/>
          <p:cNvSpPr>
            <a:spLocks noChangeArrowheads="1"/>
          </p:cNvSpPr>
          <p:nvPr/>
        </p:nvSpPr>
        <p:spPr bwMode="auto">
          <a:xfrm>
            <a:off x="835025" y="5257800"/>
            <a:ext cx="1143000" cy="52070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a:t>USB</a:t>
            </a:r>
          </a:p>
          <a:p>
            <a:pPr algn="ctr">
              <a:lnSpc>
                <a:spcPct val="100000"/>
              </a:lnSpc>
            </a:pPr>
            <a:r>
              <a:rPr lang="en-US" sz="1600"/>
              <a:t>controller</a:t>
            </a:r>
          </a:p>
        </p:txBody>
      </p:sp>
      <p:sp>
        <p:nvSpPr>
          <p:cNvPr id="100379" name="Line 27"/>
          <p:cNvSpPr>
            <a:spLocks noChangeShapeType="1"/>
          </p:cNvSpPr>
          <p:nvPr/>
        </p:nvSpPr>
        <p:spPr bwMode="auto">
          <a:xfrm>
            <a:off x="1063625" y="5791200"/>
            <a:ext cx="0" cy="304800"/>
          </a:xfrm>
          <a:prstGeom prst="line">
            <a:avLst/>
          </a:prstGeom>
          <a:noFill/>
          <a:ln w="12700">
            <a:solidFill>
              <a:schemeClr val="tx1"/>
            </a:solidFill>
            <a:round/>
            <a:headEnd type="triangle" w="med" len="med"/>
            <a:tailEnd/>
          </a:ln>
          <a:effectLst/>
        </p:spPr>
        <p:txBody>
          <a:bodyPr wrap="none" anchor="ctr">
            <a:prstTxWarp prst="textNoShape">
              <a:avLst/>
            </a:prstTxWarp>
          </a:bodyPr>
          <a:lstStyle/>
          <a:p>
            <a:endParaRPr lang="en-US"/>
          </a:p>
        </p:txBody>
      </p:sp>
      <p:sp>
        <p:nvSpPr>
          <p:cNvPr id="100380" name="Line 28"/>
          <p:cNvSpPr>
            <a:spLocks noChangeShapeType="1"/>
          </p:cNvSpPr>
          <p:nvPr/>
        </p:nvSpPr>
        <p:spPr bwMode="auto">
          <a:xfrm>
            <a:off x="1825625" y="5791200"/>
            <a:ext cx="0" cy="304800"/>
          </a:xfrm>
          <a:prstGeom prst="line">
            <a:avLst/>
          </a:prstGeom>
          <a:noFill/>
          <a:ln w="12700">
            <a:solidFill>
              <a:schemeClr val="tx1"/>
            </a:solidFill>
            <a:round/>
            <a:headEnd type="triangle" w="med" len="med"/>
            <a:tailEnd/>
          </a:ln>
          <a:effectLst/>
        </p:spPr>
        <p:txBody>
          <a:bodyPr wrap="none" anchor="ctr">
            <a:prstTxWarp prst="textNoShape">
              <a:avLst/>
            </a:prstTxWarp>
          </a:bodyPr>
          <a:lstStyle/>
          <a:p>
            <a:endParaRPr lang="en-US"/>
          </a:p>
        </p:txBody>
      </p:sp>
      <p:sp>
        <p:nvSpPr>
          <p:cNvPr id="100381" name="Text Box 29"/>
          <p:cNvSpPr txBox="1">
            <a:spLocks noChangeArrowheads="1"/>
          </p:cNvSpPr>
          <p:nvPr/>
        </p:nvSpPr>
        <p:spPr bwMode="auto">
          <a:xfrm>
            <a:off x="628650" y="6018798"/>
            <a:ext cx="717564"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Mouse</a:t>
            </a:r>
          </a:p>
        </p:txBody>
      </p:sp>
      <p:sp>
        <p:nvSpPr>
          <p:cNvPr id="100382" name="Text Box 30"/>
          <p:cNvSpPr txBox="1">
            <a:spLocks noChangeArrowheads="1"/>
          </p:cNvSpPr>
          <p:nvPr/>
        </p:nvSpPr>
        <p:spPr bwMode="auto">
          <a:xfrm>
            <a:off x="1306513" y="6018798"/>
            <a:ext cx="960620"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Keyboard</a:t>
            </a:r>
          </a:p>
        </p:txBody>
      </p:sp>
      <p:sp>
        <p:nvSpPr>
          <p:cNvPr id="100383" name="Line 31"/>
          <p:cNvSpPr>
            <a:spLocks noChangeShapeType="1"/>
          </p:cNvSpPr>
          <p:nvPr/>
        </p:nvSpPr>
        <p:spPr bwMode="auto">
          <a:xfrm>
            <a:off x="3121025" y="5791200"/>
            <a:ext cx="0" cy="304800"/>
          </a:xfrm>
          <a:prstGeom prst="line">
            <a:avLst/>
          </a:prstGeom>
          <a:noFill/>
          <a:ln w="12700">
            <a:solidFill>
              <a:schemeClr val="tx1"/>
            </a:solidFill>
            <a:round/>
            <a:headEnd/>
            <a:tailEnd type="triangle" w="med" len="med"/>
          </a:ln>
          <a:effectLst/>
        </p:spPr>
        <p:txBody>
          <a:bodyPr wrap="none" anchor="ctr">
            <a:prstTxWarp prst="textNoShape">
              <a:avLst/>
            </a:prstTxWarp>
          </a:bodyPr>
          <a:lstStyle/>
          <a:p>
            <a:endParaRPr lang="en-US"/>
          </a:p>
        </p:txBody>
      </p:sp>
      <p:sp>
        <p:nvSpPr>
          <p:cNvPr id="100384" name="Text Box 32"/>
          <p:cNvSpPr txBox="1">
            <a:spLocks noChangeArrowheads="1"/>
          </p:cNvSpPr>
          <p:nvPr/>
        </p:nvSpPr>
        <p:spPr bwMode="auto">
          <a:xfrm>
            <a:off x="2624138" y="6018798"/>
            <a:ext cx="801421" cy="338554"/>
          </a:xfrm>
          <a:prstGeom prst="rect">
            <a:avLst/>
          </a:prstGeom>
          <a:noFill/>
          <a:ln w="12700">
            <a:noFill/>
            <a:miter lim="800000"/>
            <a:headEnd/>
            <a:tailEnd/>
          </a:ln>
          <a:effectLst/>
        </p:spPr>
        <p:txBody>
          <a:bodyPr wrap="none" anchor="ctr">
            <a:prstTxWarp prst="textNoShape">
              <a:avLst/>
            </a:prstTxWarp>
            <a:spAutoFit/>
          </a:bodyPr>
          <a:lstStyle/>
          <a:p>
            <a:pPr algn="ctr">
              <a:lnSpc>
                <a:spcPct val="100000"/>
              </a:lnSpc>
            </a:pPr>
            <a:r>
              <a:rPr lang="en-US" sz="1600" dirty="0"/>
              <a:t>Monitor</a:t>
            </a:r>
          </a:p>
        </p:txBody>
      </p:sp>
      <p:sp>
        <p:nvSpPr>
          <p:cNvPr id="100385" name="Line 33"/>
          <p:cNvSpPr>
            <a:spLocks noChangeShapeType="1"/>
          </p:cNvSpPr>
          <p:nvPr/>
        </p:nvSpPr>
        <p:spPr bwMode="auto">
          <a:xfrm>
            <a:off x="5426075" y="5791200"/>
            <a:ext cx="0" cy="381000"/>
          </a:xfrm>
          <a:prstGeom prst="line">
            <a:avLst/>
          </a:prstGeom>
          <a:noFill/>
          <a:ln w="12700">
            <a:solidFill>
              <a:schemeClr val="tx1"/>
            </a:solidFill>
            <a:round/>
            <a:headEnd type="triangle" w="med" len="med"/>
            <a:tailEnd type="triangle" w="med" len="med"/>
          </a:ln>
          <a:effectLst/>
        </p:spPr>
        <p:txBody>
          <a:bodyPr wrap="none" anchor="ctr">
            <a:prstTxWarp prst="textNoShape">
              <a:avLst/>
            </a:prstTxWarp>
          </a:bodyPr>
          <a:lstStyle/>
          <a:p>
            <a:endParaRPr lang="en-US"/>
          </a:p>
        </p:txBody>
      </p:sp>
      <p:sp>
        <p:nvSpPr>
          <p:cNvPr id="100386" name="AutoShape 34"/>
          <p:cNvSpPr>
            <a:spLocks noChangeArrowheads="1"/>
          </p:cNvSpPr>
          <p:nvPr/>
        </p:nvSpPr>
        <p:spPr bwMode="auto">
          <a:xfrm>
            <a:off x="5121275" y="6172200"/>
            <a:ext cx="609600" cy="609600"/>
          </a:xfrm>
          <a:prstGeom prst="can">
            <a:avLst>
              <a:gd name="adj" fmla="val 25000"/>
            </a:avLst>
          </a:prstGeom>
          <a:noFill/>
          <a:ln w="12700">
            <a:solidFill>
              <a:schemeClr val="tx1"/>
            </a:solidFill>
            <a:round/>
            <a:headEnd/>
            <a:tailEnd/>
          </a:ln>
          <a:effectLst/>
        </p:spPr>
        <p:txBody>
          <a:bodyPr wrap="none" anchor="ctr">
            <a:prstTxWarp prst="textNoShape">
              <a:avLst/>
            </a:prstTxWarp>
          </a:bodyPr>
          <a:lstStyle/>
          <a:p>
            <a:pPr algn="ctr">
              <a:lnSpc>
                <a:spcPct val="100000"/>
              </a:lnSpc>
            </a:pPr>
            <a:r>
              <a:rPr lang="en-US" sz="1600" dirty="0"/>
              <a:t>Disk</a:t>
            </a:r>
          </a:p>
        </p:txBody>
      </p:sp>
      <p:sp>
        <p:nvSpPr>
          <p:cNvPr id="100387" name="AutoShape 35"/>
          <p:cNvSpPr>
            <a:spLocks noChangeArrowheads="1"/>
          </p:cNvSpPr>
          <p:nvPr/>
        </p:nvSpPr>
        <p:spPr bwMode="auto">
          <a:xfrm>
            <a:off x="269875" y="4330700"/>
            <a:ext cx="6972300" cy="393700"/>
          </a:xfrm>
          <a:prstGeom prst="leftRightArrow">
            <a:avLst>
              <a:gd name="adj1" fmla="val 48611"/>
              <a:gd name="adj2" fmla="val 91500"/>
            </a:avLst>
          </a:prstGeom>
          <a:solidFill>
            <a:srgbClr val="F7F5CD"/>
          </a:solidFill>
          <a:ln w="12700">
            <a:solidFill>
              <a:schemeClr val="tx1"/>
            </a:solidFill>
            <a:miter lim="800000"/>
            <a:headEnd/>
            <a:tailEnd/>
          </a:ln>
          <a:effectLst/>
        </p:spPr>
        <p:txBody>
          <a:bodyPr wrap="none" anchor="ctr">
            <a:prstTxWarp prst="textNoShape">
              <a:avLst/>
            </a:prstTxWarp>
          </a:bodyPr>
          <a:lstStyle/>
          <a:p>
            <a:endParaRPr lang="en-US"/>
          </a:p>
        </p:txBody>
      </p:sp>
      <p:sp>
        <p:nvSpPr>
          <p:cNvPr id="100388" name="Rectangle 36"/>
          <p:cNvSpPr>
            <a:spLocks noChangeArrowheads="1"/>
          </p:cNvSpPr>
          <p:nvPr/>
        </p:nvSpPr>
        <p:spPr bwMode="auto">
          <a:xfrm>
            <a:off x="1346200" y="4500563"/>
            <a:ext cx="166688"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100389" name="Rectangle 37"/>
          <p:cNvSpPr>
            <a:spLocks noChangeArrowheads="1"/>
          </p:cNvSpPr>
          <p:nvPr/>
        </p:nvSpPr>
        <p:spPr bwMode="auto">
          <a:xfrm>
            <a:off x="3022600" y="4491038"/>
            <a:ext cx="166688"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100390" name="Rectangle 38"/>
          <p:cNvSpPr>
            <a:spLocks noChangeArrowheads="1"/>
          </p:cNvSpPr>
          <p:nvPr/>
        </p:nvSpPr>
        <p:spPr bwMode="auto">
          <a:xfrm>
            <a:off x="5356225" y="4481513"/>
            <a:ext cx="161925"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100391" name="Text Box 39"/>
          <p:cNvSpPr txBox="1">
            <a:spLocks noChangeArrowheads="1"/>
          </p:cNvSpPr>
          <p:nvPr/>
        </p:nvSpPr>
        <p:spPr bwMode="auto">
          <a:xfrm>
            <a:off x="5556250" y="4127500"/>
            <a:ext cx="874713" cy="336550"/>
          </a:xfrm>
          <a:prstGeom prst="rect">
            <a:avLst/>
          </a:prstGeom>
          <a:noFill/>
          <a:ln w="12700">
            <a:noFill/>
            <a:miter lim="800000"/>
            <a:headEnd/>
            <a:tailEnd/>
          </a:ln>
          <a:effectLst/>
        </p:spPr>
        <p:txBody>
          <a:bodyPr wrap="none" anchor="ctr">
            <a:prstTxWarp prst="textNoShape">
              <a:avLst/>
            </a:prstTxWarp>
            <a:spAutoFit/>
          </a:bodyPr>
          <a:lstStyle/>
          <a:p>
            <a:pPr>
              <a:lnSpc>
                <a:spcPct val="100000"/>
              </a:lnSpc>
            </a:pPr>
            <a:r>
              <a:rPr lang="en-US" sz="1600"/>
              <a:t>I/O bus</a:t>
            </a:r>
          </a:p>
        </p:txBody>
      </p:sp>
      <p:sp>
        <p:nvSpPr>
          <p:cNvPr id="100392" name="Rectangle 40"/>
          <p:cNvSpPr>
            <a:spLocks noChangeArrowheads="1"/>
          </p:cNvSpPr>
          <p:nvPr/>
        </p:nvSpPr>
        <p:spPr bwMode="auto">
          <a:xfrm>
            <a:off x="4246563" y="4419600"/>
            <a:ext cx="161925" cy="152400"/>
          </a:xfrm>
          <a:prstGeom prst="rect">
            <a:avLst/>
          </a:prstGeom>
          <a:solidFill>
            <a:schemeClr val="bg1"/>
          </a:solidFill>
          <a:ln w="12700">
            <a:noFill/>
            <a:miter lim="800000"/>
            <a:headEnd/>
            <a:tailEnd/>
          </a:ln>
          <a:effectLst/>
        </p:spPr>
        <p:txBody>
          <a:bodyPr wrap="none" anchor="ctr">
            <a:prstTxWarp prst="textNoShape">
              <a:avLst/>
            </a:prstTxWarp>
          </a:bodyPr>
          <a:lstStyle/>
          <a:p>
            <a:endParaRPr lang="en-US"/>
          </a:p>
        </p:txBody>
      </p:sp>
      <p:sp>
        <p:nvSpPr>
          <p:cNvPr id="100393" name="Line 41"/>
          <p:cNvSpPr>
            <a:spLocks noChangeShapeType="1"/>
          </p:cNvSpPr>
          <p:nvPr/>
        </p:nvSpPr>
        <p:spPr bwMode="auto">
          <a:xfrm flipH="1">
            <a:off x="3343275" y="2679700"/>
            <a:ext cx="1017588" cy="0"/>
          </a:xfrm>
          <a:prstGeom prst="line">
            <a:avLst/>
          </a:prstGeom>
          <a:noFill/>
          <a:ln w="76200">
            <a:solidFill>
              <a:srgbClr val="00FFFF"/>
            </a:solidFill>
            <a:round/>
            <a:headEnd/>
            <a:tailEnd type="triangle" w="med" len="med"/>
          </a:ln>
          <a:effectLst/>
        </p:spPr>
        <p:txBody>
          <a:bodyPr wrap="none" anchor="ctr">
            <a:prstTxWarp prst="textNoShape">
              <a:avLst/>
            </a:prstTxWarp>
          </a:bodyPr>
          <a:lstStyle/>
          <a:p>
            <a:endParaRPr lang="en-US"/>
          </a:p>
        </p:txBody>
      </p:sp>
      <p:sp>
        <p:nvSpPr>
          <p:cNvPr id="100394" name="Line 42"/>
          <p:cNvSpPr>
            <a:spLocks noChangeShapeType="1"/>
          </p:cNvSpPr>
          <p:nvPr/>
        </p:nvSpPr>
        <p:spPr bwMode="auto">
          <a:xfrm>
            <a:off x="4335463" y="2667000"/>
            <a:ext cx="0" cy="1833563"/>
          </a:xfrm>
          <a:prstGeom prst="line">
            <a:avLst/>
          </a:prstGeom>
          <a:noFill/>
          <a:ln w="76200">
            <a:solidFill>
              <a:srgbClr val="00FFFF"/>
            </a:solidFill>
            <a:round/>
            <a:headEnd/>
            <a:tailEnd/>
          </a:ln>
          <a:effectLst/>
        </p:spPr>
        <p:txBody>
          <a:bodyPr wrap="none" anchor="ctr">
            <a:prstTxWarp prst="textNoShape">
              <a:avLst/>
            </a:prstTxWarp>
          </a:bodyPr>
          <a:lstStyle/>
          <a:p>
            <a:endParaRPr lang="en-US"/>
          </a:p>
        </p:txBody>
      </p:sp>
      <p:sp>
        <p:nvSpPr>
          <p:cNvPr id="100395" name="Line 43"/>
          <p:cNvSpPr>
            <a:spLocks noChangeShapeType="1"/>
          </p:cNvSpPr>
          <p:nvPr/>
        </p:nvSpPr>
        <p:spPr bwMode="auto">
          <a:xfrm flipV="1">
            <a:off x="4297363" y="4529138"/>
            <a:ext cx="1128712" cy="0"/>
          </a:xfrm>
          <a:prstGeom prst="line">
            <a:avLst/>
          </a:prstGeom>
          <a:noFill/>
          <a:ln w="76200">
            <a:solidFill>
              <a:srgbClr val="00FFFF"/>
            </a:solidFill>
            <a:round/>
            <a:headEnd/>
            <a:tailEnd/>
          </a:ln>
          <a:effectLst/>
        </p:spPr>
        <p:txBody>
          <a:bodyPr wrap="none" anchor="ctr">
            <a:prstTxWarp prst="textNoShape">
              <a:avLst/>
            </a:prstTxWarp>
          </a:bodyPr>
          <a:lstStyle/>
          <a:p>
            <a:endParaRPr lang="en-US"/>
          </a:p>
        </p:txBody>
      </p:sp>
      <p:sp>
        <p:nvSpPr>
          <p:cNvPr id="100396" name="Line 44"/>
          <p:cNvSpPr>
            <a:spLocks noChangeShapeType="1"/>
          </p:cNvSpPr>
          <p:nvPr/>
        </p:nvSpPr>
        <p:spPr bwMode="auto">
          <a:xfrm flipH="1">
            <a:off x="5426075" y="4500563"/>
            <a:ext cx="6350" cy="782637"/>
          </a:xfrm>
          <a:prstGeom prst="line">
            <a:avLst/>
          </a:prstGeom>
          <a:noFill/>
          <a:ln w="76200">
            <a:solidFill>
              <a:srgbClr val="00FFFF"/>
            </a:solidFill>
            <a:round/>
            <a:headEnd/>
            <a:tailEnd/>
          </a:ln>
          <a:effectLst/>
        </p:spPr>
        <p:txBody>
          <a:bodyPr wrap="none" anchor="ctr">
            <a:prstTxWarp prst="textNoShape">
              <a:avLst/>
            </a:prstTxWarp>
          </a:bodyPr>
          <a:lstStyle/>
          <a:p>
            <a:endParaRPr lang="en-US"/>
          </a:p>
        </p:txBody>
      </p:sp>
      <p:sp>
        <p:nvSpPr>
          <p:cNvPr id="100397" name="Rectangle 45"/>
          <p:cNvSpPr>
            <a:spLocks noChangeArrowheads="1"/>
          </p:cNvSpPr>
          <p:nvPr/>
        </p:nvSpPr>
        <p:spPr bwMode="auto">
          <a:xfrm>
            <a:off x="498475" y="3155950"/>
            <a:ext cx="1873250" cy="577850"/>
          </a:xfrm>
          <a:prstGeom prst="rect">
            <a:avLst/>
          </a:prstGeom>
          <a:noFill/>
          <a:ln w="12700">
            <a:solidFill>
              <a:schemeClr val="tx1"/>
            </a:solidFill>
            <a:miter lim="800000"/>
            <a:headEnd/>
            <a:tailEnd/>
          </a:ln>
          <a:effectLst/>
        </p:spPr>
        <p:txBody>
          <a:bodyPr wrap="none" anchor="ctr">
            <a:prstTxWarp prst="textNoShape">
              <a:avLst/>
            </a:prstTxWarp>
          </a:bodyPr>
          <a:lstStyle/>
          <a:p>
            <a:pPr algn="ctr">
              <a:lnSpc>
                <a:spcPct val="100000"/>
              </a:lnSpc>
            </a:pPr>
            <a:r>
              <a:rPr lang="en-US" sz="1600" dirty="0"/>
              <a:t>Bus interface</a:t>
            </a:r>
          </a:p>
        </p:txBody>
      </p:sp>
      <p:sp>
        <p:nvSpPr>
          <p:cNvPr id="100399" name="Text Box 47"/>
          <p:cNvSpPr txBox="1">
            <a:spLocks noChangeArrowheads="1"/>
          </p:cNvSpPr>
          <p:nvPr/>
        </p:nvSpPr>
        <p:spPr bwMode="auto">
          <a:xfrm>
            <a:off x="4495800" y="1219200"/>
            <a:ext cx="4343400" cy="1569660"/>
          </a:xfrm>
          <a:prstGeom prst="rect">
            <a:avLst/>
          </a:prstGeom>
          <a:noFill/>
          <a:ln w="25400">
            <a:noFill/>
            <a:miter lim="800000"/>
            <a:headEnd/>
            <a:tailEnd/>
          </a:ln>
          <a:effectLst/>
        </p:spPr>
        <p:txBody>
          <a:bodyPr wrap="square">
            <a:prstTxWarp prst="textNoShape">
              <a:avLst/>
            </a:prstTxWarp>
            <a:spAutoFit/>
          </a:bodyPr>
          <a:lstStyle/>
          <a:p>
            <a:pPr algn="l">
              <a:lnSpc>
                <a:spcPct val="100000"/>
              </a:lnSpc>
            </a:pPr>
            <a:r>
              <a:rPr lang="en-US" b="0" dirty="0"/>
              <a:t>When the DMA transfer completes, the disk controller notifies the CPU with an </a:t>
            </a:r>
            <a:r>
              <a:rPr lang="en-US" b="0" i="1" dirty="0">
                <a:solidFill>
                  <a:srgbClr val="FF0000"/>
                </a:solidFill>
              </a:rPr>
              <a:t>interrupt</a:t>
            </a:r>
            <a:r>
              <a:rPr lang="en-US" b="0" dirty="0"/>
              <a:t> (i.e., asserts a special “interrupt” pin on the CPU)</a:t>
            </a:r>
          </a:p>
        </p:txBody>
      </p:sp>
      <p:sp>
        <p:nvSpPr>
          <p:cNvPr id="2" name="Rectangle 1">
            <a:extLst>
              <a:ext uri="{FF2B5EF4-FFF2-40B4-BE49-F238E27FC236}">
                <a16:creationId xmlns:a16="http://schemas.microsoft.com/office/drawing/2014/main" id="{ACAB7352-4997-A804-4C7C-2997456FF9B0}"/>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93B6B8C7-928F-276C-2FBB-62ACE18A278A}"/>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289"/>
          <p:cNvSpPr>
            <a:spLocks noChangeArrowheads="1"/>
          </p:cNvSpPr>
          <p:nvPr/>
        </p:nvSpPr>
        <p:spPr bwMode="auto">
          <a:xfrm>
            <a:off x="990600" y="3352800"/>
            <a:ext cx="7162800" cy="990600"/>
          </a:xfrm>
          <a:prstGeom prst="rect">
            <a:avLst/>
          </a:prstGeom>
          <a:solidFill>
            <a:srgbClr val="DEDFF5"/>
          </a:solidFill>
          <a:ln w="12700">
            <a:solidFill>
              <a:schemeClr val="tx1"/>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 name="Title 1"/>
          <p:cNvSpPr>
            <a:spLocks noGrp="1"/>
          </p:cNvSpPr>
          <p:nvPr>
            <p:ph type="title"/>
          </p:nvPr>
        </p:nvSpPr>
        <p:spPr/>
        <p:txBody>
          <a:bodyPr/>
          <a:lstStyle/>
          <a:p>
            <a:r>
              <a:rPr lang="en-US" dirty="0"/>
              <a:t>Solid State Disks (</a:t>
            </a:r>
            <a:r>
              <a:rPr lang="en-US" dirty="0" err="1"/>
              <a:t>SSDs</a:t>
            </a:r>
            <a:r>
              <a:rPr lang="en-US" dirty="0"/>
              <a:t>)</a:t>
            </a:r>
          </a:p>
        </p:txBody>
      </p:sp>
      <p:sp>
        <p:nvSpPr>
          <p:cNvPr id="3" name="Content Placeholder 2"/>
          <p:cNvSpPr>
            <a:spLocks noGrp="1"/>
          </p:cNvSpPr>
          <p:nvPr>
            <p:ph idx="1"/>
          </p:nvPr>
        </p:nvSpPr>
        <p:spPr>
          <a:xfrm>
            <a:off x="396875" y="4724400"/>
            <a:ext cx="7896225" cy="1904999"/>
          </a:xfrm>
        </p:spPr>
        <p:txBody>
          <a:bodyPr/>
          <a:lstStyle/>
          <a:p>
            <a:r>
              <a:rPr lang="en-US" dirty="0"/>
              <a:t>Pages: 512KB to 4KB, Blocks: 32 to 128 pages</a:t>
            </a:r>
          </a:p>
          <a:p>
            <a:r>
              <a:rPr lang="en-US" dirty="0"/>
              <a:t>Data read/written in units of pages. </a:t>
            </a:r>
          </a:p>
          <a:p>
            <a:r>
              <a:rPr lang="en-US" dirty="0"/>
              <a:t>Page can be written only after its block has been erased</a:t>
            </a:r>
          </a:p>
          <a:p>
            <a:r>
              <a:rPr lang="en-US" dirty="0"/>
              <a:t>A block wears out after about 100,000 repeated writes.</a:t>
            </a:r>
          </a:p>
        </p:txBody>
      </p:sp>
      <p:sp>
        <p:nvSpPr>
          <p:cNvPr id="62" name="AutoShape 238"/>
          <p:cNvSpPr>
            <a:spLocks noChangeArrowheads="1"/>
          </p:cNvSpPr>
          <p:nvPr/>
        </p:nvSpPr>
        <p:spPr bwMode="auto">
          <a:xfrm flipV="1">
            <a:off x="4305300" y="1606550"/>
            <a:ext cx="495300" cy="685800"/>
          </a:xfrm>
          <a:prstGeom prst="upArrow">
            <a:avLst>
              <a:gd name="adj1" fmla="val 36667"/>
              <a:gd name="adj2" fmla="val 44872"/>
            </a:avLst>
          </a:prstGeom>
          <a:solidFill>
            <a:srgbClr val="F7F5CD"/>
          </a:solidFill>
          <a:ln w="12700">
            <a:solidFill>
              <a:srgbClr val="000000"/>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3" name="Rectangle 239"/>
          <p:cNvSpPr>
            <a:spLocks noChangeArrowheads="1"/>
          </p:cNvSpPr>
          <p:nvPr/>
        </p:nvSpPr>
        <p:spPr bwMode="auto">
          <a:xfrm>
            <a:off x="3505200" y="2406650"/>
            <a:ext cx="2057400" cy="520700"/>
          </a:xfrm>
          <a:prstGeom prst="rect">
            <a:avLst/>
          </a:prstGeom>
          <a:solidFill>
            <a:srgbClr val="DEDFF5"/>
          </a:solidFill>
          <a:ln w="12700">
            <a:solidFill>
              <a:srgbClr val="000000"/>
            </a:solidFill>
            <a:miter lim="800000"/>
            <a:headEnd/>
            <a:tailEnd/>
          </a:ln>
          <a:effectLst/>
        </p:spPr>
        <p:txBody>
          <a:bodyPr wrap="none" anchor="ctr">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charset="0"/>
              </a:rPr>
              <a:t>Flash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charset="0"/>
              </a:rPr>
              <a:t>translation layer</a:t>
            </a:r>
          </a:p>
        </p:txBody>
      </p:sp>
      <p:sp>
        <p:nvSpPr>
          <p:cNvPr id="64" name="Line 258"/>
          <p:cNvSpPr>
            <a:spLocks noChangeShapeType="1"/>
          </p:cNvSpPr>
          <p:nvPr/>
        </p:nvSpPr>
        <p:spPr bwMode="auto">
          <a:xfrm>
            <a:off x="4572000" y="2927350"/>
            <a:ext cx="0" cy="381000"/>
          </a:xfrm>
          <a:prstGeom prst="line">
            <a:avLst/>
          </a:prstGeom>
          <a:noFill/>
          <a:ln w="38100">
            <a:solidFill>
              <a:srgbClr val="000000"/>
            </a:solidFill>
            <a:round/>
            <a:headEnd type="triangle" w="med" len="med"/>
            <a:tailEnd type="triangle" w="med" len="me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5" name="Rectangle 235"/>
          <p:cNvSpPr>
            <a:spLocks noChangeArrowheads="1"/>
          </p:cNvSpPr>
          <p:nvPr/>
        </p:nvSpPr>
        <p:spPr bwMode="auto">
          <a:xfrm>
            <a:off x="3429000" y="1390650"/>
            <a:ext cx="2209800" cy="241300"/>
          </a:xfrm>
          <a:prstGeom prst="rect">
            <a:avLst/>
          </a:prstGeom>
          <a:solidFill>
            <a:srgbClr val="F7F5CD"/>
          </a:solidFill>
          <a:ln w="12700">
            <a:solidFill>
              <a:srgbClr val="000000"/>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CCFFCC"/>
              </a:solidFill>
              <a:effectLst/>
              <a:uLnTx/>
              <a:uFillTx/>
            </a:endParaRPr>
          </a:p>
        </p:txBody>
      </p:sp>
      <p:sp>
        <p:nvSpPr>
          <p:cNvPr id="66" name="Rectangle 264"/>
          <p:cNvSpPr>
            <a:spLocks noChangeArrowheads="1"/>
          </p:cNvSpPr>
          <p:nvPr/>
        </p:nvSpPr>
        <p:spPr bwMode="auto">
          <a:xfrm>
            <a:off x="4476750" y="1541463"/>
            <a:ext cx="161925" cy="152400"/>
          </a:xfrm>
          <a:prstGeom prst="rect">
            <a:avLst/>
          </a:prstGeom>
          <a:solidFill>
            <a:srgbClr val="F7F5CD"/>
          </a:solidFill>
          <a:ln w="12700">
            <a:no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7" name="Text Box 265"/>
          <p:cNvSpPr txBox="1">
            <a:spLocks noChangeArrowheads="1"/>
          </p:cNvSpPr>
          <p:nvPr/>
        </p:nvSpPr>
        <p:spPr bwMode="auto">
          <a:xfrm>
            <a:off x="3429000" y="1066800"/>
            <a:ext cx="841375" cy="336550"/>
          </a:xfrm>
          <a:prstGeom prst="rect">
            <a:avLst/>
          </a:prstGeom>
          <a:noFill/>
          <a:ln w="12700">
            <a:noFill/>
            <a:miter lim="800000"/>
            <a:headEnd/>
            <a:tailEnd/>
          </a:ln>
          <a:effectLst/>
        </p:spPr>
        <p:txBody>
          <a:bodyPr wrap="none" anchor="ctr">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Arial" charset="0"/>
              </a:rPr>
              <a:t>I/O bus</a:t>
            </a:r>
          </a:p>
        </p:txBody>
      </p:sp>
      <p:sp>
        <p:nvSpPr>
          <p:cNvPr id="68" name="Rectangle 271"/>
          <p:cNvSpPr>
            <a:spLocks noChangeArrowheads="1"/>
          </p:cNvSpPr>
          <p:nvPr/>
        </p:nvSpPr>
        <p:spPr bwMode="auto">
          <a:xfrm>
            <a:off x="5562600" y="1174750"/>
            <a:ext cx="457200" cy="533400"/>
          </a:xfrm>
          <a:prstGeom prst="rect">
            <a:avLst/>
          </a:prstGeom>
          <a:solidFill>
            <a:srgbClr val="FFFFFF"/>
          </a:solidFill>
          <a:ln w="12700">
            <a:no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latin typeface="Arial" charset="0"/>
            </a:endParaRPr>
          </a:p>
        </p:txBody>
      </p:sp>
      <p:sp>
        <p:nvSpPr>
          <p:cNvPr id="69" name="Rectangle 272"/>
          <p:cNvSpPr>
            <a:spLocks noChangeArrowheads="1"/>
          </p:cNvSpPr>
          <p:nvPr/>
        </p:nvSpPr>
        <p:spPr bwMode="auto">
          <a:xfrm>
            <a:off x="3048000" y="1219200"/>
            <a:ext cx="457200" cy="457200"/>
          </a:xfrm>
          <a:prstGeom prst="rect">
            <a:avLst/>
          </a:prstGeom>
          <a:solidFill>
            <a:srgbClr val="FFFFFF"/>
          </a:solidFill>
          <a:ln w="12700">
            <a:no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ysClr val="windowText" lastClr="000000"/>
              </a:solidFill>
              <a:effectLst/>
              <a:uLnTx/>
              <a:uFillTx/>
              <a:latin typeface="Arial" charset="0"/>
            </a:endParaRPr>
          </a:p>
        </p:txBody>
      </p:sp>
      <p:sp>
        <p:nvSpPr>
          <p:cNvPr id="84" name="Rectangle 280"/>
          <p:cNvSpPr>
            <a:spLocks noChangeArrowheads="1"/>
          </p:cNvSpPr>
          <p:nvPr/>
        </p:nvSpPr>
        <p:spPr bwMode="auto">
          <a:xfrm>
            <a:off x="1154113" y="3689350"/>
            <a:ext cx="3124200" cy="457200"/>
          </a:xfrm>
          <a:prstGeom prst="rect">
            <a:avLst/>
          </a:prstGeom>
          <a:solidFill>
            <a:srgbClr val="F6F5BD"/>
          </a:solidFill>
          <a:ln w="12700">
            <a:solidFill>
              <a:srgbClr val="000000"/>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5" name="Rectangle 274"/>
          <p:cNvSpPr>
            <a:spLocks noChangeArrowheads="1"/>
          </p:cNvSpPr>
          <p:nvPr/>
        </p:nvSpPr>
        <p:spPr bwMode="auto">
          <a:xfrm>
            <a:off x="1230313" y="3765550"/>
            <a:ext cx="838200" cy="304800"/>
          </a:xfrm>
          <a:prstGeom prst="rect">
            <a:avLst/>
          </a:prstGeom>
          <a:solidFill>
            <a:srgbClr val="B2E6B2"/>
          </a:solidFill>
          <a:ln w="12700">
            <a:solidFill>
              <a:srgbClr val="000000"/>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dirty="0">
                <a:ln>
                  <a:noFill/>
                </a:ln>
                <a:solidFill>
                  <a:sysClr val="windowText" lastClr="000000"/>
                </a:solidFill>
                <a:effectLst/>
                <a:uLnTx/>
                <a:uFillTx/>
                <a:latin typeface="Arial" charset="0"/>
              </a:rPr>
              <a:t>Page 0</a:t>
            </a:r>
          </a:p>
        </p:txBody>
      </p:sp>
      <p:sp>
        <p:nvSpPr>
          <p:cNvPr id="86" name="Rectangle 277"/>
          <p:cNvSpPr>
            <a:spLocks noChangeArrowheads="1"/>
          </p:cNvSpPr>
          <p:nvPr/>
        </p:nvSpPr>
        <p:spPr bwMode="auto">
          <a:xfrm>
            <a:off x="2068513" y="3765550"/>
            <a:ext cx="838200" cy="304800"/>
          </a:xfrm>
          <a:prstGeom prst="rect">
            <a:avLst/>
          </a:prstGeom>
          <a:solidFill>
            <a:srgbClr val="B2E6B2"/>
          </a:solidFill>
          <a:ln w="12700">
            <a:solidFill>
              <a:srgbClr val="000000"/>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ysClr val="windowText" lastClr="000000"/>
                </a:solidFill>
                <a:effectLst/>
                <a:uLnTx/>
                <a:uFillTx/>
                <a:latin typeface="Arial" charset="0"/>
              </a:rPr>
              <a:t>Page 1</a:t>
            </a:r>
          </a:p>
        </p:txBody>
      </p:sp>
      <p:sp>
        <p:nvSpPr>
          <p:cNvPr id="87" name="Rectangle 278"/>
          <p:cNvSpPr>
            <a:spLocks noChangeArrowheads="1"/>
          </p:cNvSpPr>
          <p:nvPr/>
        </p:nvSpPr>
        <p:spPr bwMode="auto">
          <a:xfrm>
            <a:off x="3363913" y="3765550"/>
            <a:ext cx="838200" cy="304800"/>
          </a:xfrm>
          <a:prstGeom prst="rect">
            <a:avLst/>
          </a:prstGeom>
          <a:solidFill>
            <a:srgbClr val="B2E6B2"/>
          </a:solidFill>
          <a:ln w="12700">
            <a:solidFill>
              <a:srgbClr val="000000"/>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Arial" charset="0"/>
              </a:rPr>
              <a:t>Page P-1</a:t>
            </a:r>
          </a:p>
        </p:txBody>
      </p:sp>
      <p:sp>
        <p:nvSpPr>
          <p:cNvPr id="88" name="Text Box 279"/>
          <p:cNvSpPr txBox="1">
            <a:spLocks noChangeArrowheads="1"/>
          </p:cNvSpPr>
          <p:nvPr/>
        </p:nvSpPr>
        <p:spPr bwMode="auto">
          <a:xfrm>
            <a:off x="2906713" y="3613150"/>
            <a:ext cx="488950" cy="457200"/>
          </a:xfrm>
          <a:prstGeom prst="rect">
            <a:avLst/>
          </a:prstGeom>
          <a:noFill/>
          <a:ln w="12700">
            <a:noFill/>
            <a:miter lim="800000"/>
            <a:headEnd/>
            <a:tailEnd/>
          </a:ln>
          <a:effectLst/>
        </p:spPr>
        <p:txBody>
          <a:bodyPr wrap="none">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Arial" charset="0"/>
              </a:rPr>
              <a:t>…</a:t>
            </a:r>
          </a:p>
        </p:txBody>
      </p:sp>
      <p:sp>
        <p:nvSpPr>
          <p:cNvPr id="89" name="Text Box 281"/>
          <p:cNvSpPr txBox="1">
            <a:spLocks noChangeArrowheads="1"/>
          </p:cNvSpPr>
          <p:nvPr/>
        </p:nvSpPr>
        <p:spPr bwMode="auto">
          <a:xfrm>
            <a:off x="1066800" y="3321050"/>
            <a:ext cx="849313" cy="336550"/>
          </a:xfrm>
          <a:prstGeom prst="rect">
            <a:avLst/>
          </a:prstGeom>
          <a:noFill/>
          <a:ln w="12700">
            <a:noFill/>
            <a:miter lim="800000"/>
            <a:headEnd/>
            <a:tailEnd/>
          </a:ln>
          <a:effectLst/>
        </p:spPr>
        <p:txBody>
          <a:bodyPr wrap="none">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charset="0"/>
              </a:rPr>
              <a:t>Block 0</a:t>
            </a:r>
          </a:p>
        </p:txBody>
      </p:sp>
      <p:sp>
        <p:nvSpPr>
          <p:cNvPr id="71" name="Text Box 282"/>
          <p:cNvSpPr txBox="1">
            <a:spLocks noChangeArrowheads="1"/>
          </p:cNvSpPr>
          <p:nvPr/>
        </p:nvSpPr>
        <p:spPr bwMode="auto">
          <a:xfrm>
            <a:off x="4311650" y="3657600"/>
            <a:ext cx="488950" cy="457200"/>
          </a:xfrm>
          <a:prstGeom prst="rect">
            <a:avLst/>
          </a:prstGeom>
          <a:noFill/>
          <a:ln w="12700">
            <a:noFill/>
            <a:miter lim="800000"/>
            <a:headEnd/>
            <a:tailEnd/>
          </a:ln>
          <a:effectLst/>
        </p:spPr>
        <p:txBody>
          <a:bodyPr wrap="none">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latin typeface="Arial" charset="0"/>
              </a:rPr>
              <a:t>…</a:t>
            </a:r>
          </a:p>
        </p:txBody>
      </p:sp>
      <p:sp>
        <p:nvSpPr>
          <p:cNvPr id="78" name="Rectangle 287"/>
          <p:cNvSpPr>
            <a:spLocks noChangeArrowheads="1"/>
          </p:cNvSpPr>
          <p:nvPr/>
        </p:nvSpPr>
        <p:spPr bwMode="auto">
          <a:xfrm>
            <a:off x="4876800" y="3689350"/>
            <a:ext cx="3124200" cy="457200"/>
          </a:xfrm>
          <a:prstGeom prst="rect">
            <a:avLst/>
          </a:prstGeom>
          <a:solidFill>
            <a:srgbClr val="F6F5BD"/>
          </a:solidFill>
          <a:ln w="12700">
            <a:solidFill>
              <a:srgbClr val="000000"/>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9" name="Rectangle 283"/>
          <p:cNvSpPr>
            <a:spLocks noChangeArrowheads="1"/>
          </p:cNvSpPr>
          <p:nvPr/>
        </p:nvSpPr>
        <p:spPr bwMode="auto">
          <a:xfrm>
            <a:off x="4953000" y="3765550"/>
            <a:ext cx="838200" cy="304800"/>
          </a:xfrm>
          <a:prstGeom prst="rect">
            <a:avLst/>
          </a:prstGeom>
          <a:solidFill>
            <a:srgbClr val="B2E6B2"/>
          </a:solidFill>
          <a:ln w="12700">
            <a:solidFill>
              <a:srgbClr val="000000"/>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ysClr val="windowText" lastClr="000000"/>
                </a:solidFill>
                <a:effectLst/>
                <a:uLnTx/>
                <a:uFillTx/>
                <a:latin typeface="Arial" charset="0"/>
              </a:rPr>
              <a:t>Page 0</a:t>
            </a:r>
          </a:p>
        </p:txBody>
      </p:sp>
      <p:sp>
        <p:nvSpPr>
          <p:cNvPr id="80" name="Rectangle 284"/>
          <p:cNvSpPr>
            <a:spLocks noChangeArrowheads="1"/>
          </p:cNvSpPr>
          <p:nvPr/>
        </p:nvSpPr>
        <p:spPr bwMode="auto">
          <a:xfrm>
            <a:off x="5791200" y="3765550"/>
            <a:ext cx="838200" cy="304800"/>
          </a:xfrm>
          <a:prstGeom prst="rect">
            <a:avLst/>
          </a:prstGeom>
          <a:solidFill>
            <a:srgbClr val="B2E6B2"/>
          </a:solidFill>
          <a:ln w="12700">
            <a:solidFill>
              <a:srgbClr val="000000"/>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ysClr val="windowText" lastClr="000000"/>
                </a:solidFill>
                <a:effectLst/>
                <a:uLnTx/>
                <a:uFillTx/>
                <a:latin typeface="Arial" charset="0"/>
              </a:rPr>
              <a:t>Page 1</a:t>
            </a:r>
          </a:p>
        </p:txBody>
      </p:sp>
      <p:sp>
        <p:nvSpPr>
          <p:cNvPr id="81" name="Rectangle 285"/>
          <p:cNvSpPr>
            <a:spLocks noChangeArrowheads="1"/>
          </p:cNvSpPr>
          <p:nvPr/>
        </p:nvSpPr>
        <p:spPr bwMode="auto">
          <a:xfrm>
            <a:off x="7086600" y="3765550"/>
            <a:ext cx="838200" cy="304800"/>
          </a:xfrm>
          <a:prstGeom prst="rect">
            <a:avLst/>
          </a:prstGeom>
          <a:solidFill>
            <a:srgbClr val="B2E6B2"/>
          </a:solidFill>
          <a:ln w="12700">
            <a:solidFill>
              <a:srgbClr val="000000"/>
            </a:solidFill>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Arial" charset="0"/>
              </a:rPr>
              <a:t>Page P-1</a:t>
            </a:r>
          </a:p>
        </p:txBody>
      </p:sp>
      <p:sp>
        <p:nvSpPr>
          <p:cNvPr id="82" name="Text Box 286"/>
          <p:cNvSpPr txBox="1">
            <a:spLocks noChangeArrowheads="1"/>
          </p:cNvSpPr>
          <p:nvPr/>
        </p:nvSpPr>
        <p:spPr bwMode="auto">
          <a:xfrm>
            <a:off x="6629400" y="3613150"/>
            <a:ext cx="488950" cy="457200"/>
          </a:xfrm>
          <a:prstGeom prst="rect">
            <a:avLst/>
          </a:prstGeom>
          <a:noFill/>
          <a:ln w="12700">
            <a:noFill/>
            <a:miter lim="800000"/>
            <a:headEnd/>
            <a:tailEnd/>
          </a:ln>
          <a:effectLst/>
        </p:spPr>
        <p:txBody>
          <a:bodyPr wrap="none">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Arial" charset="0"/>
              </a:rPr>
              <a:t>…</a:t>
            </a:r>
          </a:p>
        </p:txBody>
      </p:sp>
      <p:sp>
        <p:nvSpPr>
          <p:cNvPr id="83" name="Text Box 288"/>
          <p:cNvSpPr txBox="1">
            <a:spLocks noChangeArrowheads="1"/>
          </p:cNvSpPr>
          <p:nvPr/>
        </p:nvSpPr>
        <p:spPr bwMode="auto">
          <a:xfrm>
            <a:off x="4800600" y="3321050"/>
            <a:ext cx="1109663" cy="336550"/>
          </a:xfrm>
          <a:prstGeom prst="rect">
            <a:avLst/>
          </a:prstGeom>
          <a:noFill/>
          <a:ln w="12700">
            <a:noFill/>
            <a:miter lim="800000"/>
            <a:headEnd/>
            <a:tailEnd/>
          </a:ln>
          <a:effectLst/>
        </p:spPr>
        <p:txBody>
          <a:bodyPr wrap="none">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charset="0"/>
              </a:rPr>
              <a:t>Block  B-1</a:t>
            </a:r>
          </a:p>
        </p:txBody>
      </p:sp>
      <p:sp>
        <p:nvSpPr>
          <p:cNvPr id="74" name="Text Box 291"/>
          <p:cNvSpPr txBox="1">
            <a:spLocks noChangeArrowheads="1"/>
          </p:cNvSpPr>
          <p:nvPr/>
        </p:nvSpPr>
        <p:spPr bwMode="auto">
          <a:xfrm>
            <a:off x="912813" y="3016250"/>
            <a:ext cx="1471612" cy="336550"/>
          </a:xfrm>
          <a:prstGeom prst="rect">
            <a:avLst/>
          </a:prstGeom>
          <a:noFill/>
          <a:ln w="12700">
            <a:noFill/>
            <a:miter lim="800000"/>
            <a:headEnd/>
            <a:tailEnd/>
          </a:ln>
          <a:effectLst/>
        </p:spPr>
        <p:txBody>
          <a:bodyPr wrap="none">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charset="0"/>
              </a:rPr>
              <a:t>Flash memory</a:t>
            </a:r>
          </a:p>
        </p:txBody>
      </p:sp>
      <p:sp>
        <p:nvSpPr>
          <p:cNvPr id="75" name="Rectangle 292"/>
          <p:cNvSpPr>
            <a:spLocks noChangeArrowheads="1"/>
          </p:cNvSpPr>
          <p:nvPr/>
        </p:nvSpPr>
        <p:spPr bwMode="auto">
          <a:xfrm>
            <a:off x="838200" y="2317750"/>
            <a:ext cx="7467600" cy="2178050"/>
          </a:xfrm>
          <a:prstGeom prst="rect">
            <a:avLst/>
          </a:prstGeom>
          <a:noFill/>
          <a:ln w="12700">
            <a:solidFill>
              <a:srgbClr val="000000"/>
            </a:solidFill>
            <a:prstDash val="dash"/>
            <a:miter lim="800000"/>
            <a:headEnd/>
            <a:tailEnd/>
          </a:ln>
          <a:effectLst/>
        </p:spPr>
        <p:txBody>
          <a:bodyPr wrap="none" anchor="ctr">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6" name="Text Box 293"/>
          <p:cNvSpPr txBox="1">
            <a:spLocks noChangeArrowheads="1"/>
          </p:cNvSpPr>
          <p:nvPr/>
        </p:nvSpPr>
        <p:spPr bwMode="auto">
          <a:xfrm>
            <a:off x="746125" y="1981200"/>
            <a:ext cx="2225675" cy="336550"/>
          </a:xfrm>
          <a:prstGeom prst="rect">
            <a:avLst/>
          </a:prstGeom>
          <a:noFill/>
          <a:ln w="12700">
            <a:noFill/>
            <a:miter lim="800000"/>
            <a:headEnd/>
            <a:tailEnd/>
          </a:ln>
          <a:effectLst/>
        </p:spPr>
        <p:txBody>
          <a:bodyPr wrap="none">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charset="0"/>
              </a:rPr>
              <a:t>Solid State Disk (SSD)</a:t>
            </a:r>
          </a:p>
        </p:txBody>
      </p:sp>
      <p:sp>
        <p:nvSpPr>
          <p:cNvPr id="77" name="Text Box 297"/>
          <p:cNvSpPr txBox="1">
            <a:spLocks noChangeArrowheads="1"/>
          </p:cNvSpPr>
          <p:nvPr/>
        </p:nvSpPr>
        <p:spPr bwMode="auto">
          <a:xfrm>
            <a:off x="4724400" y="1655763"/>
            <a:ext cx="2133600" cy="517525"/>
          </a:xfrm>
          <a:prstGeom prst="rect">
            <a:avLst/>
          </a:prstGeom>
          <a:noFill/>
          <a:ln w="12700">
            <a:noFill/>
            <a:miter lim="800000"/>
            <a:headEnd/>
            <a:tailEnd/>
          </a:ln>
          <a:effectLst/>
        </p:spPr>
        <p:txBody>
          <a:bodyPr>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1" u="none" strike="noStrike" kern="0" cap="none" spc="0" normalizeH="0" baseline="0" noProof="0" dirty="0">
                <a:ln>
                  <a:noFill/>
                </a:ln>
                <a:solidFill>
                  <a:sysClr val="windowText" lastClr="000000"/>
                </a:solidFill>
                <a:effectLst/>
                <a:uLnTx/>
                <a:uFillTx/>
              </a:rPr>
              <a:t>Requests to read and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1" u="none" strike="noStrike" kern="0" cap="none" spc="0" normalizeH="0" baseline="0" noProof="0" dirty="0">
                <a:ln>
                  <a:noFill/>
                </a:ln>
                <a:solidFill>
                  <a:sysClr val="windowText" lastClr="000000"/>
                </a:solidFill>
                <a:effectLst/>
                <a:uLnTx/>
                <a:uFillTx/>
              </a:rPr>
              <a:t>write logical disk blocks</a:t>
            </a:r>
          </a:p>
        </p:txBody>
      </p:sp>
      <p:sp>
        <p:nvSpPr>
          <p:cNvPr id="4" name="Rectangle 3">
            <a:extLst>
              <a:ext uri="{FF2B5EF4-FFF2-40B4-BE49-F238E27FC236}">
                <a16:creationId xmlns:a16="http://schemas.microsoft.com/office/drawing/2014/main" id="{EFEAC0BE-2F34-BF15-D724-1960B3D84338}"/>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5" name="Rectangle 4">
            <a:extLst>
              <a:ext uri="{FF2B5EF4-FFF2-40B4-BE49-F238E27FC236}">
                <a16:creationId xmlns:a16="http://schemas.microsoft.com/office/drawing/2014/main" id="{C6351FAB-4D5F-24A2-1522-88ED677266FD}"/>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SSD Performance Characteristics	</a:t>
            </a:r>
          </a:p>
        </p:txBody>
      </p:sp>
      <p:sp>
        <p:nvSpPr>
          <p:cNvPr id="3" name="Content Placeholder 2"/>
          <p:cNvSpPr>
            <a:spLocks noGrp="1"/>
          </p:cNvSpPr>
          <p:nvPr>
            <p:ph idx="1"/>
          </p:nvPr>
        </p:nvSpPr>
        <p:spPr>
          <a:xfrm>
            <a:off x="396875" y="3200400"/>
            <a:ext cx="7896225" cy="2590801"/>
          </a:xfrm>
        </p:spPr>
        <p:txBody>
          <a:bodyPr/>
          <a:lstStyle/>
          <a:p>
            <a:r>
              <a:rPr lang="en-US" dirty="0"/>
              <a:t>Sequential access faster than random access</a:t>
            </a:r>
          </a:p>
          <a:p>
            <a:pPr lvl="1"/>
            <a:r>
              <a:rPr lang="en-US" dirty="0"/>
              <a:t>Common theme in the memory hierarchy</a:t>
            </a:r>
          </a:p>
          <a:p>
            <a:r>
              <a:rPr lang="en-US" dirty="0"/>
              <a:t>Random writes are somewhat slower</a:t>
            </a:r>
          </a:p>
          <a:p>
            <a:pPr lvl="1"/>
            <a:r>
              <a:rPr lang="en-US" dirty="0"/>
              <a:t>Erasing a block takes a long time (~1 </a:t>
            </a:r>
            <a:r>
              <a:rPr lang="en-US" dirty="0" err="1"/>
              <a:t>ms</a:t>
            </a:r>
            <a:r>
              <a:rPr lang="en-US" dirty="0"/>
              <a:t>)</a:t>
            </a:r>
          </a:p>
          <a:p>
            <a:pPr lvl="1"/>
            <a:r>
              <a:rPr lang="en-US" dirty="0"/>
              <a:t>Modifying a block page requires all other pages to be copied to new block</a:t>
            </a:r>
          </a:p>
          <a:p>
            <a:pPr lvl="1"/>
            <a:r>
              <a:rPr lang="en-US" dirty="0"/>
              <a:t>In earlier SSDs, the read/write gap was much larger.</a:t>
            </a:r>
          </a:p>
        </p:txBody>
      </p:sp>
      <p:sp>
        <p:nvSpPr>
          <p:cNvPr id="4" name="TextBox 3"/>
          <p:cNvSpPr txBox="1"/>
          <p:nvPr/>
        </p:nvSpPr>
        <p:spPr>
          <a:xfrm>
            <a:off x="244475" y="1676400"/>
            <a:ext cx="8747125" cy="1015663"/>
          </a:xfrm>
          <a:prstGeom prst="rect">
            <a:avLst/>
          </a:prstGeom>
          <a:solidFill>
            <a:srgbClr val="E2E2E2"/>
          </a:solidFill>
          <a:ln w="19050" cmpd="sng">
            <a:solidFill>
              <a:schemeClr val="tx1"/>
            </a:solidFill>
          </a:ln>
        </p:spPr>
        <p:txBody>
          <a:bodyPr wrap="square" rtlCol="0">
            <a:spAutoFit/>
          </a:bodyPr>
          <a:lstStyle/>
          <a:p>
            <a:r>
              <a:rPr lang="en-US" sz="2000" dirty="0">
                <a:latin typeface="Calibri" pitchFamily="34" charset="0"/>
              </a:rPr>
              <a:t>Sequential read </a:t>
            </a:r>
            <a:r>
              <a:rPr lang="en-US" sz="2000" dirty="0" err="1">
                <a:latin typeface="Calibri" pitchFamily="34" charset="0"/>
              </a:rPr>
              <a:t>tput</a:t>
            </a:r>
            <a:r>
              <a:rPr lang="en-US" sz="2000" dirty="0">
                <a:latin typeface="Calibri" pitchFamily="34" charset="0"/>
              </a:rPr>
              <a:t>	550 MB/s	Sequential write </a:t>
            </a:r>
            <a:r>
              <a:rPr lang="en-US" sz="2000" dirty="0" err="1">
                <a:latin typeface="Calibri" pitchFamily="34" charset="0"/>
              </a:rPr>
              <a:t>tput</a:t>
            </a:r>
            <a:r>
              <a:rPr lang="en-US" sz="2000" dirty="0">
                <a:latin typeface="Calibri" pitchFamily="34" charset="0"/>
              </a:rPr>
              <a:t>	470 MB/s</a:t>
            </a:r>
          </a:p>
          <a:p>
            <a:r>
              <a:rPr lang="en-US" sz="2000" dirty="0">
                <a:latin typeface="Calibri" pitchFamily="34" charset="0"/>
              </a:rPr>
              <a:t>Random read </a:t>
            </a:r>
            <a:r>
              <a:rPr lang="en-US" sz="2000" dirty="0" err="1">
                <a:latin typeface="Calibri" pitchFamily="34" charset="0"/>
              </a:rPr>
              <a:t>tput</a:t>
            </a:r>
            <a:r>
              <a:rPr lang="en-US" sz="2000" dirty="0">
                <a:latin typeface="Calibri" pitchFamily="34" charset="0"/>
              </a:rPr>
              <a:t>	365 MB/s	Random write </a:t>
            </a:r>
            <a:r>
              <a:rPr lang="en-US" sz="2000" dirty="0" err="1">
                <a:latin typeface="Calibri" pitchFamily="34" charset="0"/>
              </a:rPr>
              <a:t>tput</a:t>
            </a:r>
            <a:r>
              <a:rPr lang="en-US" sz="2000" dirty="0">
                <a:latin typeface="Calibri" pitchFamily="34" charset="0"/>
              </a:rPr>
              <a:t>	303 MB/s</a:t>
            </a:r>
          </a:p>
          <a:p>
            <a:r>
              <a:rPr lang="en-US" sz="2000" dirty="0" err="1">
                <a:latin typeface="Calibri" pitchFamily="34" charset="0"/>
              </a:rPr>
              <a:t>Avg</a:t>
            </a:r>
            <a:r>
              <a:rPr lang="en-US" sz="2000" dirty="0">
                <a:latin typeface="Calibri" pitchFamily="34" charset="0"/>
              </a:rPr>
              <a:t> </a:t>
            </a:r>
            <a:r>
              <a:rPr lang="en-US" sz="2000" dirty="0" err="1">
                <a:latin typeface="Calibri" pitchFamily="34" charset="0"/>
              </a:rPr>
              <a:t>seq</a:t>
            </a:r>
            <a:r>
              <a:rPr lang="en-US" sz="2000" dirty="0">
                <a:latin typeface="Calibri" pitchFamily="34" charset="0"/>
              </a:rPr>
              <a:t> read time	50 us		</a:t>
            </a:r>
            <a:r>
              <a:rPr lang="en-US" sz="2000" dirty="0" err="1">
                <a:latin typeface="Calibri" pitchFamily="34" charset="0"/>
              </a:rPr>
              <a:t>Avg</a:t>
            </a:r>
            <a:r>
              <a:rPr lang="en-US" sz="2000" dirty="0">
                <a:latin typeface="Calibri" pitchFamily="34" charset="0"/>
              </a:rPr>
              <a:t> </a:t>
            </a:r>
            <a:r>
              <a:rPr lang="en-US" sz="2000" dirty="0" err="1">
                <a:latin typeface="Calibri" pitchFamily="34" charset="0"/>
              </a:rPr>
              <a:t>seq</a:t>
            </a:r>
            <a:r>
              <a:rPr lang="en-US" sz="2000" dirty="0">
                <a:latin typeface="Calibri" pitchFamily="34" charset="0"/>
              </a:rPr>
              <a:t> write time	60 us</a:t>
            </a:r>
          </a:p>
        </p:txBody>
      </p:sp>
      <p:sp>
        <p:nvSpPr>
          <p:cNvPr id="5" name="TextBox 4"/>
          <p:cNvSpPr txBox="1"/>
          <p:nvPr/>
        </p:nvSpPr>
        <p:spPr>
          <a:xfrm>
            <a:off x="76200" y="6292334"/>
            <a:ext cx="4337283" cy="369332"/>
          </a:xfrm>
          <a:prstGeom prst="rect">
            <a:avLst/>
          </a:prstGeom>
          <a:noFill/>
        </p:spPr>
        <p:txBody>
          <a:bodyPr wrap="none" rtlCol="0">
            <a:spAutoFit/>
          </a:bodyPr>
          <a:lstStyle/>
          <a:p>
            <a:r>
              <a:rPr lang="en-US" sz="1800" dirty="0">
                <a:latin typeface="Calibri" pitchFamily="34" charset="0"/>
              </a:rPr>
              <a:t>Source: Intel SSD 730 product specification.</a:t>
            </a:r>
          </a:p>
        </p:txBody>
      </p:sp>
      <p:sp>
        <p:nvSpPr>
          <p:cNvPr id="6" name="Rectangle 5">
            <a:extLst>
              <a:ext uri="{FF2B5EF4-FFF2-40B4-BE49-F238E27FC236}">
                <a16:creationId xmlns:a16="http://schemas.microsoft.com/office/drawing/2014/main" id="{C391C73D-C800-27C5-43F8-DB86A2DDC141}"/>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7" name="Rectangle 6">
            <a:extLst>
              <a:ext uri="{FF2B5EF4-FFF2-40B4-BE49-F238E27FC236}">
                <a16:creationId xmlns:a16="http://schemas.microsoft.com/office/drawing/2014/main" id="{5A3E7AEA-D12F-BD58-14B1-4EF680B16991}"/>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SSD Tradeoffs	vs Rotating Disks</a:t>
            </a:r>
          </a:p>
        </p:txBody>
      </p:sp>
      <p:sp>
        <p:nvSpPr>
          <p:cNvPr id="3" name="Content Placeholder 2"/>
          <p:cNvSpPr>
            <a:spLocks noGrp="1"/>
          </p:cNvSpPr>
          <p:nvPr>
            <p:ph idx="1"/>
          </p:nvPr>
        </p:nvSpPr>
        <p:spPr/>
        <p:txBody>
          <a:bodyPr/>
          <a:lstStyle/>
          <a:p>
            <a:r>
              <a:rPr lang="en-US" dirty="0"/>
              <a:t>Advantages </a:t>
            </a:r>
          </a:p>
          <a:p>
            <a:pPr lvl="1"/>
            <a:r>
              <a:rPr lang="en-US" dirty="0"/>
              <a:t>No moving parts </a:t>
            </a:r>
            <a:r>
              <a:rPr lang="en-US" dirty="0" err="1">
                <a:sym typeface="Wingdings"/>
              </a:rPr>
              <a:t></a:t>
            </a:r>
            <a:r>
              <a:rPr lang="en-US" dirty="0">
                <a:sym typeface="Wingdings"/>
              </a:rPr>
              <a:t> faster, less power, more rugged</a:t>
            </a:r>
            <a:endParaRPr lang="en-US" dirty="0"/>
          </a:p>
          <a:p>
            <a:pPr lvl="1"/>
            <a:endParaRPr lang="en-US" dirty="0"/>
          </a:p>
          <a:p>
            <a:r>
              <a:rPr lang="en-US" dirty="0"/>
              <a:t>Disadvantages</a:t>
            </a:r>
          </a:p>
          <a:p>
            <a:pPr lvl="1"/>
            <a:r>
              <a:rPr lang="en-US" dirty="0"/>
              <a:t>Have the potential to wear out </a:t>
            </a:r>
          </a:p>
          <a:p>
            <a:pPr lvl="2"/>
            <a:r>
              <a:rPr lang="en-US" dirty="0"/>
              <a:t>Mitigated by “wear leveling logic” in flash translation layer</a:t>
            </a:r>
          </a:p>
          <a:p>
            <a:pPr lvl="2"/>
            <a:r>
              <a:rPr lang="en-US" dirty="0"/>
              <a:t>E.g. Intel SSD 730 guarantees 128 petabyte (128 x 10</a:t>
            </a:r>
            <a:r>
              <a:rPr lang="en-US" baseline="30000" dirty="0"/>
              <a:t>15</a:t>
            </a:r>
            <a:r>
              <a:rPr lang="en-US" dirty="0"/>
              <a:t> bytes) of writes before they wear out</a:t>
            </a:r>
          </a:p>
          <a:p>
            <a:pPr lvl="1"/>
            <a:r>
              <a:rPr lang="en-US" dirty="0"/>
              <a:t>In 2015, about 30 times more expensive per byte</a:t>
            </a:r>
          </a:p>
          <a:p>
            <a:pPr lvl="1"/>
            <a:endParaRPr lang="en-US" dirty="0"/>
          </a:p>
          <a:p>
            <a:r>
              <a:rPr lang="en-US" dirty="0"/>
              <a:t>Applications</a:t>
            </a:r>
          </a:p>
          <a:p>
            <a:pPr lvl="1"/>
            <a:r>
              <a:rPr lang="en-US" dirty="0"/>
              <a:t>MP3 players, smart phones, laptops</a:t>
            </a:r>
          </a:p>
          <a:p>
            <a:pPr lvl="1"/>
            <a:r>
              <a:rPr lang="en-US" dirty="0"/>
              <a:t>Beginning to appear in desktops and servers</a:t>
            </a:r>
          </a:p>
        </p:txBody>
      </p:sp>
      <p:sp>
        <p:nvSpPr>
          <p:cNvPr id="4" name="Rectangle 3">
            <a:extLst>
              <a:ext uri="{FF2B5EF4-FFF2-40B4-BE49-F238E27FC236}">
                <a16:creationId xmlns:a16="http://schemas.microsoft.com/office/drawing/2014/main" id="{935365E0-4F45-6784-1F35-8E69287204B1}"/>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5" name="Rectangle 4">
            <a:extLst>
              <a:ext uri="{FF2B5EF4-FFF2-40B4-BE49-F238E27FC236}">
                <a16:creationId xmlns:a16="http://schemas.microsoft.com/office/drawing/2014/main" id="{F22748ED-7F60-BD57-7471-485DDFB05778}"/>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en-US" dirty="0"/>
              <a:t>The CPU-Memory Gap</a:t>
            </a:r>
          </a:p>
        </p:txBody>
      </p:sp>
      <p:sp>
        <p:nvSpPr>
          <p:cNvPr id="199684" name="Rectangle 4"/>
          <p:cNvSpPr>
            <a:spLocks noChangeArrowheads="1"/>
          </p:cNvSpPr>
          <p:nvPr/>
        </p:nvSpPr>
        <p:spPr bwMode="auto">
          <a:xfrm>
            <a:off x="404813" y="1143000"/>
            <a:ext cx="8167687" cy="446276"/>
          </a:xfrm>
          <a:prstGeom prst="rect">
            <a:avLst/>
          </a:prstGeom>
          <a:noFill/>
          <a:ln w="19050">
            <a:noFill/>
            <a:miter lim="800000"/>
            <a:headEnd/>
            <a:tailEnd type="none" w="sm" len="sm"/>
          </a:ln>
          <a:effectLst/>
        </p:spPr>
        <p:txBody>
          <a:bodyPr lIns="45720" rIns="45720">
            <a:prstTxWarp prst="textNoShape">
              <a:avLst/>
            </a:prstTxWarp>
            <a:spAutoFit/>
          </a:bodyPr>
          <a:lstStyle/>
          <a:p>
            <a:pPr algn="l" eaLnBrk="1" hangingPunct="1">
              <a:lnSpc>
                <a:spcPct val="95000"/>
              </a:lnSpc>
              <a:spcBef>
                <a:spcPct val="50000"/>
              </a:spcBef>
              <a:buClr>
                <a:schemeClr val="hlink"/>
              </a:buClr>
              <a:buFont typeface="Wingdings" charset="2"/>
              <a:buNone/>
            </a:pPr>
            <a:r>
              <a:rPr lang="en-US" sz="2400" dirty="0">
                <a:solidFill>
                  <a:srgbClr val="FF0000"/>
                </a:solidFill>
                <a:effectLst>
                  <a:outerShdw blurRad="38100" dist="38100" dir="2700000" algn="tl">
                    <a:srgbClr val="DDDDDD"/>
                  </a:outerShdw>
                </a:effectLst>
              </a:rPr>
              <a:t>The gap </a:t>
            </a:r>
            <a:r>
              <a:rPr lang="en-US" sz="2400" dirty="0">
                <a:ln>
                  <a:solidFill>
                    <a:srgbClr val="DF9F98"/>
                  </a:solidFill>
                </a:ln>
                <a:solidFill>
                  <a:srgbClr val="FF0000"/>
                </a:solidFill>
                <a:effectLst>
                  <a:outerShdw blurRad="38100" dist="38100" dir="2700000" algn="tl">
                    <a:srgbClr val="DDDDDD"/>
                  </a:outerShdw>
                </a:effectLst>
              </a:rPr>
              <a:t>widens</a:t>
            </a:r>
            <a:r>
              <a:rPr lang="en-US" sz="2400" dirty="0">
                <a:solidFill>
                  <a:srgbClr val="FF0000"/>
                </a:solidFill>
                <a:effectLst>
                  <a:outerShdw blurRad="38100" dist="38100" dir="2700000" algn="tl">
                    <a:srgbClr val="DDDDDD"/>
                  </a:outerShdw>
                </a:effectLst>
              </a:rPr>
              <a:t> between DRAM, disk, and CPU speeds. </a:t>
            </a:r>
          </a:p>
        </p:txBody>
      </p:sp>
      <p:graphicFrame>
        <p:nvGraphicFramePr>
          <p:cNvPr id="14" name="Chart 13"/>
          <p:cNvGraphicFramePr>
            <a:graphicFrameLocks/>
          </p:cNvGraphicFramePr>
          <p:nvPr>
            <p:extLst>
              <p:ext uri="{D42A27DB-BD31-4B8C-83A1-F6EECF244321}">
                <p14:modId xmlns:p14="http://schemas.microsoft.com/office/powerpoint/2010/main" val="1409947400"/>
              </p:ext>
            </p:extLst>
          </p:nvPr>
        </p:nvGraphicFramePr>
        <p:xfrm>
          <a:off x="343569" y="1773942"/>
          <a:ext cx="8421687" cy="472873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443119" y="4159478"/>
            <a:ext cx="801759" cy="369332"/>
          </a:xfrm>
          <a:prstGeom prst="rect">
            <a:avLst/>
          </a:prstGeom>
          <a:noFill/>
        </p:spPr>
        <p:txBody>
          <a:bodyPr wrap="none" rtlCol="0">
            <a:spAutoFit/>
          </a:bodyPr>
          <a:lstStyle/>
          <a:p>
            <a:r>
              <a:rPr lang="en-US" sz="1800" dirty="0">
                <a:solidFill>
                  <a:srgbClr val="FF0000"/>
                </a:solidFill>
                <a:latin typeface="Calibri" pitchFamily="34" charset="0"/>
              </a:rPr>
              <a:t>DRAM</a:t>
            </a:r>
          </a:p>
        </p:txBody>
      </p:sp>
      <p:sp>
        <p:nvSpPr>
          <p:cNvPr id="10" name="TextBox 9"/>
          <p:cNvSpPr txBox="1"/>
          <p:nvPr/>
        </p:nvSpPr>
        <p:spPr>
          <a:xfrm>
            <a:off x="6016278" y="5189356"/>
            <a:ext cx="580395" cy="369332"/>
          </a:xfrm>
          <a:prstGeom prst="rect">
            <a:avLst/>
          </a:prstGeom>
          <a:noFill/>
        </p:spPr>
        <p:txBody>
          <a:bodyPr wrap="none" rtlCol="0">
            <a:spAutoFit/>
          </a:bodyPr>
          <a:lstStyle/>
          <a:p>
            <a:r>
              <a:rPr lang="en-US" sz="1800" dirty="0">
                <a:solidFill>
                  <a:srgbClr val="FF0000"/>
                </a:solidFill>
                <a:latin typeface="Calibri" pitchFamily="34" charset="0"/>
              </a:rPr>
              <a:t>CPU</a:t>
            </a:r>
          </a:p>
        </p:txBody>
      </p:sp>
      <p:sp>
        <p:nvSpPr>
          <p:cNvPr id="11" name="TextBox 10"/>
          <p:cNvSpPr txBox="1"/>
          <p:nvPr/>
        </p:nvSpPr>
        <p:spPr>
          <a:xfrm>
            <a:off x="5709193" y="2890510"/>
            <a:ext cx="548385" cy="369332"/>
          </a:xfrm>
          <a:prstGeom prst="rect">
            <a:avLst/>
          </a:prstGeom>
          <a:noFill/>
        </p:spPr>
        <p:txBody>
          <a:bodyPr wrap="none" rtlCol="0">
            <a:spAutoFit/>
          </a:bodyPr>
          <a:lstStyle/>
          <a:p>
            <a:r>
              <a:rPr lang="en-US" sz="1800" dirty="0">
                <a:solidFill>
                  <a:srgbClr val="FF0000"/>
                </a:solidFill>
                <a:latin typeface="Calibri" pitchFamily="34" charset="0"/>
              </a:rPr>
              <a:t>SSD</a:t>
            </a:r>
          </a:p>
        </p:txBody>
      </p:sp>
      <p:sp>
        <p:nvSpPr>
          <p:cNvPr id="8" name="TextBox 7"/>
          <p:cNvSpPr txBox="1"/>
          <p:nvPr/>
        </p:nvSpPr>
        <p:spPr>
          <a:xfrm>
            <a:off x="5419036" y="2297668"/>
            <a:ext cx="589750" cy="369332"/>
          </a:xfrm>
          <a:prstGeom prst="rect">
            <a:avLst/>
          </a:prstGeom>
          <a:noFill/>
        </p:spPr>
        <p:txBody>
          <a:bodyPr wrap="none" rtlCol="0">
            <a:spAutoFit/>
          </a:bodyPr>
          <a:lstStyle/>
          <a:p>
            <a:r>
              <a:rPr lang="en-US" sz="1800" dirty="0">
                <a:solidFill>
                  <a:srgbClr val="FF0000"/>
                </a:solidFill>
                <a:latin typeface="Calibri" pitchFamily="34" charset="0"/>
              </a:rPr>
              <a:t>Disk</a:t>
            </a:r>
          </a:p>
        </p:txBody>
      </p:sp>
      <p:sp>
        <p:nvSpPr>
          <p:cNvPr id="2" name="Rectangle 1">
            <a:extLst>
              <a:ext uri="{FF2B5EF4-FFF2-40B4-BE49-F238E27FC236}">
                <a16:creationId xmlns:a16="http://schemas.microsoft.com/office/drawing/2014/main" id="{19460FD0-D540-9A0E-8FF0-36A3C329A577}"/>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1BFD7EC0-A1FD-B1E1-685F-257EE3EE6842}"/>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Locality to the Rescue!	</a:t>
            </a:r>
          </a:p>
        </p:txBody>
      </p:sp>
      <p:sp>
        <p:nvSpPr>
          <p:cNvPr id="3" name="Content Placeholder 2"/>
          <p:cNvSpPr>
            <a:spLocks noGrp="1"/>
          </p:cNvSpPr>
          <p:nvPr>
            <p:ph idx="1"/>
          </p:nvPr>
        </p:nvSpPr>
        <p:spPr/>
        <p:txBody>
          <a:bodyPr/>
          <a:lstStyle/>
          <a:p>
            <a:endParaRPr lang="en-US" dirty="0"/>
          </a:p>
          <a:p>
            <a:pPr>
              <a:buNone/>
            </a:pPr>
            <a:r>
              <a:rPr lang="en-US" dirty="0"/>
              <a:t>The key to bridging this CPU-Memory gap is a fundamental property of computer programs known as </a:t>
            </a:r>
            <a:r>
              <a:rPr lang="en-US" dirty="0">
                <a:solidFill>
                  <a:srgbClr val="FF0000"/>
                </a:solidFill>
              </a:rPr>
              <a:t>locality</a:t>
            </a:r>
          </a:p>
        </p:txBody>
      </p:sp>
      <p:sp>
        <p:nvSpPr>
          <p:cNvPr id="4" name="Rectangle 3">
            <a:extLst>
              <a:ext uri="{FF2B5EF4-FFF2-40B4-BE49-F238E27FC236}">
                <a16:creationId xmlns:a16="http://schemas.microsoft.com/office/drawing/2014/main" id="{D364AC33-E9C7-F60C-EE07-0D9474FE64FE}"/>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5" name="Rectangle 4">
            <a:extLst>
              <a:ext uri="{FF2B5EF4-FFF2-40B4-BE49-F238E27FC236}">
                <a16:creationId xmlns:a16="http://schemas.microsoft.com/office/drawing/2014/main" id="{7A1EE319-C3B3-7EF5-E6D1-F1F6CCE3E1E2}"/>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a:lnSpc>
                <a:spcPct val="80000"/>
              </a:lnSpc>
            </a:pPr>
            <a:r>
              <a:rPr lang="en-US" dirty="0">
                <a:solidFill>
                  <a:schemeClr val="bg1">
                    <a:lumMod val="75000"/>
                  </a:schemeClr>
                </a:solidFill>
              </a:rPr>
              <a:t>Storage technologies and trends</a:t>
            </a:r>
          </a:p>
          <a:p>
            <a:pPr>
              <a:lnSpc>
                <a:spcPct val="80000"/>
              </a:lnSpc>
            </a:pPr>
            <a:r>
              <a:rPr lang="en-US" dirty="0"/>
              <a:t>Locality of reference</a:t>
            </a:r>
          </a:p>
          <a:p>
            <a:pPr>
              <a:lnSpc>
                <a:spcPct val="80000"/>
              </a:lnSpc>
            </a:pPr>
            <a:r>
              <a:rPr lang="en-US" dirty="0">
                <a:solidFill>
                  <a:srgbClr val="BFBFBF"/>
                </a:solidFill>
              </a:rPr>
              <a:t>Caching in the memory hierarchy</a:t>
            </a:r>
          </a:p>
        </p:txBody>
      </p:sp>
      <p:sp>
        <p:nvSpPr>
          <p:cNvPr id="4" name="Rectangle 3">
            <a:extLst>
              <a:ext uri="{FF2B5EF4-FFF2-40B4-BE49-F238E27FC236}">
                <a16:creationId xmlns:a16="http://schemas.microsoft.com/office/drawing/2014/main" id="{9BB913E2-B4FD-9BE0-626C-423946772BCE}"/>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5" name="Rectangle 4">
            <a:extLst>
              <a:ext uri="{FF2B5EF4-FFF2-40B4-BE49-F238E27FC236}">
                <a16:creationId xmlns:a16="http://schemas.microsoft.com/office/drawing/2014/main" id="{41402094-AEC1-397F-AA8B-C6E2A150C370}"/>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177382" cy="762000"/>
          </a:xfrm>
        </p:spPr>
        <p:txBody>
          <a:bodyPr/>
          <a:lstStyle/>
          <a:p>
            <a:r>
              <a:rPr lang="en-US" dirty="0"/>
              <a:t>Locality</a:t>
            </a:r>
          </a:p>
        </p:txBody>
      </p:sp>
      <p:sp>
        <p:nvSpPr>
          <p:cNvPr id="3" name="Content Placeholder 2"/>
          <p:cNvSpPr>
            <a:spLocks noGrp="1"/>
          </p:cNvSpPr>
          <p:nvPr>
            <p:ph idx="1"/>
          </p:nvPr>
        </p:nvSpPr>
        <p:spPr/>
        <p:txBody>
          <a:bodyPr/>
          <a:lstStyle/>
          <a:p>
            <a:pPr>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dirty="0">
                <a:solidFill>
                  <a:srgbClr val="C00000"/>
                </a:solidFill>
              </a:rPr>
              <a:t>Principle of Locality:</a:t>
            </a:r>
            <a:r>
              <a:rPr lang="en-US" dirty="0"/>
              <a:t> </a:t>
            </a:r>
            <a:r>
              <a:rPr lang="en-GB" dirty="0"/>
              <a:t>Programs tend to use data and instructions with addresses near or equal to those they have used recently</a:t>
            </a:r>
          </a:p>
          <a:p>
            <a:pPr>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dirty="0">
              <a:solidFill>
                <a:srgbClr val="C00000"/>
              </a:solidFill>
            </a:endParaRPr>
          </a:p>
          <a:p>
            <a:pPr>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dirty="0">
                <a:solidFill>
                  <a:srgbClr val="C00000"/>
                </a:solidFill>
              </a:rPr>
              <a:t>Temporal locality:  </a:t>
            </a:r>
          </a:p>
          <a:p>
            <a:pPr lvl="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dirty="0"/>
              <a:t>Recently referenced items are likely </a:t>
            </a:r>
            <a:br>
              <a:rPr lang="en-GB" dirty="0"/>
            </a:br>
            <a:r>
              <a:rPr lang="en-GB" dirty="0"/>
              <a:t>to be referenced again in the near future</a:t>
            </a:r>
          </a:p>
          <a:p>
            <a:pPr>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dirty="0">
              <a:solidFill>
                <a:srgbClr val="C00000"/>
              </a:solidFill>
            </a:endParaRPr>
          </a:p>
          <a:p>
            <a:pPr>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dirty="0">
                <a:solidFill>
                  <a:srgbClr val="C00000"/>
                </a:solidFill>
              </a:rPr>
              <a:t>Spatial locality:  </a:t>
            </a:r>
          </a:p>
          <a:p>
            <a:pPr lvl="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dirty="0"/>
              <a:t>Items with nearby addresses tend </a:t>
            </a:r>
            <a:br>
              <a:rPr lang="en-GB" dirty="0"/>
            </a:br>
            <a:r>
              <a:rPr lang="en-GB" dirty="0"/>
              <a:t>to be referenced close together in time</a:t>
            </a:r>
          </a:p>
          <a:p>
            <a:pPr>
              <a:buNone/>
            </a:pPr>
            <a:endParaRPr lang="en-US" dirty="0"/>
          </a:p>
          <a:p>
            <a:endParaRPr lang="en-US" dirty="0"/>
          </a:p>
        </p:txBody>
      </p:sp>
      <p:sp>
        <p:nvSpPr>
          <p:cNvPr id="4" name="Rectangle 3"/>
          <p:cNvSpPr/>
          <p:nvPr/>
        </p:nvSpPr>
        <p:spPr bwMode="auto">
          <a:xfrm>
            <a:off x="6096000" y="3124200"/>
            <a:ext cx="1905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1800" dirty="0">
              <a:latin typeface="Calibri" pitchFamily="34" charset="0"/>
            </a:endParaRPr>
          </a:p>
        </p:txBody>
      </p:sp>
      <p:sp>
        <p:nvSpPr>
          <p:cNvPr id="5" name="Rectangle 4"/>
          <p:cNvSpPr/>
          <p:nvPr/>
        </p:nvSpPr>
        <p:spPr bwMode="auto">
          <a:xfrm>
            <a:off x="6489700" y="3124200"/>
            <a:ext cx="381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1800" dirty="0">
              <a:latin typeface="Calibri" pitchFamily="34" charset="0"/>
            </a:endParaRPr>
          </a:p>
        </p:txBody>
      </p:sp>
      <p:sp>
        <p:nvSpPr>
          <p:cNvPr id="6" name="Freeform 5"/>
          <p:cNvSpPr/>
          <p:nvPr/>
        </p:nvSpPr>
        <p:spPr bwMode="auto">
          <a:xfrm>
            <a:off x="6319056" y="2614411"/>
            <a:ext cx="627844" cy="433589"/>
          </a:xfrm>
          <a:custGeom>
            <a:avLst/>
            <a:gdLst>
              <a:gd name="connsiteX0" fmla="*/ 290847 w 627844"/>
              <a:gd name="connsiteY0" fmla="*/ 433589 h 433589"/>
              <a:gd name="connsiteX1" fmla="*/ 46149 w 627844"/>
              <a:gd name="connsiteY1" fmla="*/ 72980 h 433589"/>
              <a:gd name="connsiteX2" fmla="*/ 567743 w 627844"/>
              <a:gd name="connsiteY2" fmla="*/ 60101 h 433589"/>
              <a:gd name="connsiteX3" fmla="*/ 406757 w 627844"/>
              <a:gd name="connsiteY3" fmla="*/ 433589 h 433589"/>
            </a:gdLst>
            <a:ahLst/>
            <a:cxnLst>
              <a:cxn ang="0">
                <a:pos x="connsiteX0" y="connsiteY0"/>
              </a:cxn>
              <a:cxn ang="0">
                <a:pos x="connsiteX1" y="connsiteY1"/>
              </a:cxn>
              <a:cxn ang="0">
                <a:pos x="connsiteX2" y="connsiteY2"/>
              </a:cxn>
              <a:cxn ang="0">
                <a:pos x="connsiteX3" y="connsiteY3"/>
              </a:cxn>
            </a:cxnLst>
            <a:rect l="l" t="t" r="r" b="b"/>
            <a:pathLst>
              <a:path w="627844" h="433589">
                <a:moveTo>
                  <a:pt x="290847" y="433589"/>
                </a:moveTo>
                <a:cubicBezTo>
                  <a:pt x="145423" y="284408"/>
                  <a:pt x="0" y="135228"/>
                  <a:pt x="46149" y="72980"/>
                </a:cubicBezTo>
                <a:cubicBezTo>
                  <a:pt x="92298" y="10732"/>
                  <a:pt x="507642" y="0"/>
                  <a:pt x="567743" y="60101"/>
                </a:cubicBezTo>
                <a:cubicBezTo>
                  <a:pt x="627844" y="120202"/>
                  <a:pt x="517300" y="276895"/>
                  <a:pt x="406757" y="433589"/>
                </a:cubicBezTo>
              </a:path>
            </a:pathLst>
          </a:custGeom>
          <a:noFill/>
          <a:ln w="25400" cap="flat" cmpd="sng" algn="ctr">
            <a:solidFill>
              <a:schemeClr val="tx1"/>
            </a:solidFill>
            <a:prstDash val="solid"/>
            <a:round/>
            <a:headEnd type="none" w="med" len="med"/>
            <a:tailEnd type="arrow"/>
          </a:ln>
          <a:effectLst/>
        </p:spPr>
        <p:txBody>
          <a:bodyPr rtlCol="0" anchor="ctr"/>
          <a:lstStyle/>
          <a:p>
            <a:pPr algn="ctr"/>
            <a:endParaRPr lang="en-US"/>
          </a:p>
        </p:txBody>
      </p:sp>
      <p:sp>
        <p:nvSpPr>
          <p:cNvPr id="7" name="Rectangle 6"/>
          <p:cNvSpPr/>
          <p:nvPr/>
        </p:nvSpPr>
        <p:spPr bwMode="auto">
          <a:xfrm>
            <a:off x="6102261" y="4616940"/>
            <a:ext cx="1905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1800" dirty="0">
              <a:latin typeface="Calibri" pitchFamily="34" charset="0"/>
            </a:endParaRPr>
          </a:p>
        </p:txBody>
      </p:sp>
      <p:sp>
        <p:nvSpPr>
          <p:cNvPr id="8" name="Rectangle 7"/>
          <p:cNvSpPr/>
          <p:nvPr/>
        </p:nvSpPr>
        <p:spPr bwMode="auto">
          <a:xfrm>
            <a:off x="6495961" y="4616940"/>
            <a:ext cx="381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1800" dirty="0">
              <a:latin typeface="Calibri" pitchFamily="34" charset="0"/>
            </a:endParaRPr>
          </a:p>
        </p:txBody>
      </p:sp>
      <p:sp>
        <p:nvSpPr>
          <p:cNvPr id="10" name="Rectangle 9"/>
          <p:cNvSpPr/>
          <p:nvPr/>
        </p:nvSpPr>
        <p:spPr bwMode="auto">
          <a:xfrm>
            <a:off x="6870700" y="4616940"/>
            <a:ext cx="381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1800" dirty="0">
              <a:latin typeface="Calibri" pitchFamily="34" charset="0"/>
            </a:endParaRPr>
          </a:p>
        </p:txBody>
      </p:sp>
      <p:sp>
        <p:nvSpPr>
          <p:cNvPr id="11" name="Freeform 10"/>
          <p:cNvSpPr/>
          <p:nvPr/>
        </p:nvSpPr>
        <p:spPr bwMode="auto">
          <a:xfrm>
            <a:off x="6416720" y="4186571"/>
            <a:ext cx="841420" cy="359535"/>
          </a:xfrm>
          <a:custGeom>
            <a:avLst/>
            <a:gdLst>
              <a:gd name="connsiteX0" fmla="*/ 200695 w 841420"/>
              <a:gd name="connsiteY0" fmla="*/ 353095 h 359535"/>
              <a:gd name="connsiteX1" fmla="*/ 91225 w 841420"/>
              <a:gd name="connsiteY1" fmla="*/ 56881 h 359535"/>
              <a:gd name="connsiteX2" fmla="*/ 748048 w 841420"/>
              <a:gd name="connsiteY2" fmla="*/ 50442 h 359535"/>
              <a:gd name="connsiteX3" fmla="*/ 651456 w 841420"/>
              <a:gd name="connsiteY3" fmla="*/ 359535 h 359535"/>
            </a:gdLst>
            <a:ahLst/>
            <a:cxnLst>
              <a:cxn ang="0">
                <a:pos x="connsiteX0" y="connsiteY0"/>
              </a:cxn>
              <a:cxn ang="0">
                <a:pos x="connsiteX1" y="connsiteY1"/>
              </a:cxn>
              <a:cxn ang="0">
                <a:pos x="connsiteX2" y="connsiteY2"/>
              </a:cxn>
              <a:cxn ang="0">
                <a:pos x="connsiteX3" y="connsiteY3"/>
              </a:cxn>
            </a:cxnLst>
            <a:rect l="l" t="t" r="r" b="b"/>
            <a:pathLst>
              <a:path w="841420" h="359535">
                <a:moveTo>
                  <a:pt x="200695" y="353095"/>
                </a:moveTo>
                <a:cubicBezTo>
                  <a:pt x="100347" y="230209"/>
                  <a:pt x="0" y="107323"/>
                  <a:pt x="91225" y="56881"/>
                </a:cubicBezTo>
                <a:cubicBezTo>
                  <a:pt x="182450" y="6439"/>
                  <a:pt x="654676" y="0"/>
                  <a:pt x="748048" y="50442"/>
                </a:cubicBezTo>
                <a:cubicBezTo>
                  <a:pt x="841420" y="100884"/>
                  <a:pt x="746438" y="230209"/>
                  <a:pt x="651456" y="359535"/>
                </a:cubicBezTo>
              </a:path>
            </a:pathLst>
          </a:custGeom>
          <a:noFill/>
          <a:ln w="25400" cap="flat" cmpd="sng" algn="ctr">
            <a:solidFill>
              <a:schemeClr val="tx1"/>
            </a:solidFill>
            <a:prstDash val="solid"/>
            <a:round/>
            <a:headEnd type="none" w="med" len="med"/>
            <a:tailEnd type="arrow"/>
          </a:ln>
          <a:effectLst/>
        </p:spPr>
        <p:txBody>
          <a:bodyPr rtlCol="0" anchor="ctr"/>
          <a:lstStyle/>
          <a:p>
            <a:pPr algn="ctr"/>
            <a:endParaRPr lang="en-US"/>
          </a:p>
        </p:txBody>
      </p:sp>
      <p:sp>
        <p:nvSpPr>
          <p:cNvPr id="9" name="Rectangle 8">
            <a:extLst>
              <a:ext uri="{FF2B5EF4-FFF2-40B4-BE49-F238E27FC236}">
                <a16:creationId xmlns:a16="http://schemas.microsoft.com/office/drawing/2014/main" id="{C695651A-F6BC-FF6C-E30E-37F5D37D1DDB}"/>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12" name="Rectangle 11">
            <a:extLst>
              <a:ext uri="{FF2B5EF4-FFF2-40B4-BE49-F238E27FC236}">
                <a16:creationId xmlns:a16="http://schemas.microsoft.com/office/drawing/2014/main" id="{FC172B2B-71B8-33FE-6CED-0350FC2E3B1B}"/>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Locality Example</a:t>
            </a:r>
          </a:p>
        </p:txBody>
      </p:sp>
      <p:sp>
        <p:nvSpPr>
          <p:cNvPr id="3" name="Content Placeholder 2"/>
          <p:cNvSpPr>
            <a:spLocks noGrp="1"/>
          </p:cNvSpPr>
          <p:nvPr>
            <p:ph idx="1"/>
          </p:nvPr>
        </p:nvSpPr>
        <p:spPr>
          <a:xfrm>
            <a:off x="396876" y="2946142"/>
            <a:ext cx="5318124" cy="2768858"/>
          </a:xfrm>
        </p:spPr>
        <p:txBody>
          <a:bodyPr/>
          <a:lstStyle/>
          <a:p>
            <a:r>
              <a:rPr lang="en-US" dirty="0"/>
              <a:t>Data references</a:t>
            </a:r>
          </a:p>
          <a:p>
            <a:pPr lvl="1"/>
            <a:r>
              <a:rPr lang="en-US" dirty="0"/>
              <a:t>Reference array elements in succession (stride-1 reference pattern).</a:t>
            </a:r>
          </a:p>
          <a:p>
            <a:pPr lvl="1"/>
            <a:r>
              <a:rPr lang="en-US" dirty="0"/>
              <a:t>Reference variable </a:t>
            </a:r>
            <a:r>
              <a:rPr lang="en-US" dirty="0">
                <a:latin typeface="Courier New"/>
                <a:cs typeface="Courier New"/>
              </a:rPr>
              <a:t>sum</a:t>
            </a:r>
            <a:r>
              <a:rPr lang="en-US" dirty="0"/>
              <a:t> each iteration.</a:t>
            </a:r>
          </a:p>
          <a:p>
            <a:r>
              <a:rPr lang="en-US" dirty="0"/>
              <a:t>Instruction references</a:t>
            </a:r>
          </a:p>
          <a:p>
            <a:pPr lvl="1"/>
            <a:r>
              <a:rPr lang="en-US" dirty="0"/>
              <a:t>Reference instructions in sequence.</a:t>
            </a:r>
          </a:p>
          <a:p>
            <a:pPr lvl="1"/>
            <a:r>
              <a:rPr lang="en-US" dirty="0"/>
              <a:t>Cycle through loop repeatedly. </a:t>
            </a:r>
          </a:p>
          <a:p>
            <a:endParaRPr lang="en-US" dirty="0"/>
          </a:p>
        </p:txBody>
      </p:sp>
      <p:sp>
        <p:nvSpPr>
          <p:cNvPr id="6" name="Rectangle 4"/>
          <p:cNvSpPr>
            <a:spLocks noChangeArrowheads="1"/>
          </p:cNvSpPr>
          <p:nvPr/>
        </p:nvSpPr>
        <p:spPr bwMode="auto">
          <a:xfrm>
            <a:off x="3049587" y="1651000"/>
            <a:ext cx="3044825" cy="1092200"/>
          </a:xfrm>
          <a:prstGeom prst="rect">
            <a:avLst/>
          </a:prstGeom>
          <a:solidFill>
            <a:srgbClr val="F7F5CD"/>
          </a:solidFill>
          <a:ln w="12700" cmpd="sng">
            <a:solidFill>
              <a:schemeClr val="tx1"/>
            </a:solidFill>
            <a:miter lim="800000"/>
            <a:headEnd/>
            <a:tailEnd/>
          </a:ln>
          <a:effectLst/>
        </p:spPr>
        <p:txBody>
          <a:bodyPr lIns="90487" tIns="44450" rIns="90487" bIns="44450">
            <a:prstTxWarp prst="textNoShape">
              <a:avLst/>
            </a:prstTxWarp>
            <a:spAutoFit/>
          </a:bodyPr>
          <a:lstStyle/>
          <a:p>
            <a:pPr algn="l">
              <a:lnSpc>
                <a:spcPct val="100000"/>
              </a:lnSpc>
              <a:tabLst>
                <a:tab pos="457200" algn="l"/>
              </a:tabLst>
            </a:pPr>
            <a:r>
              <a:rPr lang="en-US" sz="1600" dirty="0">
                <a:latin typeface="Courier New" charset="0"/>
              </a:rPr>
              <a:t>sum = 0;</a:t>
            </a:r>
          </a:p>
          <a:p>
            <a:pPr algn="l">
              <a:lnSpc>
                <a:spcPct val="100000"/>
              </a:lnSpc>
              <a:tabLst>
                <a:tab pos="457200" algn="l"/>
              </a:tabLst>
            </a:pPr>
            <a:r>
              <a:rPr lang="en-US" sz="1600" dirty="0">
                <a:latin typeface="Courier New" charset="0"/>
              </a:rPr>
              <a:t>for (</a:t>
            </a:r>
            <a:r>
              <a:rPr lang="en-US" sz="1600" dirty="0" err="1">
                <a:latin typeface="Courier New" charset="0"/>
              </a:rPr>
              <a:t>i</a:t>
            </a:r>
            <a:r>
              <a:rPr lang="en-US" sz="1600" dirty="0">
                <a:latin typeface="Courier New" charset="0"/>
              </a:rPr>
              <a:t> = 0; </a:t>
            </a:r>
            <a:r>
              <a:rPr lang="en-US" sz="1600" dirty="0" err="1">
                <a:latin typeface="Courier New" charset="0"/>
              </a:rPr>
              <a:t>i</a:t>
            </a:r>
            <a:r>
              <a:rPr lang="en-US" sz="1600" dirty="0">
                <a:latin typeface="Courier New" charset="0"/>
              </a:rPr>
              <a:t> &lt; </a:t>
            </a:r>
            <a:r>
              <a:rPr lang="en-US" sz="1600" dirty="0" err="1">
                <a:latin typeface="Courier New" charset="0"/>
              </a:rPr>
              <a:t>n</a:t>
            </a:r>
            <a:r>
              <a:rPr lang="en-US" sz="1600" dirty="0">
                <a:latin typeface="Courier New" charset="0"/>
              </a:rPr>
              <a:t>; </a:t>
            </a:r>
            <a:r>
              <a:rPr lang="en-US" sz="1600" dirty="0" err="1">
                <a:latin typeface="Courier New" charset="0"/>
              </a:rPr>
              <a:t>i</a:t>
            </a:r>
            <a:r>
              <a:rPr lang="en-US" sz="1600" dirty="0">
                <a:latin typeface="Courier New" charset="0"/>
              </a:rPr>
              <a:t>++)</a:t>
            </a:r>
          </a:p>
          <a:p>
            <a:pPr algn="l">
              <a:lnSpc>
                <a:spcPct val="100000"/>
              </a:lnSpc>
              <a:tabLst>
                <a:tab pos="457200" algn="l"/>
              </a:tabLst>
            </a:pPr>
            <a:r>
              <a:rPr lang="en-US" sz="1600" dirty="0">
                <a:latin typeface="Courier New" charset="0"/>
              </a:rPr>
              <a:t>	sum += </a:t>
            </a:r>
            <a:r>
              <a:rPr lang="en-US" sz="1600" dirty="0" err="1">
                <a:latin typeface="Courier New" charset="0"/>
              </a:rPr>
              <a:t>a[i</a:t>
            </a:r>
            <a:r>
              <a:rPr lang="en-US" sz="1600" dirty="0">
                <a:latin typeface="Courier New" charset="0"/>
              </a:rPr>
              <a:t>];</a:t>
            </a:r>
          </a:p>
          <a:p>
            <a:pPr algn="l">
              <a:lnSpc>
                <a:spcPct val="100000"/>
              </a:lnSpc>
              <a:tabLst>
                <a:tab pos="457200" algn="l"/>
              </a:tabLst>
            </a:pPr>
            <a:r>
              <a:rPr lang="en-US" sz="1600" dirty="0">
                <a:latin typeface="Courier New" charset="0"/>
              </a:rPr>
              <a:t>return sum;</a:t>
            </a:r>
          </a:p>
        </p:txBody>
      </p:sp>
      <p:sp>
        <p:nvSpPr>
          <p:cNvPr id="13" name="TextBox 12"/>
          <p:cNvSpPr txBox="1"/>
          <p:nvPr/>
        </p:nvSpPr>
        <p:spPr>
          <a:xfrm>
            <a:off x="5715000" y="3560802"/>
            <a:ext cx="2045301" cy="461665"/>
          </a:xfrm>
          <a:prstGeom prst="rect">
            <a:avLst/>
          </a:prstGeom>
          <a:noFill/>
        </p:spPr>
        <p:txBody>
          <a:bodyPr wrap="none" rtlCol="0">
            <a:spAutoFit/>
          </a:bodyPr>
          <a:lstStyle/>
          <a:p>
            <a:r>
              <a:rPr lang="en-US" dirty="0">
                <a:solidFill>
                  <a:srgbClr val="FF0000"/>
                </a:solidFill>
                <a:latin typeface="Calibri" pitchFamily="34" charset="0"/>
              </a:rPr>
              <a:t>Spatial locality</a:t>
            </a:r>
          </a:p>
        </p:txBody>
      </p:sp>
      <p:sp>
        <p:nvSpPr>
          <p:cNvPr id="14" name="TextBox 13"/>
          <p:cNvSpPr txBox="1"/>
          <p:nvPr/>
        </p:nvSpPr>
        <p:spPr>
          <a:xfrm>
            <a:off x="5715000" y="4022467"/>
            <a:ext cx="2369759" cy="461665"/>
          </a:xfrm>
          <a:prstGeom prst="rect">
            <a:avLst/>
          </a:prstGeom>
          <a:noFill/>
        </p:spPr>
        <p:txBody>
          <a:bodyPr wrap="none" rtlCol="0">
            <a:spAutoFit/>
          </a:bodyPr>
          <a:lstStyle/>
          <a:p>
            <a:r>
              <a:rPr lang="en-US" dirty="0">
                <a:solidFill>
                  <a:srgbClr val="FF0000"/>
                </a:solidFill>
                <a:latin typeface="Calibri" pitchFamily="34" charset="0"/>
              </a:rPr>
              <a:t>Temporal locality</a:t>
            </a:r>
          </a:p>
        </p:txBody>
      </p:sp>
      <p:sp>
        <p:nvSpPr>
          <p:cNvPr id="15" name="TextBox 14"/>
          <p:cNvSpPr txBox="1"/>
          <p:nvPr/>
        </p:nvSpPr>
        <p:spPr>
          <a:xfrm>
            <a:off x="5715000" y="4800600"/>
            <a:ext cx="2045301" cy="461665"/>
          </a:xfrm>
          <a:prstGeom prst="rect">
            <a:avLst/>
          </a:prstGeom>
          <a:noFill/>
        </p:spPr>
        <p:txBody>
          <a:bodyPr wrap="none" rtlCol="0">
            <a:spAutoFit/>
          </a:bodyPr>
          <a:lstStyle/>
          <a:p>
            <a:r>
              <a:rPr lang="en-US" dirty="0">
                <a:solidFill>
                  <a:srgbClr val="FF0000"/>
                </a:solidFill>
                <a:latin typeface="Calibri" pitchFamily="34" charset="0"/>
              </a:rPr>
              <a:t>Spatial locality</a:t>
            </a:r>
          </a:p>
        </p:txBody>
      </p:sp>
      <p:sp>
        <p:nvSpPr>
          <p:cNvPr id="17" name="TextBox 16"/>
          <p:cNvSpPr txBox="1"/>
          <p:nvPr/>
        </p:nvSpPr>
        <p:spPr>
          <a:xfrm>
            <a:off x="5715000" y="5197733"/>
            <a:ext cx="2369759" cy="461665"/>
          </a:xfrm>
          <a:prstGeom prst="rect">
            <a:avLst/>
          </a:prstGeom>
          <a:noFill/>
        </p:spPr>
        <p:txBody>
          <a:bodyPr wrap="none" rtlCol="0">
            <a:spAutoFit/>
          </a:bodyPr>
          <a:lstStyle/>
          <a:p>
            <a:r>
              <a:rPr lang="en-US" dirty="0">
                <a:solidFill>
                  <a:srgbClr val="FF0000"/>
                </a:solidFill>
                <a:latin typeface="Calibri" pitchFamily="34" charset="0"/>
              </a:rPr>
              <a:t>Temporal locality</a:t>
            </a:r>
          </a:p>
        </p:txBody>
      </p:sp>
      <p:sp>
        <p:nvSpPr>
          <p:cNvPr id="2" name="Rectangle 1">
            <a:extLst>
              <a:ext uri="{FF2B5EF4-FFF2-40B4-BE49-F238E27FC236}">
                <a16:creationId xmlns:a16="http://schemas.microsoft.com/office/drawing/2014/main" id="{DBABAE31-0C97-058C-0288-8BE028BCAB8F}"/>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4" name="Rectangle 3">
            <a:extLst>
              <a:ext uri="{FF2B5EF4-FFF2-40B4-BE49-F238E27FC236}">
                <a16:creationId xmlns:a16="http://schemas.microsoft.com/office/drawing/2014/main" id="{3B00A74F-E6B3-E498-F23A-3754D785FD16}"/>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1" name="Rectangle 1029"/>
          <p:cNvSpPr>
            <a:spLocks noGrp="1" noChangeArrowheads="1"/>
          </p:cNvSpPr>
          <p:nvPr>
            <p:ph type="title"/>
          </p:nvPr>
        </p:nvSpPr>
        <p:spPr>
          <a:xfrm>
            <a:off x="357018" y="435678"/>
            <a:ext cx="8177382" cy="762000"/>
          </a:xfrm>
        </p:spPr>
        <p:txBody>
          <a:bodyPr/>
          <a:lstStyle/>
          <a:p>
            <a:r>
              <a:rPr lang="en-US" dirty="0"/>
              <a:t>Qualitative Estimates of Locality</a:t>
            </a:r>
          </a:p>
        </p:txBody>
      </p:sp>
      <p:sp>
        <p:nvSpPr>
          <p:cNvPr id="132102" name="Rectangle 1030"/>
          <p:cNvSpPr>
            <a:spLocks noGrp="1" noChangeArrowheads="1"/>
          </p:cNvSpPr>
          <p:nvPr>
            <p:ph type="body" idx="1"/>
          </p:nvPr>
        </p:nvSpPr>
        <p:spPr/>
        <p:txBody>
          <a:bodyPr/>
          <a:lstStyle/>
          <a:p>
            <a:r>
              <a:rPr lang="en-US" dirty="0">
                <a:solidFill>
                  <a:srgbClr val="FF0000"/>
                </a:solidFill>
              </a:rPr>
              <a:t>Claim:</a:t>
            </a:r>
            <a:r>
              <a:rPr lang="en-US" dirty="0"/>
              <a:t> Being able to look at code and get a qualitative sense of its locality is a key skill for a professional programmer.</a:t>
            </a:r>
          </a:p>
          <a:p>
            <a:endParaRPr lang="en-US" dirty="0"/>
          </a:p>
          <a:p>
            <a:r>
              <a:rPr lang="en-US" dirty="0">
                <a:solidFill>
                  <a:srgbClr val="FF0000"/>
                </a:solidFill>
              </a:rPr>
              <a:t>Question:</a:t>
            </a:r>
            <a:r>
              <a:rPr lang="en-US" dirty="0"/>
              <a:t> Does this function have good locality with respect to array </a:t>
            </a:r>
            <a:r>
              <a:rPr lang="en-US" b="0" dirty="0">
                <a:latin typeface="Courier New"/>
                <a:cs typeface="Courier New"/>
              </a:rPr>
              <a:t>a</a:t>
            </a:r>
            <a:r>
              <a:rPr lang="en-US" dirty="0"/>
              <a:t>?</a:t>
            </a:r>
          </a:p>
        </p:txBody>
      </p:sp>
      <p:sp>
        <p:nvSpPr>
          <p:cNvPr id="132100" name="Text Box 1028"/>
          <p:cNvSpPr txBox="1">
            <a:spLocks noChangeArrowheads="1"/>
          </p:cNvSpPr>
          <p:nvPr/>
        </p:nvSpPr>
        <p:spPr bwMode="auto">
          <a:xfrm>
            <a:off x="2133600" y="4040187"/>
            <a:ext cx="4441825" cy="2589213"/>
          </a:xfrm>
          <a:prstGeom prst="rect">
            <a:avLst/>
          </a:prstGeom>
          <a:solidFill>
            <a:srgbClr val="F6F5BD"/>
          </a:solidFill>
          <a:ln w="25400">
            <a:solidFill>
              <a:schemeClr val="tx1"/>
            </a:solidFill>
            <a:miter lim="800000"/>
            <a:headEnd/>
            <a:tailEnd/>
          </a:ln>
          <a:effectLst/>
        </p:spPr>
        <p:txBody>
          <a:bodyPr wrap="none">
            <a:prstTxWarp prst="textNoShape">
              <a:avLst/>
            </a:prstTxWarp>
            <a:spAutoFit/>
          </a:bodyPr>
          <a:lstStyle/>
          <a:p>
            <a:pPr algn="l">
              <a:lnSpc>
                <a:spcPct val="100000"/>
              </a:lnSpc>
            </a:pPr>
            <a:r>
              <a:rPr lang="en-US" sz="1800" dirty="0" err="1">
                <a:latin typeface="Courier New" charset="0"/>
              </a:rPr>
              <a:t>int</a:t>
            </a:r>
            <a:r>
              <a:rPr lang="en-US" sz="1800" dirty="0">
                <a:latin typeface="Courier New" charset="0"/>
              </a:rPr>
              <a:t> </a:t>
            </a:r>
            <a:r>
              <a:rPr lang="en-US" sz="1800" dirty="0" err="1">
                <a:latin typeface="Courier New" charset="0"/>
              </a:rPr>
              <a:t>sum_array_rows(int</a:t>
            </a:r>
            <a:r>
              <a:rPr lang="en-US" sz="1800" dirty="0">
                <a:latin typeface="Courier New" charset="0"/>
              </a:rPr>
              <a:t> </a:t>
            </a:r>
            <a:r>
              <a:rPr lang="en-US" sz="1800" dirty="0" err="1">
                <a:latin typeface="Courier New" charset="0"/>
              </a:rPr>
              <a:t>a[M][N</a:t>
            </a:r>
            <a:r>
              <a:rPr lang="en-US" sz="1800" dirty="0">
                <a:latin typeface="Courier New" charset="0"/>
              </a:rPr>
              <a:t>])</a:t>
            </a:r>
          </a:p>
          <a:p>
            <a:pPr algn="l">
              <a:lnSpc>
                <a:spcPct val="100000"/>
              </a:lnSpc>
            </a:pPr>
            <a:r>
              <a:rPr lang="en-US" sz="1800" dirty="0">
                <a:latin typeface="Courier New" charset="0"/>
              </a:rPr>
              <a:t>{</a:t>
            </a:r>
          </a:p>
          <a:p>
            <a:pPr algn="l">
              <a:lnSpc>
                <a:spcPct val="100000"/>
              </a:lnSpc>
            </a:pPr>
            <a:r>
              <a:rPr lang="en-US" sz="1800" dirty="0">
                <a:latin typeface="Courier New" charset="0"/>
              </a:rPr>
              <a:t>    </a:t>
            </a:r>
            <a:r>
              <a:rPr lang="en-US" sz="1800" dirty="0" err="1">
                <a:latin typeface="Courier New" charset="0"/>
              </a:rPr>
              <a:t>int</a:t>
            </a:r>
            <a:r>
              <a:rPr lang="en-US" sz="1800" dirty="0">
                <a:latin typeface="Courier New" charset="0"/>
              </a:rPr>
              <a:t> </a:t>
            </a:r>
            <a:r>
              <a:rPr lang="en-US" sz="1800" dirty="0" err="1">
                <a:latin typeface="Courier New" charset="0"/>
              </a:rPr>
              <a:t>i</a:t>
            </a:r>
            <a:r>
              <a:rPr lang="en-US" sz="1800" dirty="0">
                <a:latin typeface="Courier New" charset="0"/>
              </a:rPr>
              <a:t>, </a:t>
            </a:r>
            <a:r>
              <a:rPr lang="en-US" sz="1800" dirty="0" err="1">
                <a:latin typeface="Courier New" charset="0"/>
              </a:rPr>
              <a:t>j</a:t>
            </a:r>
            <a:r>
              <a:rPr lang="en-US" sz="1800" dirty="0">
                <a:latin typeface="Courier New" charset="0"/>
              </a:rPr>
              <a:t>, sum = 0;</a:t>
            </a:r>
          </a:p>
          <a:p>
            <a:pPr algn="l">
              <a:lnSpc>
                <a:spcPct val="100000"/>
              </a:lnSpc>
            </a:pPr>
            <a:endParaRPr lang="en-US" sz="1800" dirty="0">
              <a:latin typeface="Courier New" charset="0"/>
            </a:endParaRPr>
          </a:p>
          <a:p>
            <a:pPr algn="l">
              <a:lnSpc>
                <a:spcPct val="100000"/>
              </a:lnSpc>
            </a:pPr>
            <a:r>
              <a:rPr lang="en-US" sz="1800" dirty="0">
                <a:latin typeface="Courier New" charset="0"/>
              </a:rPr>
              <a:t>    for (</a:t>
            </a:r>
            <a:r>
              <a:rPr lang="en-US" sz="1800" dirty="0" err="1">
                <a:latin typeface="Courier New" charset="0"/>
              </a:rPr>
              <a:t>i</a:t>
            </a:r>
            <a:r>
              <a:rPr lang="en-US" sz="1800" dirty="0">
                <a:latin typeface="Courier New" charset="0"/>
              </a:rPr>
              <a:t> = 0; </a:t>
            </a:r>
            <a:r>
              <a:rPr lang="en-US" sz="1800" dirty="0" err="1">
                <a:latin typeface="Courier New" charset="0"/>
              </a:rPr>
              <a:t>i</a:t>
            </a:r>
            <a:r>
              <a:rPr lang="en-US" sz="1800" dirty="0">
                <a:latin typeface="Courier New" charset="0"/>
              </a:rPr>
              <a:t> &lt; M; </a:t>
            </a:r>
            <a:r>
              <a:rPr lang="en-US" sz="1800" dirty="0" err="1">
                <a:latin typeface="Courier New" charset="0"/>
              </a:rPr>
              <a:t>i</a:t>
            </a:r>
            <a:r>
              <a:rPr lang="en-US" sz="1800" dirty="0">
                <a:latin typeface="Courier New" charset="0"/>
              </a:rPr>
              <a:t>++)</a:t>
            </a:r>
          </a:p>
          <a:p>
            <a:pPr algn="l">
              <a:lnSpc>
                <a:spcPct val="100000"/>
              </a:lnSpc>
            </a:pPr>
            <a:r>
              <a:rPr lang="en-US" sz="1800" dirty="0">
                <a:latin typeface="Courier New" charset="0"/>
              </a:rPr>
              <a:t>        for (</a:t>
            </a:r>
            <a:r>
              <a:rPr lang="en-US" sz="1800" dirty="0" err="1">
                <a:latin typeface="Courier New" charset="0"/>
              </a:rPr>
              <a:t>j</a:t>
            </a:r>
            <a:r>
              <a:rPr lang="en-US" sz="1800" dirty="0">
                <a:latin typeface="Courier New" charset="0"/>
              </a:rPr>
              <a:t> = 0; </a:t>
            </a:r>
            <a:r>
              <a:rPr lang="en-US" sz="1800" dirty="0" err="1">
                <a:latin typeface="Courier New" charset="0"/>
              </a:rPr>
              <a:t>j</a:t>
            </a:r>
            <a:r>
              <a:rPr lang="en-US" sz="1800" dirty="0">
                <a:latin typeface="Courier New" charset="0"/>
              </a:rPr>
              <a:t> &lt; N; </a:t>
            </a:r>
            <a:r>
              <a:rPr lang="en-US" sz="1800" dirty="0" err="1">
                <a:latin typeface="Courier New" charset="0"/>
              </a:rPr>
              <a:t>j</a:t>
            </a:r>
            <a:r>
              <a:rPr lang="en-US" sz="1800" dirty="0">
                <a:latin typeface="Courier New" charset="0"/>
              </a:rPr>
              <a:t>++)</a:t>
            </a:r>
          </a:p>
          <a:p>
            <a:pPr algn="l">
              <a:lnSpc>
                <a:spcPct val="100000"/>
              </a:lnSpc>
            </a:pPr>
            <a:r>
              <a:rPr lang="en-US" sz="1800" dirty="0">
                <a:latin typeface="Courier New" charset="0"/>
              </a:rPr>
              <a:t>            sum += </a:t>
            </a:r>
            <a:r>
              <a:rPr lang="en-US" sz="1800" dirty="0" err="1">
                <a:latin typeface="Courier New" charset="0"/>
              </a:rPr>
              <a:t>a[i][j</a:t>
            </a:r>
            <a:r>
              <a:rPr lang="en-US" sz="1800" dirty="0">
                <a:latin typeface="Courier New" charset="0"/>
              </a:rPr>
              <a:t>];</a:t>
            </a:r>
          </a:p>
          <a:p>
            <a:pPr algn="l">
              <a:lnSpc>
                <a:spcPct val="100000"/>
              </a:lnSpc>
            </a:pPr>
            <a:r>
              <a:rPr lang="en-US" sz="1800" dirty="0">
                <a:latin typeface="Courier New" charset="0"/>
              </a:rPr>
              <a:t>    return sum;</a:t>
            </a:r>
          </a:p>
          <a:p>
            <a:pPr algn="l">
              <a:lnSpc>
                <a:spcPct val="100000"/>
              </a:lnSpc>
            </a:pPr>
            <a:r>
              <a:rPr lang="en-US" sz="1800" dirty="0">
                <a:latin typeface="Courier New" charset="0"/>
              </a:rPr>
              <a:t>}</a:t>
            </a:r>
          </a:p>
        </p:txBody>
      </p:sp>
      <p:sp>
        <p:nvSpPr>
          <p:cNvPr id="2" name="Rectangle 1">
            <a:extLst>
              <a:ext uri="{FF2B5EF4-FFF2-40B4-BE49-F238E27FC236}">
                <a16:creationId xmlns:a16="http://schemas.microsoft.com/office/drawing/2014/main" id="{69658E56-DE65-091A-8F7D-67ECA5E4EE4C}"/>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66B0AC01-0EAC-86DE-03DE-BDF1DACE6B47}"/>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5" name="Rectangle 5"/>
          <p:cNvSpPr>
            <a:spLocks noGrp="1" noChangeArrowheads="1"/>
          </p:cNvSpPr>
          <p:nvPr>
            <p:ph type="title"/>
          </p:nvPr>
        </p:nvSpPr>
        <p:spPr/>
        <p:txBody>
          <a:bodyPr/>
          <a:lstStyle/>
          <a:p>
            <a:r>
              <a:rPr lang="en-US" dirty="0"/>
              <a:t>Locality Example</a:t>
            </a:r>
          </a:p>
        </p:txBody>
      </p:sp>
      <p:sp>
        <p:nvSpPr>
          <p:cNvPr id="133126" name="Rectangle 6"/>
          <p:cNvSpPr>
            <a:spLocks noGrp="1" noChangeArrowheads="1"/>
          </p:cNvSpPr>
          <p:nvPr>
            <p:ph type="body" idx="1"/>
          </p:nvPr>
        </p:nvSpPr>
        <p:spPr/>
        <p:txBody>
          <a:bodyPr/>
          <a:lstStyle/>
          <a:p>
            <a:r>
              <a:rPr lang="en-US" dirty="0">
                <a:solidFill>
                  <a:srgbClr val="FF0000"/>
                </a:solidFill>
              </a:rPr>
              <a:t>Question:</a:t>
            </a:r>
            <a:r>
              <a:rPr lang="en-US" dirty="0"/>
              <a:t> Does this function have good locality with respect to array </a:t>
            </a:r>
            <a:r>
              <a:rPr lang="en-US" b="0" dirty="0">
                <a:latin typeface="Courier New"/>
                <a:cs typeface="Courier New"/>
              </a:rPr>
              <a:t>a</a:t>
            </a:r>
            <a:r>
              <a:rPr lang="en-US" dirty="0"/>
              <a:t>?</a:t>
            </a:r>
          </a:p>
        </p:txBody>
      </p:sp>
      <p:sp>
        <p:nvSpPr>
          <p:cNvPr id="133124" name="Text Box 4"/>
          <p:cNvSpPr txBox="1">
            <a:spLocks noChangeArrowheads="1"/>
          </p:cNvSpPr>
          <p:nvPr/>
        </p:nvSpPr>
        <p:spPr bwMode="auto">
          <a:xfrm>
            <a:off x="1817688" y="2484438"/>
            <a:ext cx="4441825" cy="2589212"/>
          </a:xfrm>
          <a:prstGeom prst="rect">
            <a:avLst/>
          </a:prstGeom>
          <a:solidFill>
            <a:srgbClr val="F6F5BD"/>
          </a:solidFill>
          <a:ln w="25400">
            <a:solidFill>
              <a:schemeClr val="tx1"/>
            </a:solidFill>
            <a:miter lim="800000"/>
            <a:headEnd/>
            <a:tailEnd/>
          </a:ln>
          <a:effectLst/>
        </p:spPr>
        <p:txBody>
          <a:bodyPr wrap="none">
            <a:prstTxWarp prst="textNoShape">
              <a:avLst/>
            </a:prstTxWarp>
            <a:spAutoFit/>
          </a:bodyPr>
          <a:lstStyle/>
          <a:p>
            <a:pPr algn="l">
              <a:lnSpc>
                <a:spcPct val="100000"/>
              </a:lnSpc>
            </a:pPr>
            <a:r>
              <a:rPr lang="en-US" sz="1800" dirty="0" err="1">
                <a:latin typeface="Courier New" charset="0"/>
              </a:rPr>
              <a:t>int</a:t>
            </a:r>
            <a:r>
              <a:rPr lang="en-US" sz="1800" dirty="0">
                <a:latin typeface="Courier New" charset="0"/>
              </a:rPr>
              <a:t> </a:t>
            </a:r>
            <a:r>
              <a:rPr lang="en-US" sz="1800" dirty="0" err="1">
                <a:latin typeface="Courier New" charset="0"/>
              </a:rPr>
              <a:t>sum_array_cols(int</a:t>
            </a:r>
            <a:r>
              <a:rPr lang="en-US" sz="1800" dirty="0">
                <a:latin typeface="Courier New" charset="0"/>
              </a:rPr>
              <a:t> </a:t>
            </a:r>
            <a:r>
              <a:rPr lang="en-US" sz="1800" dirty="0" err="1">
                <a:latin typeface="Courier New" charset="0"/>
              </a:rPr>
              <a:t>a[M][N</a:t>
            </a:r>
            <a:r>
              <a:rPr lang="en-US" sz="1800" dirty="0">
                <a:latin typeface="Courier New" charset="0"/>
              </a:rPr>
              <a:t>])</a:t>
            </a:r>
          </a:p>
          <a:p>
            <a:pPr algn="l">
              <a:lnSpc>
                <a:spcPct val="100000"/>
              </a:lnSpc>
            </a:pPr>
            <a:r>
              <a:rPr lang="en-US" sz="1800" dirty="0">
                <a:latin typeface="Courier New" charset="0"/>
              </a:rPr>
              <a:t>{</a:t>
            </a:r>
          </a:p>
          <a:p>
            <a:pPr algn="l">
              <a:lnSpc>
                <a:spcPct val="100000"/>
              </a:lnSpc>
            </a:pPr>
            <a:r>
              <a:rPr lang="en-US" sz="1800" dirty="0">
                <a:latin typeface="Courier New" charset="0"/>
              </a:rPr>
              <a:t>    </a:t>
            </a:r>
            <a:r>
              <a:rPr lang="en-US" sz="1800" dirty="0" err="1">
                <a:latin typeface="Courier New" charset="0"/>
              </a:rPr>
              <a:t>int</a:t>
            </a:r>
            <a:r>
              <a:rPr lang="en-US" sz="1800" dirty="0">
                <a:latin typeface="Courier New" charset="0"/>
              </a:rPr>
              <a:t> </a:t>
            </a:r>
            <a:r>
              <a:rPr lang="en-US" sz="1800" dirty="0" err="1">
                <a:latin typeface="Courier New" charset="0"/>
              </a:rPr>
              <a:t>i</a:t>
            </a:r>
            <a:r>
              <a:rPr lang="en-US" sz="1800" dirty="0">
                <a:latin typeface="Courier New" charset="0"/>
              </a:rPr>
              <a:t>, </a:t>
            </a:r>
            <a:r>
              <a:rPr lang="en-US" sz="1800" dirty="0" err="1">
                <a:latin typeface="Courier New" charset="0"/>
              </a:rPr>
              <a:t>j</a:t>
            </a:r>
            <a:r>
              <a:rPr lang="en-US" sz="1800" dirty="0">
                <a:latin typeface="Courier New" charset="0"/>
              </a:rPr>
              <a:t>, sum = 0;</a:t>
            </a:r>
          </a:p>
          <a:p>
            <a:pPr algn="l">
              <a:lnSpc>
                <a:spcPct val="100000"/>
              </a:lnSpc>
            </a:pPr>
            <a:endParaRPr lang="en-US" sz="1800" dirty="0">
              <a:latin typeface="Courier New" charset="0"/>
            </a:endParaRPr>
          </a:p>
          <a:p>
            <a:pPr algn="l">
              <a:lnSpc>
                <a:spcPct val="100000"/>
              </a:lnSpc>
            </a:pPr>
            <a:r>
              <a:rPr lang="en-US" sz="1800" dirty="0">
                <a:latin typeface="Courier New" charset="0"/>
              </a:rPr>
              <a:t>    for (</a:t>
            </a:r>
            <a:r>
              <a:rPr lang="en-US" sz="1800" dirty="0" err="1">
                <a:latin typeface="Courier New" charset="0"/>
              </a:rPr>
              <a:t>j</a:t>
            </a:r>
            <a:r>
              <a:rPr lang="en-US" sz="1800" dirty="0">
                <a:latin typeface="Courier New" charset="0"/>
              </a:rPr>
              <a:t> = 0; </a:t>
            </a:r>
            <a:r>
              <a:rPr lang="en-US" sz="1800" dirty="0" err="1">
                <a:latin typeface="Courier New" charset="0"/>
              </a:rPr>
              <a:t>j</a:t>
            </a:r>
            <a:r>
              <a:rPr lang="en-US" sz="1800" dirty="0">
                <a:latin typeface="Courier New" charset="0"/>
              </a:rPr>
              <a:t> &lt; N; </a:t>
            </a:r>
            <a:r>
              <a:rPr lang="en-US" sz="1800" dirty="0" err="1">
                <a:latin typeface="Courier New" charset="0"/>
              </a:rPr>
              <a:t>j</a:t>
            </a:r>
            <a:r>
              <a:rPr lang="en-US" sz="1800" dirty="0">
                <a:latin typeface="Courier New" charset="0"/>
              </a:rPr>
              <a:t>++)</a:t>
            </a:r>
          </a:p>
          <a:p>
            <a:pPr algn="l">
              <a:lnSpc>
                <a:spcPct val="100000"/>
              </a:lnSpc>
            </a:pPr>
            <a:r>
              <a:rPr lang="en-US" sz="1800" dirty="0">
                <a:latin typeface="Courier New" charset="0"/>
              </a:rPr>
              <a:t>        for (</a:t>
            </a:r>
            <a:r>
              <a:rPr lang="en-US" sz="1800" dirty="0" err="1">
                <a:latin typeface="Courier New" charset="0"/>
              </a:rPr>
              <a:t>i</a:t>
            </a:r>
            <a:r>
              <a:rPr lang="en-US" sz="1800" dirty="0">
                <a:latin typeface="Courier New" charset="0"/>
              </a:rPr>
              <a:t> = 0; </a:t>
            </a:r>
            <a:r>
              <a:rPr lang="en-US" sz="1800" dirty="0" err="1">
                <a:latin typeface="Courier New" charset="0"/>
              </a:rPr>
              <a:t>i</a:t>
            </a:r>
            <a:r>
              <a:rPr lang="en-US" sz="1800" dirty="0">
                <a:latin typeface="Courier New" charset="0"/>
              </a:rPr>
              <a:t> &lt; M; </a:t>
            </a:r>
            <a:r>
              <a:rPr lang="en-US" sz="1800" dirty="0" err="1">
                <a:latin typeface="Courier New" charset="0"/>
              </a:rPr>
              <a:t>i</a:t>
            </a:r>
            <a:r>
              <a:rPr lang="en-US" sz="1800" dirty="0">
                <a:latin typeface="Courier New" charset="0"/>
              </a:rPr>
              <a:t>++)</a:t>
            </a:r>
          </a:p>
          <a:p>
            <a:pPr algn="l">
              <a:lnSpc>
                <a:spcPct val="100000"/>
              </a:lnSpc>
            </a:pPr>
            <a:r>
              <a:rPr lang="en-US" sz="1800" dirty="0">
                <a:latin typeface="Courier New" charset="0"/>
              </a:rPr>
              <a:t>            sum += </a:t>
            </a:r>
            <a:r>
              <a:rPr lang="en-US" sz="1800" dirty="0" err="1">
                <a:latin typeface="Courier New" charset="0"/>
              </a:rPr>
              <a:t>a[i][j</a:t>
            </a:r>
            <a:r>
              <a:rPr lang="en-US" sz="1800" dirty="0">
                <a:latin typeface="Courier New" charset="0"/>
              </a:rPr>
              <a:t>];</a:t>
            </a:r>
          </a:p>
          <a:p>
            <a:pPr algn="l">
              <a:lnSpc>
                <a:spcPct val="100000"/>
              </a:lnSpc>
            </a:pPr>
            <a:r>
              <a:rPr lang="en-US" sz="1800" dirty="0">
                <a:latin typeface="Courier New" charset="0"/>
              </a:rPr>
              <a:t>    return sum;</a:t>
            </a:r>
          </a:p>
          <a:p>
            <a:pPr algn="l">
              <a:lnSpc>
                <a:spcPct val="100000"/>
              </a:lnSpc>
            </a:pPr>
            <a:r>
              <a:rPr lang="en-US" sz="1800" dirty="0">
                <a:latin typeface="Courier New" charset="0"/>
              </a:rPr>
              <a:t>}</a:t>
            </a:r>
          </a:p>
        </p:txBody>
      </p:sp>
      <p:sp>
        <p:nvSpPr>
          <p:cNvPr id="2" name="Rectangle 1">
            <a:extLst>
              <a:ext uri="{FF2B5EF4-FFF2-40B4-BE49-F238E27FC236}">
                <a16:creationId xmlns:a16="http://schemas.microsoft.com/office/drawing/2014/main" id="{398C250B-3DCA-63B3-B5BA-7793C4CC52DD}"/>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7199A899-8BD9-1A10-D905-3601EE1DBB89}"/>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4"/>
          <p:cNvSpPr>
            <a:spLocks noGrp="1" noChangeArrowheads="1"/>
          </p:cNvSpPr>
          <p:nvPr>
            <p:ph type="title"/>
          </p:nvPr>
        </p:nvSpPr>
        <p:spPr/>
        <p:txBody>
          <a:bodyPr/>
          <a:lstStyle/>
          <a:p>
            <a:r>
              <a:rPr lang="en-US" dirty="0"/>
              <a:t>Memory Hierarchies</a:t>
            </a:r>
          </a:p>
        </p:txBody>
      </p:sp>
      <p:sp>
        <p:nvSpPr>
          <p:cNvPr id="135173" name="Rectangle 5"/>
          <p:cNvSpPr>
            <a:spLocks noGrp="1" noChangeArrowheads="1"/>
          </p:cNvSpPr>
          <p:nvPr>
            <p:ph type="body" idx="1"/>
          </p:nvPr>
        </p:nvSpPr>
        <p:spPr/>
        <p:txBody>
          <a:bodyPr/>
          <a:lstStyle/>
          <a:p>
            <a:r>
              <a:rPr lang="en-US"/>
              <a:t>Some fundamental and enduring properties of hardware and software:</a:t>
            </a:r>
          </a:p>
          <a:p>
            <a:pPr lvl="1"/>
            <a:r>
              <a:rPr lang="en-US"/>
              <a:t>Fast storage technologies cost more per byte, have less capacity, and require more power (heat!). </a:t>
            </a:r>
          </a:p>
          <a:p>
            <a:pPr lvl="1"/>
            <a:r>
              <a:rPr lang="en-US"/>
              <a:t>The gap between CPU and main memory speed is widening.</a:t>
            </a:r>
          </a:p>
          <a:p>
            <a:pPr lvl="1"/>
            <a:r>
              <a:rPr lang="en-US"/>
              <a:t>Well-written programs tend to exhibit good locality.</a:t>
            </a:r>
          </a:p>
          <a:p>
            <a:pPr lvl="1"/>
            <a:endParaRPr lang="en-US"/>
          </a:p>
          <a:p>
            <a:r>
              <a:rPr lang="en-US"/>
              <a:t>These fundamental properties complement each other beautifully.</a:t>
            </a:r>
          </a:p>
          <a:p>
            <a:endParaRPr lang="en-US"/>
          </a:p>
          <a:p>
            <a:r>
              <a:rPr lang="en-US"/>
              <a:t>They suggest an approach for organizing memory and storage systems known as a </a:t>
            </a:r>
            <a:r>
              <a:rPr lang="en-US">
                <a:solidFill>
                  <a:srgbClr val="FF0000"/>
                </a:solidFill>
              </a:rPr>
              <a:t>memory hierarchy</a:t>
            </a:r>
            <a:r>
              <a:rPr lang="en-US"/>
              <a:t>.</a:t>
            </a:r>
          </a:p>
        </p:txBody>
      </p:sp>
      <p:sp>
        <p:nvSpPr>
          <p:cNvPr id="2" name="Rectangle 1">
            <a:extLst>
              <a:ext uri="{FF2B5EF4-FFF2-40B4-BE49-F238E27FC236}">
                <a16:creationId xmlns:a16="http://schemas.microsoft.com/office/drawing/2014/main" id="{D6B93A43-95C1-76F7-4744-AE3431554F96}"/>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6BA2E806-4FF2-3BBF-358D-107413A99FF9}"/>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a:lnSpc>
                <a:spcPct val="80000"/>
              </a:lnSpc>
            </a:pPr>
            <a:r>
              <a:rPr lang="en-US" dirty="0">
                <a:solidFill>
                  <a:schemeClr val="bg1">
                    <a:lumMod val="75000"/>
                  </a:schemeClr>
                </a:solidFill>
              </a:rPr>
              <a:t>Storage technologies and trends</a:t>
            </a:r>
          </a:p>
          <a:p>
            <a:pPr>
              <a:lnSpc>
                <a:spcPct val="80000"/>
              </a:lnSpc>
            </a:pPr>
            <a:r>
              <a:rPr lang="en-US" dirty="0">
                <a:solidFill>
                  <a:schemeClr val="bg1">
                    <a:lumMod val="75000"/>
                  </a:schemeClr>
                </a:solidFill>
              </a:rPr>
              <a:t>Locality of reference</a:t>
            </a:r>
          </a:p>
          <a:p>
            <a:pPr>
              <a:lnSpc>
                <a:spcPct val="80000"/>
              </a:lnSpc>
            </a:pPr>
            <a:r>
              <a:rPr lang="en-US" dirty="0"/>
              <a:t>Caching in the memory hierarchy</a:t>
            </a:r>
          </a:p>
        </p:txBody>
      </p:sp>
      <p:sp>
        <p:nvSpPr>
          <p:cNvPr id="4" name="Rectangle 3">
            <a:extLst>
              <a:ext uri="{FF2B5EF4-FFF2-40B4-BE49-F238E27FC236}">
                <a16:creationId xmlns:a16="http://schemas.microsoft.com/office/drawing/2014/main" id="{F26DB86E-407C-2D62-F8E5-EF0879C3F597}"/>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5" name="Rectangle 4">
            <a:extLst>
              <a:ext uri="{FF2B5EF4-FFF2-40B4-BE49-F238E27FC236}">
                <a16:creationId xmlns:a16="http://schemas.microsoft.com/office/drawing/2014/main" id="{166582D0-12AA-C60E-8084-4D3B615B8219}"/>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a:xfrm>
            <a:off x="61913" y="247650"/>
            <a:ext cx="8716962" cy="782638"/>
          </a:xfrm>
        </p:spPr>
        <p:txBody>
          <a:bodyPr>
            <a:normAutofit fontScale="90000"/>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latin typeface="Arial"/>
                <a:cs typeface="Arial"/>
              </a:rPr>
              <a:t>Example Memory </a:t>
            </a:r>
            <a:br>
              <a:rPr lang="en-GB" dirty="0">
                <a:latin typeface="Arial"/>
                <a:cs typeface="Arial"/>
              </a:rPr>
            </a:br>
            <a:r>
              <a:rPr lang="en-GB" dirty="0">
                <a:latin typeface="Arial"/>
                <a:cs typeface="Arial"/>
              </a:rPr>
              <a:t>     Hierarchy</a:t>
            </a:r>
          </a:p>
        </p:txBody>
      </p:sp>
      <p:sp>
        <p:nvSpPr>
          <p:cNvPr id="151" name="AutoShape 195"/>
          <p:cNvSpPr>
            <a:spLocks noChangeAspect="1" noChangeArrowheads="1"/>
          </p:cNvSpPr>
          <p:nvPr/>
        </p:nvSpPr>
        <p:spPr bwMode="auto">
          <a:xfrm>
            <a:off x="552450" y="342900"/>
            <a:ext cx="6902450" cy="6456363"/>
          </a:xfrm>
          <a:prstGeom prst="triangle">
            <a:avLst>
              <a:gd name="adj" fmla="val 50000"/>
            </a:avLst>
          </a:prstGeom>
          <a:gradFill flip="none" rotWithShape="1">
            <a:gsLst>
              <a:gs pos="0">
                <a:schemeClr val="accent6">
                  <a:lumMod val="20000"/>
                  <a:lumOff val="80000"/>
                  <a:alpha val="7000"/>
                </a:schemeClr>
              </a:gs>
              <a:gs pos="100000">
                <a:schemeClr val="accent6">
                  <a:lumMod val="20000"/>
                  <a:lumOff val="80000"/>
                </a:schemeClr>
              </a:gs>
            </a:gsLst>
            <a:lin ang="16140000" scaled="0"/>
            <a:tileRect/>
          </a:gradFill>
          <a:ln w="12700">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a:cs typeface="Arial"/>
            </a:endParaRPr>
          </a:p>
        </p:txBody>
      </p:sp>
      <p:sp>
        <p:nvSpPr>
          <p:cNvPr id="152" name="Text Box 196"/>
          <p:cNvSpPr txBox="1">
            <a:spLocks noChangeAspect="1" noChangeArrowheads="1"/>
          </p:cNvSpPr>
          <p:nvPr/>
        </p:nvSpPr>
        <p:spPr bwMode="auto">
          <a:xfrm>
            <a:off x="3694391" y="834509"/>
            <a:ext cx="723538"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ysClr val="windowText" lastClr="000000"/>
                </a:solidFill>
                <a:effectLst/>
                <a:uLnTx/>
                <a:uFillTx/>
                <a:latin typeface="Arial"/>
                <a:cs typeface="Arial"/>
              </a:rPr>
              <a:t>Regs</a:t>
            </a:r>
            <a:endParaRPr kumimoji="0" lang="en-US" sz="1800" b="0" i="0" u="none" strike="noStrike" kern="0" cap="none" spc="0" normalizeH="0" baseline="0" noProof="0" dirty="0">
              <a:ln>
                <a:noFill/>
              </a:ln>
              <a:solidFill>
                <a:sysClr val="windowText" lastClr="000000"/>
              </a:solidFill>
              <a:effectLst/>
              <a:uLnTx/>
              <a:uFillTx/>
              <a:latin typeface="Arial"/>
              <a:cs typeface="Arial"/>
            </a:endParaRPr>
          </a:p>
        </p:txBody>
      </p:sp>
      <p:sp>
        <p:nvSpPr>
          <p:cNvPr id="153" name="Text Box 198"/>
          <p:cNvSpPr txBox="1">
            <a:spLocks noChangeAspect="1" noChangeArrowheads="1"/>
          </p:cNvSpPr>
          <p:nvPr/>
        </p:nvSpPr>
        <p:spPr bwMode="auto">
          <a:xfrm>
            <a:off x="3495400" y="1283385"/>
            <a:ext cx="1121521" cy="6463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Arial"/>
                <a:cs typeface="Arial"/>
              </a:rPr>
              <a:t>L1 cache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Arial"/>
                <a:cs typeface="Arial"/>
              </a:rPr>
              <a:t>(SRAM)</a:t>
            </a:r>
          </a:p>
        </p:txBody>
      </p:sp>
      <p:sp>
        <p:nvSpPr>
          <p:cNvPr id="154" name="Text Box 199"/>
          <p:cNvSpPr txBox="1">
            <a:spLocks noChangeAspect="1" noChangeArrowheads="1"/>
          </p:cNvSpPr>
          <p:nvPr/>
        </p:nvSpPr>
        <p:spPr bwMode="auto">
          <a:xfrm>
            <a:off x="3264793" y="3821797"/>
            <a:ext cx="1582735" cy="6463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a:cs typeface="Arial"/>
              </a:rPr>
              <a:t>Main memory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a:cs typeface="Arial"/>
              </a:rPr>
              <a:t>(DRAM)</a:t>
            </a:r>
          </a:p>
        </p:txBody>
      </p:sp>
      <p:sp>
        <p:nvSpPr>
          <p:cNvPr id="155" name="Text Box 200"/>
          <p:cNvSpPr txBox="1">
            <a:spLocks noChangeAspect="1" noChangeArrowheads="1"/>
          </p:cNvSpPr>
          <p:nvPr/>
        </p:nvSpPr>
        <p:spPr bwMode="auto">
          <a:xfrm>
            <a:off x="2706309" y="4847322"/>
            <a:ext cx="2699702" cy="6463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a:cs typeface="Arial"/>
              </a:rPr>
              <a:t>Local secondary storage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a:cs typeface="Arial"/>
              </a:rPr>
              <a:t>(local disks)</a:t>
            </a:r>
          </a:p>
        </p:txBody>
      </p:sp>
      <p:sp>
        <p:nvSpPr>
          <p:cNvPr id="156" name="Line 203"/>
          <p:cNvSpPr>
            <a:spLocks noChangeAspect="1" noChangeShapeType="1"/>
          </p:cNvSpPr>
          <p:nvPr/>
        </p:nvSpPr>
        <p:spPr bwMode="auto">
          <a:xfrm>
            <a:off x="3513138" y="1265238"/>
            <a:ext cx="981075" cy="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a:cs typeface="Arial"/>
            </a:endParaRPr>
          </a:p>
        </p:txBody>
      </p:sp>
      <p:sp>
        <p:nvSpPr>
          <p:cNvPr id="157" name="Line 204"/>
          <p:cNvSpPr>
            <a:spLocks noChangeAspect="1" noChangeShapeType="1"/>
          </p:cNvSpPr>
          <p:nvPr/>
        </p:nvSpPr>
        <p:spPr bwMode="auto">
          <a:xfrm>
            <a:off x="3162300" y="1903413"/>
            <a:ext cx="1671638" cy="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a:cs typeface="Arial"/>
            </a:endParaRPr>
          </a:p>
        </p:txBody>
      </p:sp>
      <p:sp>
        <p:nvSpPr>
          <p:cNvPr id="158" name="Line 205"/>
          <p:cNvSpPr>
            <a:spLocks noChangeAspect="1" noChangeShapeType="1"/>
          </p:cNvSpPr>
          <p:nvPr/>
        </p:nvSpPr>
        <p:spPr bwMode="auto">
          <a:xfrm>
            <a:off x="2779713" y="2655888"/>
            <a:ext cx="2447925" cy="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a:cs typeface="Arial"/>
            </a:endParaRPr>
          </a:p>
        </p:txBody>
      </p:sp>
      <p:sp>
        <p:nvSpPr>
          <p:cNvPr id="159" name="Line 222"/>
          <p:cNvSpPr>
            <a:spLocks noChangeAspect="1" noChangeShapeType="1"/>
          </p:cNvSpPr>
          <p:nvPr/>
        </p:nvSpPr>
        <p:spPr bwMode="auto">
          <a:xfrm>
            <a:off x="76200" y="3473450"/>
            <a:ext cx="0" cy="2344738"/>
          </a:xfrm>
          <a:prstGeom prst="line">
            <a:avLst/>
          </a:prstGeom>
          <a:noFill/>
          <a:ln w="38100">
            <a:solidFill>
              <a:schemeClr val="accent6">
                <a:lumMod val="75000"/>
              </a:schemeClr>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a:cs typeface="Arial"/>
            </a:endParaRPr>
          </a:p>
        </p:txBody>
      </p:sp>
      <p:sp>
        <p:nvSpPr>
          <p:cNvPr id="160" name="Text Box 223"/>
          <p:cNvSpPr txBox="1">
            <a:spLocks noChangeAspect="1" noChangeArrowheads="1"/>
          </p:cNvSpPr>
          <p:nvPr/>
        </p:nvSpPr>
        <p:spPr bwMode="auto">
          <a:xfrm>
            <a:off x="123825" y="3625166"/>
            <a:ext cx="1062711" cy="181588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Larger,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slower,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and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cheaper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(per byte)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storage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devices</a:t>
            </a:r>
          </a:p>
        </p:txBody>
      </p:sp>
      <p:sp>
        <p:nvSpPr>
          <p:cNvPr id="161" name="Line 224"/>
          <p:cNvSpPr>
            <a:spLocks noChangeAspect="1" noChangeShapeType="1"/>
          </p:cNvSpPr>
          <p:nvPr/>
        </p:nvSpPr>
        <p:spPr bwMode="auto">
          <a:xfrm>
            <a:off x="2255838" y="3586163"/>
            <a:ext cx="3475037" cy="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a:cs typeface="Arial"/>
            </a:endParaRPr>
          </a:p>
        </p:txBody>
      </p:sp>
      <p:sp>
        <p:nvSpPr>
          <p:cNvPr id="162" name="Text Box 225"/>
          <p:cNvSpPr txBox="1">
            <a:spLocks noChangeAspect="1" noChangeArrowheads="1"/>
          </p:cNvSpPr>
          <p:nvPr/>
        </p:nvSpPr>
        <p:spPr bwMode="auto">
          <a:xfrm>
            <a:off x="2578100" y="5947460"/>
            <a:ext cx="2956120" cy="6463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a:cs typeface="Arial"/>
              </a:rPr>
              <a:t>Remote secondary storage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a:cs typeface="Arial"/>
              </a:rPr>
              <a:t>(e.g., Web servers)</a:t>
            </a:r>
          </a:p>
        </p:txBody>
      </p:sp>
      <p:sp>
        <p:nvSpPr>
          <p:cNvPr id="165" name="Text Box 227"/>
          <p:cNvSpPr txBox="1">
            <a:spLocks noChangeAspect="1" noChangeArrowheads="1"/>
          </p:cNvSpPr>
          <p:nvPr/>
        </p:nvSpPr>
        <p:spPr bwMode="auto">
          <a:xfrm>
            <a:off x="7073306" y="5375119"/>
            <a:ext cx="2062758" cy="73852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rgbClr val="FF0000"/>
                </a:solidFill>
                <a:effectLst/>
                <a:uLnTx/>
                <a:uFillTx/>
                <a:latin typeface="Arial"/>
                <a:cs typeface="Arial"/>
              </a:rPr>
              <a:t>Local disks hold files retrieved from disks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rgbClr val="FF0000"/>
                </a:solidFill>
                <a:effectLst/>
                <a:uLnTx/>
                <a:uFillTx/>
                <a:latin typeface="Arial"/>
                <a:cs typeface="Arial"/>
              </a:rPr>
              <a:t>on remote</a:t>
            </a:r>
            <a:r>
              <a:rPr kumimoji="0" lang="en-US" sz="1400" i="0" u="none" strike="noStrike" kern="0" cap="none" spc="0" normalizeH="0" noProof="0" dirty="0">
                <a:ln>
                  <a:noFill/>
                </a:ln>
                <a:solidFill>
                  <a:srgbClr val="FF0000"/>
                </a:solidFill>
                <a:effectLst/>
                <a:uLnTx/>
                <a:uFillTx/>
                <a:latin typeface="Arial"/>
                <a:cs typeface="Arial"/>
              </a:rPr>
              <a:t> servers</a:t>
            </a:r>
            <a:endParaRPr kumimoji="0" lang="en-US" sz="1400" i="0" u="none" strike="noStrike" kern="0" cap="none" spc="0" normalizeH="0" baseline="0" noProof="0" dirty="0">
              <a:ln>
                <a:noFill/>
              </a:ln>
              <a:solidFill>
                <a:srgbClr val="FF0000"/>
              </a:solidFill>
              <a:effectLst/>
              <a:uLnTx/>
              <a:uFillTx/>
              <a:latin typeface="Arial"/>
              <a:cs typeface="Arial"/>
            </a:endParaRPr>
          </a:p>
        </p:txBody>
      </p:sp>
      <p:sp>
        <p:nvSpPr>
          <p:cNvPr id="166" name="Line 235"/>
          <p:cNvSpPr>
            <a:spLocks noChangeAspect="1" noChangeShapeType="1"/>
          </p:cNvSpPr>
          <p:nvPr/>
        </p:nvSpPr>
        <p:spPr bwMode="auto">
          <a:xfrm>
            <a:off x="1708150" y="4632325"/>
            <a:ext cx="4576763" cy="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a:cs typeface="Arial"/>
            </a:endParaRPr>
          </a:p>
        </p:txBody>
      </p:sp>
      <p:sp>
        <p:nvSpPr>
          <p:cNvPr id="167" name="Text Box 236"/>
          <p:cNvSpPr txBox="1">
            <a:spLocks noChangeAspect="1" noChangeArrowheads="1"/>
          </p:cNvSpPr>
          <p:nvPr/>
        </p:nvSpPr>
        <p:spPr bwMode="auto">
          <a:xfrm>
            <a:off x="3495400" y="1948547"/>
            <a:ext cx="1121521" cy="6463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a:cs typeface="Arial"/>
              </a:rPr>
              <a:t>L2 cache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a:cs typeface="Arial"/>
              </a:rPr>
              <a:t>(SRAM)</a:t>
            </a:r>
          </a:p>
        </p:txBody>
      </p:sp>
      <p:sp>
        <p:nvSpPr>
          <p:cNvPr id="169" name="Text Box 243"/>
          <p:cNvSpPr txBox="1">
            <a:spLocks noChangeAspect="1" noChangeArrowheads="1"/>
          </p:cNvSpPr>
          <p:nvPr/>
        </p:nvSpPr>
        <p:spPr bwMode="auto">
          <a:xfrm>
            <a:off x="4962526" y="1641476"/>
            <a:ext cx="2838450" cy="5238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rgbClr val="FF0000"/>
                </a:solidFill>
                <a:effectLst/>
                <a:uLnTx/>
                <a:uFillTx/>
                <a:latin typeface="Arial"/>
                <a:cs typeface="Arial"/>
              </a:rPr>
              <a:t>L1 cache holds cache lines retrieved from the L2 cache.</a:t>
            </a:r>
          </a:p>
        </p:txBody>
      </p:sp>
      <p:sp>
        <p:nvSpPr>
          <p:cNvPr id="171" name="Text Box 233"/>
          <p:cNvSpPr txBox="1">
            <a:spLocks noChangeAspect="1" noChangeArrowheads="1"/>
          </p:cNvSpPr>
          <p:nvPr/>
        </p:nvSpPr>
        <p:spPr bwMode="auto">
          <a:xfrm>
            <a:off x="4573588" y="973465"/>
            <a:ext cx="2919412" cy="52322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rgbClr val="FF0000"/>
                </a:solidFill>
                <a:effectLst/>
                <a:uLnTx/>
                <a:uFillTx/>
                <a:latin typeface="Arial"/>
                <a:cs typeface="Arial"/>
              </a:rPr>
              <a:t>CPU registers hold words retrieved from </a:t>
            </a:r>
            <a:r>
              <a:rPr kumimoji="0" lang="en-US" sz="1400" i="0" u="none" strike="noStrike" kern="0" cap="none" spc="0" normalizeH="0" baseline="0" noProof="0" dirty="0" err="1">
                <a:ln>
                  <a:noFill/>
                </a:ln>
                <a:solidFill>
                  <a:srgbClr val="FF0000"/>
                </a:solidFill>
                <a:effectLst/>
                <a:uLnTx/>
                <a:uFillTx/>
                <a:latin typeface="Arial"/>
                <a:cs typeface="Arial"/>
              </a:rPr>
              <a:t>th</a:t>
            </a:r>
            <a:r>
              <a:rPr lang="en-US" sz="1400" kern="0" dirty="0">
                <a:solidFill>
                  <a:srgbClr val="FF0000"/>
                </a:solidFill>
                <a:latin typeface="Arial"/>
                <a:cs typeface="Arial"/>
              </a:rPr>
              <a:t>e L1 cache</a:t>
            </a:r>
            <a:r>
              <a:rPr kumimoji="0" lang="en-US" sz="1400" i="0" u="none" strike="noStrike" kern="0" cap="none" spc="0" normalizeH="0" baseline="0" noProof="0" dirty="0">
                <a:ln>
                  <a:noFill/>
                </a:ln>
                <a:solidFill>
                  <a:srgbClr val="FF0000"/>
                </a:solidFill>
                <a:effectLst/>
                <a:uLnTx/>
                <a:uFillTx/>
                <a:latin typeface="Arial"/>
                <a:cs typeface="Arial"/>
              </a:rPr>
              <a:t>.</a:t>
            </a:r>
          </a:p>
        </p:txBody>
      </p:sp>
      <p:sp>
        <p:nvSpPr>
          <p:cNvPr id="174" name="Text Box 231"/>
          <p:cNvSpPr txBox="1">
            <a:spLocks noChangeAspect="1" noChangeArrowheads="1"/>
          </p:cNvSpPr>
          <p:nvPr/>
        </p:nvSpPr>
        <p:spPr bwMode="auto">
          <a:xfrm>
            <a:off x="5365751" y="2403473"/>
            <a:ext cx="2628900" cy="5238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rgbClr val="FF0000"/>
                </a:solidFill>
                <a:effectLst/>
                <a:uLnTx/>
                <a:uFillTx/>
                <a:latin typeface="Arial"/>
                <a:cs typeface="Arial"/>
              </a:rPr>
              <a:t>L2 cache holds cache lines</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rgbClr val="FF0000"/>
                </a:solidFill>
                <a:effectLst/>
                <a:uLnTx/>
                <a:uFillTx/>
                <a:latin typeface="Arial"/>
                <a:cs typeface="Arial"/>
              </a:rPr>
              <a:t> retrieved from L3 cache</a:t>
            </a:r>
          </a:p>
        </p:txBody>
      </p:sp>
      <p:sp>
        <p:nvSpPr>
          <p:cNvPr id="176" name="Text Box 247"/>
          <p:cNvSpPr txBox="1">
            <a:spLocks noChangeAspect="1" noChangeArrowheads="1"/>
          </p:cNvSpPr>
          <p:nvPr/>
        </p:nvSpPr>
        <p:spPr bwMode="auto">
          <a:xfrm>
            <a:off x="3235325" y="644009"/>
            <a:ext cx="53091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i="0" u="none" strike="noStrike" kern="0" cap="none" spc="0" normalizeH="0" baseline="0" noProof="0" dirty="0">
                <a:ln>
                  <a:noFill/>
                </a:ln>
                <a:solidFill>
                  <a:schemeClr val="accent6">
                    <a:lumMod val="75000"/>
                  </a:schemeClr>
                </a:solidFill>
                <a:effectLst/>
                <a:uLnTx/>
                <a:uFillTx/>
                <a:latin typeface="Arial"/>
                <a:cs typeface="Arial"/>
              </a:rPr>
              <a:t>L0:</a:t>
            </a:r>
          </a:p>
        </p:txBody>
      </p:sp>
      <p:sp>
        <p:nvSpPr>
          <p:cNvPr id="177" name="Text Box 248"/>
          <p:cNvSpPr txBox="1">
            <a:spLocks noChangeAspect="1" noChangeArrowheads="1"/>
          </p:cNvSpPr>
          <p:nvPr/>
        </p:nvSpPr>
        <p:spPr bwMode="auto">
          <a:xfrm>
            <a:off x="2867025" y="1353622"/>
            <a:ext cx="53091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i="0" u="none" strike="noStrike" kern="0" cap="none" spc="0" normalizeH="0" baseline="0" noProof="0" dirty="0">
                <a:ln>
                  <a:noFill/>
                </a:ln>
                <a:solidFill>
                  <a:schemeClr val="accent6">
                    <a:lumMod val="75000"/>
                  </a:schemeClr>
                </a:solidFill>
                <a:effectLst/>
                <a:uLnTx/>
                <a:uFillTx/>
                <a:latin typeface="Arial"/>
                <a:cs typeface="Arial"/>
              </a:rPr>
              <a:t>L1:</a:t>
            </a:r>
          </a:p>
        </p:txBody>
      </p:sp>
      <p:sp>
        <p:nvSpPr>
          <p:cNvPr id="178" name="Text Box 249"/>
          <p:cNvSpPr txBox="1">
            <a:spLocks noChangeAspect="1" noChangeArrowheads="1"/>
          </p:cNvSpPr>
          <p:nvPr/>
        </p:nvSpPr>
        <p:spPr bwMode="auto">
          <a:xfrm>
            <a:off x="2486025" y="2041009"/>
            <a:ext cx="53091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i="0" u="none" strike="noStrike" kern="0" cap="none" spc="0" normalizeH="0" baseline="0" noProof="0">
                <a:ln>
                  <a:noFill/>
                </a:ln>
                <a:solidFill>
                  <a:schemeClr val="accent6">
                    <a:lumMod val="75000"/>
                  </a:schemeClr>
                </a:solidFill>
                <a:effectLst/>
                <a:uLnTx/>
                <a:uFillTx/>
                <a:latin typeface="Arial"/>
                <a:cs typeface="Arial"/>
              </a:rPr>
              <a:t>L2:</a:t>
            </a:r>
          </a:p>
        </p:txBody>
      </p:sp>
      <p:sp>
        <p:nvSpPr>
          <p:cNvPr id="179" name="Text Box 250"/>
          <p:cNvSpPr txBox="1">
            <a:spLocks noChangeAspect="1" noChangeArrowheads="1"/>
          </p:cNvSpPr>
          <p:nvPr/>
        </p:nvSpPr>
        <p:spPr bwMode="auto">
          <a:xfrm>
            <a:off x="2079625" y="2796659"/>
            <a:ext cx="53091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i="0" u="none" strike="noStrike" kern="0" cap="none" spc="0" normalizeH="0" baseline="0" noProof="0">
                <a:ln>
                  <a:noFill/>
                </a:ln>
                <a:solidFill>
                  <a:schemeClr val="accent6">
                    <a:lumMod val="75000"/>
                  </a:schemeClr>
                </a:solidFill>
                <a:effectLst/>
                <a:uLnTx/>
                <a:uFillTx/>
                <a:latin typeface="Arial"/>
                <a:cs typeface="Arial"/>
              </a:rPr>
              <a:t>L3:</a:t>
            </a:r>
          </a:p>
        </p:txBody>
      </p:sp>
      <p:sp>
        <p:nvSpPr>
          <p:cNvPr id="180" name="Text Box 251"/>
          <p:cNvSpPr txBox="1">
            <a:spLocks noChangeAspect="1" noChangeArrowheads="1"/>
          </p:cNvSpPr>
          <p:nvPr/>
        </p:nvSpPr>
        <p:spPr bwMode="auto">
          <a:xfrm>
            <a:off x="1554163" y="3795197"/>
            <a:ext cx="53091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i="0" u="none" strike="noStrike" kern="0" cap="none" spc="0" normalizeH="0" baseline="0" noProof="0">
                <a:ln>
                  <a:noFill/>
                </a:ln>
                <a:solidFill>
                  <a:schemeClr val="accent6">
                    <a:lumMod val="75000"/>
                  </a:schemeClr>
                </a:solidFill>
                <a:effectLst/>
                <a:uLnTx/>
                <a:uFillTx/>
                <a:latin typeface="Arial"/>
                <a:cs typeface="Arial"/>
              </a:rPr>
              <a:t>L4:</a:t>
            </a:r>
          </a:p>
        </p:txBody>
      </p:sp>
      <p:sp>
        <p:nvSpPr>
          <p:cNvPr id="181" name="Text Box 252"/>
          <p:cNvSpPr txBox="1">
            <a:spLocks noChangeAspect="1" noChangeArrowheads="1"/>
          </p:cNvSpPr>
          <p:nvPr/>
        </p:nvSpPr>
        <p:spPr bwMode="auto">
          <a:xfrm>
            <a:off x="933450" y="4912797"/>
            <a:ext cx="53091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i="0" u="none" strike="noStrike" kern="0" cap="none" spc="0" normalizeH="0" baseline="0" noProof="0">
                <a:ln>
                  <a:noFill/>
                </a:ln>
                <a:solidFill>
                  <a:schemeClr val="accent6">
                    <a:lumMod val="75000"/>
                  </a:schemeClr>
                </a:solidFill>
                <a:effectLst/>
                <a:uLnTx/>
                <a:uFillTx/>
                <a:latin typeface="Arial"/>
                <a:cs typeface="Arial"/>
              </a:rPr>
              <a:t>L5:</a:t>
            </a:r>
          </a:p>
        </p:txBody>
      </p:sp>
      <p:sp>
        <p:nvSpPr>
          <p:cNvPr id="182" name="Text Box 289"/>
          <p:cNvSpPr txBox="1">
            <a:spLocks noChangeAspect="1" noChangeArrowheads="1"/>
          </p:cNvSpPr>
          <p:nvPr/>
        </p:nvSpPr>
        <p:spPr bwMode="auto">
          <a:xfrm>
            <a:off x="130175" y="1137553"/>
            <a:ext cx="1062711" cy="181588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Smaller,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faster,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and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costlier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(per byte)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storage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latin typeface="Arial"/>
                <a:cs typeface="Arial"/>
              </a:rPr>
              <a:t>devices</a:t>
            </a:r>
          </a:p>
        </p:txBody>
      </p:sp>
      <p:sp>
        <p:nvSpPr>
          <p:cNvPr id="183" name="Line 291"/>
          <p:cNvSpPr>
            <a:spLocks noChangeShapeType="1"/>
          </p:cNvSpPr>
          <p:nvPr/>
        </p:nvSpPr>
        <p:spPr bwMode="auto">
          <a:xfrm flipH="1" flipV="1">
            <a:off x="90488" y="954088"/>
            <a:ext cx="0" cy="2154237"/>
          </a:xfrm>
          <a:prstGeom prst="line">
            <a:avLst/>
          </a:prstGeom>
          <a:noFill/>
          <a:ln w="38100">
            <a:solidFill>
              <a:schemeClr val="accent6">
                <a:lumMod val="75000"/>
              </a:schemeClr>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latin typeface="Arial"/>
              <a:cs typeface="Arial"/>
            </a:endParaRPr>
          </a:p>
        </p:txBody>
      </p:sp>
      <p:sp>
        <p:nvSpPr>
          <p:cNvPr id="184" name="Line 292"/>
          <p:cNvSpPr>
            <a:spLocks noChangeAspect="1" noChangeShapeType="1"/>
          </p:cNvSpPr>
          <p:nvPr/>
        </p:nvSpPr>
        <p:spPr bwMode="auto">
          <a:xfrm>
            <a:off x="1117600" y="5743575"/>
            <a:ext cx="5765800" cy="0"/>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a:cs typeface="Arial"/>
            </a:endParaRPr>
          </a:p>
        </p:txBody>
      </p:sp>
      <p:sp>
        <p:nvSpPr>
          <p:cNvPr id="185" name="Text Box 293"/>
          <p:cNvSpPr txBox="1">
            <a:spLocks noChangeAspect="1" noChangeArrowheads="1"/>
          </p:cNvSpPr>
          <p:nvPr/>
        </p:nvSpPr>
        <p:spPr bwMode="auto">
          <a:xfrm>
            <a:off x="3495400" y="2780397"/>
            <a:ext cx="1121521" cy="6463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a:cs typeface="Arial"/>
              </a:rPr>
              <a:t>L3 cache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Arial"/>
                <a:cs typeface="Arial"/>
              </a:rPr>
              <a:t>(SRAM)</a:t>
            </a:r>
          </a:p>
        </p:txBody>
      </p:sp>
      <p:sp>
        <p:nvSpPr>
          <p:cNvPr id="187" name="Text Box 295"/>
          <p:cNvSpPr txBox="1">
            <a:spLocks noChangeAspect="1" noChangeArrowheads="1"/>
          </p:cNvSpPr>
          <p:nvPr/>
        </p:nvSpPr>
        <p:spPr bwMode="auto">
          <a:xfrm>
            <a:off x="5810250" y="3305501"/>
            <a:ext cx="2876549" cy="52322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rgbClr val="FF0000"/>
                </a:solidFill>
                <a:effectLst/>
                <a:uLnTx/>
                <a:uFillTx/>
                <a:latin typeface="Arial"/>
                <a:cs typeface="Arial"/>
              </a:rPr>
              <a:t>L3 cache holds cache lines</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rgbClr val="FF0000"/>
                </a:solidFill>
                <a:effectLst/>
                <a:uLnTx/>
                <a:uFillTx/>
                <a:latin typeface="Arial"/>
                <a:cs typeface="Arial"/>
              </a:rPr>
              <a:t> retrieved from main memory.</a:t>
            </a:r>
          </a:p>
        </p:txBody>
      </p:sp>
      <p:sp>
        <p:nvSpPr>
          <p:cNvPr id="189" name="Text Box 297"/>
          <p:cNvSpPr txBox="1">
            <a:spLocks noChangeAspect="1" noChangeArrowheads="1"/>
          </p:cNvSpPr>
          <p:nvPr/>
        </p:nvSpPr>
        <p:spPr bwMode="auto">
          <a:xfrm>
            <a:off x="387350" y="5963722"/>
            <a:ext cx="53091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i="0" u="none" strike="noStrike" kern="0" cap="none" spc="0" normalizeH="0" baseline="0" noProof="0">
                <a:ln>
                  <a:noFill/>
                </a:ln>
                <a:solidFill>
                  <a:schemeClr val="accent6">
                    <a:lumMod val="75000"/>
                  </a:schemeClr>
                </a:solidFill>
                <a:effectLst/>
                <a:uLnTx/>
                <a:uFillTx/>
                <a:latin typeface="Arial"/>
                <a:cs typeface="Arial"/>
              </a:rPr>
              <a:t>L6:</a:t>
            </a:r>
          </a:p>
        </p:txBody>
      </p:sp>
      <p:sp>
        <p:nvSpPr>
          <p:cNvPr id="234" name="Text Box 229"/>
          <p:cNvSpPr txBox="1">
            <a:spLocks noChangeAspect="1" noChangeArrowheads="1"/>
          </p:cNvSpPr>
          <p:nvPr/>
        </p:nvSpPr>
        <p:spPr bwMode="auto">
          <a:xfrm>
            <a:off x="6399690" y="4238399"/>
            <a:ext cx="2184181" cy="73866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0" normalizeH="0" baseline="0" noProof="0" dirty="0">
                <a:ln>
                  <a:noFill/>
                </a:ln>
                <a:solidFill>
                  <a:srgbClr val="FF0000"/>
                </a:solidFill>
                <a:effectLst/>
                <a:uLnTx/>
                <a:uFillTx/>
                <a:latin typeface="Arial"/>
                <a:cs typeface="Arial"/>
              </a:rPr>
              <a:t>Main memory holds disk blocks retrieved from local disks.</a:t>
            </a:r>
          </a:p>
        </p:txBody>
      </p:sp>
      <p:sp>
        <p:nvSpPr>
          <p:cNvPr id="3" name="Rectangle 2">
            <a:extLst>
              <a:ext uri="{FF2B5EF4-FFF2-40B4-BE49-F238E27FC236}">
                <a16:creationId xmlns:a16="http://schemas.microsoft.com/office/drawing/2014/main" id="{9A462CA7-3F81-2D67-B1E2-A8605CB139DF}"/>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4" name="Rectangle 3">
            <a:extLst>
              <a:ext uri="{FF2B5EF4-FFF2-40B4-BE49-F238E27FC236}">
                <a16:creationId xmlns:a16="http://schemas.microsoft.com/office/drawing/2014/main" id="{D76F6E0F-AD0B-ED6D-9169-7FB5B0CDD107}"/>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8" name="Rectangle 6"/>
          <p:cNvSpPr>
            <a:spLocks noGrp="1" noChangeArrowheads="1"/>
          </p:cNvSpPr>
          <p:nvPr>
            <p:ph type="title"/>
          </p:nvPr>
        </p:nvSpPr>
        <p:spPr/>
        <p:txBody>
          <a:bodyPr/>
          <a:lstStyle/>
          <a:p>
            <a:r>
              <a:rPr lang="en-US" dirty="0"/>
              <a:t>Caches</a:t>
            </a:r>
          </a:p>
        </p:txBody>
      </p:sp>
      <p:sp>
        <p:nvSpPr>
          <p:cNvPr id="136199" name="Rectangle 7"/>
          <p:cNvSpPr>
            <a:spLocks noGrp="1" noChangeArrowheads="1"/>
          </p:cNvSpPr>
          <p:nvPr>
            <p:ph type="body" idx="1"/>
          </p:nvPr>
        </p:nvSpPr>
        <p:spPr>
          <a:xfrm>
            <a:off x="396875" y="1362075"/>
            <a:ext cx="8442325" cy="4972050"/>
          </a:xfrm>
        </p:spPr>
        <p:txBody>
          <a:bodyPr/>
          <a:lstStyle/>
          <a:p>
            <a:r>
              <a:rPr lang="en-US" i="1" dirty="0">
                <a:solidFill>
                  <a:srgbClr val="FF0000"/>
                </a:solidFill>
              </a:rPr>
              <a:t>Cache:</a:t>
            </a:r>
            <a:r>
              <a:rPr lang="en-US" i="1" dirty="0"/>
              <a:t> </a:t>
            </a:r>
            <a:r>
              <a:rPr lang="en-US" dirty="0"/>
              <a:t>A smaller, faster storage device that acts as a staging area for a subset of the data in a larger, slower device.</a:t>
            </a:r>
          </a:p>
          <a:p>
            <a:r>
              <a:rPr lang="en-US" dirty="0"/>
              <a:t>Fundamental idea of a memory hierarchy:</a:t>
            </a:r>
          </a:p>
          <a:p>
            <a:pPr lvl="1"/>
            <a:r>
              <a:rPr lang="en-US" dirty="0"/>
              <a:t>For each </a:t>
            </a:r>
            <a:r>
              <a:rPr lang="en-US" dirty="0" err="1"/>
              <a:t>k</a:t>
            </a:r>
            <a:r>
              <a:rPr lang="en-US" dirty="0"/>
              <a:t>, the faster, smaller device at level </a:t>
            </a:r>
            <a:r>
              <a:rPr lang="en-US" dirty="0" err="1"/>
              <a:t>k</a:t>
            </a:r>
            <a:r>
              <a:rPr lang="en-US" dirty="0"/>
              <a:t> serves as a cache for the larger, slower device at level k+1.</a:t>
            </a:r>
          </a:p>
          <a:p>
            <a:r>
              <a:rPr lang="en-US" dirty="0"/>
              <a:t>Why do memory hierarchies work?</a:t>
            </a:r>
          </a:p>
          <a:p>
            <a:pPr lvl="1"/>
            <a:r>
              <a:rPr lang="en-US" dirty="0"/>
              <a:t>Because of locality, programs tend to access the data at level </a:t>
            </a:r>
            <a:r>
              <a:rPr lang="en-US" dirty="0" err="1"/>
              <a:t>k</a:t>
            </a:r>
            <a:r>
              <a:rPr lang="en-US" dirty="0"/>
              <a:t> more often than they access the data at level k+1. </a:t>
            </a:r>
          </a:p>
          <a:p>
            <a:pPr lvl="1"/>
            <a:r>
              <a:rPr lang="en-US" dirty="0"/>
              <a:t>Thus, the storage at level k+1 can be slower, and thus larger and cheaper per bit.</a:t>
            </a:r>
          </a:p>
          <a:p>
            <a:r>
              <a:rPr lang="en-US" i="1" dirty="0">
                <a:solidFill>
                  <a:srgbClr val="FF0000"/>
                </a:solidFill>
              </a:rPr>
              <a:t>Big Idea:  </a:t>
            </a:r>
            <a:r>
              <a:rPr lang="en-US" dirty="0"/>
              <a:t>The memory hierarchy creates a large pool of storage that costs as much as the cheap storage near the bottom, but that serves data to programs at the rate of the fast storage near the top.</a:t>
            </a:r>
          </a:p>
          <a:p>
            <a:pPr lvl="1"/>
            <a:endParaRPr lang="en-US" dirty="0"/>
          </a:p>
          <a:p>
            <a:endParaRPr lang="en-US" dirty="0"/>
          </a:p>
        </p:txBody>
      </p:sp>
      <p:sp>
        <p:nvSpPr>
          <p:cNvPr id="2" name="Rectangle 1">
            <a:extLst>
              <a:ext uri="{FF2B5EF4-FFF2-40B4-BE49-F238E27FC236}">
                <a16:creationId xmlns:a16="http://schemas.microsoft.com/office/drawing/2014/main" id="{67108D7F-6283-6498-4C6D-1EB2C9CFF102}"/>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2D155638-B979-A782-CD7C-1FE020E55A5D}"/>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Up-Down Arrow 34"/>
          <p:cNvSpPr/>
          <p:nvPr/>
        </p:nvSpPr>
        <p:spPr bwMode="auto">
          <a:xfrm>
            <a:off x="3352800" y="2895600"/>
            <a:ext cx="685800" cy="1371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a:endParaRPr lang="en-US" dirty="0">
              <a:latin typeface="Calibri" pitchFamily="34" charset="0"/>
            </a:endParaRPr>
          </a:p>
        </p:txBody>
      </p:sp>
      <p:sp>
        <p:nvSpPr>
          <p:cNvPr id="2" name="Title 1"/>
          <p:cNvSpPr>
            <a:spLocks noGrp="1"/>
          </p:cNvSpPr>
          <p:nvPr>
            <p:ph type="title"/>
          </p:nvPr>
        </p:nvSpPr>
        <p:spPr/>
        <p:txBody>
          <a:bodyPr/>
          <a:lstStyle/>
          <a:p>
            <a:r>
              <a:rPr lang="en-US" dirty="0"/>
              <a:t>General Cache Concepts</a:t>
            </a:r>
          </a:p>
        </p:txBody>
      </p:sp>
      <p:sp>
        <p:nvSpPr>
          <p:cNvPr id="3" name="Rectangle 2"/>
          <p:cNvSpPr/>
          <p:nvPr/>
        </p:nvSpPr>
        <p:spPr bwMode="auto">
          <a:xfrm>
            <a:off x="1905000" y="4267200"/>
            <a:ext cx="3581400" cy="2057400"/>
          </a:xfrm>
          <a:prstGeom prst="rect">
            <a:avLst/>
          </a:prstGeom>
          <a:solidFill>
            <a:srgbClr val="DEDFF5"/>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1800" dirty="0">
              <a:latin typeface="Calibri" pitchFamily="34" charset="0"/>
            </a:endParaRPr>
          </a:p>
        </p:txBody>
      </p:sp>
      <p:sp>
        <p:nvSpPr>
          <p:cNvPr id="4" name="Rectangle 3"/>
          <p:cNvSpPr/>
          <p:nvPr/>
        </p:nvSpPr>
        <p:spPr bwMode="auto">
          <a:xfrm>
            <a:off x="1905000" y="2272391"/>
            <a:ext cx="3581400" cy="6096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5" name="Rectangle 4"/>
          <p:cNvSpPr/>
          <p:nvPr/>
        </p:nvSpPr>
        <p:spPr bwMode="auto">
          <a:xfrm>
            <a:off x="20574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0</a:t>
            </a:r>
          </a:p>
        </p:txBody>
      </p:sp>
      <p:sp>
        <p:nvSpPr>
          <p:cNvPr id="6" name="Rectangle 5"/>
          <p:cNvSpPr/>
          <p:nvPr/>
        </p:nvSpPr>
        <p:spPr bwMode="auto">
          <a:xfrm>
            <a:off x="28956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a:t>
            </a:r>
          </a:p>
        </p:txBody>
      </p:sp>
      <p:sp>
        <p:nvSpPr>
          <p:cNvPr id="7" name="Rectangle 6"/>
          <p:cNvSpPr/>
          <p:nvPr/>
        </p:nvSpPr>
        <p:spPr bwMode="auto">
          <a:xfrm>
            <a:off x="37338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2</a:t>
            </a:r>
          </a:p>
        </p:txBody>
      </p:sp>
      <p:sp>
        <p:nvSpPr>
          <p:cNvPr id="8" name="Rectangle 7"/>
          <p:cNvSpPr/>
          <p:nvPr/>
        </p:nvSpPr>
        <p:spPr bwMode="auto">
          <a:xfrm>
            <a:off x="45720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3</a:t>
            </a:r>
          </a:p>
        </p:txBody>
      </p:sp>
      <p:sp>
        <p:nvSpPr>
          <p:cNvPr id="9" name="Rectangle 8"/>
          <p:cNvSpPr/>
          <p:nvPr/>
        </p:nvSpPr>
        <p:spPr bwMode="auto">
          <a:xfrm>
            <a:off x="20574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4</a:t>
            </a:r>
          </a:p>
        </p:txBody>
      </p:sp>
      <p:sp>
        <p:nvSpPr>
          <p:cNvPr id="10" name="Rectangle 9"/>
          <p:cNvSpPr/>
          <p:nvPr/>
        </p:nvSpPr>
        <p:spPr bwMode="auto">
          <a:xfrm>
            <a:off x="28956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5</a:t>
            </a:r>
          </a:p>
        </p:txBody>
      </p:sp>
      <p:sp>
        <p:nvSpPr>
          <p:cNvPr id="11" name="Rectangle 10"/>
          <p:cNvSpPr/>
          <p:nvPr/>
        </p:nvSpPr>
        <p:spPr bwMode="auto">
          <a:xfrm>
            <a:off x="37338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6</a:t>
            </a:r>
          </a:p>
        </p:txBody>
      </p:sp>
      <p:sp>
        <p:nvSpPr>
          <p:cNvPr id="12" name="Rectangle 11"/>
          <p:cNvSpPr/>
          <p:nvPr/>
        </p:nvSpPr>
        <p:spPr bwMode="auto">
          <a:xfrm>
            <a:off x="45720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7</a:t>
            </a:r>
          </a:p>
        </p:txBody>
      </p:sp>
      <p:sp>
        <p:nvSpPr>
          <p:cNvPr id="13" name="Rectangle 12"/>
          <p:cNvSpPr/>
          <p:nvPr/>
        </p:nvSpPr>
        <p:spPr bwMode="auto">
          <a:xfrm>
            <a:off x="20574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8</a:t>
            </a:r>
          </a:p>
        </p:txBody>
      </p:sp>
      <p:sp>
        <p:nvSpPr>
          <p:cNvPr id="14" name="Rectangle 13"/>
          <p:cNvSpPr/>
          <p:nvPr/>
        </p:nvSpPr>
        <p:spPr bwMode="auto">
          <a:xfrm>
            <a:off x="28956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9</a:t>
            </a:r>
          </a:p>
        </p:txBody>
      </p:sp>
      <p:sp>
        <p:nvSpPr>
          <p:cNvPr id="15" name="Rectangle 14"/>
          <p:cNvSpPr/>
          <p:nvPr/>
        </p:nvSpPr>
        <p:spPr bwMode="auto">
          <a:xfrm>
            <a:off x="37338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10</a:t>
            </a:r>
          </a:p>
        </p:txBody>
      </p:sp>
      <p:sp>
        <p:nvSpPr>
          <p:cNvPr id="16" name="Rectangle 15"/>
          <p:cNvSpPr/>
          <p:nvPr/>
        </p:nvSpPr>
        <p:spPr bwMode="auto">
          <a:xfrm>
            <a:off x="45720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11</a:t>
            </a:r>
          </a:p>
        </p:txBody>
      </p:sp>
      <p:sp>
        <p:nvSpPr>
          <p:cNvPr id="17" name="Rectangle 16"/>
          <p:cNvSpPr/>
          <p:nvPr/>
        </p:nvSpPr>
        <p:spPr bwMode="auto">
          <a:xfrm>
            <a:off x="20574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12</a:t>
            </a:r>
          </a:p>
        </p:txBody>
      </p:sp>
      <p:sp>
        <p:nvSpPr>
          <p:cNvPr id="18" name="Rectangle 17"/>
          <p:cNvSpPr/>
          <p:nvPr/>
        </p:nvSpPr>
        <p:spPr bwMode="auto">
          <a:xfrm>
            <a:off x="28956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13</a:t>
            </a:r>
          </a:p>
        </p:txBody>
      </p:sp>
      <p:sp>
        <p:nvSpPr>
          <p:cNvPr id="19" name="Rectangle 18"/>
          <p:cNvSpPr/>
          <p:nvPr/>
        </p:nvSpPr>
        <p:spPr bwMode="auto">
          <a:xfrm>
            <a:off x="37338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14</a:t>
            </a:r>
          </a:p>
        </p:txBody>
      </p:sp>
      <p:sp>
        <p:nvSpPr>
          <p:cNvPr id="20" name="Rectangle 19"/>
          <p:cNvSpPr/>
          <p:nvPr/>
        </p:nvSpPr>
        <p:spPr bwMode="auto">
          <a:xfrm>
            <a:off x="45720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15</a:t>
            </a:r>
          </a:p>
        </p:txBody>
      </p:sp>
      <p:cxnSp>
        <p:nvCxnSpPr>
          <p:cNvPr id="22" name="Straight Connector 21"/>
          <p:cNvCxnSpPr/>
          <p:nvPr/>
        </p:nvCxnSpPr>
        <p:spPr bwMode="auto">
          <a:xfrm>
            <a:off x="2286000" y="6096000"/>
            <a:ext cx="3048000" cy="1477"/>
          </a:xfrm>
          <a:prstGeom prst="line">
            <a:avLst/>
          </a:prstGeom>
          <a:noFill/>
          <a:ln w="88900" cap="rnd" cmpd="sng" algn="ctr">
            <a:solidFill>
              <a:schemeClr val="tx1"/>
            </a:solidFill>
            <a:prstDash val="sysDot"/>
            <a:round/>
            <a:headEnd type="none" w="med" len="med"/>
            <a:tailEnd type="none" w="med" len="med"/>
          </a:ln>
          <a:effectLst/>
        </p:spPr>
      </p:cxnSp>
      <p:sp>
        <p:nvSpPr>
          <p:cNvPr id="26" name="Rectangle 25"/>
          <p:cNvSpPr/>
          <p:nvPr/>
        </p:nvSpPr>
        <p:spPr bwMode="auto">
          <a:xfrm>
            <a:off x="20574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8</a:t>
            </a:r>
          </a:p>
        </p:txBody>
      </p:sp>
      <p:sp>
        <p:nvSpPr>
          <p:cNvPr id="27" name="Rectangle 26"/>
          <p:cNvSpPr/>
          <p:nvPr/>
        </p:nvSpPr>
        <p:spPr bwMode="auto">
          <a:xfrm>
            <a:off x="28956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9</a:t>
            </a:r>
          </a:p>
        </p:txBody>
      </p:sp>
      <p:sp>
        <p:nvSpPr>
          <p:cNvPr id="28" name="Rectangle 27"/>
          <p:cNvSpPr/>
          <p:nvPr/>
        </p:nvSpPr>
        <p:spPr bwMode="auto">
          <a:xfrm>
            <a:off x="37338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14</a:t>
            </a:r>
          </a:p>
        </p:txBody>
      </p:sp>
      <p:sp>
        <p:nvSpPr>
          <p:cNvPr id="29" name="Rectangle 28"/>
          <p:cNvSpPr/>
          <p:nvPr/>
        </p:nvSpPr>
        <p:spPr bwMode="auto">
          <a:xfrm>
            <a:off x="45720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3</a:t>
            </a:r>
          </a:p>
        </p:txBody>
      </p:sp>
      <p:sp>
        <p:nvSpPr>
          <p:cNvPr id="30" name="TextBox 29"/>
          <p:cNvSpPr txBox="1"/>
          <p:nvPr/>
        </p:nvSpPr>
        <p:spPr>
          <a:xfrm>
            <a:off x="788764" y="2348591"/>
            <a:ext cx="949299" cy="461665"/>
          </a:xfrm>
          <a:prstGeom prst="rect">
            <a:avLst/>
          </a:prstGeom>
          <a:noFill/>
        </p:spPr>
        <p:txBody>
          <a:bodyPr wrap="none" rtlCol="0">
            <a:spAutoFit/>
          </a:bodyPr>
          <a:lstStyle/>
          <a:p>
            <a:r>
              <a:rPr lang="en-US" dirty="0">
                <a:latin typeface="Calibri" pitchFamily="34" charset="0"/>
              </a:rPr>
              <a:t>Cache</a:t>
            </a:r>
          </a:p>
        </p:txBody>
      </p:sp>
      <p:sp>
        <p:nvSpPr>
          <p:cNvPr id="31" name="TextBox 30"/>
          <p:cNvSpPr txBox="1"/>
          <p:nvPr/>
        </p:nvSpPr>
        <p:spPr>
          <a:xfrm>
            <a:off x="457200" y="4343400"/>
            <a:ext cx="1280863" cy="461665"/>
          </a:xfrm>
          <a:prstGeom prst="rect">
            <a:avLst/>
          </a:prstGeom>
          <a:noFill/>
        </p:spPr>
        <p:txBody>
          <a:bodyPr wrap="none" rtlCol="0">
            <a:spAutoFit/>
          </a:bodyPr>
          <a:lstStyle/>
          <a:p>
            <a:r>
              <a:rPr lang="en-US" dirty="0">
                <a:latin typeface="Calibri" pitchFamily="34" charset="0"/>
              </a:rPr>
              <a:t>Memory</a:t>
            </a:r>
          </a:p>
        </p:txBody>
      </p:sp>
      <p:sp>
        <p:nvSpPr>
          <p:cNvPr id="32" name="Text Box 19"/>
          <p:cNvSpPr txBox="1">
            <a:spLocks noChangeArrowheads="1"/>
          </p:cNvSpPr>
          <p:nvPr/>
        </p:nvSpPr>
        <p:spPr bwMode="auto">
          <a:xfrm>
            <a:off x="5635242" y="4147318"/>
            <a:ext cx="3199956" cy="577082"/>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Larger, slower, cheaper memory</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alibri" pitchFamily="34" charset="0"/>
              </a:rPr>
              <a:t>v</a:t>
            </a:r>
            <a:r>
              <a:rPr lang="en-GB" sz="1600" b="1" dirty="0">
                <a:latin typeface="Calibri" pitchFamily="34" charset="0"/>
              </a:rPr>
              <a:t>iewed as partitioned into “blocks”</a:t>
            </a:r>
          </a:p>
        </p:txBody>
      </p:sp>
      <p:sp>
        <p:nvSpPr>
          <p:cNvPr id="33" name="Text Box 22"/>
          <p:cNvSpPr txBox="1">
            <a:spLocks noChangeArrowheads="1"/>
          </p:cNvSpPr>
          <p:nvPr/>
        </p:nvSpPr>
        <p:spPr bwMode="auto">
          <a:xfrm>
            <a:off x="3942800" y="3232918"/>
            <a:ext cx="2839000" cy="577082"/>
          </a:xfrm>
          <a:prstGeom prst="rect">
            <a:avLst/>
          </a:prstGeom>
          <a:noFill/>
          <a:ln w="9525">
            <a:noFill/>
            <a:round/>
            <a:headEnd/>
            <a:tailEnd/>
          </a:ln>
        </p:spPr>
        <p:txBody>
          <a:bodyPr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Data is copied in block-sized transfer units</a:t>
            </a:r>
          </a:p>
        </p:txBody>
      </p:sp>
      <p:sp>
        <p:nvSpPr>
          <p:cNvPr id="34" name="Text Box 29"/>
          <p:cNvSpPr txBox="1">
            <a:spLocks noChangeArrowheads="1"/>
          </p:cNvSpPr>
          <p:nvPr/>
        </p:nvSpPr>
        <p:spPr bwMode="auto">
          <a:xfrm>
            <a:off x="5562600" y="2166311"/>
            <a:ext cx="2930908" cy="818367"/>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Smaller, faster, more expensive</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memory caches a  subset of</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rPr>
              <a:t>the blocks</a:t>
            </a:r>
          </a:p>
        </p:txBody>
      </p:sp>
      <p:sp>
        <p:nvSpPr>
          <p:cNvPr id="37" name="Rectangle 36"/>
          <p:cNvSpPr/>
          <p:nvPr/>
        </p:nvSpPr>
        <p:spPr bwMode="auto">
          <a:xfrm>
            <a:off x="2057400" y="4800600"/>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4</a:t>
            </a:r>
          </a:p>
        </p:txBody>
      </p:sp>
      <p:sp>
        <p:nvSpPr>
          <p:cNvPr id="38" name="Rectangle 37"/>
          <p:cNvSpPr/>
          <p:nvPr/>
        </p:nvSpPr>
        <p:spPr bwMode="auto">
          <a:xfrm>
            <a:off x="2590800" y="3429000"/>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4</a:t>
            </a:r>
          </a:p>
        </p:txBody>
      </p:sp>
      <p:sp>
        <p:nvSpPr>
          <p:cNvPr id="39" name="Rectangle 38"/>
          <p:cNvSpPr/>
          <p:nvPr/>
        </p:nvSpPr>
        <p:spPr bwMode="auto">
          <a:xfrm>
            <a:off x="2057400" y="2424791"/>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4</a:t>
            </a:r>
          </a:p>
        </p:txBody>
      </p:sp>
      <p:sp>
        <p:nvSpPr>
          <p:cNvPr id="40" name="Rectangle 39"/>
          <p:cNvSpPr/>
          <p:nvPr/>
        </p:nvSpPr>
        <p:spPr bwMode="auto">
          <a:xfrm>
            <a:off x="3733800" y="5181600"/>
            <a:ext cx="762000" cy="30480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10</a:t>
            </a:r>
          </a:p>
        </p:txBody>
      </p:sp>
      <p:sp>
        <p:nvSpPr>
          <p:cNvPr id="41" name="Rectangle 40"/>
          <p:cNvSpPr/>
          <p:nvPr/>
        </p:nvSpPr>
        <p:spPr bwMode="auto">
          <a:xfrm>
            <a:off x="2590800" y="3429000"/>
            <a:ext cx="762000" cy="30480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10</a:t>
            </a:r>
          </a:p>
        </p:txBody>
      </p:sp>
      <p:sp>
        <p:nvSpPr>
          <p:cNvPr id="42" name="Rectangle 41"/>
          <p:cNvSpPr/>
          <p:nvPr/>
        </p:nvSpPr>
        <p:spPr bwMode="auto">
          <a:xfrm>
            <a:off x="3733800" y="2424791"/>
            <a:ext cx="762000" cy="304800"/>
          </a:xfrm>
          <a:prstGeom prst="rect">
            <a:avLst/>
          </a:prstGeom>
          <a:solidFill>
            <a:srgbClr val="A9E39D"/>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10</a:t>
            </a:r>
          </a:p>
        </p:txBody>
      </p:sp>
      <p:sp>
        <p:nvSpPr>
          <p:cNvPr id="21" name="Rectangle 20">
            <a:extLst>
              <a:ext uri="{FF2B5EF4-FFF2-40B4-BE49-F238E27FC236}">
                <a16:creationId xmlns:a16="http://schemas.microsoft.com/office/drawing/2014/main" id="{6F2EB182-A558-83E2-07DB-193606A10199}"/>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23" name="Rectangle 22">
            <a:extLst>
              <a:ext uri="{FF2B5EF4-FFF2-40B4-BE49-F238E27FC236}">
                <a16:creationId xmlns:a16="http://schemas.microsoft.com/office/drawing/2014/main" id="{893EE2C5-FA3A-7E8F-A9E7-FAEE8404444D}"/>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3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7" grpId="0" animBg="1"/>
      <p:bldP spid="38" grpId="0" animBg="1"/>
      <p:bldP spid="38" grpId="1" animBg="1"/>
      <p:bldP spid="39" grpId="0" animBg="1"/>
      <p:bldP spid="40" grpId="0" animBg="1"/>
      <p:bldP spid="41" grpId="0" animBg="1"/>
      <p:bldP spid="41" grpId="1" animBg="1"/>
      <p:bldP spid="4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Up-Down Arrow 42"/>
          <p:cNvSpPr/>
          <p:nvPr/>
        </p:nvSpPr>
        <p:spPr bwMode="auto">
          <a:xfrm>
            <a:off x="3352800" y="1295400"/>
            <a:ext cx="685800" cy="990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a:endParaRPr lang="en-US" dirty="0">
              <a:latin typeface="Calibri" pitchFamily="34" charset="0"/>
            </a:endParaRPr>
          </a:p>
        </p:txBody>
      </p:sp>
      <p:sp>
        <p:nvSpPr>
          <p:cNvPr id="35" name="Up-Down Arrow 34"/>
          <p:cNvSpPr/>
          <p:nvPr/>
        </p:nvSpPr>
        <p:spPr bwMode="auto">
          <a:xfrm>
            <a:off x="3352800" y="2895600"/>
            <a:ext cx="685800" cy="1371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a:endParaRPr lang="en-US" dirty="0">
              <a:latin typeface="Calibri" pitchFamily="34" charset="0"/>
            </a:endParaRPr>
          </a:p>
        </p:txBody>
      </p:sp>
      <p:sp>
        <p:nvSpPr>
          <p:cNvPr id="2" name="Title 1"/>
          <p:cNvSpPr>
            <a:spLocks noGrp="1"/>
          </p:cNvSpPr>
          <p:nvPr>
            <p:ph type="title"/>
          </p:nvPr>
        </p:nvSpPr>
        <p:spPr/>
        <p:txBody>
          <a:bodyPr/>
          <a:lstStyle/>
          <a:p>
            <a:r>
              <a:rPr lang="en-US" dirty="0"/>
              <a:t>General Cache Concepts: Hit</a:t>
            </a:r>
          </a:p>
        </p:txBody>
      </p:sp>
      <p:sp>
        <p:nvSpPr>
          <p:cNvPr id="3" name="Rectangle 2"/>
          <p:cNvSpPr/>
          <p:nvPr/>
        </p:nvSpPr>
        <p:spPr bwMode="auto">
          <a:xfrm>
            <a:off x="1905000" y="4267200"/>
            <a:ext cx="3581400" cy="20574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1800" dirty="0">
              <a:latin typeface="Calibri" pitchFamily="34" charset="0"/>
            </a:endParaRPr>
          </a:p>
        </p:txBody>
      </p:sp>
      <p:sp>
        <p:nvSpPr>
          <p:cNvPr id="4" name="Rectangle 3"/>
          <p:cNvSpPr/>
          <p:nvPr/>
        </p:nvSpPr>
        <p:spPr bwMode="auto">
          <a:xfrm>
            <a:off x="1905000" y="2272391"/>
            <a:ext cx="3581400" cy="6096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5" name="Rectangle 4"/>
          <p:cNvSpPr/>
          <p:nvPr/>
        </p:nvSpPr>
        <p:spPr bwMode="auto">
          <a:xfrm>
            <a:off x="20574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0</a:t>
            </a:r>
          </a:p>
        </p:txBody>
      </p:sp>
      <p:sp>
        <p:nvSpPr>
          <p:cNvPr id="6" name="Rectangle 5"/>
          <p:cNvSpPr/>
          <p:nvPr/>
        </p:nvSpPr>
        <p:spPr bwMode="auto">
          <a:xfrm>
            <a:off x="28956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a:t>
            </a:r>
          </a:p>
        </p:txBody>
      </p:sp>
      <p:sp>
        <p:nvSpPr>
          <p:cNvPr id="7" name="Rectangle 6"/>
          <p:cNvSpPr/>
          <p:nvPr/>
        </p:nvSpPr>
        <p:spPr bwMode="auto">
          <a:xfrm>
            <a:off x="37338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2</a:t>
            </a:r>
          </a:p>
        </p:txBody>
      </p:sp>
      <p:sp>
        <p:nvSpPr>
          <p:cNvPr id="8" name="Rectangle 7"/>
          <p:cNvSpPr/>
          <p:nvPr/>
        </p:nvSpPr>
        <p:spPr bwMode="auto">
          <a:xfrm>
            <a:off x="45720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3</a:t>
            </a:r>
          </a:p>
        </p:txBody>
      </p:sp>
      <p:sp>
        <p:nvSpPr>
          <p:cNvPr id="9" name="Rectangle 8"/>
          <p:cNvSpPr/>
          <p:nvPr/>
        </p:nvSpPr>
        <p:spPr bwMode="auto">
          <a:xfrm>
            <a:off x="20574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4</a:t>
            </a:r>
          </a:p>
        </p:txBody>
      </p:sp>
      <p:sp>
        <p:nvSpPr>
          <p:cNvPr id="10" name="Rectangle 9"/>
          <p:cNvSpPr/>
          <p:nvPr/>
        </p:nvSpPr>
        <p:spPr bwMode="auto">
          <a:xfrm>
            <a:off x="28956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5</a:t>
            </a:r>
          </a:p>
        </p:txBody>
      </p:sp>
      <p:sp>
        <p:nvSpPr>
          <p:cNvPr id="11" name="Rectangle 10"/>
          <p:cNvSpPr/>
          <p:nvPr/>
        </p:nvSpPr>
        <p:spPr bwMode="auto">
          <a:xfrm>
            <a:off x="37338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6</a:t>
            </a:r>
          </a:p>
        </p:txBody>
      </p:sp>
      <p:sp>
        <p:nvSpPr>
          <p:cNvPr id="12" name="Rectangle 11"/>
          <p:cNvSpPr/>
          <p:nvPr/>
        </p:nvSpPr>
        <p:spPr bwMode="auto">
          <a:xfrm>
            <a:off x="45720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7</a:t>
            </a:r>
          </a:p>
        </p:txBody>
      </p:sp>
      <p:sp>
        <p:nvSpPr>
          <p:cNvPr id="13" name="Rectangle 12"/>
          <p:cNvSpPr/>
          <p:nvPr/>
        </p:nvSpPr>
        <p:spPr bwMode="auto">
          <a:xfrm>
            <a:off x="20574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8</a:t>
            </a:r>
          </a:p>
        </p:txBody>
      </p:sp>
      <p:sp>
        <p:nvSpPr>
          <p:cNvPr id="14" name="Rectangle 13"/>
          <p:cNvSpPr/>
          <p:nvPr/>
        </p:nvSpPr>
        <p:spPr bwMode="auto">
          <a:xfrm>
            <a:off x="28956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9</a:t>
            </a:r>
          </a:p>
        </p:txBody>
      </p:sp>
      <p:sp>
        <p:nvSpPr>
          <p:cNvPr id="15" name="Rectangle 14"/>
          <p:cNvSpPr/>
          <p:nvPr/>
        </p:nvSpPr>
        <p:spPr bwMode="auto">
          <a:xfrm>
            <a:off x="37338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10</a:t>
            </a:r>
          </a:p>
        </p:txBody>
      </p:sp>
      <p:sp>
        <p:nvSpPr>
          <p:cNvPr id="16" name="Rectangle 15"/>
          <p:cNvSpPr/>
          <p:nvPr/>
        </p:nvSpPr>
        <p:spPr bwMode="auto">
          <a:xfrm>
            <a:off x="45720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11</a:t>
            </a:r>
          </a:p>
        </p:txBody>
      </p:sp>
      <p:sp>
        <p:nvSpPr>
          <p:cNvPr id="17" name="Rectangle 16"/>
          <p:cNvSpPr/>
          <p:nvPr/>
        </p:nvSpPr>
        <p:spPr bwMode="auto">
          <a:xfrm>
            <a:off x="20574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12</a:t>
            </a:r>
          </a:p>
        </p:txBody>
      </p:sp>
      <p:sp>
        <p:nvSpPr>
          <p:cNvPr id="18" name="Rectangle 17"/>
          <p:cNvSpPr/>
          <p:nvPr/>
        </p:nvSpPr>
        <p:spPr bwMode="auto">
          <a:xfrm>
            <a:off x="28956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13</a:t>
            </a:r>
          </a:p>
        </p:txBody>
      </p:sp>
      <p:sp>
        <p:nvSpPr>
          <p:cNvPr id="19" name="Rectangle 18"/>
          <p:cNvSpPr/>
          <p:nvPr/>
        </p:nvSpPr>
        <p:spPr bwMode="auto">
          <a:xfrm>
            <a:off x="37338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14</a:t>
            </a:r>
          </a:p>
        </p:txBody>
      </p:sp>
      <p:sp>
        <p:nvSpPr>
          <p:cNvPr id="20" name="Rectangle 19"/>
          <p:cNvSpPr/>
          <p:nvPr/>
        </p:nvSpPr>
        <p:spPr bwMode="auto">
          <a:xfrm>
            <a:off x="45720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15</a:t>
            </a:r>
          </a:p>
        </p:txBody>
      </p:sp>
      <p:cxnSp>
        <p:nvCxnSpPr>
          <p:cNvPr id="22" name="Straight Connector 21"/>
          <p:cNvCxnSpPr/>
          <p:nvPr/>
        </p:nvCxnSpPr>
        <p:spPr bwMode="auto">
          <a:xfrm>
            <a:off x="2286000" y="6096000"/>
            <a:ext cx="3048000" cy="1477"/>
          </a:xfrm>
          <a:prstGeom prst="line">
            <a:avLst/>
          </a:prstGeom>
          <a:noFill/>
          <a:ln w="88900" cap="rnd" cmpd="sng" algn="ctr">
            <a:solidFill>
              <a:schemeClr val="tx1"/>
            </a:solidFill>
            <a:prstDash val="sysDot"/>
            <a:round/>
            <a:headEnd type="none" w="med" len="med"/>
            <a:tailEnd type="none" w="med" len="med"/>
          </a:ln>
          <a:effectLst/>
        </p:spPr>
      </p:cxnSp>
      <p:sp>
        <p:nvSpPr>
          <p:cNvPr id="26" name="Rectangle 25"/>
          <p:cNvSpPr/>
          <p:nvPr/>
        </p:nvSpPr>
        <p:spPr bwMode="auto">
          <a:xfrm>
            <a:off x="20574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8</a:t>
            </a:r>
          </a:p>
        </p:txBody>
      </p:sp>
      <p:sp>
        <p:nvSpPr>
          <p:cNvPr id="27" name="Rectangle 26"/>
          <p:cNvSpPr/>
          <p:nvPr/>
        </p:nvSpPr>
        <p:spPr bwMode="auto">
          <a:xfrm>
            <a:off x="28956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9</a:t>
            </a:r>
          </a:p>
        </p:txBody>
      </p:sp>
      <p:sp>
        <p:nvSpPr>
          <p:cNvPr id="28" name="Rectangle 27"/>
          <p:cNvSpPr/>
          <p:nvPr/>
        </p:nvSpPr>
        <p:spPr bwMode="auto">
          <a:xfrm>
            <a:off x="37338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14</a:t>
            </a:r>
          </a:p>
        </p:txBody>
      </p:sp>
      <p:sp>
        <p:nvSpPr>
          <p:cNvPr id="29" name="Rectangle 28"/>
          <p:cNvSpPr/>
          <p:nvPr/>
        </p:nvSpPr>
        <p:spPr bwMode="auto">
          <a:xfrm>
            <a:off x="45720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3</a:t>
            </a:r>
          </a:p>
        </p:txBody>
      </p:sp>
      <p:sp>
        <p:nvSpPr>
          <p:cNvPr id="30" name="TextBox 29"/>
          <p:cNvSpPr txBox="1"/>
          <p:nvPr/>
        </p:nvSpPr>
        <p:spPr>
          <a:xfrm>
            <a:off x="788764" y="2348591"/>
            <a:ext cx="949299" cy="461665"/>
          </a:xfrm>
          <a:prstGeom prst="rect">
            <a:avLst/>
          </a:prstGeom>
          <a:noFill/>
        </p:spPr>
        <p:txBody>
          <a:bodyPr wrap="none" rtlCol="0">
            <a:spAutoFit/>
          </a:bodyPr>
          <a:lstStyle/>
          <a:p>
            <a:r>
              <a:rPr lang="en-US" dirty="0">
                <a:latin typeface="Calibri" pitchFamily="34" charset="0"/>
              </a:rPr>
              <a:t>Cache</a:t>
            </a:r>
          </a:p>
        </p:txBody>
      </p:sp>
      <p:sp>
        <p:nvSpPr>
          <p:cNvPr id="31" name="TextBox 30"/>
          <p:cNvSpPr txBox="1"/>
          <p:nvPr/>
        </p:nvSpPr>
        <p:spPr>
          <a:xfrm>
            <a:off x="457200" y="4343400"/>
            <a:ext cx="1280863" cy="461665"/>
          </a:xfrm>
          <a:prstGeom prst="rect">
            <a:avLst/>
          </a:prstGeom>
          <a:noFill/>
        </p:spPr>
        <p:txBody>
          <a:bodyPr wrap="none" rtlCol="0">
            <a:spAutoFit/>
          </a:bodyPr>
          <a:lstStyle/>
          <a:p>
            <a:r>
              <a:rPr lang="en-US" dirty="0">
                <a:latin typeface="Calibri" pitchFamily="34" charset="0"/>
              </a:rPr>
              <a:t>Memory</a:t>
            </a:r>
          </a:p>
        </p:txBody>
      </p:sp>
      <p:sp>
        <p:nvSpPr>
          <p:cNvPr id="44" name="Text Box 29"/>
          <p:cNvSpPr txBox="1">
            <a:spLocks noChangeArrowheads="1"/>
          </p:cNvSpPr>
          <p:nvPr/>
        </p:nvSpPr>
        <p:spPr bwMode="auto">
          <a:xfrm>
            <a:off x="5919759" y="1580883"/>
            <a:ext cx="2826906" cy="396135"/>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Data in block b is needed</a:t>
            </a:r>
          </a:p>
        </p:txBody>
      </p:sp>
      <p:sp>
        <p:nvSpPr>
          <p:cNvPr id="46" name="Rectangle 45"/>
          <p:cNvSpPr/>
          <p:nvPr/>
        </p:nvSpPr>
        <p:spPr>
          <a:xfrm>
            <a:off x="3997173" y="1619517"/>
            <a:ext cx="1184427" cy="338554"/>
          </a:xfrm>
          <a:prstGeom prst="rect">
            <a:avLst/>
          </a:prstGeom>
        </p:spPr>
        <p:txBody>
          <a:bodyPr wrap="none">
            <a:spAutoFit/>
          </a:bodyPr>
          <a:lstStyle/>
          <a:p>
            <a:pPr algn="ctr"/>
            <a:r>
              <a:rPr lang="en-US" sz="1600" dirty="0">
                <a:latin typeface="Calibri" pitchFamily="34" charset="0"/>
              </a:rPr>
              <a:t>Request: 14</a:t>
            </a:r>
          </a:p>
        </p:txBody>
      </p:sp>
      <p:sp>
        <p:nvSpPr>
          <p:cNvPr id="47" name="Rectangle 46"/>
          <p:cNvSpPr/>
          <p:nvPr/>
        </p:nvSpPr>
        <p:spPr bwMode="auto">
          <a:xfrm>
            <a:off x="3733800" y="2425522"/>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14</a:t>
            </a:r>
          </a:p>
        </p:txBody>
      </p:sp>
      <p:sp>
        <p:nvSpPr>
          <p:cNvPr id="48" name="Text Box 29"/>
          <p:cNvSpPr txBox="1">
            <a:spLocks noChangeArrowheads="1"/>
          </p:cNvSpPr>
          <p:nvPr/>
        </p:nvSpPr>
        <p:spPr bwMode="auto">
          <a:xfrm>
            <a:off x="5936094" y="2209800"/>
            <a:ext cx="2154670" cy="697756"/>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b is in cache:</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dirty="0">
                <a:solidFill>
                  <a:srgbClr val="C00000"/>
                </a:solidFill>
                <a:latin typeface="Calibri" pitchFamily="34" charset="0"/>
              </a:rPr>
              <a:t>Hit!</a:t>
            </a:r>
            <a:endParaRPr lang="en-GB" sz="2000" b="1" i="1" dirty="0">
              <a:solidFill>
                <a:srgbClr val="C00000"/>
              </a:solidFill>
              <a:latin typeface="Calibri" pitchFamily="34" charset="0"/>
            </a:endParaRPr>
          </a:p>
        </p:txBody>
      </p:sp>
      <p:sp>
        <p:nvSpPr>
          <p:cNvPr id="21" name="Rectangle 20">
            <a:extLst>
              <a:ext uri="{FF2B5EF4-FFF2-40B4-BE49-F238E27FC236}">
                <a16:creationId xmlns:a16="http://schemas.microsoft.com/office/drawing/2014/main" id="{5974239D-6242-E241-142F-502E1EAC79BF}"/>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23" name="Rectangle 22">
            <a:extLst>
              <a:ext uri="{FF2B5EF4-FFF2-40B4-BE49-F238E27FC236}">
                <a16:creationId xmlns:a16="http://schemas.microsoft.com/office/drawing/2014/main" id="{3E1D3F8B-E981-5725-4AE6-605E1C91C008}"/>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0-#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p:bldP spid="47" grpId="0" animBg="1"/>
      <p:bldP spid="4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Up-Down Arrow 42"/>
          <p:cNvSpPr/>
          <p:nvPr/>
        </p:nvSpPr>
        <p:spPr bwMode="auto">
          <a:xfrm>
            <a:off x="3352800" y="1295400"/>
            <a:ext cx="685800" cy="990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a:endParaRPr lang="en-US" dirty="0">
              <a:latin typeface="Calibri" pitchFamily="34" charset="0"/>
            </a:endParaRPr>
          </a:p>
        </p:txBody>
      </p:sp>
      <p:sp>
        <p:nvSpPr>
          <p:cNvPr id="35" name="Up-Down Arrow 34"/>
          <p:cNvSpPr/>
          <p:nvPr/>
        </p:nvSpPr>
        <p:spPr bwMode="auto">
          <a:xfrm>
            <a:off x="3352800" y="2895600"/>
            <a:ext cx="685800" cy="1371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a:endParaRPr lang="en-US" dirty="0">
              <a:latin typeface="Calibri" pitchFamily="34" charset="0"/>
            </a:endParaRPr>
          </a:p>
        </p:txBody>
      </p:sp>
      <p:sp>
        <p:nvSpPr>
          <p:cNvPr id="2" name="Title 1"/>
          <p:cNvSpPr>
            <a:spLocks noGrp="1"/>
          </p:cNvSpPr>
          <p:nvPr>
            <p:ph type="title"/>
          </p:nvPr>
        </p:nvSpPr>
        <p:spPr/>
        <p:txBody>
          <a:bodyPr/>
          <a:lstStyle/>
          <a:p>
            <a:r>
              <a:rPr lang="en-US" dirty="0"/>
              <a:t>General Cache Concepts: Miss</a:t>
            </a:r>
          </a:p>
        </p:txBody>
      </p:sp>
      <p:sp>
        <p:nvSpPr>
          <p:cNvPr id="3" name="Rectangle 2"/>
          <p:cNvSpPr/>
          <p:nvPr/>
        </p:nvSpPr>
        <p:spPr bwMode="auto">
          <a:xfrm>
            <a:off x="1905000" y="4267200"/>
            <a:ext cx="3581400" cy="20574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1800" dirty="0">
              <a:latin typeface="Calibri" pitchFamily="34" charset="0"/>
            </a:endParaRPr>
          </a:p>
        </p:txBody>
      </p:sp>
      <p:sp>
        <p:nvSpPr>
          <p:cNvPr id="4" name="Rectangle 3"/>
          <p:cNvSpPr/>
          <p:nvPr/>
        </p:nvSpPr>
        <p:spPr bwMode="auto">
          <a:xfrm>
            <a:off x="1905000" y="2272391"/>
            <a:ext cx="3581400" cy="6096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a:latin typeface="Calibri" pitchFamily="34" charset="0"/>
            </a:endParaRPr>
          </a:p>
        </p:txBody>
      </p:sp>
      <p:sp>
        <p:nvSpPr>
          <p:cNvPr id="5" name="Rectangle 4"/>
          <p:cNvSpPr/>
          <p:nvPr/>
        </p:nvSpPr>
        <p:spPr bwMode="auto">
          <a:xfrm>
            <a:off x="20574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0</a:t>
            </a:r>
          </a:p>
        </p:txBody>
      </p:sp>
      <p:sp>
        <p:nvSpPr>
          <p:cNvPr id="6" name="Rectangle 5"/>
          <p:cNvSpPr/>
          <p:nvPr/>
        </p:nvSpPr>
        <p:spPr bwMode="auto">
          <a:xfrm>
            <a:off x="28956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a:t>
            </a:r>
          </a:p>
        </p:txBody>
      </p:sp>
      <p:sp>
        <p:nvSpPr>
          <p:cNvPr id="7" name="Rectangle 6"/>
          <p:cNvSpPr/>
          <p:nvPr/>
        </p:nvSpPr>
        <p:spPr bwMode="auto">
          <a:xfrm>
            <a:off x="37338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2</a:t>
            </a:r>
          </a:p>
        </p:txBody>
      </p:sp>
      <p:sp>
        <p:nvSpPr>
          <p:cNvPr id="8" name="Rectangle 7"/>
          <p:cNvSpPr/>
          <p:nvPr/>
        </p:nvSpPr>
        <p:spPr bwMode="auto">
          <a:xfrm>
            <a:off x="45720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3</a:t>
            </a:r>
          </a:p>
        </p:txBody>
      </p:sp>
      <p:sp>
        <p:nvSpPr>
          <p:cNvPr id="9" name="Rectangle 8"/>
          <p:cNvSpPr/>
          <p:nvPr/>
        </p:nvSpPr>
        <p:spPr bwMode="auto">
          <a:xfrm>
            <a:off x="20574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4</a:t>
            </a:r>
          </a:p>
        </p:txBody>
      </p:sp>
      <p:sp>
        <p:nvSpPr>
          <p:cNvPr id="10" name="Rectangle 9"/>
          <p:cNvSpPr/>
          <p:nvPr/>
        </p:nvSpPr>
        <p:spPr bwMode="auto">
          <a:xfrm>
            <a:off x="28956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5</a:t>
            </a:r>
          </a:p>
        </p:txBody>
      </p:sp>
      <p:sp>
        <p:nvSpPr>
          <p:cNvPr id="11" name="Rectangle 10"/>
          <p:cNvSpPr/>
          <p:nvPr/>
        </p:nvSpPr>
        <p:spPr bwMode="auto">
          <a:xfrm>
            <a:off x="37338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6</a:t>
            </a:r>
          </a:p>
        </p:txBody>
      </p:sp>
      <p:sp>
        <p:nvSpPr>
          <p:cNvPr id="12" name="Rectangle 11"/>
          <p:cNvSpPr/>
          <p:nvPr/>
        </p:nvSpPr>
        <p:spPr bwMode="auto">
          <a:xfrm>
            <a:off x="45720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7</a:t>
            </a:r>
          </a:p>
        </p:txBody>
      </p:sp>
      <p:sp>
        <p:nvSpPr>
          <p:cNvPr id="13" name="Rectangle 12"/>
          <p:cNvSpPr/>
          <p:nvPr/>
        </p:nvSpPr>
        <p:spPr bwMode="auto">
          <a:xfrm>
            <a:off x="20574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8</a:t>
            </a:r>
          </a:p>
        </p:txBody>
      </p:sp>
      <p:sp>
        <p:nvSpPr>
          <p:cNvPr id="14" name="Rectangle 13"/>
          <p:cNvSpPr/>
          <p:nvPr/>
        </p:nvSpPr>
        <p:spPr bwMode="auto">
          <a:xfrm>
            <a:off x="28956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9</a:t>
            </a:r>
          </a:p>
        </p:txBody>
      </p:sp>
      <p:sp>
        <p:nvSpPr>
          <p:cNvPr id="15" name="Rectangle 14"/>
          <p:cNvSpPr/>
          <p:nvPr/>
        </p:nvSpPr>
        <p:spPr bwMode="auto">
          <a:xfrm>
            <a:off x="37338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10</a:t>
            </a:r>
          </a:p>
        </p:txBody>
      </p:sp>
      <p:sp>
        <p:nvSpPr>
          <p:cNvPr id="16" name="Rectangle 15"/>
          <p:cNvSpPr/>
          <p:nvPr/>
        </p:nvSpPr>
        <p:spPr bwMode="auto">
          <a:xfrm>
            <a:off x="45720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11</a:t>
            </a:r>
          </a:p>
        </p:txBody>
      </p:sp>
      <p:sp>
        <p:nvSpPr>
          <p:cNvPr id="17" name="Rectangle 16"/>
          <p:cNvSpPr/>
          <p:nvPr/>
        </p:nvSpPr>
        <p:spPr bwMode="auto">
          <a:xfrm>
            <a:off x="20574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12</a:t>
            </a:r>
          </a:p>
        </p:txBody>
      </p:sp>
      <p:sp>
        <p:nvSpPr>
          <p:cNvPr id="18" name="Rectangle 17"/>
          <p:cNvSpPr/>
          <p:nvPr/>
        </p:nvSpPr>
        <p:spPr bwMode="auto">
          <a:xfrm>
            <a:off x="28956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13</a:t>
            </a:r>
          </a:p>
        </p:txBody>
      </p:sp>
      <p:sp>
        <p:nvSpPr>
          <p:cNvPr id="19" name="Rectangle 18"/>
          <p:cNvSpPr/>
          <p:nvPr/>
        </p:nvSpPr>
        <p:spPr bwMode="auto">
          <a:xfrm>
            <a:off x="37338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14</a:t>
            </a:r>
          </a:p>
        </p:txBody>
      </p:sp>
      <p:sp>
        <p:nvSpPr>
          <p:cNvPr id="20" name="Rectangle 19"/>
          <p:cNvSpPr/>
          <p:nvPr/>
        </p:nvSpPr>
        <p:spPr bwMode="auto">
          <a:xfrm>
            <a:off x="45720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15</a:t>
            </a:r>
          </a:p>
        </p:txBody>
      </p:sp>
      <p:cxnSp>
        <p:nvCxnSpPr>
          <p:cNvPr id="22" name="Straight Connector 21"/>
          <p:cNvCxnSpPr/>
          <p:nvPr/>
        </p:nvCxnSpPr>
        <p:spPr bwMode="auto">
          <a:xfrm>
            <a:off x="2286000" y="6096000"/>
            <a:ext cx="3048000" cy="1477"/>
          </a:xfrm>
          <a:prstGeom prst="line">
            <a:avLst/>
          </a:prstGeom>
          <a:noFill/>
          <a:ln w="88900" cap="rnd" cmpd="sng" algn="ctr">
            <a:solidFill>
              <a:schemeClr val="tx1"/>
            </a:solidFill>
            <a:prstDash val="sysDot"/>
            <a:round/>
            <a:headEnd type="none" w="med" len="med"/>
            <a:tailEnd type="none" w="med" len="med"/>
          </a:ln>
          <a:effectLst/>
        </p:spPr>
      </p:cxnSp>
      <p:sp>
        <p:nvSpPr>
          <p:cNvPr id="26" name="Rectangle 25"/>
          <p:cNvSpPr/>
          <p:nvPr/>
        </p:nvSpPr>
        <p:spPr bwMode="auto">
          <a:xfrm>
            <a:off x="20574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8</a:t>
            </a:r>
          </a:p>
        </p:txBody>
      </p:sp>
      <p:sp>
        <p:nvSpPr>
          <p:cNvPr id="27" name="Rectangle 26"/>
          <p:cNvSpPr/>
          <p:nvPr/>
        </p:nvSpPr>
        <p:spPr bwMode="auto">
          <a:xfrm>
            <a:off x="28956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9</a:t>
            </a:r>
          </a:p>
        </p:txBody>
      </p:sp>
      <p:sp>
        <p:nvSpPr>
          <p:cNvPr id="28" name="Rectangle 27"/>
          <p:cNvSpPr/>
          <p:nvPr/>
        </p:nvSpPr>
        <p:spPr bwMode="auto">
          <a:xfrm>
            <a:off x="37338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14</a:t>
            </a:r>
          </a:p>
        </p:txBody>
      </p:sp>
      <p:sp>
        <p:nvSpPr>
          <p:cNvPr id="29" name="Rectangle 28"/>
          <p:cNvSpPr/>
          <p:nvPr/>
        </p:nvSpPr>
        <p:spPr bwMode="auto">
          <a:xfrm>
            <a:off x="4572000" y="2424791"/>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3</a:t>
            </a:r>
          </a:p>
        </p:txBody>
      </p:sp>
      <p:sp>
        <p:nvSpPr>
          <p:cNvPr id="30" name="TextBox 29"/>
          <p:cNvSpPr txBox="1"/>
          <p:nvPr/>
        </p:nvSpPr>
        <p:spPr>
          <a:xfrm>
            <a:off x="788764" y="2348591"/>
            <a:ext cx="949299" cy="461665"/>
          </a:xfrm>
          <a:prstGeom prst="rect">
            <a:avLst/>
          </a:prstGeom>
          <a:noFill/>
        </p:spPr>
        <p:txBody>
          <a:bodyPr wrap="none" rtlCol="0">
            <a:spAutoFit/>
          </a:bodyPr>
          <a:lstStyle/>
          <a:p>
            <a:r>
              <a:rPr lang="en-US" dirty="0">
                <a:latin typeface="Calibri" pitchFamily="34" charset="0"/>
              </a:rPr>
              <a:t>Cache</a:t>
            </a:r>
          </a:p>
        </p:txBody>
      </p:sp>
      <p:sp>
        <p:nvSpPr>
          <p:cNvPr id="31" name="TextBox 30"/>
          <p:cNvSpPr txBox="1"/>
          <p:nvPr/>
        </p:nvSpPr>
        <p:spPr>
          <a:xfrm>
            <a:off x="457200" y="4343400"/>
            <a:ext cx="1280863" cy="461665"/>
          </a:xfrm>
          <a:prstGeom prst="rect">
            <a:avLst/>
          </a:prstGeom>
          <a:noFill/>
        </p:spPr>
        <p:txBody>
          <a:bodyPr wrap="none" rtlCol="0">
            <a:spAutoFit/>
          </a:bodyPr>
          <a:lstStyle/>
          <a:p>
            <a:r>
              <a:rPr lang="en-US" dirty="0">
                <a:latin typeface="Calibri" pitchFamily="34" charset="0"/>
              </a:rPr>
              <a:t>Memory</a:t>
            </a:r>
          </a:p>
        </p:txBody>
      </p:sp>
      <p:sp>
        <p:nvSpPr>
          <p:cNvPr id="44" name="Text Box 29"/>
          <p:cNvSpPr txBox="1">
            <a:spLocks noChangeArrowheads="1"/>
          </p:cNvSpPr>
          <p:nvPr/>
        </p:nvSpPr>
        <p:spPr bwMode="auto">
          <a:xfrm>
            <a:off x="5919759" y="1580883"/>
            <a:ext cx="2826906" cy="396135"/>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Data in block b is needed</a:t>
            </a:r>
          </a:p>
        </p:txBody>
      </p:sp>
      <p:sp>
        <p:nvSpPr>
          <p:cNvPr id="46" name="Rectangle 45"/>
          <p:cNvSpPr/>
          <p:nvPr/>
        </p:nvSpPr>
        <p:spPr>
          <a:xfrm>
            <a:off x="3997173" y="1619517"/>
            <a:ext cx="1184428" cy="338554"/>
          </a:xfrm>
          <a:prstGeom prst="rect">
            <a:avLst/>
          </a:prstGeom>
        </p:spPr>
        <p:txBody>
          <a:bodyPr wrap="none">
            <a:spAutoFit/>
          </a:bodyPr>
          <a:lstStyle/>
          <a:p>
            <a:pPr algn="ctr"/>
            <a:r>
              <a:rPr lang="en-US" sz="1600" dirty="0">
                <a:latin typeface="Calibri" pitchFamily="34" charset="0"/>
              </a:rPr>
              <a:t>Request: 12</a:t>
            </a:r>
          </a:p>
        </p:txBody>
      </p:sp>
      <p:sp>
        <p:nvSpPr>
          <p:cNvPr id="48" name="Text Box 29"/>
          <p:cNvSpPr txBox="1">
            <a:spLocks noChangeArrowheads="1"/>
          </p:cNvSpPr>
          <p:nvPr/>
        </p:nvSpPr>
        <p:spPr bwMode="auto">
          <a:xfrm>
            <a:off x="5936094" y="2209800"/>
            <a:ext cx="2569847" cy="697756"/>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b is not in cache:</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solidFill>
                  <a:srgbClr val="C00000"/>
                </a:solidFill>
                <a:latin typeface="Calibri" pitchFamily="34" charset="0"/>
              </a:rPr>
              <a:t>Miss!</a:t>
            </a:r>
          </a:p>
        </p:txBody>
      </p:sp>
      <p:sp>
        <p:nvSpPr>
          <p:cNvPr id="34" name="Text Box 29"/>
          <p:cNvSpPr txBox="1">
            <a:spLocks noChangeArrowheads="1"/>
          </p:cNvSpPr>
          <p:nvPr/>
        </p:nvSpPr>
        <p:spPr bwMode="auto">
          <a:xfrm>
            <a:off x="5943600" y="3200400"/>
            <a:ext cx="2585173" cy="697756"/>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b is fetched from</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dirty="0">
                <a:latin typeface="Calibri" pitchFamily="34" charset="0"/>
              </a:rPr>
              <a:t>memory</a:t>
            </a:r>
            <a:endParaRPr lang="en-GB" sz="2000" b="1" i="1" dirty="0">
              <a:latin typeface="Calibri" pitchFamily="34" charset="0"/>
            </a:endParaRPr>
          </a:p>
        </p:txBody>
      </p:sp>
      <p:sp>
        <p:nvSpPr>
          <p:cNvPr id="36" name="Rectangle 35"/>
          <p:cNvSpPr/>
          <p:nvPr/>
        </p:nvSpPr>
        <p:spPr>
          <a:xfrm>
            <a:off x="3997172" y="3395246"/>
            <a:ext cx="1184428" cy="338554"/>
          </a:xfrm>
          <a:prstGeom prst="rect">
            <a:avLst/>
          </a:prstGeom>
        </p:spPr>
        <p:txBody>
          <a:bodyPr wrap="none">
            <a:spAutoFit/>
          </a:bodyPr>
          <a:lstStyle/>
          <a:p>
            <a:pPr algn="ctr"/>
            <a:r>
              <a:rPr lang="en-US" sz="1600" dirty="0">
                <a:latin typeface="Calibri" pitchFamily="34" charset="0"/>
              </a:rPr>
              <a:t>Request: 12</a:t>
            </a:r>
          </a:p>
        </p:txBody>
      </p:sp>
      <p:sp>
        <p:nvSpPr>
          <p:cNvPr id="37" name="Rectangle 36"/>
          <p:cNvSpPr/>
          <p:nvPr/>
        </p:nvSpPr>
        <p:spPr bwMode="auto">
          <a:xfrm>
            <a:off x="2057400" y="5562600"/>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12</a:t>
            </a:r>
          </a:p>
        </p:txBody>
      </p:sp>
      <p:sp>
        <p:nvSpPr>
          <p:cNvPr id="38" name="Rectangle 37"/>
          <p:cNvSpPr/>
          <p:nvPr/>
        </p:nvSpPr>
        <p:spPr bwMode="auto">
          <a:xfrm>
            <a:off x="2590800" y="3429000"/>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12</a:t>
            </a:r>
          </a:p>
        </p:txBody>
      </p:sp>
      <p:sp>
        <p:nvSpPr>
          <p:cNvPr id="39" name="Rectangle 38"/>
          <p:cNvSpPr/>
          <p:nvPr/>
        </p:nvSpPr>
        <p:spPr bwMode="auto">
          <a:xfrm>
            <a:off x="2895600" y="2425522"/>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Calibri" pitchFamily="34" charset="0"/>
              </a:rPr>
              <a:t>12</a:t>
            </a:r>
          </a:p>
        </p:txBody>
      </p:sp>
      <p:sp>
        <p:nvSpPr>
          <p:cNvPr id="42" name="Text Box 29"/>
          <p:cNvSpPr txBox="1">
            <a:spLocks noChangeArrowheads="1"/>
          </p:cNvSpPr>
          <p:nvPr/>
        </p:nvSpPr>
        <p:spPr bwMode="auto">
          <a:xfrm>
            <a:off x="5943600" y="4191000"/>
            <a:ext cx="2810939" cy="1753558"/>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b is stored in cache</a:t>
            </a:r>
          </a:p>
          <a:p>
            <a:pPr marL="115888" indent="-115888">
              <a:lnSpc>
                <a:spcPct val="98000"/>
              </a:lnSpc>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dirty="0">
                <a:solidFill>
                  <a:srgbClr val="C00000"/>
                </a:solidFill>
                <a:latin typeface="Calibri" pitchFamily="34" charset="0"/>
              </a:rPr>
              <a:t>Placement policy:</a:t>
            </a:r>
            <a:br>
              <a:rPr lang="en-GB" sz="1800" b="0" dirty="0">
                <a:latin typeface="Calibri" pitchFamily="34" charset="0"/>
              </a:rPr>
            </a:br>
            <a:r>
              <a:rPr lang="en-GB" sz="1800" b="0" dirty="0">
                <a:latin typeface="Calibri" pitchFamily="34" charset="0"/>
              </a:rPr>
              <a:t>determines where b goes</a:t>
            </a:r>
          </a:p>
          <a:p>
            <a:pPr marL="115888" indent="-115888">
              <a:lnSpc>
                <a:spcPct val="98000"/>
              </a:lnSpc>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dirty="0">
                <a:solidFill>
                  <a:srgbClr val="C00000"/>
                </a:solidFill>
                <a:latin typeface="Calibri" pitchFamily="34" charset="0"/>
              </a:rPr>
              <a:t>Replacement policy:</a:t>
            </a:r>
            <a:br>
              <a:rPr lang="en-GB" sz="1800" b="0" dirty="0">
                <a:solidFill>
                  <a:srgbClr val="C00000"/>
                </a:solidFill>
                <a:latin typeface="Calibri" pitchFamily="34" charset="0"/>
              </a:rPr>
            </a:br>
            <a:r>
              <a:rPr lang="en-GB" sz="1800" b="0" dirty="0">
                <a:latin typeface="Calibri" pitchFamily="34" charset="0"/>
              </a:rPr>
              <a:t>determines which block</a:t>
            </a:r>
            <a:br>
              <a:rPr lang="en-GB" sz="1800" b="0" dirty="0">
                <a:latin typeface="Calibri" pitchFamily="34" charset="0"/>
              </a:rPr>
            </a:br>
            <a:r>
              <a:rPr lang="en-GB" sz="1800" b="0" dirty="0">
                <a:latin typeface="Calibri" pitchFamily="34" charset="0"/>
              </a:rPr>
              <a:t>gets evicted (victim)</a:t>
            </a:r>
          </a:p>
        </p:txBody>
      </p:sp>
      <p:sp>
        <p:nvSpPr>
          <p:cNvPr id="21" name="Rectangle 20">
            <a:extLst>
              <a:ext uri="{FF2B5EF4-FFF2-40B4-BE49-F238E27FC236}">
                <a16:creationId xmlns:a16="http://schemas.microsoft.com/office/drawing/2014/main" id="{99E651EC-F229-3D40-37B2-6E5DB4CECD15}"/>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23" name="Rectangle 22">
            <a:extLst>
              <a:ext uri="{FF2B5EF4-FFF2-40B4-BE49-F238E27FC236}">
                <a16:creationId xmlns:a16="http://schemas.microsoft.com/office/drawing/2014/main" id="{48AB610B-0121-21FB-963E-564D275F6437}"/>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0-#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38"/>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2">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p:bldP spid="48" grpId="0"/>
      <p:bldP spid="34" grpId="0"/>
      <p:bldP spid="36" grpId="0"/>
      <p:bldP spid="37" grpId="0" animBg="1"/>
      <p:bldP spid="38" grpId="0" animBg="1"/>
      <p:bldP spid="38" grpId="1" animBg="1"/>
      <p:bldP spid="39" grpId="0" animBg="1"/>
      <p:bldP spid="42" grpId="0" build="allAtOnce"/>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4" name="Rectangle 4"/>
          <p:cNvSpPr>
            <a:spLocks noGrp="1" noChangeArrowheads="1"/>
          </p:cNvSpPr>
          <p:nvPr>
            <p:ph type="title"/>
          </p:nvPr>
        </p:nvSpPr>
        <p:spPr/>
        <p:txBody>
          <a:bodyPr/>
          <a:lstStyle/>
          <a:p>
            <a:r>
              <a:rPr lang="en-US" dirty="0"/>
              <a:t>General Caching Concepts: </a:t>
            </a:r>
            <a:br>
              <a:rPr lang="en-US" dirty="0"/>
            </a:br>
            <a:r>
              <a:rPr lang="en-US" dirty="0"/>
              <a:t>Types of Cache Misses</a:t>
            </a:r>
          </a:p>
        </p:txBody>
      </p:sp>
      <p:sp>
        <p:nvSpPr>
          <p:cNvPr id="138245" name="Rectangle 5"/>
          <p:cNvSpPr>
            <a:spLocks noGrp="1" noChangeArrowheads="1"/>
          </p:cNvSpPr>
          <p:nvPr>
            <p:ph type="body" idx="1"/>
          </p:nvPr>
        </p:nvSpPr>
        <p:spPr>
          <a:xfrm>
            <a:off x="396875" y="1733550"/>
            <a:ext cx="8518525" cy="4972050"/>
          </a:xfrm>
        </p:spPr>
        <p:txBody>
          <a:bodyPr/>
          <a:lstStyle/>
          <a:p>
            <a:r>
              <a:rPr lang="en-US" dirty="0">
                <a:solidFill>
                  <a:srgbClr val="FF0000"/>
                </a:solidFill>
              </a:rPr>
              <a:t>Cold (compulsory) miss</a:t>
            </a:r>
          </a:p>
          <a:p>
            <a:pPr lvl="1"/>
            <a:r>
              <a:rPr lang="en-US" dirty="0"/>
              <a:t>Cold misses occur because the cache is empty.</a:t>
            </a:r>
          </a:p>
          <a:p>
            <a:r>
              <a:rPr lang="en-US" dirty="0">
                <a:solidFill>
                  <a:srgbClr val="FF0000"/>
                </a:solidFill>
              </a:rPr>
              <a:t>Conflict miss</a:t>
            </a:r>
          </a:p>
          <a:p>
            <a:pPr lvl="1"/>
            <a:r>
              <a:rPr lang="en-US" dirty="0"/>
              <a:t>Most caches limit blocks at level k+1 to a small subset (sometimes a singleton) of the block positions at level </a:t>
            </a:r>
            <a:r>
              <a:rPr lang="en-US" dirty="0" err="1"/>
              <a:t>k</a:t>
            </a:r>
            <a:r>
              <a:rPr lang="en-US" dirty="0"/>
              <a:t>.</a:t>
            </a:r>
          </a:p>
          <a:p>
            <a:pPr lvl="2"/>
            <a:r>
              <a:rPr lang="en-US" dirty="0"/>
              <a:t>E.g. Block </a:t>
            </a:r>
            <a:r>
              <a:rPr lang="en-US" dirty="0" err="1"/>
              <a:t>i</a:t>
            </a:r>
            <a:r>
              <a:rPr lang="en-US" dirty="0"/>
              <a:t> at level k+1 must be placed in block (</a:t>
            </a:r>
            <a:r>
              <a:rPr lang="en-US" dirty="0" err="1"/>
              <a:t>i</a:t>
            </a:r>
            <a:r>
              <a:rPr lang="en-US" dirty="0"/>
              <a:t> mod 4) at level </a:t>
            </a:r>
            <a:r>
              <a:rPr lang="en-US" dirty="0" err="1"/>
              <a:t>k</a:t>
            </a:r>
            <a:r>
              <a:rPr lang="en-US" dirty="0"/>
              <a:t>.</a:t>
            </a:r>
          </a:p>
          <a:p>
            <a:pPr lvl="1"/>
            <a:r>
              <a:rPr lang="en-US" dirty="0"/>
              <a:t>Conflict misses occur when the level </a:t>
            </a:r>
            <a:r>
              <a:rPr lang="en-US" dirty="0" err="1"/>
              <a:t>k</a:t>
            </a:r>
            <a:r>
              <a:rPr lang="en-US" dirty="0"/>
              <a:t> cache is large enough, but multiple data objects all map to the same level </a:t>
            </a:r>
            <a:r>
              <a:rPr lang="en-US" dirty="0" err="1"/>
              <a:t>k</a:t>
            </a:r>
            <a:r>
              <a:rPr lang="en-US" dirty="0"/>
              <a:t> block.</a:t>
            </a:r>
          </a:p>
          <a:p>
            <a:pPr lvl="2"/>
            <a:r>
              <a:rPr lang="en-US" dirty="0"/>
              <a:t>E.g. Referencing blocks 0, 8, 0, 8, 0, 8, ... would miss every time.</a:t>
            </a:r>
          </a:p>
          <a:p>
            <a:r>
              <a:rPr lang="en-US" dirty="0">
                <a:solidFill>
                  <a:srgbClr val="FF0000"/>
                </a:solidFill>
              </a:rPr>
              <a:t>Capacity miss</a:t>
            </a:r>
          </a:p>
          <a:p>
            <a:pPr lvl="1"/>
            <a:r>
              <a:rPr lang="en-US" dirty="0"/>
              <a:t>Occurs when the set of active cache blocks (</a:t>
            </a:r>
            <a:r>
              <a:rPr lang="en-US" dirty="0">
                <a:solidFill>
                  <a:srgbClr val="FF0000"/>
                </a:solidFill>
              </a:rPr>
              <a:t>working set</a:t>
            </a:r>
            <a:r>
              <a:rPr lang="en-US" dirty="0"/>
              <a:t>) is larger than the cache.</a:t>
            </a:r>
          </a:p>
        </p:txBody>
      </p:sp>
      <p:sp>
        <p:nvSpPr>
          <p:cNvPr id="2" name="Rectangle 1">
            <a:extLst>
              <a:ext uri="{FF2B5EF4-FFF2-40B4-BE49-F238E27FC236}">
                <a16:creationId xmlns:a16="http://schemas.microsoft.com/office/drawing/2014/main" id="{887459BD-6728-F05D-17AF-42CF0F2F9375}"/>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0B78EA5C-7704-854F-8586-625E482FFD47}"/>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a:t>Summary</a:t>
            </a:r>
          </a:p>
        </p:txBody>
      </p:sp>
      <p:sp>
        <p:nvSpPr>
          <p:cNvPr id="146435" name="Rectangle 3"/>
          <p:cNvSpPr>
            <a:spLocks noGrp="1" noChangeArrowheads="1"/>
          </p:cNvSpPr>
          <p:nvPr>
            <p:ph type="body" idx="1"/>
          </p:nvPr>
        </p:nvSpPr>
        <p:spPr/>
        <p:txBody>
          <a:bodyPr/>
          <a:lstStyle/>
          <a:p>
            <a:r>
              <a:rPr lang="en-US" dirty="0"/>
              <a:t>The speed gap between CPU, memory and mass storage continues to widen.</a:t>
            </a:r>
          </a:p>
          <a:p>
            <a:endParaRPr lang="en-US" dirty="0"/>
          </a:p>
          <a:p>
            <a:r>
              <a:rPr lang="en-US" dirty="0"/>
              <a:t>Well-written programs exhibit a property called </a:t>
            </a:r>
            <a:r>
              <a:rPr lang="en-US" i="1" dirty="0"/>
              <a:t>locality</a:t>
            </a:r>
            <a:r>
              <a:rPr lang="en-US" dirty="0"/>
              <a:t>.</a:t>
            </a:r>
          </a:p>
          <a:p>
            <a:endParaRPr lang="en-US" dirty="0"/>
          </a:p>
          <a:p>
            <a:r>
              <a:rPr lang="en-US" dirty="0"/>
              <a:t>Memory hierarchies based on </a:t>
            </a:r>
            <a:r>
              <a:rPr lang="en-US" i="1" dirty="0"/>
              <a:t>caching</a:t>
            </a:r>
            <a:r>
              <a:rPr lang="en-US" dirty="0"/>
              <a:t> close the gap by exploiting locality.</a:t>
            </a:r>
          </a:p>
          <a:p>
            <a:endParaRPr lang="en-US" dirty="0"/>
          </a:p>
          <a:p>
            <a:endParaRPr lang="en-US" dirty="0"/>
          </a:p>
        </p:txBody>
      </p:sp>
      <p:sp>
        <p:nvSpPr>
          <p:cNvPr id="2" name="Rectangle 1">
            <a:extLst>
              <a:ext uri="{FF2B5EF4-FFF2-40B4-BE49-F238E27FC236}">
                <a16:creationId xmlns:a16="http://schemas.microsoft.com/office/drawing/2014/main" id="{44A12EEB-D840-279E-CF53-0ADD9B2E7766}"/>
              </a:ext>
            </a:extLst>
          </p:cNvPr>
          <p:cNvSpPr>
            <a:spLocks/>
          </p:cNvSpPr>
          <p:nvPr/>
        </p:nvSpPr>
        <p:spPr bwMode="auto">
          <a:xfrm>
            <a:off x="-12700" y="662940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
        <p:nvSpPr>
          <p:cNvPr id="3" name="Rectangle 2">
            <a:extLst>
              <a:ext uri="{FF2B5EF4-FFF2-40B4-BE49-F238E27FC236}">
                <a16:creationId xmlns:a16="http://schemas.microsoft.com/office/drawing/2014/main" id="{2B1252B3-6C49-1739-BBB4-63DBB3F3B087}"/>
              </a:ext>
            </a:extLst>
          </p:cNvPr>
          <p:cNvSpPr>
            <a:spLocks/>
          </p:cNvSpPr>
          <p:nvPr/>
        </p:nvSpPr>
        <p:spPr bwMode="auto">
          <a:xfrm>
            <a:off x="-12700" y="0"/>
            <a:ext cx="9156700" cy="228600"/>
          </a:xfrm>
          <a:prstGeom prst="rect">
            <a:avLst/>
          </a:prstGeom>
          <a:solidFill>
            <a:srgbClr val="990000"/>
          </a:solidFill>
          <a:ln w="9525" cap="flat">
            <a:noFill/>
            <a:miter lim="800000"/>
            <a:headEnd type="none" w="med" len="med"/>
            <a:tailEnd type="none" w="med" len="med"/>
          </a:ln>
        </p:spPr>
        <p:txBody>
          <a:bodyPr wrap="none" lIns="0" tIns="0" rIns="0" bIns="0"/>
          <a:lstStyle/>
          <a:p>
            <a:endParaRPr lang="en-US" dirty="0">
              <a:solidFill>
                <a:srgbClr val="C00000"/>
              </a:solidFill>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lumMod val="20000"/>
            <a:lumOff val="80000"/>
          </a:schemeClr>
        </a:solidFill>
        <a:ln w="28575" cap="flat" cmpd="sng" algn="ctr">
          <a:solidFill>
            <a:schemeClr val="tx1"/>
          </a:solidFill>
          <a:prstDash val="solid"/>
          <a:round/>
          <a:headEnd type="none" w="med" len="med"/>
          <a:tailEnd type="triangle" w="med" len="med"/>
        </a:ln>
        <a:effectLst/>
      </a:spPr>
      <a:bodyPr vert="horz" wrap="square" lIns="91440" tIns="45720" rIns="91440" bIns="45720" numCol="1" rtlCol="0"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dirty="0" smtClean="0">
            <a:latin typeface="Calibri" pitchFamily="34" charset="0"/>
          </a:defRPr>
        </a:defPPr>
      </a:lstStyle>
    </a:spDef>
    <a:lnDef>
      <a:spPr bwMode="auto">
        <a:noFill/>
        <a:ln w="25400" cap="flat" cmpd="sng" algn="ctr">
          <a:solidFill>
            <a:schemeClr val="tx1"/>
          </a:solidFill>
          <a:prstDash val="solid"/>
          <a:round/>
          <a:headEnd type="none" w="med" len="med"/>
          <a:tailEnd type="none" w="med" len="med"/>
        </a:ln>
        <a:effectLst/>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93000"/>
          </a:lnSpc>
          <a:spcBef>
            <a:spcPct val="0"/>
          </a:spcBef>
          <a:spcAft>
            <a:spcPct val="0"/>
          </a:spcAft>
          <a:buClr>
            <a:srgbClr val="000066"/>
          </a:buClr>
          <a:buSzPct val="100000"/>
          <a:buFont typeface="Times New Roman" charset="0"/>
          <a:buNone/>
          <a:tabLst/>
          <a:defRPr kumimoji="0" lang="en-GB" sz="2400" b="0" i="0" u="none" strike="noStrike" cap="none" normalizeH="0" baseline="0">
            <a:ln>
              <a:noFill/>
            </a:ln>
            <a:solidFill>
              <a:schemeClr val="bg1"/>
            </a:solidFill>
            <a:effectLst/>
            <a:latin typeface="Times New Roman"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93000"/>
          </a:lnSpc>
          <a:spcBef>
            <a:spcPct val="0"/>
          </a:spcBef>
          <a:spcAft>
            <a:spcPct val="0"/>
          </a:spcAft>
          <a:buClr>
            <a:srgbClr val="000066"/>
          </a:buClr>
          <a:buSzPct val="100000"/>
          <a:buFont typeface="Times New Roman" charset="0"/>
          <a:buNone/>
          <a:tabLst/>
          <a:defRPr kumimoji="0" lang="en-GB" sz="2400" b="0" i="0" u="none" strike="noStrike" cap="none" normalizeH="0" baseline="0">
            <a:ln>
              <a:noFill/>
            </a:ln>
            <a:solidFill>
              <a:schemeClr val="bg1"/>
            </a:solidFill>
            <a:effectLst/>
            <a:latin typeface="Times New Roman"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template2007</Template>
  <TotalTime>15667</TotalTime>
  <Words>3621</Words>
  <Application>Microsoft Macintosh PowerPoint</Application>
  <PresentationFormat>On-screen Show (4:3)</PresentationFormat>
  <Paragraphs>767</Paragraphs>
  <Slides>56</Slides>
  <Notes>50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56</vt:i4>
      </vt:variant>
    </vt:vector>
  </HeadingPairs>
  <TitlesOfParts>
    <vt:vector size="68" baseType="lpstr">
      <vt:lpstr>Arial</vt:lpstr>
      <vt:lpstr>Arial Narrow</vt:lpstr>
      <vt:lpstr>Calibri</vt:lpstr>
      <vt:lpstr>Courier New</vt:lpstr>
      <vt:lpstr>Helvetica</vt:lpstr>
      <vt:lpstr>StarSymbol</vt:lpstr>
      <vt:lpstr>Times</vt:lpstr>
      <vt:lpstr>Times New Roman</vt:lpstr>
      <vt:lpstr>Wingdings</vt:lpstr>
      <vt:lpstr>Wingdings 2</vt:lpstr>
      <vt:lpstr>template2007</vt:lpstr>
      <vt:lpstr>Default Design</vt:lpstr>
      <vt:lpstr>The Memory Hierarchy  Introduction to Computer Systems 6th Lecture, Oct. 27, 2025</vt:lpstr>
      <vt:lpstr>Today</vt:lpstr>
      <vt:lpstr>Random-Access Memory (RAM)</vt:lpstr>
      <vt:lpstr>SRAM vs DRAM Summary</vt:lpstr>
      <vt:lpstr>Nonvolatile Memories</vt:lpstr>
      <vt:lpstr>Traditional Bus Structure Connecting  CPU and Memory</vt:lpstr>
      <vt:lpstr>Memory Read Transaction (1)</vt:lpstr>
      <vt:lpstr>Memory Read Transaction (2)</vt:lpstr>
      <vt:lpstr>Memory Read Transaction (3)</vt:lpstr>
      <vt:lpstr>Memory Write Transaction (1)</vt:lpstr>
      <vt:lpstr>Memory Write Transaction (2)</vt:lpstr>
      <vt:lpstr>Memory Write Transaction (3)</vt:lpstr>
      <vt:lpstr>What’s Inside A Disk Drive?</vt:lpstr>
      <vt:lpstr>Disk Geometry</vt:lpstr>
      <vt:lpstr>Disk Geometry (Muliple-Platter View)</vt:lpstr>
      <vt:lpstr>Disk Capacity</vt:lpstr>
      <vt:lpstr>Recording zones </vt:lpstr>
      <vt:lpstr> Computing Disk Capacity</vt:lpstr>
      <vt:lpstr>Disk Operation (Single-Platter View)</vt:lpstr>
      <vt:lpstr>Disk Operation (Multi-Platter View)</vt:lpstr>
      <vt:lpstr>Disk Structure - top view of single platter</vt:lpstr>
      <vt:lpstr>Disk Access</vt:lpstr>
      <vt:lpstr>Disk Access</vt:lpstr>
      <vt:lpstr>Disk Access – Read</vt:lpstr>
      <vt:lpstr>Disk Access – Read</vt:lpstr>
      <vt:lpstr>Disk Access – Read</vt:lpstr>
      <vt:lpstr>Disk Access – Seek</vt:lpstr>
      <vt:lpstr>Disk Access – Rotational Latency</vt:lpstr>
      <vt:lpstr>Disk Access – Read</vt:lpstr>
      <vt:lpstr>Disk Access – Service Time Components</vt:lpstr>
      <vt:lpstr>Disk Access Time</vt:lpstr>
      <vt:lpstr>Disk Access Time Example</vt:lpstr>
      <vt:lpstr>Logical Disk Blocks</vt:lpstr>
      <vt:lpstr>I/O Bus</vt:lpstr>
      <vt:lpstr>Reading a Disk Sector (1)</vt:lpstr>
      <vt:lpstr>Reading a Disk Sector (2)</vt:lpstr>
      <vt:lpstr>Reading a Disk Sector (3)</vt:lpstr>
      <vt:lpstr>Solid State Disks (SSDs)</vt:lpstr>
      <vt:lpstr>SSD Performance Characteristics </vt:lpstr>
      <vt:lpstr>SSD Tradeoffs vs Rotating Disks</vt:lpstr>
      <vt:lpstr>The CPU-Memory Gap</vt:lpstr>
      <vt:lpstr>Locality to the Rescue! </vt:lpstr>
      <vt:lpstr>Today</vt:lpstr>
      <vt:lpstr>Locality</vt:lpstr>
      <vt:lpstr>Locality Example</vt:lpstr>
      <vt:lpstr>Qualitative Estimates of Locality</vt:lpstr>
      <vt:lpstr>Locality Example</vt:lpstr>
      <vt:lpstr>Memory Hierarchies</vt:lpstr>
      <vt:lpstr>Today</vt:lpstr>
      <vt:lpstr>Example Memory       Hierarchy</vt:lpstr>
      <vt:lpstr>Caches</vt:lpstr>
      <vt:lpstr>General Cache Concepts</vt:lpstr>
      <vt:lpstr>General Cache Concepts: Hit</vt:lpstr>
      <vt:lpstr>General Cache Concepts: Miss</vt:lpstr>
      <vt:lpstr>General Caching Concepts:  Types of Cache Misses</vt:lpstr>
      <vt:lpstr>Summary</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Đỗ Uyên</cp:lastModifiedBy>
  <cp:revision>518</cp:revision>
  <cp:lastPrinted>1999-09-20T15:19:18Z</cp:lastPrinted>
  <dcterms:created xsi:type="dcterms:W3CDTF">2011-09-29T14:59:56Z</dcterms:created>
  <dcterms:modified xsi:type="dcterms:W3CDTF">2025-10-26T17:04:50Z</dcterms:modified>
</cp:coreProperties>
</file>